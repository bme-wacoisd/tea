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9" r:id="rId3"/>
    <p:sldId id="258" r:id="rId4"/>
    <p:sldId id="261" r:id="rId5"/>
    <p:sldId id="264" r:id="rId6"/>
    <p:sldId id="263" r:id="rId7"/>
    <p:sldId id="262" r:id="rId8"/>
    <p:sldId id="265" r:id="rId9"/>
    <p:sldId id="266" r:id="rId10"/>
    <p:sldId id="26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7D287C-8CA6-4304-AE81-C05528003972}" v="1" dt="2023-08-31T19:43:15.5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she/her), Whitney" userId="65f39021-2f1d-4d8b-87dc-b123826f65bf" providerId="ADAL" clId="{9D7D287C-8CA6-4304-AE81-C05528003972}"/>
    <pc:docChg chg="modSld">
      <pc:chgData name="White (she/her), Whitney" userId="65f39021-2f1d-4d8b-87dc-b123826f65bf" providerId="ADAL" clId="{9D7D287C-8CA6-4304-AE81-C05528003972}" dt="2023-08-31T19:43:17.181" v="2" actId="1076"/>
      <pc:docMkLst>
        <pc:docMk/>
      </pc:docMkLst>
      <pc:sldChg chg="addSp modSp mod">
        <pc:chgData name="White (she/her), Whitney" userId="65f39021-2f1d-4d8b-87dc-b123826f65bf" providerId="ADAL" clId="{9D7D287C-8CA6-4304-AE81-C05528003972}" dt="2023-08-31T19:43:17.181" v="2" actId="1076"/>
        <pc:sldMkLst>
          <pc:docMk/>
          <pc:sldMk cId="1482277026" sldId="256"/>
        </pc:sldMkLst>
        <pc:spChg chg="mod">
          <ac:chgData name="White (she/her), Whitney" userId="65f39021-2f1d-4d8b-87dc-b123826f65bf" providerId="ADAL" clId="{9D7D287C-8CA6-4304-AE81-C05528003972}" dt="2023-08-31T19:43:17.181" v="2" actId="1076"/>
          <ac:spMkLst>
            <pc:docMk/>
            <pc:sldMk cId="1482277026" sldId="256"/>
            <ac:spMk id="2" creationId="{BFFCF5BD-F8FF-4A67-A8B6-EBB21E79279B}"/>
          </ac:spMkLst>
        </pc:spChg>
        <pc:spChg chg="add mod">
          <ac:chgData name="White (she/her), Whitney" userId="65f39021-2f1d-4d8b-87dc-b123826f65bf" providerId="ADAL" clId="{9D7D287C-8CA6-4304-AE81-C05528003972}" dt="2023-08-31T19:43:15.504" v="1"/>
          <ac:spMkLst>
            <pc:docMk/>
            <pc:sldMk cId="1482277026" sldId="256"/>
            <ac:spMk id="4" creationId="{2C153ECC-1E15-4824-8EB8-82E01D25EFE6}"/>
          </ac:spMkLst>
        </pc:spChg>
      </pc:sldChg>
    </pc:docChg>
  </pc:docChgLst>
  <pc:docChgLst>
    <pc:chgData name="White, Whitney" userId="65f39021-2f1d-4d8b-87dc-b123826f65bf" providerId="ADAL" clId="{DF37E965-17F3-4170-8107-288C47EB80FD}"/>
    <pc:docChg chg="undo custSel addSld modSld sldOrd">
      <pc:chgData name="White, Whitney" userId="65f39021-2f1d-4d8b-87dc-b123826f65bf" providerId="ADAL" clId="{DF37E965-17F3-4170-8107-288C47EB80FD}" dt="2022-08-04T15:42:48.803" v="1446" actId="15"/>
      <pc:docMkLst>
        <pc:docMk/>
      </pc:docMkLst>
      <pc:sldChg chg="modSp mod">
        <pc:chgData name="White, Whitney" userId="65f39021-2f1d-4d8b-87dc-b123826f65bf" providerId="ADAL" clId="{DF37E965-17F3-4170-8107-288C47EB80FD}" dt="2022-08-04T15:31:04.249" v="56" actId="20577"/>
        <pc:sldMkLst>
          <pc:docMk/>
          <pc:sldMk cId="1482277026" sldId="256"/>
        </pc:sldMkLst>
        <pc:spChg chg="mod">
          <ac:chgData name="White, Whitney" userId="65f39021-2f1d-4d8b-87dc-b123826f65bf" providerId="ADAL" clId="{DF37E965-17F3-4170-8107-288C47EB80FD}" dt="2022-07-31T16:56:27.387" v="3" actId="20577"/>
          <ac:spMkLst>
            <pc:docMk/>
            <pc:sldMk cId="1482277026" sldId="256"/>
            <ac:spMk id="2" creationId="{BFFCF5BD-F8FF-4A67-A8B6-EBB21E79279B}"/>
          </ac:spMkLst>
        </pc:spChg>
        <pc:spChg chg="mod">
          <ac:chgData name="White, Whitney" userId="65f39021-2f1d-4d8b-87dc-b123826f65bf" providerId="ADAL" clId="{DF37E965-17F3-4170-8107-288C47EB80FD}" dt="2022-08-04T15:31:04.249" v="56" actId="20577"/>
          <ac:spMkLst>
            <pc:docMk/>
            <pc:sldMk cId="1482277026" sldId="256"/>
            <ac:spMk id="3" creationId="{E0FBD98F-3A67-498E-8174-652040DD7B60}"/>
          </ac:spMkLst>
        </pc:spChg>
      </pc:sldChg>
      <pc:sldChg chg="addSp delSp modSp mod">
        <pc:chgData name="White, Whitney" userId="65f39021-2f1d-4d8b-87dc-b123826f65bf" providerId="ADAL" clId="{DF37E965-17F3-4170-8107-288C47EB80FD}" dt="2022-08-04T15:36:15.912" v="989"/>
        <pc:sldMkLst>
          <pc:docMk/>
          <pc:sldMk cId="4071305681" sldId="258"/>
        </pc:sldMkLst>
        <pc:spChg chg="add del mod">
          <ac:chgData name="White, Whitney" userId="65f39021-2f1d-4d8b-87dc-b123826f65bf" providerId="ADAL" clId="{DF37E965-17F3-4170-8107-288C47EB80FD}" dt="2022-08-04T15:36:15.912" v="989"/>
          <ac:spMkLst>
            <pc:docMk/>
            <pc:sldMk cId="4071305681" sldId="258"/>
            <ac:spMk id="3" creationId="{392BE286-77A6-49DD-B15D-7E4718D52FE7}"/>
          </ac:spMkLst>
        </pc:spChg>
        <pc:graphicFrameChg chg="add del mod">
          <ac:chgData name="White, Whitney" userId="65f39021-2f1d-4d8b-87dc-b123826f65bf" providerId="ADAL" clId="{DF37E965-17F3-4170-8107-288C47EB80FD}" dt="2022-08-04T15:32:48.678" v="85"/>
          <ac:graphicFrameMkLst>
            <pc:docMk/>
            <pc:sldMk cId="4071305681" sldId="258"/>
            <ac:graphicFrameMk id="5" creationId="{D72652DB-E0AC-4FE0-B869-C86119BA00D2}"/>
          </ac:graphicFrameMkLst>
        </pc:graphicFrameChg>
        <pc:graphicFrameChg chg="add del mod">
          <ac:chgData name="White, Whitney" userId="65f39021-2f1d-4d8b-87dc-b123826f65bf" providerId="ADAL" clId="{DF37E965-17F3-4170-8107-288C47EB80FD}" dt="2022-08-04T15:32:58.372" v="87"/>
          <ac:graphicFrameMkLst>
            <pc:docMk/>
            <pc:sldMk cId="4071305681" sldId="258"/>
            <ac:graphicFrameMk id="6" creationId="{347FA4FC-5FB7-4C49-9656-ED294DE8A7C1}"/>
          </ac:graphicFrameMkLst>
        </pc:graphicFrameChg>
      </pc:sldChg>
      <pc:sldChg chg="modSp mod">
        <pc:chgData name="White, Whitney" userId="65f39021-2f1d-4d8b-87dc-b123826f65bf" providerId="ADAL" clId="{DF37E965-17F3-4170-8107-288C47EB80FD}" dt="2022-08-04T15:31:31.289" v="83" actId="403"/>
        <pc:sldMkLst>
          <pc:docMk/>
          <pc:sldMk cId="2772527113" sldId="259"/>
        </pc:sldMkLst>
        <pc:spChg chg="mod">
          <ac:chgData name="White, Whitney" userId="65f39021-2f1d-4d8b-87dc-b123826f65bf" providerId="ADAL" clId="{DF37E965-17F3-4170-8107-288C47EB80FD}" dt="2022-08-04T15:31:31.289" v="83" actId="403"/>
          <ac:spMkLst>
            <pc:docMk/>
            <pc:sldMk cId="2772527113" sldId="259"/>
            <ac:spMk id="3" creationId="{8CE08C7F-0286-423B-92F7-DEB89F31111A}"/>
          </ac:spMkLst>
        </pc:spChg>
      </pc:sldChg>
      <pc:sldChg chg="modSp mod">
        <pc:chgData name="White, Whitney" userId="65f39021-2f1d-4d8b-87dc-b123826f65bf" providerId="ADAL" clId="{DF37E965-17F3-4170-8107-288C47EB80FD}" dt="2022-08-04T15:42:48.803" v="1446" actId="15"/>
        <pc:sldMkLst>
          <pc:docMk/>
          <pc:sldMk cId="2147408764" sldId="260"/>
        </pc:sldMkLst>
        <pc:spChg chg="mod">
          <ac:chgData name="White, Whitney" userId="65f39021-2f1d-4d8b-87dc-b123826f65bf" providerId="ADAL" clId="{DF37E965-17F3-4170-8107-288C47EB80FD}" dt="2022-08-04T15:42:48.803" v="1446" actId="15"/>
          <ac:spMkLst>
            <pc:docMk/>
            <pc:sldMk cId="2147408764" sldId="260"/>
            <ac:spMk id="3" creationId="{49F2A5AF-3C0B-4968-A438-E435325199EA}"/>
          </ac:spMkLst>
        </pc:spChg>
      </pc:sldChg>
      <pc:sldChg chg="addSp delSp modSp mod">
        <pc:chgData name="White, Whitney" userId="65f39021-2f1d-4d8b-87dc-b123826f65bf" providerId="ADAL" clId="{DF37E965-17F3-4170-8107-288C47EB80FD}" dt="2022-08-04T15:36:46.233" v="996" actId="113"/>
        <pc:sldMkLst>
          <pc:docMk/>
          <pc:sldMk cId="3054216349" sldId="261"/>
        </pc:sldMkLst>
        <pc:spChg chg="del">
          <ac:chgData name="White, Whitney" userId="65f39021-2f1d-4d8b-87dc-b123826f65bf" providerId="ADAL" clId="{DF37E965-17F3-4170-8107-288C47EB80FD}" dt="2022-08-04T15:36:27.448" v="990"/>
          <ac:spMkLst>
            <pc:docMk/>
            <pc:sldMk cId="3054216349" sldId="261"/>
            <ac:spMk id="3" creationId="{AE13FDB6-F093-4D9E-B14E-3D7DB894C34C}"/>
          </ac:spMkLst>
        </pc:spChg>
        <pc:graphicFrameChg chg="add mod modGraphic">
          <ac:chgData name="White, Whitney" userId="65f39021-2f1d-4d8b-87dc-b123826f65bf" providerId="ADAL" clId="{DF37E965-17F3-4170-8107-288C47EB80FD}" dt="2022-08-04T15:36:46.233" v="996" actId="113"/>
          <ac:graphicFrameMkLst>
            <pc:docMk/>
            <pc:sldMk cId="3054216349" sldId="261"/>
            <ac:graphicFrameMk id="5" creationId="{A5BD9D64-C5C1-4062-A0C1-A190F2CFEBB3}"/>
          </ac:graphicFrameMkLst>
        </pc:graphicFrameChg>
      </pc:sldChg>
      <pc:sldChg chg="modSp mod">
        <pc:chgData name="White, Whitney" userId="65f39021-2f1d-4d8b-87dc-b123826f65bf" providerId="ADAL" clId="{DF37E965-17F3-4170-8107-288C47EB80FD}" dt="2022-08-04T15:39:10.297" v="1305" actId="207"/>
        <pc:sldMkLst>
          <pc:docMk/>
          <pc:sldMk cId="4170921578" sldId="262"/>
        </pc:sldMkLst>
        <pc:spChg chg="mod">
          <ac:chgData name="White, Whitney" userId="65f39021-2f1d-4d8b-87dc-b123826f65bf" providerId="ADAL" clId="{DF37E965-17F3-4170-8107-288C47EB80FD}" dt="2022-08-04T15:38:49.808" v="1297" actId="20577"/>
          <ac:spMkLst>
            <pc:docMk/>
            <pc:sldMk cId="4170921578" sldId="262"/>
            <ac:spMk id="2" creationId="{A7DAC820-49EE-4F41-8B1F-B9E33FF6BE24}"/>
          </ac:spMkLst>
        </pc:spChg>
        <pc:spChg chg="mod">
          <ac:chgData name="White, Whitney" userId="65f39021-2f1d-4d8b-87dc-b123826f65bf" providerId="ADAL" clId="{DF37E965-17F3-4170-8107-288C47EB80FD}" dt="2022-08-04T15:39:10.297" v="1305" actId="207"/>
          <ac:spMkLst>
            <pc:docMk/>
            <pc:sldMk cId="4170921578" sldId="262"/>
            <ac:spMk id="3" creationId="{79FFCA46-4155-4484-8350-F1E0B95F6088}"/>
          </ac:spMkLst>
        </pc:spChg>
      </pc:sldChg>
      <pc:sldChg chg="modSp mod">
        <pc:chgData name="White, Whitney" userId="65f39021-2f1d-4d8b-87dc-b123826f65bf" providerId="ADAL" clId="{DF37E965-17F3-4170-8107-288C47EB80FD}" dt="2022-08-04T15:38:17.657" v="1118" actId="403"/>
        <pc:sldMkLst>
          <pc:docMk/>
          <pc:sldMk cId="1163931679" sldId="263"/>
        </pc:sldMkLst>
        <pc:spChg chg="mod">
          <ac:chgData name="White, Whitney" userId="65f39021-2f1d-4d8b-87dc-b123826f65bf" providerId="ADAL" clId="{DF37E965-17F3-4170-8107-288C47EB80FD}" dt="2022-08-04T15:38:07.591" v="1113" actId="20577"/>
          <ac:spMkLst>
            <pc:docMk/>
            <pc:sldMk cId="1163931679" sldId="263"/>
            <ac:spMk id="2" creationId="{531ECDB3-7F62-4124-A1E9-E48D699D2427}"/>
          </ac:spMkLst>
        </pc:spChg>
        <pc:spChg chg="mod">
          <ac:chgData name="White, Whitney" userId="65f39021-2f1d-4d8b-87dc-b123826f65bf" providerId="ADAL" clId="{DF37E965-17F3-4170-8107-288C47EB80FD}" dt="2022-08-04T15:38:17.657" v="1118" actId="403"/>
          <ac:spMkLst>
            <pc:docMk/>
            <pc:sldMk cId="1163931679" sldId="263"/>
            <ac:spMk id="3" creationId="{012C84E3-4C09-4253-8964-13B9C34E5E48}"/>
          </ac:spMkLst>
        </pc:spChg>
      </pc:sldChg>
      <pc:sldChg chg="modSp mod">
        <pc:chgData name="White, Whitney" userId="65f39021-2f1d-4d8b-87dc-b123826f65bf" providerId="ADAL" clId="{DF37E965-17F3-4170-8107-288C47EB80FD}" dt="2022-08-04T15:37:50.633" v="1055" actId="403"/>
        <pc:sldMkLst>
          <pc:docMk/>
          <pc:sldMk cId="3493109116" sldId="264"/>
        </pc:sldMkLst>
        <pc:spChg chg="mod">
          <ac:chgData name="White, Whitney" userId="65f39021-2f1d-4d8b-87dc-b123826f65bf" providerId="ADAL" clId="{DF37E965-17F3-4170-8107-288C47EB80FD}" dt="2022-08-04T15:37:37.504" v="1050" actId="20577"/>
          <ac:spMkLst>
            <pc:docMk/>
            <pc:sldMk cId="3493109116" sldId="264"/>
            <ac:spMk id="2" creationId="{D7836664-70C0-47BA-9BFF-496A04EBBFDE}"/>
          </ac:spMkLst>
        </pc:spChg>
        <pc:spChg chg="mod">
          <ac:chgData name="White, Whitney" userId="65f39021-2f1d-4d8b-87dc-b123826f65bf" providerId="ADAL" clId="{DF37E965-17F3-4170-8107-288C47EB80FD}" dt="2022-08-04T15:37:50.633" v="1055" actId="403"/>
          <ac:spMkLst>
            <pc:docMk/>
            <pc:sldMk cId="3493109116" sldId="264"/>
            <ac:spMk id="3" creationId="{F64339F5-2F5D-46B5-A25D-C197D73747BD}"/>
          </ac:spMkLst>
        </pc:spChg>
      </pc:sldChg>
      <pc:sldChg chg="modSp new mod">
        <pc:chgData name="White, Whitney" userId="65f39021-2f1d-4d8b-87dc-b123826f65bf" providerId="ADAL" clId="{DF37E965-17F3-4170-8107-288C47EB80FD}" dt="2022-08-04T15:39:43.331" v="1360" actId="255"/>
        <pc:sldMkLst>
          <pc:docMk/>
          <pc:sldMk cId="2247424180" sldId="265"/>
        </pc:sldMkLst>
        <pc:spChg chg="mod">
          <ac:chgData name="White, Whitney" userId="65f39021-2f1d-4d8b-87dc-b123826f65bf" providerId="ADAL" clId="{DF37E965-17F3-4170-8107-288C47EB80FD}" dt="2022-08-04T15:39:28.256" v="1353" actId="20577"/>
          <ac:spMkLst>
            <pc:docMk/>
            <pc:sldMk cId="2247424180" sldId="265"/>
            <ac:spMk id="2" creationId="{652C003F-65DA-4664-9FD1-C2C3672644DA}"/>
          </ac:spMkLst>
        </pc:spChg>
        <pc:spChg chg="mod">
          <ac:chgData name="White, Whitney" userId="65f39021-2f1d-4d8b-87dc-b123826f65bf" providerId="ADAL" clId="{DF37E965-17F3-4170-8107-288C47EB80FD}" dt="2022-08-04T15:39:43.331" v="1360" actId="255"/>
          <ac:spMkLst>
            <pc:docMk/>
            <pc:sldMk cId="2247424180" sldId="265"/>
            <ac:spMk id="3" creationId="{D53FA882-2EDD-49BD-AF02-3DD23F7EEA1A}"/>
          </ac:spMkLst>
        </pc:spChg>
      </pc:sldChg>
      <pc:sldChg chg="modSp new mod ord">
        <pc:chgData name="White, Whitney" userId="65f39021-2f1d-4d8b-87dc-b123826f65bf" providerId="ADAL" clId="{DF37E965-17F3-4170-8107-288C47EB80FD}" dt="2022-08-04T15:41:04.361" v="1429" actId="20577"/>
        <pc:sldMkLst>
          <pc:docMk/>
          <pc:sldMk cId="1002819420" sldId="266"/>
        </pc:sldMkLst>
        <pc:spChg chg="mod">
          <ac:chgData name="White, Whitney" userId="65f39021-2f1d-4d8b-87dc-b123826f65bf" providerId="ADAL" clId="{DF37E965-17F3-4170-8107-288C47EB80FD}" dt="2022-08-04T15:40:05.216" v="1377" actId="20577"/>
          <ac:spMkLst>
            <pc:docMk/>
            <pc:sldMk cId="1002819420" sldId="266"/>
            <ac:spMk id="2" creationId="{BAF49F8B-280A-4B3C-91B0-D7034AC27416}"/>
          </ac:spMkLst>
        </pc:spChg>
        <pc:spChg chg="mod">
          <ac:chgData name="White, Whitney" userId="65f39021-2f1d-4d8b-87dc-b123826f65bf" providerId="ADAL" clId="{DF37E965-17F3-4170-8107-288C47EB80FD}" dt="2022-08-04T15:41:04.361" v="1429" actId="20577"/>
          <ac:spMkLst>
            <pc:docMk/>
            <pc:sldMk cId="1002819420" sldId="266"/>
            <ac:spMk id="3" creationId="{60B97F60-6D0A-4242-82E2-34066998FB1C}"/>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Whitney" userId="65f39021-2f1d-4d8b-87dc-b123826f65bf" providerId="ADAL" clId="{BF4B8836-0A11-4AA0-9E90-D808237E7929}"/>
    <pc:docChg chg="custSel modSld">
      <pc:chgData name="White, Whitney" userId="65f39021-2f1d-4d8b-87dc-b123826f65bf" providerId="ADAL" clId="{BF4B8836-0A11-4AA0-9E90-D808237E7929}" dt="2022-07-30T15:11:00.548" v="131" actId="20577"/>
      <pc:docMkLst>
        <pc:docMk/>
      </pc:docMkLst>
      <pc:sldChg chg="modSp mod">
        <pc:chgData name="White, Whitney" userId="65f39021-2f1d-4d8b-87dc-b123826f65bf" providerId="ADAL" clId="{BF4B8836-0A11-4AA0-9E90-D808237E7929}" dt="2022-07-30T15:11:00.548" v="131" actId="20577"/>
        <pc:sldMkLst>
          <pc:docMk/>
          <pc:sldMk cId="1482277026" sldId="256"/>
        </pc:sldMkLst>
        <pc:spChg chg="mod">
          <ac:chgData name="White, Whitney" userId="65f39021-2f1d-4d8b-87dc-b123826f65bf" providerId="ADAL" clId="{BF4B8836-0A11-4AA0-9E90-D808237E7929}" dt="2022-07-30T15:11:00.548" v="131" actId="20577"/>
          <ac:spMkLst>
            <pc:docMk/>
            <pc:sldMk cId="1482277026" sldId="256"/>
            <ac:spMk id="2" creationId="{BFFCF5BD-F8FF-4A67-A8B6-EBB21E79279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8/31/2023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8/31/2023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8/31/2023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8/31/2023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8/31/2023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8/31/2023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8/31/2023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59861"/>
            <a:ext cx="9144000" cy="370300"/>
          </a:xfrm>
        </p:spPr>
        <p:txBody>
          <a:bodyPr>
            <a:normAutofit/>
          </a:bodyPr>
          <a:lstStyle/>
          <a:p>
            <a:pPr algn="l"/>
            <a:r>
              <a:rPr lang="en-US" sz="1800" dirty="0"/>
              <a:t>Practicum in Education and Training| Unit 2: The Professional Educator | Lesson 2.18</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Importance of Continuing Education for Teachers</a:t>
            </a:r>
          </a:p>
        </p:txBody>
      </p:sp>
      <p:sp>
        <p:nvSpPr>
          <p:cNvPr id="4" name="TextBox 3">
            <a:extLst>
              <a:ext uri="{FF2B5EF4-FFF2-40B4-BE49-F238E27FC236}">
                <a16:creationId xmlns:a16="http://schemas.microsoft.com/office/drawing/2014/main" id="{2C153ECC-1E15-4824-8EB8-82E01D25EFE6}"/>
              </a:ext>
            </a:extLst>
          </p:cNvPr>
          <p:cNvSpPr txBox="1"/>
          <p:nvPr/>
        </p:nvSpPr>
        <p:spPr>
          <a:xfrm>
            <a:off x="0" y="6430161"/>
            <a:ext cx="11954312" cy="369332"/>
          </a:xfrm>
          <a:prstGeom prst="rect">
            <a:avLst/>
          </a:prstGeom>
          <a:noFill/>
        </p:spPr>
        <p:txBody>
          <a:bodyPr wrap="square">
            <a:spAutoFit/>
          </a:bodyPr>
          <a:lstStyle/>
          <a:p>
            <a:pPr marL="0" marR="0">
              <a:spcBef>
                <a:spcPts val="0"/>
              </a:spcBef>
              <a:spcAft>
                <a:spcPts val="0"/>
              </a:spcAft>
              <a:tabLst>
                <a:tab pos="2971800" algn="ctr"/>
                <a:tab pos="5943600" algn="r"/>
              </a:tabLst>
            </a:pPr>
            <a:r>
              <a:rPr lang="en-US" sz="18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8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12A, 12B, 12C</a:t>
            </a:r>
          </a:p>
          <a:p>
            <a:pPr marL="0" indent="0">
              <a:buNone/>
            </a:pPr>
            <a:endParaRPr lang="en-US" dirty="0"/>
          </a:p>
          <a:p>
            <a:pPr marL="0" indent="0">
              <a:buNone/>
            </a:pPr>
            <a:r>
              <a:rPr lang="en-US" dirty="0"/>
              <a:t>The student will:</a:t>
            </a: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Arial" panose="020B0604020202020204" pitchFamily="34" charset="0"/>
              </a:rPr>
              <a:t>d</a:t>
            </a:r>
            <a:r>
              <a:rPr lang="en-US" dirty="0">
                <a:effectLst/>
                <a:latin typeface="Calibri" panose="020F0502020204030204" pitchFamily="34" charset="0"/>
                <a:ea typeface="Calibri" panose="020F0502020204030204" pitchFamily="34" charset="0"/>
                <a:cs typeface="Arial" panose="020B0604020202020204" pitchFamily="34" charset="0"/>
              </a:rPr>
              <a:t>escribe continuing education as a necessary component of a successful career in education.</a:t>
            </a:r>
          </a:p>
          <a:p>
            <a:pPr marL="342900" marR="0" lvl="0" indent="-342900">
              <a:lnSpc>
                <a:spcPct val="107000"/>
              </a:lnSpc>
              <a:spcBef>
                <a:spcPts val="0"/>
              </a:spcBef>
              <a:spcAft>
                <a:spcPts val="800"/>
              </a:spcAft>
              <a:buFont typeface="Symbol" panose="05050102010706020507" pitchFamily="18" charset="2"/>
              <a:buChar char=""/>
            </a:pPr>
            <a:r>
              <a:rPr lang="en-US" dirty="0">
                <a:latin typeface="Calibri" panose="020F0502020204030204" pitchFamily="34" charset="0"/>
                <a:ea typeface="Calibri" panose="020F0502020204030204" pitchFamily="34" charset="0"/>
                <a:cs typeface="Arial" panose="020B0604020202020204" pitchFamily="34" charset="0"/>
              </a:rPr>
              <a:t>d</a:t>
            </a:r>
            <a:r>
              <a:rPr lang="en-US" dirty="0">
                <a:effectLst/>
                <a:latin typeface="Calibri" panose="020F0502020204030204" pitchFamily="34" charset="0"/>
                <a:ea typeface="Calibri" panose="020F0502020204030204" pitchFamily="34" charset="0"/>
                <a:cs typeface="Arial" panose="020B0604020202020204" pitchFamily="34" charset="0"/>
              </a:rPr>
              <a:t>escribe the requirements for teacher professional development to maintain certification.</a:t>
            </a:r>
            <a:endParaRPr lang="en-US" sz="4000"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sz="2000" dirty="0"/>
              <a:t>Answer the questions in your Student Guide about the scenario below:</a:t>
            </a:r>
          </a:p>
          <a:p>
            <a:pPr marL="0" indent="0">
              <a:buNone/>
            </a:pPr>
            <a:endParaRPr lang="en-US" sz="2000" i="1" dirty="0"/>
          </a:p>
          <a:p>
            <a:pPr marL="0" indent="0">
              <a:buNone/>
            </a:pPr>
            <a:r>
              <a:rPr lang="en-US" sz="2000" i="1" dirty="0"/>
              <a:t>John is 15 and wants to be a lifeguard. John meets the minimum age and swimming requirements, but now must take a 26-hour course to become a lifeguard where he will learn First Aid to help someone if they have an injury, CPR to help someone who cannot breathe, and the skills necessary to save a life. At the end of the course, he will take exams on CPR/First Aid, and an exam to test his knowledge in order to become a lifeguard. </a:t>
            </a:r>
          </a:p>
          <a:p>
            <a:pPr marL="0" indent="0">
              <a:buNone/>
            </a:pPr>
            <a:endParaRPr lang="en-US" sz="2000" i="1" dirty="0"/>
          </a:p>
          <a:p>
            <a:pPr marL="0" indent="0">
              <a:buNone/>
            </a:pPr>
            <a:r>
              <a:rPr lang="en-US" sz="2000" i="1" dirty="0"/>
              <a:t>John becomes a lifeguard and passes all his exams. If he wants to remain a lifeguard after two years, he must pass all the exams again and he will continue to take them every two years after that . This is important to the safety of swimmers and patrons at the pool.</a:t>
            </a:r>
          </a:p>
          <a:p>
            <a:pPr marL="0" indent="0">
              <a:buNone/>
            </a:pPr>
            <a:endParaRPr lang="en-US" sz="2000" i="1" dirty="0"/>
          </a:p>
          <a:p>
            <a:pPr marL="0" indent="0">
              <a:buNone/>
            </a:pPr>
            <a:endParaRPr lang="en-US" sz="2000" i="1"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5" name="Content Placeholder 4">
            <a:extLst>
              <a:ext uri="{FF2B5EF4-FFF2-40B4-BE49-F238E27FC236}">
                <a16:creationId xmlns:a16="http://schemas.microsoft.com/office/drawing/2014/main" id="{A5BD9D64-C5C1-4062-A0C1-A190F2CFEBB3}"/>
              </a:ext>
            </a:extLst>
          </p:cNvPr>
          <p:cNvGraphicFramePr>
            <a:graphicFrameLocks noGrp="1"/>
          </p:cNvGraphicFramePr>
          <p:nvPr>
            <p:ph idx="1"/>
            <p:extLst>
              <p:ext uri="{D42A27DB-BD31-4B8C-83A1-F6EECF244321}">
                <p14:modId xmlns:p14="http://schemas.microsoft.com/office/powerpoint/2010/main" val="3624366630"/>
              </p:ext>
            </p:extLst>
          </p:nvPr>
        </p:nvGraphicFramePr>
        <p:xfrm>
          <a:off x="838200" y="2181137"/>
          <a:ext cx="10515600" cy="2847224"/>
        </p:xfrm>
        <a:graphic>
          <a:graphicData uri="http://schemas.openxmlformats.org/drawingml/2006/table">
            <a:tbl>
              <a:tblPr firstRow="1" firstCol="1" bandRow="1"/>
              <a:tblGrid>
                <a:gridCol w="2295924">
                  <a:extLst>
                    <a:ext uri="{9D8B030D-6E8A-4147-A177-3AD203B41FA5}">
                      <a16:colId xmlns:a16="http://schemas.microsoft.com/office/drawing/2014/main" val="3137216878"/>
                    </a:ext>
                  </a:extLst>
                </a:gridCol>
                <a:gridCol w="8219676">
                  <a:extLst>
                    <a:ext uri="{9D8B030D-6E8A-4147-A177-3AD203B41FA5}">
                      <a16:colId xmlns:a16="http://schemas.microsoft.com/office/drawing/2014/main" val="339948415"/>
                    </a:ext>
                  </a:extLst>
                </a:gridCol>
              </a:tblGrid>
              <a:tr h="1384184">
                <a:tc>
                  <a:txBody>
                    <a:bodyPr/>
                    <a:lstStyle/>
                    <a:p>
                      <a:pPr marL="0" marR="0">
                        <a:spcBef>
                          <a:spcPts val="600"/>
                        </a:spcBef>
                        <a:spcAft>
                          <a:spcPts val="600"/>
                        </a:spcAft>
                      </a:pPr>
                      <a:r>
                        <a:rPr lang="en-US" sz="2400" b="0">
                          <a:effectLst/>
                          <a:latin typeface="Calibri" panose="020F0502020204030204" pitchFamily="34" charset="0"/>
                          <a:ea typeface="Calibri" panose="020F0502020204030204" pitchFamily="34" charset="0"/>
                          <a:cs typeface="Arial" panose="020B0604020202020204" pitchFamily="34" charset="0"/>
                        </a:rPr>
                        <a:t>Continuing Education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Education courses and training for teachers to stay current with the latest developments in knowledge, theories, skills, and new technologies in the field of education. Continuing education is required to maintain a teaching license.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5819893"/>
                  </a:ext>
                </a:extLst>
              </a:tr>
              <a:tr h="1384184">
                <a:tc>
                  <a:txBody>
                    <a:bodyPr/>
                    <a:lstStyle/>
                    <a:p>
                      <a:pPr marL="0" marR="0">
                        <a:spcBef>
                          <a:spcPts val="600"/>
                        </a:spcBef>
                        <a:spcAft>
                          <a:spcPts val="600"/>
                        </a:spcAft>
                      </a:pPr>
                      <a:r>
                        <a:rPr lang="en-US" sz="2400" b="0" dirty="0">
                          <a:effectLst/>
                          <a:latin typeface="Calibri" panose="020F0502020204030204" pitchFamily="34" charset="0"/>
                          <a:ea typeface="Calibri" panose="020F0502020204030204" pitchFamily="34" charset="0"/>
                          <a:cs typeface="Arial" panose="020B0604020202020204" pitchFamily="34" charset="0"/>
                        </a:rPr>
                        <a:t>Continuing Education Credits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600"/>
                        </a:spcBef>
                        <a:spcAft>
                          <a:spcPts val="600"/>
                        </a:spcAft>
                      </a:pPr>
                      <a:r>
                        <a:rPr lang="en-US" sz="2400" dirty="0">
                          <a:effectLst/>
                          <a:latin typeface="Calibri" panose="020F0502020204030204" pitchFamily="34" charset="0"/>
                          <a:ea typeface="Calibri" panose="020F0502020204030204" pitchFamily="34" charset="0"/>
                          <a:cs typeface="Arial" panose="020B0604020202020204" pitchFamily="34" charset="0"/>
                        </a:rPr>
                        <a:t>The measurement of hours of courses and training the teacher receives for continuing education. A certain number of credits are required to maintain/renew a teaching license.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55192140"/>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What is Continuing Professional Education (CPE)?</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rPr>
              <a:t>CPE is the Texas equivalent to Continuing Education. It is required for all Texas educators holding a standard teaching certificate. The appropriate number of clock-hours of continuing professional education (CPE) must be completed during each five-year license renewal period.  Classroom teachers must complete 150 CPE hours.</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ECDB3-7F62-4124-A1E9-E48D699D2427}"/>
              </a:ext>
            </a:extLst>
          </p:cNvPr>
          <p:cNvSpPr>
            <a:spLocks noGrp="1"/>
          </p:cNvSpPr>
          <p:nvPr>
            <p:ph type="title"/>
          </p:nvPr>
        </p:nvSpPr>
        <p:spPr>
          <a:xfrm>
            <a:off x="838200" y="500062"/>
            <a:ext cx="10515600" cy="1325563"/>
          </a:xfrm>
        </p:spPr>
        <p:txBody>
          <a:bodyPr/>
          <a:lstStyle/>
          <a:p>
            <a:r>
              <a:rPr lang="en-US" dirty="0"/>
              <a:t>How Do Teachers Receive CPE?</a:t>
            </a:r>
          </a:p>
        </p:txBody>
      </p:sp>
      <p:sp>
        <p:nvSpPr>
          <p:cNvPr id="3" name="Content Placeholder 2">
            <a:extLst>
              <a:ext uri="{FF2B5EF4-FFF2-40B4-BE49-F238E27FC236}">
                <a16:creationId xmlns:a16="http://schemas.microsoft.com/office/drawing/2014/main" id="{012C84E3-4C09-4253-8964-13B9C34E5E48}"/>
              </a:ext>
            </a:extLst>
          </p:cNvPr>
          <p:cNvSpPr>
            <a:spLocks noGrp="1"/>
          </p:cNvSpPr>
          <p:nvPr>
            <p:ph idx="1"/>
          </p:nvPr>
        </p:nvSpPr>
        <p:spPr/>
        <p:txBody>
          <a:bodyPr>
            <a:normAutofit/>
          </a:bodyPr>
          <a:lstStyle/>
          <a:p>
            <a:pPr marL="0" indent="0">
              <a:buNone/>
            </a:pPr>
            <a:r>
              <a:rPr lang="en-US" i="1" dirty="0">
                <a:effectLst/>
                <a:latin typeface="Calibri" panose="020F0502020204030204" pitchFamily="34" charset="0"/>
                <a:ea typeface="Calibri" panose="020F0502020204030204" pitchFamily="34" charset="0"/>
              </a:rPr>
              <a:t>Teachers can receive CPE hours in many ways, including through taking online courses, training sessions, participate in teacher mentoring, attending conferences or workshops, professional development opportunities by the school or the district. Organizations that provide CPE hours must be approved by the Texas Education Agency.</a:t>
            </a:r>
            <a:endParaRPr lang="en-US" sz="4000" dirty="0"/>
          </a:p>
        </p:txBody>
      </p:sp>
      <p:sp>
        <p:nvSpPr>
          <p:cNvPr id="4" name="Slide Number Placeholder 3">
            <a:extLst>
              <a:ext uri="{FF2B5EF4-FFF2-40B4-BE49-F238E27FC236}">
                <a16:creationId xmlns:a16="http://schemas.microsoft.com/office/drawing/2014/main" id="{497159D5-CAC3-47F8-8492-7D28C15A3A58}"/>
              </a:ext>
            </a:extLst>
          </p:cNvPr>
          <p:cNvSpPr>
            <a:spLocks noGrp="1"/>
          </p:cNvSpPr>
          <p:nvPr>
            <p:ph type="sldNum" sz="quarter" idx="12"/>
          </p:nvPr>
        </p:nvSpPr>
        <p:spPr/>
        <p:txBody>
          <a:bodyPr/>
          <a:lstStyle/>
          <a:p>
            <a:fld id="{E2D56C8B-F564-4051-AFED-A78F1C6A2F0E}" type="slidenum">
              <a:rPr lang="en-US" smtClean="0"/>
              <a:pPr/>
              <a:t>6</a:t>
            </a:fld>
            <a:endParaRPr lang="en-US" dirty="0"/>
          </a:p>
        </p:txBody>
      </p:sp>
    </p:spTree>
    <p:extLst>
      <p:ext uri="{BB962C8B-B14F-4D97-AF65-F5344CB8AC3E}">
        <p14:creationId xmlns:p14="http://schemas.microsoft.com/office/powerpoint/2010/main" val="1163931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AC820-49EE-4F41-8B1F-B9E33FF6BE24}"/>
              </a:ext>
            </a:extLst>
          </p:cNvPr>
          <p:cNvSpPr>
            <a:spLocks noGrp="1"/>
          </p:cNvSpPr>
          <p:nvPr>
            <p:ph type="title"/>
          </p:nvPr>
        </p:nvSpPr>
        <p:spPr>
          <a:xfrm>
            <a:off x="838200" y="500062"/>
            <a:ext cx="10515600" cy="1325563"/>
          </a:xfrm>
        </p:spPr>
        <p:txBody>
          <a:bodyPr/>
          <a:lstStyle/>
          <a:p>
            <a:r>
              <a:rPr lang="en-US" dirty="0"/>
              <a:t>CPE and Teacher Success</a:t>
            </a:r>
          </a:p>
        </p:txBody>
      </p:sp>
      <p:sp>
        <p:nvSpPr>
          <p:cNvPr id="3" name="Content Placeholder 2">
            <a:extLst>
              <a:ext uri="{FF2B5EF4-FFF2-40B4-BE49-F238E27FC236}">
                <a16:creationId xmlns:a16="http://schemas.microsoft.com/office/drawing/2014/main" id="{79FFCA46-4155-4484-8350-F1E0B95F6088}"/>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Teachers stay up to date on new research on how students learn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Teachers stay up to date on emerging technology skills for the classroom</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Teachers interact/learn about new curriculum and resources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Techers connect with other teachers to promote effective collaboration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Teachers develop new skills and strategies </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rPr>
              <a:t>Teachers can refine their existing skills</a:t>
            </a:r>
            <a:endParaRPr lang="en-US" sz="4000" dirty="0"/>
          </a:p>
        </p:txBody>
      </p:sp>
      <p:sp>
        <p:nvSpPr>
          <p:cNvPr id="4" name="Slide Number Placeholder 3">
            <a:extLst>
              <a:ext uri="{FF2B5EF4-FFF2-40B4-BE49-F238E27FC236}">
                <a16:creationId xmlns:a16="http://schemas.microsoft.com/office/drawing/2014/main" id="{3E0C1FB4-016B-4122-B211-50411DB9BA9F}"/>
              </a:ext>
            </a:extLst>
          </p:cNvPr>
          <p:cNvSpPr>
            <a:spLocks noGrp="1"/>
          </p:cNvSpPr>
          <p:nvPr>
            <p:ph type="sldNum" sz="quarter" idx="12"/>
          </p:nvPr>
        </p:nvSpPr>
        <p:spPr/>
        <p:txBody>
          <a:bodyPr/>
          <a:lstStyle/>
          <a:p>
            <a:fld id="{E2D56C8B-F564-4051-AFED-A78F1C6A2F0E}" type="slidenum">
              <a:rPr lang="en-US" smtClean="0"/>
              <a:pPr/>
              <a:t>7</a:t>
            </a:fld>
            <a:endParaRPr lang="en-US" dirty="0"/>
          </a:p>
        </p:txBody>
      </p:sp>
    </p:spTree>
    <p:extLst>
      <p:ext uri="{BB962C8B-B14F-4D97-AF65-F5344CB8AC3E}">
        <p14:creationId xmlns:p14="http://schemas.microsoft.com/office/powerpoint/2010/main" val="417092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C003F-65DA-4664-9FD1-C2C3672644DA}"/>
              </a:ext>
            </a:extLst>
          </p:cNvPr>
          <p:cNvSpPr>
            <a:spLocks noGrp="1"/>
          </p:cNvSpPr>
          <p:nvPr>
            <p:ph type="title"/>
          </p:nvPr>
        </p:nvSpPr>
        <p:spPr/>
        <p:txBody>
          <a:bodyPr/>
          <a:lstStyle/>
          <a:p>
            <a:r>
              <a:rPr lang="en-US" dirty="0"/>
              <a:t>Where Do Teachers Get CPEs?</a:t>
            </a:r>
          </a:p>
        </p:txBody>
      </p:sp>
      <p:sp>
        <p:nvSpPr>
          <p:cNvPr id="3" name="Content Placeholder 2">
            <a:extLst>
              <a:ext uri="{FF2B5EF4-FFF2-40B4-BE49-F238E27FC236}">
                <a16:creationId xmlns:a16="http://schemas.microsoft.com/office/drawing/2014/main" id="{D53FA882-2EDD-49BD-AF02-3DD23F7EEA1A}"/>
              </a:ext>
            </a:extLst>
          </p:cNvPr>
          <p:cNvSpPr>
            <a:spLocks noGrp="1"/>
          </p:cNvSpPr>
          <p:nvPr>
            <p:ph idx="1"/>
          </p:nvPr>
        </p:nvSpPr>
        <p:spPr/>
        <p:txBody>
          <a:bodyPr>
            <a:normAutofit/>
          </a:bodyPr>
          <a:lstStyle/>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School districts and open-enrollment charter schools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TEA</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State Board for Educator Certification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Accredited institutions of higher education recognized by the Texas Higher Education Coordinating Board (THECB). This includes out-of-state institutions of higher education recognized by the THECB.</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cs typeface="Calibri" panose="020F0502020204030204" pitchFamily="34" charset="0"/>
              </a:rPr>
              <a:t>Regional education service centers (ESCs)</a:t>
            </a:r>
            <a:endParaRPr lang="en-US" dirty="0">
              <a:latin typeface="Calibri" panose="020F0502020204030204" pitchFamily="34" charset="0"/>
              <a:ea typeface="Times New Roman" panose="02020603050405020304" pitchFamily="18" charset="0"/>
              <a:cs typeface="Times New Roman" panose="02020603050405020304" pitchFamily="18" charset="0"/>
            </a:endParaRPr>
          </a:p>
          <a:p>
            <a:pPr marL="342900" marR="0" lvl="0" indent="-342900">
              <a:lnSpc>
                <a:spcPct val="107000"/>
              </a:lnSpc>
              <a:spcBef>
                <a:spcPts val="0"/>
              </a:spcBef>
              <a:spcAft>
                <a:spcPts val="800"/>
              </a:spcAft>
              <a:buFont typeface="Symbol" panose="05050102010706020507" pitchFamily="18" charset="2"/>
              <a:buChar char=""/>
            </a:pPr>
            <a:r>
              <a:rPr lang="en-US" i="1" dirty="0">
                <a:effectLst/>
                <a:latin typeface="Calibri" panose="020F0502020204030204" pitchFamily="34" charset="0"/>
                <a:ea typeface="Times New Roman" panose="02020603050405020304" pitchFamily="18" charset="0"/>
              </a:rPr>
              <a:t>Registered TEA Providers</a:t>
            </a:r>
            <a:endParaRPr lang="en-US" dirty="0"/>
          </a:p>
        </p:txBody>
      </p:sp>
      <p:sp>
        <p:nvSpPr>
          <p:cNvPr id="4" name="Slide Number Placeholder 3">
            <a:extLst>
              <a:ext uri="{FF2B5EF4-FFF2-40B4-BE49-F238E27FC236}">
                <a16:creationId xmlns:a16="http://schemas.microsoft.com/office/drawing/2014/main" id="{D6E76AA5-6E9C-44FE-AC2C-332E861C2A14}"/>
              </a:ext>
            </a:extLst>
          </p:cNvPr>
          <p:cNvSpPr>
            <a:spLocks noGrp="1"/>
          </p:cNvSpPr>
          <p:nvPr>
            <p:ph type="sldNum" sz="quarter" idx="12"/>
          </p:nvPr>
        </p:nvSpPr>
        <p:spPr/>
        <p:txBody>
          <a:bodyPr/>
          <a:lstStyle/>
          <a:p>
            <a:fld id="{E2D56C8B-F564-4051-AFED-A78F1C6A2F0E}" type="slidenum">
              <a:rPr lang="en-US" smtClean="0"/>
              <a:pPr/>
              <a:t>8</a:t>
            </a:fld>
            <a:endParaRPr lang="en-US" dirty="0"/>
          </a:p>
        </p:txBody>
      </p:sp>
    </p:spTree>
    <p:extLst>
      <p:ext uri="{BB962C8B-B14F-4D97-AF65-F5344CB8AC3E}">
        <p14:creationId xmlns:p14="http://schemas.microsoft.com/office/powerpoint/2010/main" val="2247424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49F8B-280A-4B3C-91B0-D7034AC27416}"/>
              </a:ext>
            </a:extLst>
          </p:cNvPr>
          <p:cNvSpPr>
            <a:spLocks noGrp="1"/>
          </p:cNvSpPr>
          <p:nvPr>
            <p:ph type="title"/>
          </p:nvPr>
        </p:nvSpPr>
        <p:spPr/>
        <p:txBody>
          <a:bodyPr/>
          <a:lstStyle/>
          <a:p>
            <a:r>
              <a:rPr lang="en-US" dirty="0"/>
              <a:t>Homework</a:t>
            </a:r>
          </a:p>
        </p:txBody>
      </p:sp>
      <p:sp>
        <p:nvSpPr>
          <p:cNvPr id="3" name="Content Placeholder 2">
            <a:extLst>
              <a:ext uri="{FF2B5EF4-FFF2-40B4-BE49-F238E27FC236}">
                <a16:creationId xmlns:a16="http://schemas.microsoft.com/office/drawing/2014/main" id="{60B97F60-6D0A-4242-82E2-34066998FB1C}"/>
              </a:ext>
            </a:extLst>
          </p:cNvPr>
          <p:cNvSpPr>
            <a:spLocks noGrp="1"/>
          </p:cNvSpPr>
          <p:nvPr>
            <p:ph idx="1"/>
          </p:nvPr>
        </p:nvSpPr>
        <p:spPr/>
        <p:txBody>
          <a:bodyPr>
            <a:normAutofit/>
          </a:bodyPr>
          <a:lstStyle/>
          <a:p>
            <a:pPr marL="0" marR="0" indent="0">
              <a:lnSpc>
                <a:spcPct val="107000"/>
              </a:lnSpc>
              <a:spcBef>
                <a:spcPts val="0"/>
              </a:spcBef>
              <a:spcAft>
                <a:spcPts val="0"/>
              </a:spcAft>
              <a:buNone/>
            </a:pPr>
            <a:r>
              <a:rPr lang="en-US" sz="20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Conduct an interview with your field site teacher or another teacher to learn more about their Continuing Teacher Education experiences. This assignment will be turned in at the end of Lesson 2.20.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1. How do you engage in Professional Development?</a:t>
            </a:r>
          </a:p>
          <a:p>
            <a:pPr marL="0" marR="0" indent="0">
              <a:lnSpc>
                <a:spcPct val="100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2. What organizations do you belong to? What types of Professional Developments do you participate in through these organizations?</a:t>
            </a:r>
          </a:p>
          <a:p>
            <a:pPr marL="0" marR="0" indent="0">
              <a:lnSpc>
                <a:spcPct val="100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3. Do you participate in Professional Development outside of the required number of hours? Why?</a:t>
            </a:r>
          </a:p>
          <a:p>
            <a:pPr marL="0" marR="0" indent="0">
              <a:lnSpc>
                <a:spcPct val="100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0000"/>
              </a:lnSpc>
              <a:spcBef>
                <a:spcPts val="0"/>
              </a:spcBef>
              <a:spcAft>
                <a:spcPts val="0"/>
              </a:spcAft>
              <a:buNone/>
            </a:pPr>
            <a:r>
              <a:rPr lang="en-US" sz="18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4. What Professional Development has been the most helpful to you? Why?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Slide Number Placeholder 3">
            <a:extLst>
              <a:ext uri="{FF2B5EF4-FFF2-40B4-BE49-F238E27FC236}">
                <a16:creationId xmlns:a16="http://schemas.microsoft.com/office/drawing/2014/main" id="{4B84DD25-F37E-4076-9459-6FF1334E321A}"/>
              </a:ext>
            </a:extLst>
          </p:cNvPr>
          <p:cNvSpPr>
            <a:spLocks noGrp="1"/>
          </p:cNvSpPr>
          <p:nvPr>
            <p:ph type="sldNum" sz="quarter" idx="12"/>
          </p:nvPr>
        </p:nvSpPr>
        <p:spPr/>
        <p:txBody>
          <a:bodyPr/>
          <a:lstStyle/>
          <a:p>
            <a:fld id="{E2D56C8B-F564-4051-AFED-A78F1C6A2F0E}" type="slidenum">
              <a:rPr lang="en-US" smtClean="0"/>
              <a:pPr/>
              <a:t>9</a:t>
            </a:fld>
            <a:endParaRPr lang="en-US" dirty="0"/>
          </a:p>
        </p:txBody>
      </p:sp>
    </p:spTree>
    <p:extLst>
      <p:ext uri="{BB962C8B-B14F-4D97-AF65-F5344CB8AC3E}">
        <p14:creationId xmlns:p14="http://schemas.microsoft.com/office/powerpoint/2010/main" val="10028194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Discuss at least three ways that continuing education supports success as a teacher.</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800"/>
              </a:spcAft>
              <a:buNone/>
            </a:pPr>
            <a:r>
              <a:rPr lang="en-US" sz="2400"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Once a teacher has earned their teaching certification, they must complete continuing education and renew their teaching certification periodically.  Which of the following below represents the renewal requirements for teachers in Texas?</a:t>
            </a:r>
          </a:p>
          <a:p>
            <a:pPr marL="800100" lvl="1" indent="-342900">
              <a:lnSpc>
                <a:spcPct val="107000"/>
              </a:lnSpc>
              <a:spcBef>
                <a:spcPts val="0"/>
              </a:spcBef>
              <a:buFont typeface="+mj-lt"/>
              <a:buAutoNum type="alphaLcPeriod"/>
            </a:pPr>
            <a:r>
              <a:rPr lang="en-US" sz="2000" dirty="0">
                <a:effectLst/>
                <a:latin typeface="Calibri" panose="020F0502020204030204" pitchFamily="34" charset="0"/>
                <a:ea typeface="Times New Roman" panose="02020603050405020304" pitchFamily="18" charset="0"/>
                <a:cs typeface="Calibri" panose="020F0502020204030204" pitchFamily="34" charset="0"/>
              </a:rPr>
              <a:t>Renew every 2 years with 75 required continuing professional education hours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eriod"/>
            </a:pPr>
            <a:r>
              <a:rPr lang="en-US" sz="2000" dirty="0">
                <a:effectLst/>
                <a:latin typeface="Calibri" panose="020F0502020204030204" pitchFamily="34" charset="0"/>
                <a:ea typeface="Times New Roman" panose="02020603050405020304" pitchFamily="18" charset="0"/>
                <a:cs typeface="Calibri" panose="020F0502020204030204" pitchFamily="34" charset="0"/>
              </a:rPr>
              <a:t>Renew every 5 years with 150 required continuing professional education hours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eriod"/>
            </a:pPr>
            <a:r>
              <a:rPr lang="en-US" sz="2000" dirty="0">
                <a:effectLst/>
                <a:latin typeface="Calibri" panose="020F0502020204030204" pitchFamily="34" charset="0"/>
                <a:ea typeface="Times New Roman" panose="02020603050405020304" pitchFamily="18" charset="0"/>
                <a:cs typeface="Calibri" panose="020F0502020204030204" pitchFamily="34" charset="0"/>
              </a:rPr>
              <a:t>Renew every year with 25 required continuing professional education hours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800100" lvl="1" indent="-342900">
              <a:lnSpc>
                <a:spcPct val="107000"/>
              </a:lnSpc>
              <a:spcBef>
                <a:spcPts val="0"/>
              </a:spcBef>
              <a:buFont typeface="+mj-lt"/>
              <a:buAutoNum type="alphaLcPeriod"/>
            </a:pPr>
            <a:r>
              <a:rPr lang="en-US" sz="2000" dirty="0">
                <a:effectLst/>
                <a:latin typeface="Calibri" panose="020F0502020204030204" pitchFamily="34" charset="0"/>
                <a:ea typeface="Times New Roman" panose="02020603050405020304" pitchFamily="18" charset="0"/>
                <a:cs typeface="Calibri" panose="020F0502020204030204" pitchFamily="34" charset="0"/>
              </a:rPr>
              <a:t>Renew every 10 years with 150 required continuing professional education hours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10</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112</TotalTime>
  <Words>748</Words>
  <Application>Microsoft Office PowerPoint</Application>
  <PresentationFormat>Widescreen</PresentationFormat>
  <Paragraphs>65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Symbol</vt:lpstr>
      <vt:lpstr>Office Theme</vt:lpstr>
      <vt:lpstr>Practicum in Education and Training| Unit 2: The Professional Educator | Lesson 2.18</vt:lpstr>
      <vt:lpstr>TEKS Standards &amp; Objectives</vt:lpstr>
      <vt:lpstr>Bellringer</vt:lpstr>
      <vt:lpstr>Vocabulary</vt:lpstr>
      <vt:lpstr>What is Continuing Professional Education (CPE)?</vt:lpstr>
      <vt:lpstr>How Do Teachers Receive CPE?</vt:lpstr>
      <vt:lpstr>CPE and Teacher Success</vt:lpstr>
      <vt:lpstr>Where Do Teachers Get CPEs?</vt:lpstr>
      <vt:lpstr>Homework</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2.18: Importance of Continuing Education for Teachers</dc:title>
  <dc:subject>Lesson 2.18: Importance of Continuing Education for Teachers</dc:subject>
  <dc:creator>Texas Education Agency</dc:creator>
  <cp:lastModifiedBy>White (she/her), Whitney</cp:lastModifiedBy>
  <cp:revision>3</cp:revision>
  <dcterms:created xsi:type="dcterms:W3CDTF">2022-05-09T19:40:20Z</dcterms:created>
  <dcterms:modified xsi:type="dcterms:W3CDTF">2023-08-31T19:43:19Z</dcterms:modified>
</cp:coreProperties>
</file>
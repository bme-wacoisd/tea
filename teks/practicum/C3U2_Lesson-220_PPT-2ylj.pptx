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9" r:id="rId3"/>
    <p:sldId id="258" r:id="rId4"/>
    <p:sldId id="261" r:id="rId5"/>
    <p:sldId id="264" r:id="rId6"/>
    <p:sldId id="263"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D211E6-ADAC-48DF-9203-FC3959A3E681}" v="1" dt="2023-08-31T19:43:47.3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02" d="100"/>
          <a:sy n="102" d="100"/>
        </p:scale>
        <p:origin x="114" y="3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docChgLst>
    <pc:chgData name="White (she/her), Whitney" userId="65f39021-2f1d-4d8b-87dc-b123826f65bf" providerId="ADAL" clId="{CFD211E6-ADAC-48DF-9203-FC3959A3E681}"/>
    <pc:docChg chg="modSld">
      <pc:chgData name="White (she/her), Whitney" userId="65f39021-2f1d-4d8b-87dc-b123826f65bf" providerId="ADAL" clId="{CFD211E6-ADAC-48DF-9203-FC3959A3E681}" dt="2023-08-31T19:44:01.249" v="3" actId="13244"/>
      <pc:docMkLst>
        <pc:docMk/>
      </pc:docMkLst>
      <pc:sldChg chg="addSp modSp mod">
        <pc:chgData name="White (she/her), Whitney" userId="65f39021-2f1d-4d8b-87dc-b123826f65bf" providerId="ADAL" clId="{CFD211E6-ADAC-48DF-9203-FC3959A3E681}" dt="2023-08-31T19:43:49.221" v="2" actId="1076"/>
        <pc:sldMkLst>
          <pc:docMk/>
          <pc:sldMk cId="1482277026" sldId="256"/>
        </pc:sldMkLst>
        <pc:spChg chg="mod">
          <ac:chgData name="White (she/her), Whitney" userId="65f39021-2f1d-4d8b-87dc-b123826f65bf" providerId="ADAL" clId="{CFD211E6-ADAC-48DF-9203-FC3959A3E681}" dt="2023-08-31T19:43:49.221" v="2" actId="1076"/>
          <ac:spMkLst>
            <pc:docMk/>
            <pc:sldMk cId="1482277026" sldId="256"/>
            <ac:spMk id="2" creationId="{BFFCF5BD-F8FF-4A67-A8B6-EBB21E79279B}"/>
          </ac:spMkLst>
        </pc:spChg>
        <pc:spChg chg="add mod">
          <ac:chgData name="White (she/her), Whitney" userId="65f39021-2f1d-4d8b-87dc-b123826f65bf" providerId="ADAL" clId="{CFD211E6-ADAC-48DF-9203-FC3959A3E681}" dt="2023-08-31T19:43:47.361" v="1"/>
          <ac:spMkLst>
            <pc:docMk/>
            <pc:sldMk cId="1482277026" sldId="256"/>
            <ac:spMk id="4" creationId="{902FD892-9581-6B33-EA37-B61700AB24F2}"/>
          </ac:spMkLst>
        </pc:spChg>
      </pc:sldChg>
      <pc:sldChg chg="modSp mod">
        <pc:chgData name="White (she/her), Whitney" userId="65f39021-2f1d-4d8b-87dc-b123826f65bf" providerId="ADAL" clId="{CFD211E6-ADAC-48DF-9203-FC3959A3E681}" dt="2023-08-31T19:44:01.249" v="3" actId="13244"/>
        <pc:sldMkLst>
          <pc:docMk/>
          <pc:sldMk cId="2147408764" sldId="260"/>
        </pc:sldMkLst>
        <pc:spChg chg="ord">
          <ac:chgData name="White (she/her), Whitney" userId="65f39021-2f1d-4d8b-87dc-b123826f65bf" providerId="ADAL" clId="{CFD211E6-ADAC-48DF-9203-FC3959A3E681}" dt="2023-08-31T19:44:01.249" v="3" actId="13244"/>
          <ac:spMkLst>
            <pc:docMk/>
            <pc:sldMk cId="2147408764" sldId="260"/>
            <ac:spMk id="4" creationId="{00210221-3F4A-4187-A674-5BB2A5218FDE}"/>
          </ac:spMkLst>
        </pc:spChg>
      </pc:sldChg>
    </pc:docChg>
  </pc:docChgLst>
  <pc:docChgLst>
    <pc:chgData name="White, Whitney" userId="65f39021-2f1d-4d8b-87dc-b123826f65bf" providerId="ADAL" clId="{0863EBFF-5904-4135-9E1E-F9226BF9EAEF}"/>
    <pc:docChg chg="custSel delSld modSld">
      <pc:chgData name="White, Whitney" userId="65f39021-2f1d-4d8b-87dc-b123826f65bf" providerId="ADAL" clId="{0863EBFF-5904-4135-9E1E-F9226BF9EAEF}" dt="2022-08-04T15:57:54.942" v="791" actId="1076"/>
      <pc:docMkLst>
        <pc:docMk/>
      </pc:docMkLst>
      <pc:sldChg chg="modSp mod">
        <pc:chgData name="White, Whitney" userId="65f39021-2f1d-4d8b-87dc-b123826f65bf" providerId="ADAL" clId="{0863EBFF-5904-4135-9E1E-F9226BF9EAEF}" dt="2022-08-04T15:49:40.328" v="40" actId="20577"/>
        <pc:sldMkLst>
          <pc:docMk/>
          <pc:sldMk cId="1482277026" sldId="256"/>
        </pc:sldMkLst>
        <pc:spChg chg="mod">
          <ac:chgData name="White, Whitney" userId="65f39021-2f1d-4d8b-87dc-b123826f65bf" providerId="ADAL" clId="{0863EBFF-5904-4135-9E1E-F9226BF9EAEF}" dt="2022-07-31T17:05:46.192" v="7" actId="27636"/>
          <ac:spMkLst>
            <pc:docMk/>
            <pc:sldMk cId="1482277026" sldId="256"/>
            <ac:spMk id="2" creationId="{BFFCF5BD-F8FF-4A67-A8B6-EBB21E79279B}"/>
          </ac:spMkLst>
        </pc:spChg>
        <pc:spChg chg="mod">
          <ac:chgData name="White, Whitney" userId="65f39021-2f1d-4d8b-87dc-b123826f65bf" providerId="ADAL" clId="{0863EBFF-5904-4135-9E1E-F9226BF9EAEF}" dt="2022-08-04T15:49:40.328" v="40" actId="20577"/>
          <ac:spMkLst>
            <pc:docMk/>
            <pc:sldMk cId="1482277026" sldId="256"/>
            <ac:spMk id="3" creationId="{E0FBD98F-3A67-498E-8174-652040DD7B60}"/>
          </ac:spMkLst>
        </pc:spChg>
      </pc:sldChg>
      <pc:sldChg chg="addSp delSp modSp mod">
        <pc:chgData name="White, Whitney" userId="65f39021-2f1d-4d8b-87dc-b123826f65bf" providerId="ADAL" clId="{0863EBFF-5904-4135-9E1E-F9226BF9EAEF}" dt="2022-08-04T15:51:44.297" v="406" actId="20577"/>
        <pc:sldMkLst>
          <pc:docMk/>
          <pc:sldMk cId="4071305681" sldId="258"/>
        </pc:sldMkLst>
        <pc:spChg chg="add del mod">
          <ac:chgData name="White, Whitney" userId="65f39021-2f1d-4d8b-87dc-b123826f65bf" providerId="ADAL" clId="{0863EBFF-5904-4135-9E1E-F9226BF9EAEF}" dt="2022-08-04T15:51:44.297" v="406" actId="20577"/>
          <ac:spMkLst>
            <pc:docMk/>
            <pc:sldMk cId="4071305681" sldId="258"/>
            <ac:spMk id="3" creationId="{392BE286-77A6-49DD-B15D-7E4718D52FE7}"/>
          </ac:spMkLst>
        </pc:spChg>
        <pc:spChg chg="add del">
          <ac:chgData name="White, Whitney" userId="65f39021-2f1d-4d8b-87dc-b123826f65bf" providerId="ADAL" clId="{0863EBFF-5904-4135-9E1E-F9226BF9EAEF}" dt="2022-08-04T15:50:22.423" v="64"/>
          <ac:spMkLst>
            <pc:docMk/>
            <pc:sldMk cId="4071305681" sldId="258"/>
            <ac:spMk id="6" creationId="{CF82A496-F2EC-4E00-B7C7-2F557A3AFFE4}"/>
          </ac:spMkLst>
        </pc:spChg>
        <pc:spChg chg="add del mod">
          <ac:chgData name="White, Whitney" userId="65f39021-2f1d-4d8b-87dc-b123826f65bf" providerId="ADAL" clId="{0863EBFF-5904-4135-9E1E-F9226BF9EAEF}" dt="2022-08-04T15:51:05.063" v="233" actId="21"/>
          <ac:spMkLst>
            <pc:docMk/>
            <pc:sldMk cId="4071305681" sldId="258"/>
            <ac:spMk id="8" creationId="{63FD7F2B-09FA-42EB-8472-022832196AB3}"/>
          </ac:spMkLst>
        </pc:spChg>
        <pc:graphicFrameChg chg="add del mod">
          <ac:chgData name="White, Whitney" userId="65f39021-2f1d-4d8b-87dc-b123826f65bf" providerId="ADAL" clId="{0863EBFF-5904-4135-9E1E-F9226BF9EAEF}" dt="2022-08-04T15:50:22.423" v="64"/>
          <ac:graphicFrameMkLst>
            <pc:docMk/>
            <pc:sldMk cId="4071305681" sldId="258"/>
            <ac:graphicFrameMk id="5" creationId="{DA09FE39-CB8D-4A61-B6C6-D79542E6E782}"/>
          </ac:graphicFrameMkLst>
        </pc:graphicFrameChg>
        <pc:graphicFrameChg chg="add del mod">
          <ac:chgData name="White, Whitney" userId="65f39021-2f1d-4d8b-87dc-b123826f65bf" providerId="ADAL" clId="{0863EBFF-5904-4135-9E1E-F9226BF9EAEF}" dt="2022-08-04T15:51:08.519" v="234" actId="21"/>
          <ac:graphicFrameMkLst>
            <pc:docMk/>
            <pc:sldMk cId="4071305681" sldId="258"/>
            <ac:graphicFrameMk id="7" creationId="{5597BE21-EB49-4E5C-9B39-F35F27FDE732}"/>
          </ac:graphicFrameMkLst>
        </pc:graphicFrameChg>
      </pc:sldChg>
      <pc:sldChg chg="modSp mod">
        <pc:chgData name="White, Whitney" userId="65f39021-2f1d-4d8b-87dc-b123826f65bf" providerId="ADAL" clId="{0863EBFF-5904-4135-9E1E-F9226BF9EAEF}" dt="2022-08-04T15:50:12.650" v="62" actId="255"/>
        <pc:sldMkLst>
          <pc:docMk/>
          <pc:sldMk cId="2772527113" sldId="259"/>
        </pc:sldMkLst>
        <pc:spChg chg="mod">
          <ac:chgData name="White, Whitney" userId="65f39021-2f1d-4d8b-87dc-b123826f65bf" providerId="ADAL" clId="{0863EBFF-5904-4135-9E1E-F9226BF9EAEF}" dt="2022-08-04T15:50:12.650" v="62" actId="255"/>
          <ac:spMkLst>
            <pc:docMk/>
            <pc:sldMk cId="2772527113" sldId="259"/>
            <ac:spMk id="3" creationId="{8CE08C7F-0286-423B-92F7-DEB89F31111A}"/>
          </ac:spMkLst>
        </pc:spChg>
      </pc:sldChg>
      <pc:sldChg chg="addSp delSp modSp mod">
        <pc:chgData name="White, Whitney" userId="65f39021-2f1d-4d8b-87dc-b123826f65bf" providerId="ADAL" clId="{0863EBFF-5904-4135-9E1E-F9226BF9EAEF}" dt="2022-08-04T15:57:54.942" v="791" actId="1076"/>
        <pc:sldMkLst>
          <pc:docMk/>
          <pc:sldMk cId="2147408764" sldId="260"/>
        </pc:sldMkLst>
        <pc:spChg chg="mod">
          <ac:chgData name="White, Whitney" userId="65f39021-2f1d-4d8b-87dc-b123826f65bf" providerId="ADAL" clId="{0863EBFF-5904-4135-9E1E-F9226BF9EAEF}" dt="2022-08-04T15:57:03.070" v="756" actId="20577"/>
          <ac:spMkLst>
            <pc:docMk/>
            <pc:sldMk cId="2147408764" sldId="260"/>
            <ac:spMk id="3" creationId="{49F2A5AF-3C0B-4968-A438-E435325199EA}"/>
          </ac:spMkLst>
        </pc:spChg>
        <pc:graphicFrameChg chg="add del mod">
          <ac:chgData name="White, Whitney" userId="65f39021-2f1d-4d8b-87dc-b123826f65bf" providerId="ADAL" clId="{0863EBFF-5904-4135-9E1E-F9226BF9EAEF}" dt="2022-08-04T15:57:09.622" v="758"/>
          <ac:graphicFrameMkLst>
            <pc:docMk/>
            <pc:sldMk cId="2147408764" sldId="260"/>
            <ac:graphicFrameMk id="5" creationId="{C31C4EEE-ABFD-422B-8C00-B1805B7C2E84}"/>
          </ac:graphicFrameMkLst>
        </pc:graphicFrameChg>
        <pc:graphicFrameChg chg="add mod modGraphic">
          <ac:chgData name="White, Whitney" userId="65f39021-2f1d-4d8b-87dc-b123826f65bf" providerId="ADAL" clId="{0863EBFF-5904-4135-9E1E-F9226BF9EAEF}" dt="2022-08-04T15:57:54.942" v="791" actId="1076"/>
          <ac:graphicFrameMkLst>
            <pc:docMk/>
            <pc:sldMk cId="2147408764" sldId="260"/>
            <ac:graphicFrameMk id="6" creationId="{124908BF-892E-4A67-88C8-25C8AC668175}"/>
          </ac:graphicFrameMkLst>
        </pc:graphicFrameChg>
      </pc:sldChg>
      <pc:sldChg chg="addSp delSp modSp mod">
        <pc:chgData name="White, Whitney" userId="65f39021-2f1d-4d8b-87dc-b123826f65bf" providerId="ADAL" clId="{0863EBFF-5904-4135-9E1E-F9226BF9EAEF}" dt="2022-08-04T15:52:12.564" v="415" actId="1076"/>
        <pc:sldMkLst>
          <pc:docMk/>
          <pc:sldMk cId="3054216349" sldId="261"/>
        </pc:sldMkLst>
        <pc:spChg chg="del">
          <ac:chgData name="White, Whitney" userId="65f39021-2f1d-4d8b-87dc-b123826f65bf" providerId="ADAL" clId="{0863EBFF-5904-4135-9E1E-F9226BF9EAEF}" dt="2022-08-04T15:51:59.607" v="407"/>
          <ac:spMkLst>
            <pc:docMk/>
            <pc:sldMk cId="3054216349" sldId="261"/>
            <ac:spMk id="3" creationId="{AE13FDB6-F093-4D9E-B14E-3D7DB894C34C}"/>
          </ac:spMkLst>
        </pc:spChg>
        <pc:graphicFrameChg chg="add mod modGraphic">
          <ac:chgData name="White, Whitney" userId="65f39021-2f1d-4d8b-87dc-b123826f65bf" providerId="ADAL" clId="{0863EBFF-5904-4135-9E1E-F9226BF9EAEF}" dt="2022-08-04T15:52:12.564" v="415" actId="1076"/>
          <ac:graphicFrameMkLst>
            <pc:docMk/>
            <pc:sldMk cId="3054216349" sldId="261"/>
            <ac:graphicFrameMk id="5" creationId="{CE24C8EE-0839-4FD6-802E-A0DD116AF5F7}"/>
          </ac:graphicFrameMkLst>
        </pc:graphicFrameChg>
      </pc:sldChg>
      <pc:sldChg chg="modSp del mod">
        <pc:chgData name="White, Whitney" userId="65f39021-2f1d-4d8b-87dc-b123826f65bf" providerId="ADAL" clId="{0863EBFF-5904-4135-9E1E-F9226BF9EAEF}" dt="2022-08-04T15:56:04.946" v="748" actId="2696"/>
        <pc:sldMkLst>
          <pc:docMk/>
          <pc:sldMk cId="4170921578" sldId="262"/>
        </pc:sldMkLst>
        <pc:spChg chg="mod">
          <ac:chgData name="White, Whitney" userId="65f39021-2f1d-4d8b-87dc-b123826f65bf" providerId="ADAL" clId="{0863EBFF-5904-4135-9E1E-F9226BF9EAEF}" dt="2022-08-04T15:55:28.594" v="747" actId="20577"/>
          <ac:spMkLst>
            <pc:docMk/>
            <pc:sldMk cId="4170921578" sldId="262"/>
            <ac:spMk id="2" creationId="{A7DAC820-49EE-4F41-8B1F-B9E33FF6BE24}"/>
          </ac:spMkLst>
        </pc:spChg>
      </pc:sldChg>
      <pc:sldChg chg="modSp mod">
        <pc:chgData name="White, Whitney" userId="65f39021-2f1d-4d8b-87dc-b123826f65bf" providerId="ADAL" clId="{0863EBFF-5904-4135-9E1E-F9226BF9EAEF}" dt="2022-08-04T15:55:11.225" v="732" actId="20577"/>
        <pc:sldMkLst>
          <pc:docMk/>
          <pc:sldMk cId="1163931679" sldId="263"/>
        </pc:sldMkLst>
        <pc:spChg chg="mod">
          <ac:chgData name="White, Whitney" userId="65f39021-2f1d-4d8b-87dc-b123826f65bf" providerId="ADAL" clId="{0863EBFF-5904-4135-9E1E-F9226BF9EAEF}" dt="2022-08-04T15:54:55.632" v="722" actId="20577"/>
          <ac:spMkLst>
            <pc:docMk/>
            <pc:sldMk cId="1163931679" sldId="263"/>
            <ac:spMk id="2" creationId="{531ECDB3-7F62-4124-A1E9-E48D699D2427}"/>
          </ac:spMkLst>
        </pc:spChg>
        <pc:spChg chg="mod">
          <ac:chgData name="White, Whitney" userId="65f39021-2f1d-4d8b-87dc-b123826f65bf" providerId="ADAL" clId="{0863EBFF-5904-4135-9E1E-F9226BF9EAEF}" dt="2022-08-04T15:55:11.225" v="732" actId="20577"/>
          <ac:spMkLst>
            <pc:docMk/>
            <pc:sldMk cId="1163931679" sldId="263"/>
            <ac:spMk id="3" creationId="{012C84E3-4C09-4253-8964-13B9C34E5E48}"/>
          </ac:spMkLst>
        </pc:spChg>
      </pc:sldChg>
      <pc:sldChg chg="addSp modSp mod modClrScheme chgLayout">
        <pc:chgData name="White, Whitney" userId="65f39021-2f1d-4d8b-87dc-b123826f65bf" providerId="ADAL" clId="{0863EBFF-5904-4135-9E1E-F9226BF9EAEF}" dt="2022-08-04T15:54:32.068" v="650" actId="255"/>
        <pc:sldMkLst>
          <pc:docMk/>
          <pc:sldMk cId="3493109116" sldId="264"/>
        </pc:sldMkLst>
        <pc:spChg chg="mod ord">
          <ac:chgData name="White, Whitney" userId="65f39021-2f1d-4d8b-87dc-b123826f65bf" providerId="ADAL" clId="{0863EBFF-5904-4135-9E1E-F9226BF9EAEF}" dt="2022-08-04T15:53:16.846" v="485" actId="700"/>
          <ac:spMkLst>
            <pc:docMk/>
            <pc:sldMk cId="3493109116" sldId="264"/>
            <ac:spMk id="2" creationId="{D7836664-70C0-47BA-9BFF-496A04EBBFDE}"/>
          </ac:spMkLst>
        </pc:spChg>
        <pc:spChg chg="mod ord">
          <ac:chgData name="White, Whitney" userId="65f39021-2f1d-4d8b-87dc-b123826f65bf" providerId="ADAL" clId="{0863EBFF-5904-4135-9E1E-F9226BF9EAEF}" dt="2022-08-04T15:53:16.846" v="485" actId="700"/>
          <ac:spMkLst>
            <pc:docMk/>
            <pc:sldMk cId="3493109116" sldId="264"/>
            <ac:spMk id="3" creationId="{F64339F5-2F5D-46B5-A25D-C197D73747BD}"/>
          </ac:spMkLst>
        </pc:spChg>
        <pc:spChg chg="mod ord">
          <ac:chgData name="White, Whitney" userId="65f39021-2f1d-4d8b-87dc-b123826f65bf" providerId="ADAL" clId="{0863EBFF-5904-4135-9E1E-F9226BF9EAEF}" dt="2022-08-04T15:53:16.846" v="485" actId="700"/>
          <ac:spMkLst>
            <pc:docMk/>
            <pc:sldMk cId="3493109116" sldId="264"/>
            <ac:spMk id="4" creationId="{F767700B-954E-42AD-AD69-9CC1C5B510A5}"/>
          </ac:spMkLst>
        </pc:spChg>
        <pc:spChg chg="add mod ord">
          <ac:chgData name="White, Whitney" userId="65f39021-2f1d-4d8b-87dc-b123826f65bf" providerId="ADAL" clId="{0863EBFF-5904-4135-9E1E-F9226BF9EAEF}" dt="2022-08-04T15:54:32.068" v="650" actId="255"/>
          <ac:spMkLst>
            <pc:docMk/>
            <pc:sldMk cId="3493109116" sldId="264"/>
            <ac:spMk id="5" creationId="{B2F2251E-084E-4860-8675-5DE3A9A09CD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9861"/>
            <a:ext cx="9144000" cy="370300"/>
          </a:xfrm>
        </p:spPr>
        <p:txBody>
          <a:bodyPr>
            <a:normAutofit/>
          </a:bodyPr>
          <a:lstStyle/>
          <a:p>
            <a:pPr algn="l"/>
            <a:r>
              <a:rPr lang="en-US" sz="1800" dirty="0"/>
              <a:t>Practicum in Education and Training| Unit 2: The Professional Educator | Lesson 2.20</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Systems for Professional Growth</a:t>
            </a:r>
          </a:p>
        </p:txBody>
      </p:sp>
      <p:sp>
        <p:nvSpPr>
          <p:cNvPr id="4" name="TextBox 3">
            <a:extLst>
              <a:ext uri="{FF2B5EF4-FFF2-40B4-BE49-F238E27FC236}">
                <a16:creationId xmlns:a16="http://schemas.microsoft.com/office/drawing/2014/main" id="{902FD892-9581-6B33-EA37-B61700AB24F2}"/>
              </a:ext>
            </a:extLst>
          </p:cNvPr>
          <p:cNvSpPr txBox="1"/>
          <p:nvPr/>
        </p:nvSpPr>
        <p:spPr>
          <a:xfrm>
            <a:off x="0" y="6430161"/>
            <a:ext cx="11954312" cy="369332"/>
          </a:xfrm>
          <a:prstGeom prst="rect">
            <a:avLst/>
          </a:prstGeom>
          <a:noFill/>
        </p:spPr>
        <p:txBody>
          <a:bodyPr wrap="square">
            <a:spAutoFit/>
          </a:bodyPr>
          <a:lstStyle/>
          <a:p>
            <a:pPr marL="0" marR="0">
              <a:spcBef>
                <a:spcPts val="0"/>
              </a:spcBef>
              <a:spcAft>
                <a:spcPts val="0"/>
              </a:spcAft>
              <a:tabLst>
                <a:tab pos="2971800" algn="ctr"/>
                <a:tab pos="5943600" algn="r"/>
              </a:tabLst>
            </a:pPr>
            <a:r>
              <a:rPr lang="en-US" sz="18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8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normAutofit/>
          </a:bodyPr>
          <a:lstStyle/>
          <a:p>
            <a:pPr marL="0" indent="0">
              <a:buNone/>
            </a:pPr>
            <a:r>
              <a:rPr lang="en-US" dirty="0"/>
              <a:t>TEKS 12A, 12B, 12C</a:t>
            </a:r>
          </a:p>
          <a:p>
            <a:pPr marL="0" indent="0">
              <a:buNone/>
            </a:pPr>
            <a:endParaRPr lang="en-US" dirty="0"/>
          </a:p>
          <a:p>
            <a:pPr marL="0" indent="0">
              <a:buNone/>
            </a:pPr>
            <a:r>
              <a:rPr lang="en-US" dirty="0"/>
              <a:t>The student will:</a:t>
            </a:r>
          </a:p>
          <a:p>
            <a:r>
              <a:rPr lang="en-US" dirty="0">
                <a:ea typeface="Calibri" panose="020F0502020204030204" pitchFamily="34" charset="0"/>
                <a:cs typeface="Arial" panose="020B0604020202020204" pitchFamily="34" charset="0"/>
              </a:rPr>
              <a:t>d</a:t>
            </a:r>
            <a:r>
              <a:rPr lang="en-US" dirty="0">
                <a:effectLst/>
                <a:ea typeface="Calibri" panose="020F0502020204030204" pitchFamily="34" charset="0"/>
                <a:cs typeface="Arial" panose="020B0604020202020204" pitchFamily="34" charset="0"/>
              </a:rPr>
              <a:t>escribe school or district-based system activities for teacher professional growth (PLCs, peer observation, action research, Lesson Study).</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dirty="0"/>
              <a:t>Referring to your homework assignment from Lesson 2.18 to interview a teacher about their PD experiences, please answer the questions below: </a:t>
            </a:r>
          </a:p>
          <a:p>
            <a:pPr marL="0" indent="0">
              <a:buNone/>
            </a:pPr>
            <a:endParaRPr lang="en-US" dirty="0"/>
          </a:p>
          <a:p>
            <a:pPr marL="0" indent="0">
              <a:buNone/>
            </a:pPr>
            <a:r>
              <a:rPr lang="en-US" dirty="0"/>
              <a:t>What are some examples of how the teacher you interviewed participated in professional development? </a:t>
            </a:r>
          </a:p>
          <a:p>
            <a:pPr marL="0" indent="0">
              <a:buNone/>
            </a:pPr>
            <a:endParaRPr lang="en-US" dirty="0"/>
          </a:p>
          <a:p>
            <a:pPr marL="0" indent="0">
              <a:buNone/>
            </a:pPr>
            <a:r>
              <a:rPr lang="en-US" dirty="0"/>
              <a:t>How does professional development support a growth mindset?</a:t>
            </a:r>
          </a:p>
          <a:p>
            <a:pPr marL="0" indent="0">
              <a:buNone/>
            </a:pP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Content Placeholder 4">
            <a:extLst>
              <a:ext uri="{FF2B5EF4-FFF2-40B4-BE49-F238E27FC236}">
                <a16:creationId xmlns:a16="http://schemas.microsoft.com/office/drawing/2014/main" id="{CE24C8EE-0839-4FD6-802E-A0DD116AF5F7}"/>
              </a:ext>
            </a:extLst>
          </p:cNvPr>
          <p:cNvGraphicFramePr>
            <a:graphicFrameLocks noGrp="1"/>
          </p:cNvGraphicFramePr>
          <p:nvPr>
            <p:ph idx="1"/>
            <p:extLst>
              <p:ext uri="{D42A27DB-BD31-4B8C-83A1-F6EECF244321}">
                <p14:modId xmlns:p14="http://schemas.microsoft.com/office/powerpoint/2010/main" val="2278135102"/>
              </p:ext>
            </p:extLst>
          </p:nvPr>
        </p:nvGraphicFramePr>
        <p:xfrm>
          <a:off x="838200" y="1984303"/>
          <a:ext cx="10515600" cy="3925062"/>
        </p:xfrm>
        <a:graphic>
          <a:graphicData uri="http://schemas.openxmlformats.org/drawingml/2006/table">
            <a:tbl>
              <a:tblPr firstRow="1" firstCol="1" bandRow="1"/>
              <a:tblGrid>
                <a:gridCol w="2295924">
                  <a:extLst>
                    <a:ext uri="{9D8B030D-6E8A-4147-A177-3AD203B41FA5}">
                      <a16:colId xmlns:a16="http://schemas.microsoft.com/office/drawing/2014/main" val="2910030140"/>
                    </a:ext>
                  </a:extLst>
                </a:gridCol>
                <a:gridCol w="8219676">
                  <a:extLst>
                    <a:ext uri="{9D8B030D-6E8A-4147-A177-3AD203B41FA5}">
                      <a16:colId xmlns:a16="http://schemas.microsoft.com/office/drawing/2014/main" val="2795339373"/>
                    </a:ext>
                  </a:extLst>
                </a:gridCol>
              </a:tblGrid>
              <a:tr h="1187631">
                <a:tc>
                  <a:txBody>
                    <a:bodyPr/>
                    <a:lstStyle/>
                    <a:p>
                      <a:pPr marL="0" marR="0">
                        <a:spcBef>
                          <a:spcPts val="600"/>
                        </a:spcBef>
                        <a:spcAft>
                          <a:spcPts val="600"/>
                        </a:spcAft>
                      </a:pPr>
                      <a:r>
                        <a:rPr lang="en-US" sz="2000">
                          <a:effectLst/>
                          <a:latin typeface="Calibri" panose="020F0502020204030204" pitchFamily="34" charset="0"/>
                          <a:ea typeface="Calibri" panose="020F0502020204030204" pitchFamily="34" charset="0"/>
                          <a:cs typeface="Arial" panose="020B0604020202020204" pitchFamily="34" charset="0"/>
                        </a:rPr>
                        <a:t>Professional Learning Communities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tabLst>
                          <a:tab pos="850900" algn="l"/>
                        </a:tabLst>
                      </a:pPr>
                      <a:r>
                        <a:rPr lang="en-US" sz="2000">
                          <a:effectLst/>
                          <a:latin typeface="Calibri" panose="020F0502020204030204" pitchFamily="34" charset="0"/>
                          <a:ea typeface="Calibri" panose="020F0502020204030204" pitchFamily="34" charset="0"/>
                          <a:cs typeface="Arial" panose="020B0604020202020204" pitchFamily="34" charset="0"/>
                        </a:rPr>
                        <a:t>A group of educators that meet regularly to share expertise and works collaboratively to improve teaching skills and the academic performance of students.</a:t>
                      </a:r>
                    </a:p>
                    <a:p>
                      <a:pPr marL="0" marR="0">
                        <a:spcBef>
                          <a:spcPts val="600"/>
                        </a:spcBef>
                        <a:spcAft>
                          <a:spcPts val="600"/>
                        </a:spcAft>
                      </a:pPr>
                      <a:r>
                        <a:rPr lang="en-US" sz="2000" i="1">
                          <a:effectLst/>
                          <a:latin typeface="Calibri" panose="020F0502020204030204" pitchFamily="34" charset="0"/>
                          <a:ea typeface="Calibri" panose="020F0502020204030204" pitchFamily="34" charset="0"/>
                          <a:cs typeface="Arial" panose="020B0604020202020204" pitchFamily="34" charset="0"/>
                        </a:rPr>
                        <a:t> </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9597990"/>
                  </a:ext>
                </a:extLst>
              </a:tr>
              <a:tr h="691430">
                <a:tc>
                  <a:txBody>
                    <a:bodyPr/>
                    <a:lstStyle/>
                    <a:p>
                      <a:pPr marL="0" marR="0">
                        <a:spcBef>
                          <a:spcPts val="600"/>
                        </a:spcBef>
                        <a:spcAft>
                          <a:spcPts val="600"/>
                        </a:spcAft>
                      </a:pPr>
                      <a:r>
                        <a:rPr lang="en-US" sz="2000">
                          <a:effectLst/>
                          <a:latin typeface="Calibri" panose="020F0502020204030204" pitchFamily="34" charset="0"/>
                          <a:ea typeface="Calibri" panose="020F0502020204030204" pitchFamily="34" charset="0"/>
                          <a:cs typeface="Arial" panose="020B0604020202020204" pitchFamily="34" charset="0"/>
                        </a:rPr>
                        <a:t>Peer Observation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tabLst>
                          <a:tab pos="850900" algn="l"/>
                        </a:tabLst>
                      </a:pPr>
                      <a:r>
                        <a:rPr lang="en-US" sz="2000">
                          <a:effectLst/>
                          <a:latin typeface="Calibri" panose="020F0502020204030204" pitchFamily="34" charset="0"/>
                          <a:ea typeface="Calibri" panose="020F0502020204030204" pitchFamily="34" charset="0"/>
                          <a:cs typeface="Arial" panose="020B0604020202020204" pitchFamily="34" charset="0"/>
                        </a:rPr>
                        <a:t>Observing the practice of another teacher to learn from one another not to formally evaluate the teacher.</a:t>
                      </a:r>
                    </a:p>
                    <a:p>
                      <a:pPr marL="0" marR="0">
                        <a:lnSpc>
                          <a:spcPct val="107000"/>
                        </a:lnSpc>
                        <a:spcBef>
                          <a:spcPts val="0"/>
                        </a:spcBef>
                        <a:spcAft>
                          <a:spcPts val="0"/>
                        </a:spcAft>
                        <a:tabLst>
                          <a:tab pos="850900" algn="l"/>
                        </a:tabLst>
                      </a:pPr>
                      <a:r>
                        <a:rPr lang="en-US" sz="2000">
                          <a:effectLst/>
                          <a:latin typeface="Calibri" panose="020F050202020403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7787171"/>
                  </a:ext>
                </a:extLst>
              </a:tr>
              <a:tr h="691430">
                <a:tc>
                  <a:txBody>
                    <a:bodyPr/>
                    <a:lstStyle/>
                    <a:p>
                      <a:pPr marL="0" marR="0">
                        <a:spcBef>
                          <a:spcPts val="600"/>
                        </a:spcBef>
                        <a:spcAft>
                          <a:spcPts val="600"/>
                        </a:spcAft>
                      </a:pPr>
                      <a:r>
                        <a:rPr lang="en-US" sz="2000">
                          <a:effectLst/>
                          <a:latin typeface="Calibri" panose="020F0502020204030204" pitchFamily="34" charset="0"/>
                          <a:ea typeface="Calibri" panose="020F0502020204030204" pitchFamily="34" charset="0"/>
                          <a:cs typeface="Arial" panose="020B0604020202020204" pitchFamily="34" charset="0"/>
                        </a:rPr>
                        <a:t>Action Research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tabLst>
                          <a:tab pos="850900" algn="l"/>
                        </a:tabLst>
                      </a:pPr>
                      <a:r>
                        <a:rPr lang="en-US" sz="2000">
                          <a:effectLst/>
                          <a:latin typeface="Calibri" panose="020F0502020204030204" pitchFamily="34" charset="0"/>
                          <a:ea typeface="Calibri" panose="020F0502020204030204" pitchFamily="34" charset="0"/>
                          <a:cs typeface="Arial" panose="020B0604020202020204" pitchFamily="34" charset="0"/>
                        </a:rPr>
                        <a:t>Form of investigation used by teachers to attempt to solve problems and improve professional practices in their classroom.</a:t>
                      </a:r>
                    </a:p>
                    <a:p>
                      <a:pPr marL="0" marR="0">
                        <a:lnSpc>
                          <a:spcPct val="107000"/>
                        </a:lnSpc>
                        <a:spcBef>
                          <a:spcPts val="0"/>
                        </a:spcBef>
                        <a:spcAft>
                          <a:spcPts val="0"/>
                        </a:spcAft>
                        <a:tabLst>
                          <a:tab pos="850900" algn="l"/>
                        </a:tabLst>
                      </a:pPr>
                      <a:r>
                        <a:rPr lang="en-US" sz="2000">
                          <a:effectLst/>
                          <a:latin typeface="Calibri" panose="020F050202020403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1188867"/>
                  </a:ext>
                </a:extLst>
              </a:tr>
              <a:tr h="525611">
                <a:tc>
                  <a:txBody>
                    <a:bodyPr/>
                    <a:lstStyle/>
                    <a:p>
                      <a:pPr marL="0" marR="0">
                        <a:spcBef>
                          <a:spcPts val="600"/>
                        </a:spcBef>
                        <a:spcAft>
                          <a:spcPts val="600"/>
                        </a:spcAft>
                      </a:pPr>
                      <a:r>
                        <a:rPr lang="en-US" sz="2000">
                          <a:effectLst/>
                          <a:latin typeface="Calibri" panose="020F0502020204030204" pitchFamily="34" charset="0"/>
                          <a:ea typeface="Calibri" panose="020F0502020204030204" pitchFamily="34" charset="0"/>
                          <a:cs typeface="Arial" panose="020B0604020202020204" pitchFamily="34" charset="0"/>
                        </a:rPr>
                        <a:t>Lesson Study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tabLst>
                          <a:tab pos="850900" algn="l"/>
                        </a:tabLst>
                      </a:pPr>
                      <a:r>
                        <a:rPr lang="en-US" sz="2000" dirty="0">
                          <a:effectLst/>
                          <a:latin typeface="Calibri" panose="020F0502020204030204" pitchFamily="34" charset="0"/>
                          <a:ea typeface="Calibri" panose="020F0502020204030204" pitchFamily="34" charset="0"/>
                          <a:cs typeface="Arial" panose="020B0604020202020204" pitchFamily="34" charset="0"/>
                        </a:rPr>
                        <a:t>Collaborative model where teachers plan a lesson together, teach and observe the lesson, and reflect on the success of the lesson.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4396845"/>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p:txBody>
          <a:bodyPr/>
          <a:lstStyle/>
          <a:p>
            <a:r>
              <a:rPr lang="en-US" dirty="0"/>
              <a:t>What are school and district-based systems for teacher growth?</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sz="half" idx="1"/>
          </p:nvPr>
        </p:nvSpPr>
        <p:spPr/>
        <p:txBody>
          <a:bodyPr>
            <a:normAutofit/>
          </a:bodyPr>
          <a:lstStyle/>
          <a:p>
            <a:pPr marL="0" indent="0">
              <a:buNone/>
            </a:pPr>
            <a:r>
              <a:rPr lang="en-US" i="1" dirty="0">
                <a:effectLst/>
                <a:latin typeface="Calibri" panose="020F0502020204030204" pitchFamily="34" charset="0"/>
                <a:ea typeface="Calibri" panose="020F0502020204030204" pitchFamily="34" charset="0"/>
                <a:cs typeface="Times New Roman" panose="02020603050405020304" pitchFamily="18" charset="0"/>
              </a:rPr>
              <a:t>Schools and districts create different programs and activities to help teachers grow as practitioners, to learn new or refine current skills and knowledge of practice and enable capacity building. It is the commitment to improving</a:t>
            </a:r>
            <a:endParaRPr lang="en-US" sz="4000" dirty="0"/>
          </a:p>
        </p:txBody>
      </p:sp>
      <p:sp>
        <p:nvSpPr>
          <p:cNvPr id="5" name="Content Placeholder 4">
            <a:extLst>
              <a:ext uri="{FF2B5EF4-FFF2-40B4-BE49-F238E27FC236}">
                <a16:creationId xmlns:a16="http://schemas.microsoft.com/office/drawing/2014/main" id="{B2F2251E-084E-4860-8675-5DE3A9A09CD2}"/>
              </a:ext>
            </a:extLst>
          </p:cNvPr>
          <p:cNvSpPr>
            <a:spLocks noGrp="1"/>
          </p:cNvSpPr>
          <p:nvPr>
            <p:ph sz="half" idx="2"/>
          </p:nvPr>
        </p:nvSpPr>
        <p:spPr/>
        <p:txBody>
          <a:bodyPr>
            <a:normAutofit/>
          </a:bodyPr>
          <a:lstStyle/>
          <a:p>
            <a:pPr marL="0" indent="0">
              <a:buNone/>
            </a:pPr>
            <a:r>
              <a:rPr lang="en-US" sz="2600" i="1" dirty="0"/>
              <a:t>Examples: </a:t>
            </a:r>
          </a:p>
          <a:p>
            <a:r>
              <a:rPr lang="en-US" sz="2600" i="1" dirty="0"/>
              <a:t>Professional Learning Communities</a:t>
            </a:r>
          </a:p>
          <a:p>
            <a:r>
              <a:rPr lang="en-US" sz="2600" i="1" dirty="0"/>
              <a:t>Peer Observation</a:t>
            </a:r>
          </a:p>
          <a:p>
            <a:r>
              <a:rPr lang="en-US" sz="2600" i="1" dirty="0"/>
              <a:t>Action Research</a:t>
            </a:r>
          </a:p>
          <a:p>
            <a:r>
              <a:rPr lang="en-US" sz="2600" i="1" dirty="0"/>
              <a:t>Lesson Study</a:t>
            </a:r>
          </a:p>
          <a:p>
            <a:r>
              <a:rPr lang="en-US" sz="2600" i="1" dirty="0"/>
              <a:t>Online Courses</a:t>
            </a:r>
          </a:p>
          <a:p>
            <a:r>
              <a:rPr lang="en-US" sz="2600" i="1" dirty="0"/>
              <a:t>Professional Development Sessions</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Why do school and district-based systems for teacher growth exist?</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a:bodyPr>
          <a:lstStyle/>
          <a:p>
            <a:pPr marL="0" indent="0">
              <a:buNone/>
            </a:pPr>
            <a:r>
              <a:rPr lang="en-US" i="1" dirty="0">
                <a:effectLst/>
                <a:latin typeface="Calibri" panose="020F0502020204030204" pitchFamily="34" charset="0"/>
                <a:ea typeface="Calibri" panose="020F0502020204030204" pitchFamily="34" charset="0"/>
                <a:cs typeface="Times New Roman" panose="02020603050405020304" pitchFamily="18" charset="0"/>
              </a:rPr>
              <a:t>They help support student success and growth to be ready for post-secondary life. Systems of teacher growth are meant to align to student achievement and benefit the performance of students. They are supportive, job-embedded, focused on instruction, continuous, and collaborative</a:t>
            </a:r>
            <a:endParaRPr lang="en-US" sz="4000" dirty="0"/>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6393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0" indent="0">
              <a:buNone/>
            </a:pPr>
            <a:r>
              <a:rPr lang="en-US" dirty="0">
                <a:solidFill>
                  <a:srgbClr val="000000"/>
                </a:solidFill>
                <a:effectLst/>
                <a:latin typeface="Calibri" panose="020F0502020204030204" pitchFamily="34" charset="0"/>
                <a:ea typeface="Times New Roman" panose="02020603050405020304" pitchFamily="18" charset="0"/>
              </a:rPr>
              <a:t>Match each of the district systems for teacher professional growth with the appropriate description below. </a:t>
            </a:r>
          </a:p>
          <a:p>
            <a:pPr marL="0" indent="0">
              <a:buNone/>
            </a:pPr>
            <a:endParaRPr lang="en-US" sz="4000" dirty="0">
              <a:solidFill>
                <a:srgbClr val="000000"/>
              </a:solidFill>
              <a:latin typeface="Calibri" panose="020F0502020204030204" pitchFamily="34" charset="0"/>
            </a:endParaRPr>
          </a:p>
          <a:p>
            <a:pPr marL="0" indent="0">
              <a:buNone/>
            </a:pPr>
            <a:endParaRPr lang="en-US" sz="4000" dirty="0"/>
          </a:p>
        </p:txBody>
      </p:sp>
      <p:graphicFrame>
        <p:nvGraphicFramePr>
          <p:cNvPr id="6" name="Table 5">
            <a:extLst>
              <a:ext uri="{FF2B5EF4-FFF2-40B4-BE49-F238E27FC236}">
                <a16:creationId xmlns:a16="http://schemas.microsoft.com/office/drawing/2014/main" id="{124908BF-892E-4A67-88C8-25C8AC668175}"/>
              </a:ext>
            </a:extLst>
          </p:cNvPr>
          <p:cNvGraphicFramePr>
            <a:graphicFrameLocks noGrp="1"/>
          </p:cNvGraphicFramePr>
          <p:nvPr>
            <p:extLst>
              <p:ext uri="{D42A27DB-BD31-4B8C-83A1-F6EECF244321}">
                <p14:modId xmlns:p14="http://schemas.microsoft.com/office/powerpoint/2010/main" val="811989860"/>
              </p:ext>
            </p:extLst>
          </p:nvPr>
        </p:nvGraphicFramePr>
        <p:xfrm>
          <a:off x="2213993" y="2944536"/>
          <a:ext cx="7768207" cy="2827090"/>
        </p:xfrm>
        <a:graphic>
          <a:graphicData uri="http://schemas.openxmlformats.org/drawingml/2006/table">
            <a:tbl>
              <a:tblPr firstRow="1" firstCol="1" bandRow="1"/>
              <a:tblGrid>
                <a:gridCol w="465428">
                  <a:extLst>
                    <a:ext uri="{9D8B030D-6E8A-4147-A177-3AD203B41FA5}">
                      <a16:colId xmlns:a16="http://schemas.microsoft.com/office/drawing/2014/main" val="3311797721"/>
                    </a:ext>
                  </a:extLst>
                </a:gridCol>
                <a:gridCol w="1773060">
                  <a:extLst>
                    <a:ext uri="{9D8B030D-6E8A-4147-A177-3AD203B41FA5}">
                      <a16:colId xmlns:a16="http://schemas.microsoft.com/office/drawing/2014/main" val="880187699"/>
                    </a:ext>
                  </a:extLst>
                </a:gridCol>
                <a:gridCol w="210540">
                  <a:extLst>
                    <a:ext uri="{9D8B030D-6E8A-4147-A177-3AD203B41FA5}">
                      <a16:colId xmlns:a16="http://schemas.microsoft.com/office/drawing/2014/main" val="377098381"/>
                    </a:ext>
                  </a:extLst>
                </a:gridCol>
                <a:gridCol w="5319179">
                  <a:extLst>
                    <a:ext uri="{9D8B030D-6E8A-4147-A177-3AD203B41FA5}">
                      <a16:colId xmlns:a16="http://schemas.microsoft.com/office/drawing/2014/main" val="2222927142"/>
                    </a:ext>
                  </a:extLst>
                </a:gridCol>
              </a:tblGrid>
              <a:tr h="250678">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Supports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Descriptions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798645"/>
                  </a:ext>
                </a:extLst>
              </a:tr>
              <a:tr h="775244">
                <a:tc>
                  <a:txBody>
                    <a:bodyPr/>
                    <a:lstStyle/>
                    <a:p>
                      <a:pPr marL="0" marR="0">
                        <a:lnSpc>
                          <a:spcPct val="107000"/>
                        </a:lnSpc>
                        <a:spcBef>
                          <a:spcPts val="0"/>
                        </a:spcBef>
                        <a:spcAft>
                          <a:spcPts val="0"/>
                        </a:spcAft>
                      </a:pPr>
                      <a:r>
                        <a:rPr lang="en-US" sz="1100" i="1">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Professional Learning Communities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marL="0" marR="0" lvl="0" indent="0">
                        <a:lnSpc>
                          <a:spcPct val="107000"/>
                        </a:lnSpc>
                        <a:spcBef>
                          <a:spcPts val="0"/>
                        </a:spcBef>
                        <a:spcAft>
                          <a:spcPts val="0"/>
                        </a:spcAft>
                        <a:buFont typeface="+mj-lt"/>
                        <a:buNone/>
                      </a:pPr>
                      <a:r>
                        <a:rPr lang="en-US" sz="11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   Collaborative model where teachers plan a lesson together, teach and observe the lesson, and reflect on the success of the lesson.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93963769"/>
                  </a:ext>
                </a:extLst>
              </a:tr>
              <a:tr h="512962">
                <a:tc>
                  <a:txBody>
                    <a:bodyPr/>
                    <a:lstStyle/>
                    <a:p>
                      <a:pPr marL="0" marR="0">
                        <a:lnSpc>
                          <a:spcPct val="107000"/>
                        </a:lnSpc>
                        <a:spcBef>
                          <a:spcPts val="0"/>
                        </a:spcBef>
                        <a:spcAft>
                          <a:spcPts val="0"/>
                        </a:spcAft>
                      </a:pPr>
                      <a:r>
                        <a:rPr lang="en-US" sz="1100" i="1">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Peer Observation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marL="0" marR="0" lvl="0" indent="0">
                        <a:lnSpc>
                          <a:spcPct val="107000"/>
                        </a:lnSpc>
                        <a:spcBef>
                          <a:spcPts val="0"/>
                        </a:spcBef>
                        <a:spcAft>
                          <a:spcPts val="0"/>
                        </a:spcAft>
                        <a:buFont typeface="+mj-lt"/>
                        <a:buNone/>
                      </a:pPr>
                      <a:r>
                        <a:rPr lang="en-US" sz="11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    Observing the practice of another teacher to learn from one another.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01564241"/>
                  </a:ext>
                </a:extLst>
              </a:tr>
              <a:tr h="775244">
                <a:tc>
                  <a:txBody>
                    <a:bodyPr/>
                    <a:lstStyle/>
                    <a:p>
                      <a:pPr marL="0" marR="0">
                        <a:lnSpc>
                          <a:spcPct val="107000"/>
                        </a:lnSpc>
                        <a:spcBef>
                          <a:spcPts val="0"/>
                        </a:spcBef>
                        <a:spcAft>
                          <a:spcPts val="0"/>
                        </a:spcAft>
                      </a:pPr>
                      <a:r>
                        <a:rPr lang="en-US" sz="1100" i="1" dirty="0">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 Research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marL="0" marR="0" lvl="0" indent="0">
                        <a:lnSpc>
                          <a:spcPct val="107000"/>
                        </a:lnSpc>
                        <a:spcBef>
                          <a:spcPts val="0"/>
                        </a:spcBef>
                        <a:spcAft>
                          <a:spcPts val="0"/>
                        </a:spcAft>
                        <a:buFont typeface="+mj-lt"/>
                        <a:buNone/>
                      </a:pPr>
                      <a:r>
                        <a:rPr lang="en-US" sz="11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   A group of educators that meet regularly to share expertise and works collaboratively to improve teaching skills and the academic performance of students.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0402893"/>
                  </a:ext>
                </a:extLst>
              </a:tr>
              <a:tr h="512962">
                <a:tc>
                  <a:txBody>
                    <a:bodyPr/>
                    <a:lstStyle/>
                    <a:p>
                      <a:pPr marL="0" marR="0">
                        <a:lnSpc>
                          <a:spcPct val="107000"/>
                        </a:lnSpc>
                        <a:spcBef>
                          <a:spcPts val="0"/>
                        </a:spcBef>
                        <a:spcAft>
                          <a:spcPts val="0"/>
                        </a:spcAft>
                      </a:pPr>
                      <a:r>
                        <a:rPr lang="en-US" sz="1100" i="1">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Lesson Study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marL="0" marR="0" lvl="0" indent="0">
                        <a:lnSpc>
                          <a:spcPct val="107000"/>
                        </a:lnSpc>
                        <a:spcBef>
                          <a:spcPts val="0"/>
                        </a:spcBef>
                        <a:spcAft>
                          <a:spcPts val="0"/>
                        </a:spcAft>
                        <a:buFont typeface="+mj-lt"/>
                        <a:buNone/>
                      </a:pPr>
                      <a:r>
                        <a:rPr lang="en-US" sz="11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   Form of investigation used by teachers to attempt to solve problems and improve professional practices in their classroom.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0222013"/>
                  </a:ext>
                </a:extLst>
              </a:tr>
            </a:tbl>
          </a:graphicData>
        </a:graphic>
      </p:graphicFrame>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TotalTime>
  <Words>468</Words>
  <Application>Microsoft Office PowerPoint</Application>
  <PresentationFormat>Widescreen</PresentationFormat>
  <Paragraphs>65</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Practicum in Education and Training| Unit 2: The Professional Educator | Lesson 2.20</vt:lpstr>
      <vt:lpstr>TEKS Standards &amp; Objectives</vt:lpstr>
      <vt:lpstr>Bellringer</vt:lpstr>
      <vt:lpstr>Vocabulary</vt:lpstr>
      <vt:lpstr>What are school and district-based systems for teacher growth?</vt:lpstr>
      <vt:lpstr>Why do school and district-based systems for teacher growth exist?</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2.20: Systems for Professional Growth</dc:title>
  <dc:subject>Lesson 2.20: Systems for Professional Growth</dc:subject>
  <dc:creator>Texas Education Agency</dc:creator>
  <cp:lastModifiedBy>White (she/her), Whitney</cp:lastModifiedBy>
  <cp:revision>3</cp:revision>
  <dcterms:created xsi:type="dcterms:W3CDTF">2022-05-09T19:40:20Z</dcterms:created>
  <dcterms:modified xsi:type="dcterms:W3CDTF">2023-08-31T19:44:01Z</dcterms:modified>
</cp:coreProperties>
</file>
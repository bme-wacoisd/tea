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9" r:id="rId6"/>
    <p:sldId id="258" r:id="rId7"/>
    <p:sldId id="264" r:id="rId8"/>
    <p:sldId id="268" r:id="rId9"/>
    <p:sldId id="280" r:id="rId10"/>
    <p:sldId id="276" r:id="rId11"/>
    <p:sldId id="277" r:id="rId12"/>
    <p:sldId id="27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C7485E-8965-545B-9404-991EF975EB98}" v="46" dt="2025-05-16T19:40:14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4" d="100"/>
          <a:sy n="64" d="100"/>
        </p:scale>
        <p:origin x="36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6/6/2025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6/6/2025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099" y="6071912"/>
            <a:ext cx="9144000" cy="370300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 dirty="0"/>
              <a:t>Practicum| Unit 3: Research-Based Instructional Strategies (RBIS) Reading Language Arts (RLA)| Lesson 3.12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1107281"/>
          </a:xfrm>
        </p:spPr>
        <p:txBody>
          <a:bodyPr>
            <a:normAutofit/>
          </a:bodyPr>
          <a:lstStyle/>
          <a:p>
            <a:r>
              <a:rPr lang="en-US" sz="6000" dirty="0"/>
              <a:t>UDL in Literacy Instruction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6AFF34EA-215B-6211-7188-47141F745EFF}"/>
              </a:ext>
            </a:extLst>
          </p:cNvPr>
          <p:cNvSpPr txBox="1"/>
          <p:nvPr/>
        </p:nvSpPr>
        <p:spPr>
          <a:xfrm>
            <a:off x="104099" y="6442212"/>
            <a:ext cx="11241925" cy="33855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+mj-lt"/>
              </a:rPr>
              <a:t>This work is licensed under a </a:t>
            </a:r>
            <a:r>
              <a:rPr lang="en-US" sz="1600" u="sng" dirty="0">
                <a:latin typeface="+mj-lt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TEKS 4E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Compare a traditional approach to planning with a UDL approach </a:t>
            </a:r>
          </a:p>
          <a:p>
            <a:r>
              <a:rPr lang="en-US" dirty="0"/>
              <a:t>Describe how a UDL approach promotes more </a:t>
            </a:r>
            <a:r>
              <a:rPr lang="en-US"/>
              <a:t>accessible</a:t>
            </a:r>
            <a:r>
              <a:rPr lang="en-US" dirty="0"/>
              <a:t> outcomes for all students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/>
        </p:nvSpPr>
        <p:spPr>
          <a:xfrm>
            <a:off x="932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2</a:t>
            </a:fld>
            <a:endParaRPr lang="en-US" sz="12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2AFAA9-17C6-BCAB-9BBE-C93D3A997C62}"/>
              </a:ext>
            </a:extLst>
          </p:cNvPr>
          <p:cNvSpPr txBox="1"/>
          <p:nvPr/>
        </p:nvSpPr>
        <p:spPr>
          <a:xfrm>
            <a:off x="10409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3.12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dance instructor of a ballet and tap class is buying new dance shoes for her students. Since the average shoe size for a 16-year-old is a women’s 8.5, she buys everyone the same size dance shoes.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Provide three reasons why this isn’t a good idea.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F5B8E5-A149-5DBC-810A-A8B46C3EF1A9}"/>
              </a:ext>
            </a:extLst>
          </p:cNvPr>
          <p:cNvSpPr>
            <a:spLocks noGrp="1"/>
          </p:cNvSpPr>
          <p:nvPr/>
        </p:nvSpPr>
        <p:spPr>
          <a:xfrm>
            <a:off x="932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3</a:t>
            </a:fld>
            <a:endParaRPr lang="en-US" sz="12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68139DB-3CC1-A896-8E11-2B4F419CF415}"/>
              </a:ext>
            </a:extLst>
          </p:cNvPr>
          <p:cNvSpPr txBox="1"/>
          <p:nvPr/>
        </p:nvSpPr>
        <p:spPr>
          <a:xfrm>
            <a:off x="10409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3.12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17269"/>
            <a:ext cx="10515600" cy="1325563"/>
          </a:xfrm>
        </p:spPr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2860C0F-BA53-412B-8826-DAA9A1B29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8835"/>
              </p:ext>
            </p:extLst>
          </p:nvPr>
        </p:nvGraphicFramePr>
        <p:xfrm>
          <a:off x="472440" y="1173548"/>
          <a:ext cx="10515600" cy="5045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331">
                  <a:extLst>
                    <a:ext uri="{9D8B030D-6E8A-4147-A177-3AD203B41FA5}">
                      <a16:colId xmlns:a16="http://schemas.microsoft.com/office/drawing/2014/main" val="1922918179"/>
                    </a:ext>
                  </a:extLst>
                </a:gridCol>
                <a:gridCol w="7720269">
                  <a:extLst>
                    <a:ext uri="{9D8B030D-6E8A-4147-A177-3AD203B41FA5}">
                      <a16:colId xmlns:a16="http://schemas.microsoft.com/office/drawing/2014/main" val="3619535809"/>
                    </a:ext>
                  </a:extLst>
                </a:gridCol>
              </a:tblGrid>
              <a:tr h="350005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189608"/>
                  </a:ext>
                </a:extLst>
              </a:tr>
              <a:tr h="66981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Universal Design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The design of buildings, products or environments to make them accessible to people, regardless of age, disability or other factors.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9762599"/>
                  </a:ext>
                </a:extLst>
              </a:tr>
              <a:tr h="82519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Universal Design for Learning (UDL)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 educational framework to guide the development of flexible learning environments that can accommodate individual learning differences through engagement, representation, and expression. UDL minimizes barriers and maximizes learning for all students.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2417617"/>
                  </a:ext>
                </a:extLst>
              </a:tr>
              <a:tr h="885363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UDL Guidelines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set of strategies that can be applied to any subject or grade level to ensure that all learners can access and participate in meaningful, challenging learning opportunities. (CAST, 2022)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6994879"/>
                  </a:ext>
                </a:extLst>
              </a:tr>
              <a:tr h="62364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Means of Engagement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Providing various ways of engaging with material to stimulate interest and motivation for learning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2717954"/>
                  </a:ext>
                </a:extLst>
              </a:tr>
              <a:tr h="83763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Means of Representation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Presenting information and content in different ways to support learning for all students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2993322"/>
                  </a:ext>
                </a:extLst>
              </a:tr>
              <a:tr h="837631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Means of Action &amp; Expression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Offering options for ways students can demonstrate their learning and express what they know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6734933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1DE7A06-DC0F-B90E-7ACB-63459D2A6CB4}"/>
              </a:ext>
            </a:extLst>
          </p:cNvPr>
          <p:cNvSpPr>
            <a:spLocks noGrp="1"/>
          </p:cNvSpPr>
          <p:nvPr/>
        </p:nvSpPr>
        <p:spPr>
          <a:xfrm>
            <a:off x="932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4</a:t>
            </a:fld>
            <a:endParaRPr lang="en-US" sz="12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8203953-E25C-9720-6036-D93BD8E3F980}"/>
              </a:ext>
            </a:extLst>
          </p:cNvPr>
          <p:cNvSpPr txBox="1"/>
          <p:nvPr/>
        </p:nvSpPr>
        <p:spPr>
          <a:xfrm>
            <a:off x="10409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3.12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 dirty="0"/>
              <a:t>Notes: Defining UDL</a:t>
            </a:r>
          </a:p>
        </p:txBody>
      </p:sp>
      <p:pic>
        <p:nvPicPr>
          <p:cNvPr id="5" name="Picture 4" descr="An image of a woman in a wheel chair sitting at the base of a stair case.">
            <a:extLst>
              <a:ext uri="{FF2B5EF4-FFF2-40B4-BE49-F238E27FC236}">
                <a16:creationId xmlns:a16="http://schemas.microsoft.com/office/drawing/2014/main" id="{BECCA4A7-674D-9992-3628-306577FD7F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85"/>
          <a:stretch/>
        </p:blipFill>
        <p:spPr bwMode="auto">
          <a:xfrm>
            <a:off x="3566173" y="1291132"/>
            <a:ext cx="5059653" cy="501661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23FC7E7-78D2-18E9-46B3-5804DE8A15BB}"/>
              </a:ext>
            </a:extLst>
          </p:cNvPr>
          <p:cNvSpPr>
            <a:spLocks noGrp="1"/>
          </p:cNvSpPr>
          <p:nvPr/>
        </p:nvSpPr>
        <p:spPr>
          <a:xfrm>
            <a:off x="932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5</a:t>
            </a:fld>
            <a:endParaRPr lang="en-US" sz="12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C796D6A-140E-1A46-D69E-293675FC3BE3}"/>
              </a:ext>
            </a:extLst>
          </p:cNvPr>
          <p:cNvSpPr txBox="1"/>
          <p:nvPr/>
        </p:nvSpPr>
        <p:spPr>
          <a:xfrm>
            <a:off x="10409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3.12 | This work is licensed under a </a:t>
            </a:r>
            <a:r>
              <a:rPr lang="en-US" sz="900" u="sng" dirty="0">
                <a:hlinkClick r:id="rId3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5750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 dirty="0"/>
              <a:t>Notes: Defining </a:t>
            </a:r>
            <a:r>
              <a:rPr lang="en-US"/>
              <a:t>UDL Cont.</a:t>
            </a:r>
            <a:endParaRPr lang="en-US" dirty="0"/>
          </a:p>
        </p:txBody>
      </p:sp>
      <p:pic>
        <p:nvPicPr>
          <p:cNvPr id="3" name="Picture 2" descr="An image of an architectural structure with many ramps, handrails, stairs, and benches so that individuals with different physical abilities would be able to easily navigate through the space.">
            <a:extLst>
              <a:ext uri="{FF2B5EF4-FFF2-40B4-BE49-F238E27FC236}">
                <a16:creationId xmlns:a16="http://schemas.microsoft.com/office/drawing/2014/main" id="{8D0555F9-7FBF-2BEE-1E25-2B9AD46C64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150" y="1291132"/>
            <a:ext cx="6389700" cy="471408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353C585-C607-D599-AC5A-7FDFFDCCB2AE}"/>
              </a:ext>
            </a:extLst>
          </p:cNvPr>
          <p:cNvSpPr>
            <a:spLocks noGrp="1"/>
          </p:cNvSpPr>
          <p:nvPr/>
        </p:nvSpPr>
        <p:spPr>
          <a:xfrm>
            <a:off x="932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6</a:t>
            </a:fld>
            <a:endParaRPr lang="en-US" sz="12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6238FCF-0403-2221-012B-9862E4937FA3}"/>
              </a:ext>
            </a:extLst>
          </p:cNvPr>
          <p:cNvSpPr txBox="1"/>
          <p:nvPr/>
        </p:nvSpPr>
        <p:spPr>
          <a:xfrm>
            <a:off x="10409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3.12 | This work is licensed under a </a:t>
            </a:r>
            <a:r>
              <a:rPr lang="en-US" sz="900" u="sng" dirty="0">
                <a:hlinkClick r:id="rId3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003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 dirty="0"/>
              <a:t>Learning Styles vs UDL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E61915-C023-65F2-7C86-8D36F4D91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828884"/>
              </p:ext>
            </p:extLst>
          </p:nvPr>
        </p:nvGraphicFramePr>
        <p:xfrm>
          <a:off x="2267578" y="1291132"/>
          <a:ext cx="7656844" cy="49250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28422">
                  <a:extLst>
                    <a:ext uri="{9D8B030D-6E8A-4147-A177-3AD203B41FA5}">
                      <a16:colId xmlns:a16="http://schemas.microsoft.com/office/drawing/2014/main" val="3042024479"/>
                    </a:ext>
                  </a:extLst>
                </a:gridCol>
                <a:gridCol w="3828422">
                  <a:extLst>
                    <a:ext uri="{9D8B030D-6E8A-4147-A177-3AD203B41FA5}">
                      <a16:colId xmlns:a16="http://schemas.microsoft.com/office/drawing/2014/main" val="3967241361"/>
                    </a:ext>
                  </a:extLst>
                </a:gridCol>
              </a:tblGrid>
              <a:tr h="4516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Learning Styles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</a:rPr>
                        <a:t>UDL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0241349"/>
                  </a:ext>
                </a:extLst>
              </a:tr>
              <a:tr h="4473459"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</a:rPr>
                        <a:t>Each student has a fixed and rigid way of learning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</a:rPr>
                        <a:t>Not supported by research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</a:rPr>
                        <a:t>Causes students to become limited in their views of themselves as learners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</a:rPr>
                        <a:t>Often leads to less rigorous activities for struggling readers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</a:rPr>
                        <a:t>All learners need multiple means of engagement, representation, and expression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</a:rPr>
                        <a:t>Supported by research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</a:rPr>
                        <a:t>Proactive approach to addressing barriers in the environment and curriculum</a:t>
                      </a:r>
                    </a:p>
                    <a:p>
                      <a:pPr marL="342900" marR="0" lvl="0" indent="-342900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2400" dirty="0">
                          <a:effectLst/>
                        </a:rPr>
                        <a:t>Makes grade-level content accessible to all learners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7988200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2183943-627A-3B4B-8A74-9B0E98A26FB8}"/>
              </a:ext>
            </a:extLst>
          </p:cNvPr>
          <p:cNvSpPr>
            <a:spLocks noGrp="1"/>
          </p:cNvSpPr>
          <p:nvPr/>
        </p:nvSpPr>
        <p:spPr>
          <a:xfrm>
            <a:off x="932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7</a:t>
            </a:fld>
            <a:endParaRPr lang="en-US" sz="12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3A40AD7-A929-BD40-FDE3-D10235E4A81D}"/>
              </a:ext>
            </a:extLst>
          </p:cNvPr>
          <p:cNvSpPr txBox="1"/>
          <p:nvPr/>
        </p:nvSpPr>
        <p:spPr>
          <a:xfrm>
            <a:off x="10409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3.12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0912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 dirty="0"/>
              <a:t>UDL Guidelines</a:t>
            </a:r>
          </a:p>
        </p:txBody>
      </p:sp>
      <p:pic>
        <p:nvPicPr>
          <p:cNvPr id="3" name="Picture 2" descr="A graphic describing the three keys for providing a Universal Design for Learning guidelines: Providing Multiple Means of Engagement, Providing Multiple Means of  Representation, and Providing Multiple Means of Action and Expression.&#10;&#10;Accessible through udlguidelines.cast.org">
            <a:extLst>
              <a:ext uri="{FF2B5EF4-FFF2-40B4-BE49-F238E27FC236}">
                <a16:creationId xmlns:a16="http://schemas.microsoft.com/office/drawing/2014/main" id="{DBBBC6EC-86A3-3124-3391-7077E06CFC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000" y="1004926"/>
            <a:ext cx="6954000" cy="5487949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621C415-0C2C-2914-7B41-C4F1DA9E80AA}"/>
              </a:ext>
            </a:extLst>
          </p:cNvPr>
          <p:cNvSpPr>
            <a:spLocks noGrp="1"/>
          </p:cNvSpPr>
          <p:nvPr/>
        </p:nvSpPr>
        <p:spPr>
          <a:xfrm>
            <a:off x="932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8</a:t>
            </a:fld>
            <a:endParaRPr lang="en-US" sz="12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6FDECB6-1228-A911-8C79-EFA33D30384B}"/>
              </a:ext>
            </a:extLst>
          </p:cNvPr>
          <p:cNvSpPr txBox="1"/>
          <p:nvPr/>
        </p:nvSpPr>
        <p:spPr>
          <a:xfrm>
            <a:off x="10409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3.12 | This work is licensed under a </a:t>
            </a:r>
            <a:r>
              <a:rPr lang="en-US" sz="900" u="sng" dirty="0">
                <a:hlinkClick r:id="rId3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6247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073" y="241748"/>
            <a:ext cx="10515600" cy="1049384"/>
          </a:xfrm>
        </p:spPr>
        <p:txBody>
          <a:bodyPr/>
          <a:lstStyle/>
          <a:p>
            <a:r>
              <a:rPr lang="en-US" dirty="0"/>
              <a:t>Traditional Vs UDL Approach to Planning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F782B2-DEF5-D916-2378-943A54FFF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187500"/>
              </p:ext>
            </p:extLst>
          </p:nvPr>
        </p:nvGraphicFramePr>
        <p:xfrm>
          <a:off x="1738365" y="1798656"/>
          <a:ext cx="8631534" cy="4260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15767">
                  <a:extLst>
                    <a:ext uri="{9D8B030D-6E8A-4147-A177-3AD203B41FA5}">
                      <a16:colId xmlns:a16="http://schemas.microsoft.com/office/drawing/2014/main" val="1331921680"/>
                    </a:ext>
                  </a:extLst>
                </a:gridCol>
                <a:gridCol w="4315767">
                  <a:extLst>
                    <a:ext uri="{9D8B030D-6E8A-4147-A177-3AD203B41FA5}">
                      <a16:colId xmlns:a16="http://schemas.microsoft.com/office/drawing/2014/main" val="797976659"/>
                    </a:ext>
                  </a:extLst>
                </a:gridCol>
              </a:tblGrid>
              <a:tr h="36368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Traditional Approach to Planning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UDL Approach to Planning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970481"/>
                  </a:ext>
                </a:extLst>
              </a:tr>
              <a:tr h="3896818"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800" dirty="0">
                          <a:effectLst/>
                        </a:rPr>
                        <a:t>Plan for grade-level, general education students first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800" dirty="0">
                          <a:effectLst/>
                        </a:rPr>
                        <a:t>Modify activities for some learners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800" dirty="0">
                          <a:effectLst/>
                        </a:rPr>
                        <a:t>Reduce rigor of activities for students performing below-grade level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800" dirty="0">
                          <a:effectLst/>
                        </a:rPr>
                        <a:t>Establish clear outcomes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800" dirty="0">
                          <a:effectLst/>
                        </a:rPr>
                        <a:t>Anticipate differences in learner abilities and experiences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800" dirty="0">
                          <a:effectLst/>
                        </a:rPr>
                        <a:t>Use embedded supports to meet learner differences for below and above grade level learners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800" dirty="0">
                          <a:effectLst/>
                        </a:rPr>
                        <a:t>Provide embedded scaffolds and support as needed to support access while maintaining rigor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800" dirty="0">
                          <a:effectLst/>
                        </a:rPr>
                        <a:t>All students have full access to learning opportunities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8195011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87FEB14-9CE9-6197-4F3A-112BC111AB16}"/>
              </a:ext>
            </a:extLst>
          </p:cNvPr>
          <p:cNvSpPr>
            <a:spLocks noGrp="1"/>
          </p:cNvSpPr>
          <p:nvPr/>
        </p:nvSpPr>
        <p:spPr>
          <a:xfrm>
            <a:off x="932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9</a:t>
            </a:fld>
            <a:endParaRPr lang="en-US" sz="12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23CB6B3-4C7A-3245-37F1-3606343A1535}"/>
              </a:ext>
            </a:extLst>
          </p:cNvPr>
          <p:cNvSpPr txBox="1"/>
          <p:nvPr/>
        </p:nvSpPr>
        <p:spPr>
          <a:xfrm>
            <a:off x="10409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3.12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5397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802"/>
            <a:ext cx="10515600" cy="46432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Respond to the questions below by completing the exit ticket, creating a PPT slide, creating a video explanation, etc.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buNone/>
            </a:pPr>
            <a:endParaRPr lang="en-US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/>
                <a:ea typeface="Times New Roman" panose="02020603050405020304" pitchFamily="18" charset="0"/>
                <a:cs typeface="Calibri"/>
              </a:rPr>
              <a:t>How does a traditional approach to planning differ from a UDL approach?</a:t>
            </a:r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/>
                <a:ea typeface="Times New Roman" panose="02020603050405020304" pitchFamily="18" charset="0"/>
                <a:cs typeface="Calibri"/>
              </a:rPr>
              <a:t>How does a UDL approach promote accessible outcomes for all students?</a:t>
            </a:r>
            <a:endParaRPr lang="en-US"/>
          </a:p>
          <a:p>
            <a:pPr marL="514350" indent="-514350">
              <a:lnSpc>
                <a:spcPct val="107000"/>
              </a:lnSpc>
              <a:spcBef>
                <a:spcPts val="0"/>
              </a:spcBef>
              <a:buAutoNum type="arabicPeriod"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have you seen a UDL approach to planning in your own internship experience?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8369216-83D0-5C61-CEB2-15215DA86C95}"/>
              </a:ext>
            </a:extLst>
          </p:cNvPr>
          <p:cNvSpPr>
            <a:spLocks noGrp="1"/>
          </p:cNvSpPr>
          <p:nvPr/>
        </p:nvSpPr>
        <p:spPr>
          <a:xfrm>
            <a:off x="9325847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2D56C8B-F564-4051-AFED-A78F1C6A2F0E}" type="slidenum">
              <a:rPr lang="en-US" sz="1200" smtClean="0"/>
              <a:pPr algn="r"/>
              <a:t>10</a:t>
            </a:fld>
            <a:endParaRPr lang="en-US" sz="12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98C58CB-87F0-7EB0-F1AF-633FD36ABD50}"/>
              </a:ext>
            </a:extLst>
          </p:cNvPr>
          <p:cNvSpPr txBox="1"/>
          <p:nvPr/>
        </p:nvSpPr>
        <p:spPr>
          <a:xfrm>
            <a:off x="104099" y="6563510"/>
            <a:ext cx="10736725" cy="2308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Practicum| Unit 3: Research-Based Instructional Strategies (RBIS) Reading Language Arts (RLA)| Lesson 3.12 | This work is licensed under a </a:t>
            </a:r>
            <a:r>
              <a:rPr lang="en-US" sz="900" u="sng" dirty="0">
                <a:hlinkClick r:id="rId2"/>
              </a:rPr>
              <a:t>Creative Commons Attribution-Noncommercial-Share Alike 4.0 International License</a:t>
            </a:r>
            <a:r>
              <a:rPr lang="en-US" sz="9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35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846d8e3-a298-4df9-941d-031d5a654278" xsi:nil="true"/>
    <lcf76f155ced4ddcb4097134ff3c332f xmlns="1a31ff91-fdef-444f-97ac-59e8c717c66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AD57B0C54CC24F934F6B5B683E9FF3" ma:contentTypeVersion="17" ma:contentTypeDescription="Create a new document." ma:contentTypeScope="" ma:versionID="74c475a7f88c09ad26452b08dcff0b32">
  <xsd:schema xmlns:xsd="http://www.w3.org/2001/XMLSchema" xmlns:xs="http://www.w3.org/2001/XMLSchema" xmlns:p="http://schemas.microsoft.com/office/2006/metadata/properties" xmlns:ns2="1a31ff91-fdef-444f-97ac-59e8c717c665" xmlns:ns3="c846d8e3-a298-4df9-941d-031d5a654278" targetNamespace="http://schemas.microsoft.com/office/2006/metadata/properties" ma:root="true" ma:fieldsID="927c3c6b4a17e24bf610af3d477f503d" ns2:_="" ns3:_="">
    <xsd:import namespace="1a31ff91-fdef-444f-97ac-59e8c717c665"/>
    <xsd:import namespace="c846d8e3-a298-4df9-941d-031d5a6542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31ff91-fdef-444f-97ac-59e8c717c6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b7a77b5-e59d-49f3-97a2-3dde868dbe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46d8e3-a298-4df9-941d-031d5a654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bacdb30-d662-427e-8aeb-ae7c33e06b0f}" ma:internalName="TaxCatchAll" ma:showField="CatchAllData" ma:web="c846d8e3-a298-4df9-941d-031d5a6542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EB259A-2366-45C0-BC6F-3F57543CF1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3F8F23-4576-4021-9CCB-19981B04FCE0}">
  <ds:schemaRefs>
    <ds:schemaRef ds:uri="http://schemas.microsoft.com/office/2006/metadata/properties"/>
    <ds:schemaRef ds:uri="http://schemas.microsoft.com/office/infopath/2007/PartnerControls"/>
    <ds:schemaRef ds:uri="c846d8e3-a298-4df9-941d-031d5a654278"/>
    <ds:schemaRef ds:uri="1a31ff91-fdef-444f-97ac-59e8c717c665"/>
  </ds:schemaRefs>
</ds:datastoreItem>
</file>

<file path=customXml/itemProps3.xml><?xml version="1.0" encoding="utf-8"?>
<ds:datastoreItem xmlns:ds="http://schemas.openxmlformats.org/officeDocument/2006/customXml" ds:itemID="{370449A4-8696-4442-962B-9A4399BDBC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31ff91-fdef-444f-97ac-59e8c717c665"/>
    <ds:schemaRef ds:uri="c846d8e3-a298-4df9-941d-031d5a6542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832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Practicum| Unit 3: Research-Based Instructional Strategies (RBIS) Reading Language Arts (RLA)| Lesson 3.12</vt:lpstr>
      <vt:lpstr>TEKS Standards &amp; Objectives</vt:lpstr>
      <vt:lpstr>Bellringer</vt:lpstr>
      <vt:lpstr>Vocabulary</vt:lpstr>
      <vt:lpstr>Notes: Defining UDL</vt:lpstr>
      <vt:lpstr>Notes: Defining UDL Cont.</vt:lpstr>
      <vt:lpstr>Learning Styles vs UDL</vt:lpstr>
      <vt:lpstr>UDL Guidelines</vt:lpstr>
      <vt:lpstr>Traditional Vs UDL Approach to Planning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3.12: UDL in Literacy Instruction</dc:title>
  <dc:subject>Lesson 3.12: UDL in Literacy Instruction</dc:subject>
  <dc:creator>Texas Education Agency</dc:creator>
  <cp:lastModifiedBy>White (she/her), Whitney</cp:lastModifiedBy>
  <cp:revision>18</cp:revision>
  <dcterms:created xsi:type="dcterms:W3CDTF">2022-05-09T19:40:20Z</dcterms:created>
  <dcterms:modified xsi:type="dcterms:W3CDTF">2025-06-07T00:47:21Z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0x01010037AD57B0C54CC24F934F6B5B683E9FF3</vt:lpwstr>
  </property>
  <property fmtid="{D5CDD505-2E9C-101B-9397-08002B2CF9AE}" pid="3" name="MediaServiceImageTags">
    <vt:lpwstr/>
  </property>
</Properties>
</file>
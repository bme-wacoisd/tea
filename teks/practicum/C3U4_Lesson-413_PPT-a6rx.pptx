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64" r:id="rId5"/>
    <p:sldId id="26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7" d="100"/>
          <a:sy n="67" d="100"/>
        </p:scale>
        <p:origin x="5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nuette, W. Kyle" userId="c82f62dc-52dc-4188-bd8e-647bc9b55d9e" providerId="ADAL" clId="{D5681729-3E65-4C51-A1CE-D81E41E9BA28}"/>
    <pc:docChg chg="undo custSel delSld modSld">
      <pc:chgData name="Canuette, W. Kyle" userId="c82f62dc-52dc-4188-bd8e-647bc9b55d9e" providerId="ADAL" clId="{D5681729-3E65-4C51-A1CE-D81E41E9BA28}" dt="2023-03-15T18:29:24.409" v="358" actId="27636"/>
      <pc:docMkLst>
        <pc:docMk/>
      </pc:docMkLst>
      <pc:sldChg chg="modSp mod">
        <pc:chgData name="Canuette, W. Kyle" userId="c82f62dc-52dc-4188-bd8e-647bc9b55d9e" providerId="ADAL" clId="{D5681729-3E65-4C51-A1CE-D81E41E9BA28}" dt="2023-03-15T18:22:12.269" v="8" actId="27636"/>
        <pc:sldMkLst>
          <pc:docMk/>
          <pc:sldMk cId="1482277026" sldId="256"/>
        </pc:sldMkLst>
        <pc:spChg chg="mod">
          <ac:chgData name="Canuette, W. Kyle" userId="c82f62dc-52dc-4188-bd8e-647bc9b55d9e" providerId="ADAL" clId="{D5681729-3E65-4C51-A1CE-D81E41E9BA28}" dt="2023-03-15T18:22:02.650" v="1" actId="20577"/>
          <ac:spMkLst>
            <pc:docMk/>
            <pc:sldMk cId="1482277026" sldId="256"/>
            <ac:spMk id="2" creationId="{BFFCF5BD-F8FF-4A67-A8B6-EBB21E79279B}"/>
          </ac:spMkLst>
        </pc:spChg>
        <pc:spChg chg="mod">
          <ac:chgData name="Canuette, W. Kyle" userId="c82f62dc-52dc-4188-bd8e-647bc9b55d9e" providerId="ADAL" clId="{D5681729-3E65-4C51-A1CE-D81E41E9BA28}" dt="2023-03-15T18:22:12.269" v="8" actId="27636"/>
          <ac:spMkLst>
            <pc:docMk/>
            <pc:sldMk cId="1482277026" sldId="256"/>
            <ac:spMk id="3" creationId="{E0FBD98F-3A67-498E-8174-652040DD7B60}"/>
          </ac:spMkLst>
        </pc:spChg>
      </pc:sldChg>
      <pc:sldChg chg="modSp mod">
        <pc:chgData name="Canuette, W. Kyle" userId="c82f62dc-52dc-4188-bd8e-647bc9b55d9e" providerId="ADAL" clId="{D5681729-3E65-4C51-A1CE-D81E41E9BA28}" dt="2023-03-15T18:23:20.237" v="46" actId="6549"/>
        <pc:sldMkLst>
          <pc:docMk/>
          <pc:sldMk cId="4071305681" sldId="258"/>
        </pc:sldMkLst>
        <pc:spChg chg="mod">
          <ac:chgData name="Canuette, W. Kyle" userId="c82f62dc-52dc-4188-bd8e-647bc9b55d9e" providerId="ADAL" clId="{D5681729-3E65-4C51-A1CE-D81E41E9BA28}" dt="2023-03-15T18:23:20.237" v="46" actId="6549"/>
          <ac:spMkLst>
            <pc:docMk/>
            <pc:sldMk cId="4071305681" sldId="258"/>
            <ac:spMk id="3" creationId="{392BE286-77A6-49DD-B15D-7E4718D52FE7}"/>
          </ac:spMkLst>
        </pc:spChg>
      </pc:sldChg>
      <pc:sldChg chg="modSp mod">
        <pc:chgData name="Canuette, W. Kyle" userId="c82f62dc-52dc-4188-bd8e-647bc9b55d9e" providerId="ADAL" clId="{D5681729-3E65-4C51-A1CE-D81E41E9BA28}" dt="2023-03-15T18:22:46.030" v="35" actId="20577"/>
        <pc:sldMkLst>
          <pc:docMk/>
          <pc:sldMk cId="2772527113" sldId="259"/>
        </pc:sldMkLst>
        <pc:spChg chg="mod">
          <ac:chgData name="Canuette, W. Kyle" userId="c82f62dc-52dc-4188-bd8e-647bc9b55d9e" providerId="ADAL" clId="{D5681729-3E65-4C51-A1CE-D81E41E9BA28}" dt="2023-03-15T18:22:46.030" v="35" actId="20577"/>
          <ac:spMkLst>
            <pc:docMk/>
            <pc:sldMk cId="2772527113" sldId="259"/>
            <ac:spMk id="3" creationId="{8CE08C7F-0286-423B-92F7-DEB89F31111A}"/>
          </ac:spMkLst>
        </pc:spChg>
      </pc:sldChg>
      <pc:sldChg chg="addSp delSp modSp mod chgLayout">
        <pc:chgData name="Canuette, W. Kyle" userId="c82f62dc-52dc-4188-bd8e-647bc9b55d9e" providerId="ADAL" clId="{D5681729-3E65-4C51-A1CE-D81E41E9BA28}" dt="2023-03-15T18:29:24.409" v="358" actId="27636"/>
        <pc:sldMkLst>
          <pc:docMk/>
          <pc:sldMk cId="3493109116" sldId="264"/>
        </pc:sldMkLst>
        <pc:spChg chg="mod ord">
          <ac:chgData name="Canuette, W. Kyle" userId="c82f62dc-52dc-4188-bd8e-647bc9b55d9e" providerId="ADAL" clId="{D5681729-3E65-4C51-A1CE-D81E41E9BA28}" dt="2023-03-15T18:29:24.409" v="358" actId="27636"/>
          <ac:spMkLst>
            <pc:docMk/>
            <pc:sldMk cId="3493109116" sldId="264"/>
            <ac:spMk id="2" creationId="{D7836664-70C0-47BA-9BFF-496A04EBBFDE}"/>
          </ac:spMkLst>
        </pc:spChg>
        <pc:spChg chg="mod ord">
          <ac:chgData name="Canuette, W. Kyle" userId="c82f62dc-52dc-4188-bd8e-647bc9b55d9e" providerId="ADAL" clId="{D5681729-3E65-4C51-A1CE-D81E41E9BA28}" dt="2023-03-15T18:23:43.731" v="95" actId="700"/>
          <ac:spMkLst>
            <pc:docMk/>
            <pc:sldMk cId="3493109116" sldId="264"/>
            <ac:spMk id="4" creationId="{F767700B-954E-42AD-AD69-9CC1C5B510A5}"/>
          </ac:spMkLst>
        </pc:spChg>
        <pc:spChg chg="add mod ord">
          <ac:chgData name="Canuette, W. Kyle" userId="c82f62dc-52dc-4188-bd8e-647bc9b55d9e" providerId="ADAL" clId="{D5681729-3E65-4C51-A1CE-D81E41E9BA28}" dt="2023-03-15T18:29:18.747" v="356" actId="1076"/>
          <ac:spMkLst>
            <pc:docMk/>
            <pc:sldMk cId="3493109116" sldId="264"/>
            <ac:spMk id="7" creationId="{A692C334-5629-2556-F680-5A2128E674C9}"/>
          </ac:spMkLst>
        </pc:spChg>
        <pc:graphicFrameChg chg="del">
          <ac:chgData name="Canuette, W. Kyle" userId="c82f62dc-52dc-4188-bd8e-647bc9b55d9e" providerId="ADAL" clId="{D5681729-3E65-4C51-A1CE-D81E41E9BA28}" dt="2023-03-15T18:23:39.161" v="93" actId="478"/>
          <ac:graphicFrameMkLst>
            <pc:docMk/>
            <pc:sldMk cId="3493109116" sldId="264"/>
            <ac:graphicFrameMk id="3" creationId="{F2860C0F-BA53-412B-8826-DAA9A1B29BA9}"/>
          </ac:graphicFrameMkLst>
        </pc:graphicFrameChg>
        <pc:graphicFrameChg chg="add mod modGraphic">
          <ac:chgData name="Canuette, W. Kyle" userId="c82f62dc-52dc-4188-bd8e-647bc9b55d9e" providerId="ADAL" clId="{D5681729-3E65-4C51-A1CE-D81E41E9BA28}" dt="2023-03-15T18:29:04.462" v="350" actId="14100"/>
          <ac:graphicFrameMkLst>
            <pc:docMk/>
            <pc:sldMk cId="3493109116" sldId="264"/>
            <ac:graphicFrameMk id="8" creationId="{54AB9DD3-A398-97E5-D3A8-A3E93C6558BD}"/>
          </ac:graphicFrameMkLst>
        </pc:graphicFrameChg>
        <pc:picChg chg="del">
          <ac:chgData name="Canuette, W. Kyle" userId="c82f62dc-52dc-4188-bd8e-647bc9b55d9e" providerId="ADAL" clId="{D5681729-3E65-4C51-A1CE-D81E41E9BA28}" dt="2023-03-15T18:23:40.880" v="94" actId="478"/>
          <ac:picMkLst>
            <pc:docMk/>
            <pc:sldMk cId="3493109116" sldId="264"/>
            <ac:picMk id="6" creationId="{F0D9FFC4-4B46-5605-BC12-160D69DFD83B}"/>
          </ac:picMkLst>
        </pc:picChg>
      </pc:sldChg>
      <pc:sldChg chg="delSp modSp mod">
        <pc:chgData name="Canuette, W. Kyle" userId="c82f62dc-52dc-4188-bd8e-647bc9b55d9e" providerId="ADAL" clId="{D5681729-3E65-4C51-A1CE-D81E41E9BA28}" dt="2023-03-15T18:27:50.164" v="335" actId="403"/>
        <pc:sldMkLst>
          <pc:docMk/>
          <pc:sldMk cId="2313533111" sldId="267"/>
        </pc:sldMkLst>
        <pc:spChg chg="mod">
          <ac:chgData name="Canuette, W. Kyle" userId="c82f62dc-52dc-4188-bd8e-647bc9b55d9e" providerId="ADAL" clId="{D5681729-3E65-4C51-A1CE-D81E41E9BA28}" dt="2023-03-15T18:27:50.164" v="335" actId="403"/>
          <ac:spMkLst>
            <pc:docMk/>
            <pc:sldMk cId="2313533111" sldId="267"/>
            <ac:spMk id="3" creationId="{49F2A5AF-3C0B-4968-A438-E435325199EA}"/>
          </ac:spMkLst>
        </pc:spChg>
        <pc:graphicFrameChg chg="del">
          <ac:chgData name="Canuette, W. Kyle" userId="c82f62dc-52dc-4188-bd8e-647bc9b55d9e" providerId="ADAL" clId="{D5681729-3E65-4C51-A1CE-D81E41E9BA28}" dt="2023-03-15T18:27:29.575" v="305" actId="478"/>
          <ac:graphicFrameMkLst>
            <pc:docMk/>
            <pc:sldMk cId="2313533111" sldId="267"/>
            <ac:graphicFrameMk id="5" creationId="{7C29EB69-21D8-1C15-0435-CBCA5FE35ECC}"/>
          </ac:graphicFrameMkLst>
        </pc:graphicFrameChg>
      </pc:sldChg>
      <pc:sldChg chg="del">
        <pc:chgData name="Canuette, W. Kyle" userId="c82f62dc-52dc-4188-bd8e-647bc9b55d9e" providerId="ADAL" clId="{D5681729-3E65-4C51-A1CE-D81E41E9BA28}" dt="2023-03-15T18:27:06.746" v="300" actId="47"/>
        <pc:sldMkLst>
          <pc:docMk/>
          <pc:sldMk cId="3267428124" sldId="283"/>
        </pc:sldMkLst>
      </pc:sldChg>
      <pc:sldChg chg="del">
        <pc:chgData name="Canuette, W. Kyle" userId="c82f62dc-52dc-4188-bd8e-647bc9b55d9e" providerId="ADAL" clId="{D5681729-3E65-4C51-A1CE-D81E41E9BA28}" dt="2023-03-15T18:27:08.649" v="304" actId="47"/>
        <pc:sldMkLst>
          <pc:docMk/>
          <pc:sldMk cId="54087533" sldId="288"/>
        </pc:sldMkLst>
      </pc:sldChg>
      <pc:sldChg chg="del">
        <pc:chgData name="Canuette, W. Kyle" userId="c82f62dc-52dc-4188-bd8e-647bc9b55d9e" providerId="ADAL" clId="{D5681729-3E65-4C51-A1CE-D81E41E9BA28}" dt="2023-03-15T18:27:05.052" v="297" actId="47"/>
        <pc:sldMkLst>
          <pc:docMk/>
          <pc:sldMk cId="2469825802" sldId="292"/>
        </pc:sldMkLst>
      </pc:sldChg>
      <pc:sldChg chg="del">
        <pc:chgData name="Canuette, W. Kyle" userId="c82f62dc-52dc-4188-bd8e-647bc9b55d9e" providerId="ADAL" clId="{D5681729-3E65-4C51-A1CE-D81E41E9BA28}" dt="2023-03-15T18:27:06.078" v="298" actId="47"/>
        <pc:sldMkLst>
          <pc:docMk/>
          <pc:sldMk cId="3144339147" sldId="293"/>
        </pc:sldMkLst>
      </pc:sldChg>
      <pc:sldChg chg="del">
        <pc:chgData name="Canuette, W. Kyle" userId="c82f62dc-52dc-4188-bd8e-647bc9b55d9e" providerId="ADAL" clId="{D5681729-3E65-4C51-A1CE-D81E41E9BA28}" dt="2023-03-15T18:27:06.461" v="299" actId="47"/>
        <pc:sldMkLst>
          <pc:docMk/>
          <pc:sldMk cId="2314695008" sldId="294"/>
        </pc:sldMkLst>
      </pc:sldChg>
      <pc:sldChg chg="del">
        <pc:chgData name="Canuette, W. Kyle" userId="c82f62dc-52dc-4188-bd8e-647bc9b55d9e" providerId="ADAL" clId="{D5681729-3E65-4C51-A1CE-D81E41E9BA28}" dt="2023-03-15T18:27:07.295" v="301" actId="47"/>
        <pc:sldMkLst>
          <pc:docMk/>
          <pc:sldMk cId="2485258161" sldId="295"/>
        </pc:sldMkLst>
      </pc:sldChg>
      <pc:sldChg chg="del">
        <pc:chgData name="Canuette, W. Kyle" userId="c82f62dc-52dc-4188-bd8e-647bc9b55d9e" providerId="ADAL" clId="{D5681729-3E65-4C51-A1CE-D81E41E9BA28}" dt="2023-03-15T18:27:07.653" v="302" actId="47"/>
        <pc:sldMkLst>
          <pc:docMk/>
          <pc:sldMk cId="1035521790" sldId="296"/>
        </pc:sldMkLst>
      </pc:sldChg>
      <pc:sldChg chg="del">
        <pc:chgData name="Canuette, W. Kyle" userId="c82f62dc-52dc-4188-bd8e-647bc9b55d9e" providerId="ADAL" clId="{D5681729-3E65-4C51-A1CE-D81E41E9BA28}" dt="2023-03-15T18:27:08.238" v="303" actId="47"/>
        <pc:sldMkLst>
          <pc:docMk/>
          <pc:sldMk cId="1187053021" sldId="297"/>
        </pc:sldMkLst>
      </pc:sldChg>
    </pc:docChg>
  </pc:docChgLst>
  <pc:docChgLst>
    <pc:chgData name="White (she/her), Whitney" userId="65f39021-2f1d-4d8b-87dc-b123826f65bf" providerId="ADAL" clId="{2E2736F0-1147-4621-9767-7C2F2EFEC7B0}"/>
    <pc:docChg chg="modSld">
      <pc:chgData name="White (she/her), Whitney" userId="65f39021-2f1d-4d8b-87dc-b123826f65bf" providerId="ADAL" clId="{2E2736F0-1147-4621-9767-7C2F2EFEC7B0}" dt="2023-08-19T01:56:29.082" v="31" actId="20577"/>
      <pc:docMkLst>
        <pc:docMk/>
      </pc:docMkLst>
      <pc:sldChg chg="modSp mod">
        <pc:chgData name="White (she/her), Whitney" userId="65f39021-2f1d-4d8b-87dc-b123826f65bf" providerId="ADAL" clId="{2E2736F0-1147-4621-9767-7C2F2EFEC7B0}" dt="2023-08-19T01:56:29.082" v="31" actId="20577"/>
        <pc:sldMkLst>
          <pc:docMk/>
          <pc:sldMk cId="2772527113" sldId="259"/>
        </pc:sldMkLst>
        <pc:spChg chg="mod">
          <ac:chgData name="White (she/her), Whitney" userId="65f39021-2f1d-4d8b-87dc-b123826f65bf" providerId="ADAL" clId="{2E2736F0-1147-4621-9767-7C2F2EFEC7B0}" dt="2023-08-19T01:56:29.082" v="31" actId="20577"/>
          <ac:spMkLst>
            <pc:docMk/>
            <pc:sldMk cId="2772527113" sldId="259"/>
            <ac:spMk id="3" creationId="{8CE08C7F-0286-423B-92F7-DEB89F31111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90535" y="6376723"/>
            <a:ext cx="9144000" cy="370300"/>
          </a:xfrm>
        </p:spPr>
        <p:txBody>
          <a:bodyPr>
            <a:normAutofit/>
          </a:bodyPr>
          <a:lstStyle/>
          <a:p>
            <a:pPr algn="l"/>
            <a:r>
              <a:rPr lang="en-US" sz="1800" dirty="0"/>
              <a:t>Practicum| Unit 4: Research Based Instructional Strategies (RBIS) Math | Lesson 4.13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70000" lnSpcReduction="20000"/>
          </a:bodyPr>
          <a:lstStyle/>
          <a:p>
            <a:r>
              <a:rPr lang="en-US" sz="6000" dirty="0"/>
              <a:t>Supporting All Learners and Just-in-Time Interventions in Math:</a:t>
            </a:r>
          </a:p>
          <a:p>
            <a:r>
              <a:rPr lang="en-US" sz="6000" dirty="0"/>
              <a:t> Intervention Reflection and Discussion</a:t>
            </a: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normAutofit/>
          </a:bodyPr>
          <a:lstStyle/>
          <a:p>
            <a:pPr marL="0" indent="0">
              <a:buNone/>
            </a:pPr>
            <a:r>
              <a:rPr lang="en-US"/>
              <a:t>TEKS 4E, 13A, 13B, 14A, 14B</a:t>
            </a:r>
            <a:endParaRPr lang="en-US" dirty="0"/>
          </a:p>
          <a:p>
            <a:pPr marL="0" indent="0">
              <a:buNone/>
            </a:pPr>
            <a:endParaRPr lang="en-US" dirty="0"/>
          </a:p>
          <a:p>
            <a:pPr marL="0" indent="0">
              <a:buNone/>
            </a:pPr>
            <a:r>
              <a:rPr lang="en-US" dirty="0"/>
              <a:t>The student will…</a:t>
            </a:r>
          </a:p>
          <a:p>
            <a:pPr lvl="1"/>
            <a:r>
              <a:rPr lang="en-US" dirty="0"/>
              <a:t>Discuss the development and implementation of the just-in-time intervention planned through the RBIS Math Portfolio Intervention Project.</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464975" y="18255"/>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606490" y="1520890"/>
            <a:ext cx="10747310" cy="4279835"/>
          </a:xfrm>
        </p:spPr>
        <p:txBody>
          <a:bodyPr>
            <a:normAutofit/>
          </a:bodyPr>
          <a:lstStyle/>
          <a:p>
            <a:pPr marL="0" marR="0" indent="0">
              <a:spcBef>
                <a:spcPts val="600"/>
              </a:spcBef>
              <a:spcAft>
                <a:spcPts val="6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Mr. W is about to begin the second math unit with his 6</a:t>
            </a:r>
            <a:r>
              <a:rPr lang="en-US" sz="2400" baseline="30000" dirty="0">
                <a:effectLst/>
                <a:latin typeface="Calibri" panose="020F0502020204030204" pitchFamily="34" charset="0"/>
                <a:ea typeface="Calibri" panose="020F0502020204030204" pitchFamily="34" charset="0"/>
                <a:cs typeface="Arial" panose="020B0604020202020204" pitchFamily="34" charset="0"/>
              </a:rPr>
              <a:t>th</a:t>
            </a:r>
            <a:r>
              <a:rPr lang="en-US" sz="2400" dirty="0">
                <a:effectLst/>
                <a:latin typeface="Calibri" panose="020F0502020204030204" pitchFamily="34" charset="0"/>
                <a:ea typeface="Calibri" panose="020F0502020204030204" pitchFamily="34" charset="0"/>
                <a:cs typeface="Arial" panose="020B0604020202020204" pitchFamily="34" charset="0"/>
              </a:rPr>
              <a:t> grade math. Based on what he has seen from the first unit, he estimates that 6 of his 24 students (25 percent) still struggle with reciting multiplication and division facts from memory. He thinks that continuing to practice these skills is important for all students, so he has been spending the first 20 minutes of his one-hour math block just focusing on practicing multiplication and division with his whole class. Once they are confident in their skills, he feels that he can move on to more grade-level content.</a:t>
            </a:r>
          </a:p>
          <a:p>
            <a:pPr marL="0" marR="0" indent="0">
              <a:spcBef>
                <a:spcPts val="600"/>
              </a:spcBef>
              <a:spcAft>
                <a:spcPts val="600"/>
              </a:spcAft>
              <a:buNone/>
            </a:pP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600"/>
              </a:spcBef>
              <a:spcAft>
                <a:spcPts val="600"/>
              </a:spcAft>
              <a:buFont typeface="+mj-lt"/>
              <a:buAutoNum type="arabicPeriod"/>
            </a:pPr>
            <a:r>
              <a:rPr lang="en-US" sz="2400" dirty="0">
                <a:effectLst/>
                <a:latin typeface="Calibri" panose="020F0502020204030204" pitchFamily="34" charset="0"/>
                <a:ea typeface="Calibri" panose="020F0502020204030204" pitchFamily="34" charset="0"/>
                <a:cs typeface="Arial" panose="020B0604020202020204" pitchFamily="34" charset="0"/>
              </a:rPr>
              <a:t>Which pitfalls of math instruction is Mr. W experiencing? How can he avoid this pitfall? </a:t>
            </a:r>
          </a:p>
          <a:p>
            <a:pPr marL="0" marR="0" indent="0">
              <a:spcBef>
                <a:spcPts val="600"/>
              </a:spcBef>
              <a:spcAft>
                <a:spcPts val="600"/>
              </a:spcAft>
              <a:buNone/>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371476" y="365125"/>
            <a:ext cx="5400674" cy="1325563"/>
          </a:xfrm>
        </p:spPr>
        <p:txBody>
          <a:bodyPr>
            <a:normAutofit fontScale="90000"/>
          </a:bodyPr>
          <a:lstStyle/>
          <a:p>
            <a:pPr algn="ctr"/>
            <a:r>
              <a:rPr lang="en-US" dirty="0"/>
              <a:t>Just-In-Time Intervention Discussion</a:t>
            </a:r>
          </a:p>
        </p:txBody>
      </p:sp>
      <p:sp>
        <p:nvSpPr>
          <p:cNvPr id="7" name="Content Placeholder 6">
            <a:extLst>
              <a:ext uri="{FF2B5EF4-FFF2-40B4-BE49-F238E27FC236}">
                <a16:creationId xmlns:a16="http://schemas.microsoft.com/office/drawing/2014/main" id="{A692C334-5629-2556-F680-5A2128E674C9}"/>
              </a:ext>
            </a:extLst>
          </p:cNvPr>
          <p:cNvSpPr>
            <a:spLocks noGrp="1"/>
          </p:cNvSpPr>
          <p:nvPr>
            <p:ph idx="1"/>
          </p:nvPr>
        </p:nvSpPr>
        <p:spPr>
          <a:xfrm>
            <a:off x="538163" y="2017712"/>
            <a:ext cx="5067300" cy="4338638"/>
          </a:xfrm>
        </p:spPr>
        <p:txBody>
          <a:bodyPr>
            <a:normAutofit/>
          </a:bodyPr>
          <a:lstStyle/>
          <a:p>
            <a:pPr marL="0" indent="0">
              <a:buNone/>
            </a:pPr>
            <a:r>
              <a:rPr lang="en-US" sz="2200" dirty="0">
                <a:effectLst/>
                <a:latin typeface="Calibri" panose="020F0502020204030204" pitchFamily="34" charset="0"/>
                <a:ea typeface="Calibri" panose="020F0502020204030204" pitchFamily="34" charset="0"/>
                <a:cs typeface="Arial" panose="020B0604020202020204" pitchFamily="34" charset="0"/>
              </a:rPr>
              <a:t>In groups of 2, you will have the opportunity to reflect on your experience planning and implementing your just-in-time intervention. </a:t>
            </a:r>
          </a:p>
          <a:p>
            <a:r>
              <a:rPr lang="en-US" sz="2200" dirty="0">
                <a:latin typeface="Calibri" panose="020F0502020204030204" pitchFamily="34" charset="0"/>
                <a:cs typeface="Arial" panose="020B0604020202020204" pitchFamily="34" charset="0"/>
              </a:rPr>
              <a:t>Person 1: Provides an Overview (4 min)</a:t>
            </a:r>
          </a:p>
          <a:p>
            <a:r>
              <a:rPr lang="en-US" sz="2200" dirty="0">
                <a:latin typeface="Calibri" panose="020F0502020204030204" pitchFamily="34" charset="0"/>
                <a:cs typeface="Arial" panose="020B0604020202020204" pitchFamily="34" charset="0"/>
              </a:rPr>
              <a:t>Person 2: Ask clarifying questions (6 min)</a:t>
            </a:r>
          </a:p>
          <a:p>
            <a:r>
              <a:rPr lang="en-US" sz="2200" dirty="0">
                <a:latin typeface="Calibri" panose="020F0502020204030204" pitchFamily="34" charset="0"/>
                <a:cs typeface="Arial" panose="020B0604020202020204" pitchFamily="34" charset="0"/>
              </a:rPr>
              <a:t>Person 2: Provides an Overview (4 min)</a:t>
            </a:r>
          </a:p>
          <a:p>
            <a:r>
              <a:rPr lang="en-US" sz="2200" dirty="0"/>
              <a:t>Person 1: Ask clarifying questions (6 min)</a:t>
            </a:r>
          </a:p>
          <a:p>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graphicFrame>
        <p:nvGraphicFramePr>
          <p:cNvPr id="8" name="Table 7">
            <a:extLst>
              <a:ext uri="{FF2B5EF4-FFF2-40B4-BE49-F238E27FC236}">
                <a16:creationId xmlns:a16="http://schemas.microsoft.com/office/drawing/2014/main" id="{54AB9DD3-A398-97E5-D3A8-A3E93C6558BD}"/>
              </a:ext>
            </a:extLst>
          </p:cNvPr>
          <p:cNvGraphicFramePr>
            <a:graphicFrameLocks noGrp="1"/>
          </p:cNvGraphicFramePr>
          <p:nvPr>
            <p:extLst>
              <p:ext uri="{D42A27DB-BD31-4B8C-83A1-F6EECF244321}">
                <p14:modId xmlns:p14="http://schemas.microsoft.com/office/powerpoint/2010/main" val="2201404814"/>
              </p:ext>
            </p:extLst>
          </p:nvPr>
        </p:nvGraphicFramePr>
        <p:xfrm>
          <a:off x="5953124" y="247651"/>
          <a:ext cx="6099175" cy="6473824"/>
        </p:xfrm>
        <a:graphic>
          <a:graphicData uri="http://schemas.openxmlformats.org/drawingml/2006/table">
            <a:tbl>
              <a:tblPr firstRow="1" bandRow="1">
                <a:tableStyleId>{5C22544A-7EE6-4342-B048-85BDC9FD1C3A}</a:tableStyleId>
              </a:tblPr>
              <a:tblGrid>
                <a:gridCol w="2531675">
                  <a:extLst>
                    <a:ext uri="{9D8B030D-6E8A-4147-A177-3AD203B41FA5}">
                      <a16:colId xmlns:a16="http://schemas.microsoft.com/office/drawing/2014/main" val="602248919"/>
                    </a:ext>
                  </a:extLst>
                </a:gridCol>
                <a:gridCol w="3567500">
                  <a:extLst>
                    <a:ext uri="{9D8B030D-6E8A-4147-A177-3AD203B41FA5}">
                      <a16:colId xmlns:a16="http://schemas.microsoft.com/office/drawing/2014/main" val="59988625"/>
                    </a:ext>
                  </a:extLst>
                </a:gridCol>
              </a:tblGrid>
              <a:tr h="564525">
                <a:tc>
                  <a:txBody>
                    <a:bodyPr/>
                    <a:lstStyle/>
                    <a:p>
                      <a:pPr marL="0" marR="0" algn="ctr">
                        <a:lnSpc>
                          <a:spcPct val="107000"/>
                        </a:lnSpc>
                        <a:spcBef>
                          <a:spcPts val="0"/>
                        </a:spcBef>
                        <a:spcAft>
                          <a:spcPts val="0"/>
                        </a:spcAft>
                      </a:pPr>
                      <a:r>
                        <a:rPr lang="en-US" sz="1600" dirty="0">
                          <a:effectLst/>
                        </a:rPr>
                        <a:t>Overview Prompts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137160" marR="137160" marT="137160" marB="137160"/>
                </a:tc>
                <a:tc>
                  <a:txBody>
                    <a:bodyPr/>
                    <a:lstStyle/>
                    <a:p>
                      <a:pPr marL="0" marR="0" algn="ctr">
                        <a:lnSpc>
                          <a:spcPct val="107000"/>
                        </a:lnSpc>
                        <a:spcBef>
                          <a:spcPts val="0"/>
                        </a:spcBef>
                        <a:spcAft>
                          <a:spcPts val="0"/>
                        </a:spcAft>
                      </a:pPr>
                      <a:r>
                        <a:rPr lang="en-US" sz="1600" dirty="0">
                          <a:effectLst/>
                        </a:rPr>
                        <a:t>Sample Clarifying Questions</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137160" marR="137160" marT="137160" marB="137160"/>
                </a:tc>
                <a:extLst>
                  <a:ext uri="{0D108BD9-81ED-4DB2-BD59-A6C34878D82A}">
                    <a16:rowId xmlns:a16="http://schemas.microsoft.com/office/drawing/2014/main" val="3838343242"/>
                  </a:ext>
                </a:extLst>
              </a:tr>
              <a:tr h="5909299">
                <a:tc>
                  <a:txBody>
                    <a:bodyPr/>
                    <a:lstStyle/>
                    <a:p>
                      <a:pPr marL="342900" marR="0" lvl="0" indent="-342900">
                        <a:lnSpc>
                          <a:spcPct val="107000"/>
                        </a:lnSpc>
                        <a:spcBef>
                          <a:spcPts val="0"/>
                        </a:spcBef>
                        <a:spcAft>
                          <a:spcPts val="0"/>
                        </a:spcAft>
                        <a:buFont typeface="Symbol" panose="05050102010706020507" pitchFamily="18" charset="2"/>
                        <a:buChar char=""/>
                      </a:pPr>
                      <a:r>
                        <a:rPr lang="en-US" sz="1800" dirty="0">
                          <a:effectLst/>
                        </a:rPr>
                        <a:t>How did you select the content for this intervention? (Reference data, if possible.)</a:t>
                      </a:r>
                    </a:p>
                    <a:p>
                      <a:pPr marL="342900" marR="0" lvl="0" indent="-342900">
                        <a:lnSpc>
                          <a:spcPct val="107000"/>
                        </a:lnSpc>
                        <a:spcBef>
                          <a:spcPts val="0"/>
                        </a:spcBef>
                        <a:spcAft>
                          <a:spcPts val="0"/>
                        </a:spcAft>
                        <a:buFont typeface="Symbol" panose="05050102010706020507" pitchFamily="18" charset="2"/>
                        <a:buChar char=""/>
                      </a:pPr>
                      <a:r>
                        <a:rPr lang="en-US" sz="1800" dirty="0">
                          <a:effectLst/>
                        </a:rPr>
                        <a:t>What foundational skills were the focus of the intervention?</a:t>
                      </a:r>
                    </a:p>
                    <a:p>
                      <a:pPr marL="342900" marR="0" lvl="0" indent="-342900">
                        <a:lnSpc>
                          <a:spcPct val="107000"/>
                        </a:lnSpc>
                        <a:spcBef>
                          <a:spcPts val="0"/>
                        </a:spcBef>
                        <a:spcAft>
                          <a:spcPts val="0"/>
                        </a:spcAft>
                        <a:buFont typeface="Symbol" panose="05050102010706020507" pitchFamily="18" charset="2"/>
                        <a:buChar char=""/>
                      </a:pPr>
                      <a:r>
                        <a:rPr lang="en-US" sz="1800" dirty="0">
                          <a:effectLst/>
                        </a:rPr>
                        <a:t>What grade-level content do these skills support?</a:t>
                      </a:r>
                    </a:p>
                    <a:p>
                      <a:pPr marL="342900" marR="0" lvl="0" indent="-342900">
                        <a:lnSpc>
                          <a:spcPct val="107000"/>
                        </a:lnSpc>
                        <a:spcBef>
                          <a:spcPts val="0"/>
                        </a:spcBef>
                        <a:spcAft>
                          <a:spcPts val="0"/>
                        </a:spcAft>
                        <a:buFont typeface="Symbol" panose="05050102010706020507" pitchFamily="18" charset="2"/>
                        <a:buChar char=""/>
                      </a:pPr>
                      <a:r>
                        <a:rPr lang="en-US" sz="1800" dirty="0">
                          <a:effectLst/>
                        </a:rPr>
                        <a:t>When/How did you provide the intervention?</a:t>
                      </a:r>
                    </a:p>
                    <a:p>
                      <a:pPr marL="342900" marR="0" lvl="0" indent="-342900">
                        <a:lnSpc>
                          <a:spcPct val="107000"/>
                        </a:lnSpc>
                        <a:spcBef>
                          <a:spcPts val="0"/>
                        </a:spcBef>
                        <a:spcAft>
                          <a:spcPts val="0"/>
                        </a:spcAft>
                        <a:buFont typeface="Symbol" panose="05050102010706020507" pitchFamily="18" charset="2"/>
                        <a:buChar char=""/>
                      </a:pPr>
                      <a:r>
                        <a:rPr lang="en-US" sz="1800" dirty="0">
                          <a:effectLst/>
                        </a:rPr>
                        <a:t>What went well in the intervention?</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137160" marR="137160" marT="137160" marB="137160"/>
                </a:tc>
                <a:tc>
                  <a:txBody>
                    <a:bodyPr/>
                    <a:lstStyle/>
                    <a:p>
                      <a:pPr marL="342900" marR="0" lvl="0" indent="-342900">
                        <a:lnSpc>
                          <a:spcPct val="107000"/>
                        </a:lnSpc>
                        <a:spcBef>
                          <a:spcPts val="0"/>
                        </a:spcBef>
                        <a:spcAft>
                          <a:spcPts val="0"/>
                        </a:spcAft>
                        <a:buFont typeface="Symbol" panose="05050102010706020507" pitchFamily="18" charset="2"/>
                        <a:buChar char=""/>
                      </a:pPr>
                      <a:r>
                        <a:rPr lang="en-US" sz="1800" dirty="0">
                          <a:effectLst/>
                        </a:rPr>
                        <a:t>How did students respond to the intervention?</a:t>
                      </a:r>
                    </a:p>
                    <a:p>
                      <a:pPr marL="342900" marR="0" lvl="0" indent="-342900">
                        <a:lnSpc>
                          <a:spcPct val="107000"/>
                        </a:lnSpc>
                        <a:spcBef>
                          <a:spcPts val="0"/>
                        </a:spcBef>
                        <a:spcAft>
                          <a:spcPts val="0"/>
                        </a:spcAft>
                        <a:buFont typeface="Symbol" panose="05050102010706020507" pitchFamily="18" charset="2"/>
                        <a:buChar char=""/>
                      </a:pPr>
                      <a:r>
                        <a:rPr lang="en-US" sz="1800" dirty="0">
                          <a:effectLst/>
                        </a:rPr>
                        <a:t>What would you do differently if you were to plan or implement another just-in-time intervention?</a:t>
                      </a:r>
                    </a:p>
                    <a:p>
                      <a:pPr marL="342900" marR="0" lvl="0" indent="-342900">
                        <a:lnSpc>
                          <a:spcPct val="107000"/>
                        </a:lnSpc>
                        <a:spcBef>
                          <a:spcPts val="0"/>
                        </a:spcBef>
                        <a:spcAft>
                          <a:spcPts val="0"/>
                        </a:spcAft>
                        <a:buFont typeface="Symbol" panose="05050102010706020507" pitchFamily="18" charset="2"/>
                        <a:buChar char=""/>
                      </a:pPr>
                      <a:r>
                        <a:rPr lang="en-US" sz="1800" dirty="0">
                          <a:effectLst/>
                        </a:rPr>
                        <a:t>What pitfall did you anticipate and how did you try to avoid it?</a:t>
                      </a:r>
                    </a:p>
                    <a:p>
                      <a:pPr marL="342900" marR="0" lvl="0" indent="-342900">
                        <a:lnSpc>
                          <a:spcPct val="107000"/>
                        </a:lnSpc>
                        <a:spcBef>
                          <a:spcPts val="0"/>
                        </a:spcBef>
                        <a:spcAft>
                          <a:spcPts val="0"/>
                        </a:spcAft>
                        <a:buFont typeface="Symbol" panose="05050102010706020507" pitchFamily="18" charset="2"/>
                        <a:buChar char=""/>
                      </a:pPr>
                      <a:r>
                        <a:rPr lang="en-US" sz="1800" dirty="0">
                          <a:effectLst/>
                        </a:rPr>
                        <a:t>Do you think the intervention was helpful for students in engaging with the grade-level content with their teacher? How do you know?</a:t>
                      </a:r>
                    </a:p>
                    <a:p>
                      <a:pPr marL="342900" marR="0" lvl="0" indent="-342900">
                        <a:lnSpc>
                          <a:spcPct val="107000"/>
                        </a:lnSpc>
                        <a:spcBef>
                          <a:spcPts val="0"/>
                        </a:spcBef>
                        <a:spcAft>
                          <a:spcPts val="0"/>
                        </a:spcAft>
                        <a:buFont typeface="Symbol" panose="05050102010706020507" pitchFamily="18" charset="2"/>
                        <a:buChar char=""/>
                      </a:pPr>
                      <a:r>
                        <a:rPr lang="en-US" sz="1800" dirty="0">
                          <a:effectLst/>
                        </a:rPr>
                        <a:t>How did the just-in-time nature of the intervention set students up for success? Would this intervention have been effective if it were completed at a different time?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137160" marR="137160" marT="137160" marB="137160"/>
                </a:tc>
                <a:extLst>
                  <a:ext uri="{0D108BD9-81ED-4DB2-BD59-A6C34878D82A}">
                    <a16:rowId xmlns:a16="http://schemas.microsoft.com/office/drawing/2014/main" val="83359521"/>
                  </a:ext>
                </a:extLst>
              </a:tr>
            </a:tbl>
          </a:graphicData>
        </a:graphic>
      </p:graphicFrame>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199" y="158752"/>
            <a:ext cx="10515600" cy="1325563"/>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927617" y="1390651"/>
            <a:ext cx="10239375" cy="5148262"/>
          </a:xfrm>
        </p:spPr>
        <p:txBody>
          <a:bodyPr>
            <a:normAutofit/>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Respond to the following questions based on your small group discussion. </a:t>
            </a:r>
          </a:p>
          <a:p>
            <a:pPr marL="0" marR="0">
              <a:spcBef>
                <a:spcPts val="600"/>
              </a:spcBef>
              <a:spcAft>
                <a:spcPts val="600"/>
              </a:spcAft>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60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What is the most challenging part of implementing a just-in-time intervention? What additional supports would be helpful for a teacher in planning a just-in-time intervention?</a:t>
            </a:r>
          </a:p>
          <a:p>
            <a:pPr marL="342900" marR="0" lvl="0" indent="-342900">
              <a:spcBef>
                <a:spcPts val="600"/>
              </a:spcBef>
              <a:spcAft>
                <a:spcPts val="600"/>
              </a:spcAft>
              <a:buFont typeface="+mj-lt"/>
              <a:buAutoNum type="arabicPeriod"/>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60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Why is it important for teacher to use just-in-time interventions when providing grade-level content for all students? </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313533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359</TotalTime>
  <Words>471</Words>
  <Application>Microsoft Office PowerPoint</Application>
  <PresentationFormat>Widescreen</PresentationFormat>
  <Paragraphs>40</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Symbol</vt:lpstr>
      <vt:lpstr>Office Theme</vt:lpstr>
      <vt:lpstr>Practicum| Unit 4: Research Based Instructional Strategies (RBIS) Math | Lesson 4.13</vt:lpstr>
      <vt:lpstr>TEKS Standards &amp; Objectives</vt:lpstr>
      <vt:lpstr>Bellringer</vt:lpstr>
      <vt:lpstr>Just-In-Time Intervention Discussion</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4.13: Supporting All Learners and Just-in-Time Interventions in Math: Intervention Reflection and Discussion</dc:title>
  <dc:subject>Lesson 4.13: Supporting All Learners and Just-in-Time Interventions in Math: Intervention Reflection and Discussion</dc:subject>
  <dc:creator>Texas Education Agency</dc:creator>
  <cp:lastModifiedBy>White (she/her), Whitney</cp:lastModifiedBy>
  <cp:revision>12</cp:revision>
  <dcterms:created xsi:type="dcterms:W3CDTF">2022-05-09T19:40:20Z</dcterms:created>
  <dcterms:modified xsi:type="dcterms:W3CDTF">2023-08-19T01:56:33Z</dcterms:modified>
</cp:coreProperties>
</file>
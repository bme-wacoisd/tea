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9" r:id="rId3"/>
    <p:sldId id="258" r:id="rId4"/>
    <p:sldId id="261" r:id="rId5"/>
    <p:sldId id="264"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60AED2F3-A1CF-446A-BCF6-DE32550B6F9F}"/>
    <pc:docChg chg="custSel delSld modSld">
      <pc:chgData name="White, Whitney" userId="65f39021-2f1d-4d8b-87dc-b123826f65bf" providerId="ADAL" clId="{60AED2F3-A1CF-446A-BCF6-DE32550B6F9F}" dt="2022-07-27T18:13:24.020" v="1202" actId="20577"/>
      <pc:docMkLst>
        <pc:docMk/>
      </pc:docMkLst>
      <pc:sldChg chg="modSp mod">
        <pc:chgData name="White, Whitney" userId="65f39021-2f1d-4d8b-87dc-b123826f65bf" providerId="ADAL" clId="{60AED2F3-A1CF-446A-BCF6-DE32550B6F9F}" dt="2022-07-27T18:03:53.733" v="59" actId="27636"/>
        <pc:sldMkLst>
          <pc:docMk/>
          <pc:sldMk cId="1482277026" sldId="256"/>
        </pc:sldMkLst>
        <pc:spChg chg="mod">
          <ac:chgData name="White, Whitney" userId="65f39021-2f1d-4d8b-87dc-b123826f65bf" providerId="ADAL" clId="{60AED2F3-A1CF-446A-BCF6-DE32550B6F9F}" dt="2022-07-27T18:03:42.556" v="3" actId="20577"/>
          <ac:spMkLst>
            <pc:docMk/>
            <pc:sldMk cId="1482277026" sldId="256"/>
            <ac:spMk id="2" creationId="{BFFCF5BD-F8FF-4A67-A8B6-EBB21E79279B}"/>
          </ac:spMkLst>
        </pc:spChg>
        <pc:spChg chg="mod">
          <ac:chgData name="White, Whitney" userId="65f39021-2f1d-4d8b-87dc-b123826f65bf" providerId="ADAL" clId="{60AED2F3-A1CF-446A-BCF6-DE32550B6F9F}" dt="2022-07-27T18:03:53.733" v="59" actId="27636"/>
          <ac:spMkLst>
            <pc:docMk/>
            <pc:sldMk cId="1482277026" sldId="256"/>
            <ac:spMk id="3" creationId="{E0FBD98F-3A67-498E-8174-652040DD7B60}"/>
          </ac:spMkLst>
        </pc:spChg>
      </pc:sldChg>
      <pc:sldChg chg="modSp mod">
        <pc:chgData name="White, Whitney" userId="65f39021-2f1d-4d8b-87dc-b123826f65bf" providerId="ADAL" clId="{60AED2F3-A1CF-446A-BCF6-DE32550B6F9F}" dt="2022-07-27T18:05:30.349" v="83" actId="20577"/>
        <pc:sldMkLst>
          <pc:docMk/>
          <pc:sldMk cId="4071305681" sldId="258"/>
        </pc:sldMkLst>
        <pc:spChg chg="mod">
          <ac:chgData name="White, Whitney" userId="65f39021-2f1d-4d8b-87dc-b123826f65bf" providerId="ADAL" clId="{60AED2F3-A1CF-446A-BCF6-DE32550B6F9F}" dt="2022-07-27T18:05:30.349" v="83" actId="20577"/>
          <ac:spMkLst>
            <pc:docMk/>
            <pc:sldMk cId="4071305681" sldId="258"/>
            <ac:spMk id="3" creationId="{392BE286-77A6-49DD-B15D-7E4718D52FE7}"/>
          </ac:spMkLst>
        </pc:spChg>
      </pc:sldChg>
      <pc:sldChg chg="modSp mod">
        <pc:chgData name="White, Whitney" userId="65f39021-2f1d-4d8b-87dc-b123826f65bf" providerId="ADAL" clId="{60AED2F3-A1CF-446A-BCF6-DE32550B6F9F}" dt="2022-07-27T18:04:48.625" v="75" actId="20577"/>
        <pc:sldMkLst>
          <pc:docMk/>
          <pc:sldMk cId="2772527113" sldId="259"/>
        </pc:sldMkLst>
        <pc:spChg chg="mod">
          <ac:chgData name="White, Whitney" userId="65f39021-2f1d-4d8b-87dc-b123826f65bf" providerId="ADAL" clId="{60AED2F3-A1CF-446A-BCF6-DE32550B6F9F}" dt="2022-07-27T18:04:48.625" v="75" actId="20577"/>
          <ac:spMkLst>
            <pc:docMk/>
            <pc:sldMk cId="2772527113" sldId="259"/>
            <ac:spMk id="3" creationId="{8CE08C7F-0286-423B-92F7-DEB89F31111A}"/>
          </ac:spMkLst>
        </pc:spChg>
      </pc:sldChg>
      <pc:sldChg chg="del">
        <pc:chgData name="White, Whitney" userId="65f39021-2f1d-4d8b-87dc-b123826f65bf" providerId="ADAL" clId="{60AED2F3-A1CF-446A-BCF6-DE32550B6F9F}" dt="2022-07-27T18:11:44.365" v="1008" actId="47"/>
        <pc:sldMkLst>
          <pc:docMk/>
          <pc:sldMk cId="2147408764" sldId="260"/>
        </pc:sldMkLst>
      </pc:sldChg>
      <pc:sldChg chg="modSp mod">
        <pc:chgData name="White, Whitney" userId="65f39021-2f1d-4d8b-87dc-b123826f65bf" providerId="ADAL" clId="{60AED2F3-A1CF-446A-BCF6-DE32550B6F9F}" dt="2022-07-27T18:07:15.300" v="614" actId="313"/>
        <pc:sldMkLst>
          <pc:docMk/>
          <pc:sldMk cId="3054216349" sldId="261"/>
        </pc:sldMkLst>
        <pc:spChg chg="mod">
          <ac:chgData name="White, Whitney" userId="65f39021-2f1d-4d8b-87dc-b123826f65bf" providerId="ADAL" clId="{60AED2F3-A1CF-446A-BCF6-DE32550B6F9F}" dt="2022-07-27T18:07:15.300" v="614" actId="313"/>
          <ac:spMkLst>
            <pc:docMk/>
            <pc:sldMk cId="3054216349" sldId="261"/>
            <ac:spMk id="3" creationId="{AE13FDB6-F093-4D9E-B14E-3D7DB894C34C}"/>
          </ac:spMkLst>
        </pc:spChg>
      </pc:sldChg>
      <pc:sldChg chg="modSp mod">
        <pc:chgData name="White, Whitney" userId="65f39021-2f1d-4d8b-87dc-b123826f65bf" providerId="ADAL" clId="{60AED2F3-A1CF-446A-BCF6-DE32550B6F9F}" dt="2022-07-27T18:13:24.020" v="1202" actId="20577"/>
        <pc:sldMkLst>
          <pc:docMk/>
          <pc:sldMk cId="4170921578" sldId="262"/>
        </pc:sldMkLst>
        <pc:spChg chg="mod">
          <ac:chgData name="White, Whitney" userId="65f39021-2f1d-4d8b-87dc-b123826f65bf" providerId="ADAL" clId="{60AED2F3-A1CF-446A-BCF6-DE32550B6F9F}" dt="2022-07-27T18:11:50.491" v="1020" actId="20577"/>
          <ac:spMkLst>
            <pc:docMk/>
            <pc:sldMk cId="4170921578" sldId="262"/>
            <ac:spMk id="2" creationId="{A7DAC820-49EE-4F41-8B1F-B9E33FF6BE24}"/>
          </ac:spMkLst>
        </pc:spChg>
        <pc:spChg chg="mod">
          <ac:chgData name="White, Whitney" userId="65f39021-2f1d-4d8b-87dc-b123826f65bf" providerId="ADAL" clId="{60AED2F3-A1CF-446A-BCF6-DE32550B6F9F}" dt="2022-07-27T18:13:24.020" v="1202" actId="20577"/>
          <ac:spMkLst>
            <pc:docMk/>
            <pc:sldMk cId="4170921578" sldId="262"/>
            <ac:spMk id="3" creationId="{79FFCA46-4155-4484-8350-F1E0B95F6088}"/>
          </ac:spMkLst>
        </pc:spChg>
      </pc:sldChg>
      <pc:sldChg chg="del">
        <pc:chgData name="White, Whitney" userId="65f39021-2f1d-4d8b-87dc-b123826f65bf" providerId="ADAL" clId="{60AED2F3-A1CF-446A-BCF6-DE32550B6F9F}" dt="2022-07-27T18:11:45.395" v="1009" actId="47"/>
        <pc:sldMkLst>
          <pc:docMk/>
          <pc:sldMk cId="1163931679" sldId="263"/>
        </pc:sldMkLst>
      </pc:sldChg>
      <pc:sldChg chg="modSp mod">
        <pc:chgData name="White, Whitney" userId="65f39021-2f1d-4d8b-87dc-b123826f65bf" providerId="ADAL" clId="{60AED2F3-A1CF-446A-BCF6-DE32550B6F9F}" dt="2022-07-27T18:10:29.729" v="1007" actId="114"/>
        <pc:sldMkLst>
          <pc:docMk/>
          <pc:sldMk cId="3493109116" sldId="264"/>
        </pc:sldMkLst>
        <pc:spChg chg="mod">
          <ac:chgData name="White, Whitney" userId="65f39021-2f1d-4d8b-87dc-b123826f65bf" providerId="ADAL" clId="{60AED2F3-A1CF-446A-BCF6-DE32550B6F9F}" dt="2022-07-27T18:08:14.634" v="657" actId="313"/>
          <ac:spMkLst>
            <pc:docMk/>
            <pc:sldMk cId="3493109116" sldId="264"/>
            <ac:spMk id="2" creationId="{D7836664-70C0-47BA-9BFF-496A04EBBFDE}"/>
          </ac:spMkLst>
        </pc:spChg>
        <pc:spChg chg="mod">
          <ac:chgData name="White, Whitney" userId="65f39021-2f1d-4d8b-87dc-b123826f65bf" providerId="ADAL" clId="{60AED2F3-A1CF-446A-BCF6-DE32550B6F9F}" dt="2022-07-27T18:10:29.729" v="1007" actId="114"/>
          <ac:spMkLst>
            <pc:docMk/>
            <pc:sldMk cId="3493109116" sldId="264"/>
            <ac:spMk id="3" creationId="{F64339F5-2F5D-46B5-A25D-C197D73747BD}"/>
          </ac:spMkLst>
        </pc:spChg>
      </pc:sldChg>
    </pc:docChg>
  </pc:docChgLst>
  <pc:docChgLst>
    <pc:chgData name="White, Whitney" userId="65f39021-2f1d-4d8b-87dc-b123826f65bf" providerId="ADAL" clId="{948B2063-2475-4187-B304-5889A87451E2}"/>
    <pc:docChg chg="modSld">
      <pc:chgData name="White, Whitney" userId="65f39021-2f1d-4d8b-87dc-b123826f65bf" providerId="ADAL" clId="{948B2063-2475-4187-B304-5889A87451E2}" dt="2022-07-27T17:20:08.539" v="50" actId="20577"/>
      <pc:docMkLst>
        <pc:docMk/>
      </pc:docMkLst>
      <pc:sldChg chg="modSp mod">
        <pc:chgData name="White, Whitney" userId="65f39021-2f1d-4d8b-87dc-b123826f65bf" providerId="ADAL" clId="{948B2063-2475-4187-B304-5889A87451E2}" dt="2022-07-27T17:20:08.539" v="50" actId="20577"/>
        <pc:sldMkLst>
          <pc:docMk/>
          <pc:sldMk cId="1482277026" sldId="256"/>
        </pc:sldMkLst>
        <pc:spChg chg="mod">
          <ac:chgData name="White, Whitney" userId="65f39021-2f1d-4d8b-87dc-b123826f65bf" providerId="ADAL" clId="{948B2063-2475-4187-B304-5889A87451E2}" dt="2022-07-27T17:20:08.539" v="50"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762054F1-863A-405E-A7B0-617B5A302681}"/>
    <pc:docChg chg="modSld">
      <pc:chgData name="White (she/her), Whitney" userId="65f39021-2f1d-4d8b-87dc-b123826f65bf" providerId="ADAL" clId="{762054F1-863A-405E-A7B0-617B5A302681}" dt="2023-08-18T20:15:57.980" v="6" actId="404"/>
      <pc:docMkLst>
        <pc:docMk/>
      </pc:docMkLst>
      <pc:sldChg chg="addSp modSp mod">
        <pc:chgData name="White (she/her), Whitney" userId="65f39021-2f1d-4d8b-87dc-b123826f65bf" providerId="ADAL" clId="{762054F1-863A-405E-A7B0-617B5A302681}" dt="2023-08-18T20:15:57.980" v="6" actId="404"/>
        <pc:sldMkLst>
          <pc:docMk/>
          <pc:sldMk cId="1482277026" sldId="256"/>
        </pc:sldMkLst>
        <pc:spChg chg="mod">
          <ac:chgData name="White (she/her), Whitney" userId="65f39021-2f1d-4d8b-87dc-b123826f65bf" providerId="ADAL" clId="{762054F1-863A-405E-A7B0-617B5A302681}" dt="2023-08-18T20:15:41.465" v="1" actId="404"/>
          <ac:spMkLst>
            <pc:docMk/>
            <pc:sldMk cId="1482277026" sldId="256"/>
            <ac:spMk id="2" creationId="{BFFCF5BD-F8FF-4A67-A8B6-EBB21E79279B}"/>
          </ac:spMkLst>
        </pc:spChg>
        <pc:spChg chg="add mod">
          <ac:chgData name="White (she/her), Whitney" userId="65f39021-2f1d-4d8b-87dc-b123826f65bf" providerId="ADAL" clId="{762054F1-863A-405E-A7B0-617B5A302681}" dt="2023-08-18T20:15:57.980" v="6" actId="404"/>
          <ac:spMkLst>
            <pc:docMk/>
            <pc:sldMk cId="1482277026" sldId="256"/>
            <ac:spMk id="5" creationId="{776193FC-E90D-F343-F9BE-D63CF8B09E3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18584"/>
            <a:ext cx="9144000" cy="370300"/>
          </a:xfrm>
        </p:spPr>
        <p:txBody>
          <a:bodyPr>
            <a:normAutofit/>
          </a:bodyPr>
          <a:lstStyle/>
          <a:p>
            <a:pPr algn="l"/>
            <a:r>
              <a:rPr lang="en-US" sz="1600" dirty="0"/>
              <a:t>Practicum in Education and Training | Unit 1: Career Exploration and Awareness? | Lesson 1.02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a:bodyPr>
          <a:lstStyle/>
          <a:p>
            <a:r>
              <a:rPr lang="en-US" sz="6000" dirty="0"/>
              <a:t>Federal and State Government Roles in Education</a:t>
            </a:r>
          </a:p>
        </p:txBody>
      </p:sp>
      <p:sp>
        <p:nvSpPr>
          <p:cNvPr id="5" name="TextBox 4">
            <a:extLst>
              <a:ext uri="{FF2B5EF4-FFF2-40B4-BE49-F238E27FC236}">
                <a16:creationId xmlns:a16="http://schemas.microsoft.com/office/drawing/2014/main" id="{776193FC-E90D-F343-F9BE-D63CF8B09E37}"/>
              </a:ext>
            </a:extLst>
          </p:cNvPr>
          <p:cNvSpPr txBox="1"/>
          <p:nvPr/>
        </p:nvSpPr>
        <p:spPr>
          <a:xfrm>
            <a:off x="0" y="6488884"/>
            <a:ext cx="11358693" cy="584775"/>
          </a:xfrm>
          <a:prstGeom prst="rect">
            <a:avLst/>
          </a:prstGeom>
          <a:noFill/>
        </p:spPr>
        <p:txBody>
          <a:bodyPr wrap="square">
            <a:spAutoFit/>
          </a:bodyPr>
          <a:lstStyle/>
          <a:p>
            <a:r>
              <a:rPr lang="en-US" sz="1600" dirty="0">
                <a:solidFill>
                  <a:srgbClr val="464646"/>
                </a:solidFill>
                <a:effectLst/>
                <a:ea typeface="Calibri" panose="020F0502020204030204" pitchFamily="34" charset="0"/>
                <a:cs typeface="Calibri" panose="020F0502020204030204" pitchFamily="34" charset="0"/>
              </a:rPr>
              <a:t>This work is licensed under a </a:t>
            </a:r>
            <a:r>
              <a:rPr lang="en-US" sz="1600" u="sng" dirty="0">
                <a:solidFill>
                  <a:srgbClr val="0070C0"/>
                </a:solidFill>
                <a:effectLst/>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ea typeface="Calibri" panose="020F0502020204030204" pitchFamily="34" charset="0"/>
                <a:cs typeface="Calibri" panose="020F0502020204030204" pitchFamily="34" charset="0"/>
              </a:rPr>
              <a:t>.</a:t>
            </a:r>
            <a:br>
              <a:rPr lang="en-US" sz="1600" dirty="0">
                <a:effectLst/>
                <a:ea typeface="Calibri" panose="020F0502020204030204" pitchFamily="34" charset="0"/>
                <a:cs typeface="Times New Roman" panose="02020603050405020304" pitchFamily="18" charset="0"/>
              </a:rPr>
            </a:br>
            <a:endParaRPr lang="en-US" sz="1600" dirty="0"/>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3A</a:t>
            </a:r>
          </a:p>
          <a:p>
            <a:pPr marL="0" indent="0">
              <a:buNone/>
            </a:pPr>
            <a:endParaRPr lang="en-US" dirty="0"/>
          </a:p>
          <a:p>
            <a:pPr marL="0" indent="0">
              <a:buNone/>
            </a:pPr>
            <a:r>
              <a:rPr lang="en-US" dirty="0"/>
              <a:t>The student will:</a:t>
            </a:r>
          </a:p>
          <a:p>
            <a:pPr marL="342900" marR="0" lvl="0" indent="-342900">
              <a:spcBef>
                <a:spcPts val="600"/>
              </a:spcBef>
              <a:spcAft>
                <a:spcPts val="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d</a:t>
            </a:r>
            <a:r>
              <a:rPr lang="en-US" dirty="0">
                <a:effectLst/>
                <a:latin typeface="Calibri" panose="020F0502020204030204" pitchFamily="34" charset="0"/>
                <a:ea typeface="Calibri" panose="020F0502020204030204" pitchFamily="34" charset="0"/>
                <a:cs typeface="Times New Roman" panose="02020603050405020304" pitchFamily="18" charset="0"/>
              </a:rPr>
              <a:t>efine the structure of federal governance of education (the United States Department of Education)</a:t>
            </a:r>
          </a:p>
          <a:p>
            <a:pPr marL="342900" marR="0" lvl="0" indent="-342900">
              <a:spcBef>
                <a:spcPts val="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d</a:t>
            </a:r>
            <a:r>
              <a:rPr lang="en-US" dirty="0">
                <a:effectLst/>
                <a:latin typeface="Calibri" panose="020F0502020204030204" pitchFamily="34" charset="0"/>
                <a:ea typeface="Calibri" panose="020F0502020204030204" pitchFamily="34" charset="0"/>
                <a:cs typeface="Times New Roman" panose="02020603050405020304" pitchFamily="18" charset="0"/>
              </a:rPr>
              <a:t>efine the structure of state governance of education (state legislatures, state education agencies, state board of education, and state teacher certification boards)</a:t>
            </a:r>
          </a:p>
          <a:p>
            <a:pPr marL="342900" marR="0" lvl="0" indent="-342900">
              <a:spcBef>
                <a:spcPts val="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which decisions are made about education at the federal and state levels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Who do you think makes the most important decisions about what happens in schools (for example, what students learn and the school schedule)?</a:t>
            </a:r>
          </a:p>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If you’ve taken other Education and Training courses, you can use what you have learned to make your choice.</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normAutofit lnSpcReduction="10000"/>
          </a:bodyPr>
          <a:lstStyle/>
          <a:p>
            <a:pPr marL="0" indent="0">
              <a:buNone/>
            </a:pPr>
            <a:r>
              <a:rPr lang="en-US" dirty="0"/>
              <a:t>Federalism: A form of government in which power is divided between state and national levels.</a:t>
            </a:r>
          </a:p>
          <a:p>
            <a:pPr marL="0" indent="0">
              <a:buNone/>
            </a:pPr>
            <a:endParaRPr lang="en-US" dirty="0"/>
          </a:p>
          <a:p>
            <a:pPr marL="0" indent="0">
              <a:buNone/>
            </a:pPr>
            <a:r>
              <a:rPr lang="en-US" dirty="0"/>
              <a:t>Federal: (when used to describe a country’s type of government) describes a nation in which the power is divided between state and national levels.</a:t>
            </a:r>
          </a:p>
          <a:p>
            <a:pPr marL="0" indent="0">
              <a:buNone/>
            </a:pPr>
            <a:endParaRPr lang="en-US" dirty="0"/>
          </a:p>
          <a:p>
            <a:pPr marL="0" indent="0">
              <a:buNone/>
            </a:pPr>
            <a:r>
              <a:rPr lang="en-US" dirty="0"/>
              <a:t>Federal: (when used in the United States to describe a law, organization, or level of government) describes something associated with the national level of government.</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Federal Governance of Education in the US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dirty="0"/>
              <a:t>10</a:t>
            </a:r>
            <a:r>
              <a:rPr lang="en-US" baseline="30000" dirty="0"/>
              <a:t>th</a:t>
            </a:r>
            <a:r>
              <a:rPr lang="en-US" dirty="0"/>
              <a:t> Amendment: The federal government only has control in areas specifically mentioned in the Constitution.</a:t>
            </a:r>
          </a:p>
          <a:p>
            <a:pPr marL="0" indent="0">
              <a:buNone/>
            </a:pPr>
            <a:endParaRPr lang="en-US" dirty="0"/>
          </a:p>
          <a:p>
            <a:pPr marL="0" indent="0">
              <a:buNone/>
            </a:pPr>
            <a:r>
              <a:rPr lang="en-US" dirty="0"/>
              <a:t>14</a:t>
            </a:r>
            <a:r>
              <a:rPr lang="en-US" baseline="30000" dirty="0"/>
              <a:t>th</a:t>
            </a:r>
            <a:r>
              <a:rPr lang="en-US" dirty="0"/>
              <a:t> Amendment: No state can make a law that denies anyone of “life, liberty, and property.”</a:t>
            </a:r>
          </a:p>
          <a:p>
            <a:pPr marL="0" indent="0">
              <a:buNone/>
            </a:pPr>
            <a:endParaRPr lang="en-US" dirty="0"/>
          </a:p>
          <a:p>
            <a:pPr marL="0" indent="0">
              <a:buNone/>
            </a:pPr>
            <a:r>
              <a:rPr lang="en-US" dirty="0"/>
              <a:t>The federal government has </a:t>
            </a:r>
            <a:r>
              <a:rPr lang="en-US" i="1" u="sng" dirty="0"/>
              <a:t>less</a:t>
            </a:r>
            <a:r>
              <a:rPr lang="en-US" dirty="0"/>
              <a:t> control than states and districts over what happens in schools.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dirty="0"/>
              <a:t>For each scenario, determine whether the federal or state government should respond and why</a:t>
            </a:r>
          </a:p>
          <a:p>
            <a:pPr marL="0" marR="0" indent="0">
              <a:spcBef>
                <a:spcPts val="600"/>
              </a:spcBef>
              <a:spcAft>
                <a:spcPts val="600"/>
              </a:spcAft>
              <a:buNone/>
            </a:pPr>
            <a:endParaRPr lang="en-US" sz="1800" i="1">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1800" i="1">
                <a:effectLst/>
                <a:latin typeface="Calibri" panose="020F0502020204030204" pitchFamily="34" charset="0"/>
                <a:ea typeface="Calibri" panose="020F0502020204030204" pitchFamily="34" charset="0"/>
                <a:cs typeface="Times New Roman" panose="02020603050405020304" pitchFamily="18" charset="0"/>
              </a:rPr>
              <a:t>Scenario 1:</a:t>
            </a:r>
            <a:endParaRPr lang="en-US" sz="1800" i="1"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600"/>
              </a:spcBef>
              <a:spcAft>
                <a:spcPts val="6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Employers in a certain region of the country report that they need employees who have skills in cybersecurity, and they recommend that courses in cybersecurity should be created and offered as part of Career and Technical Education programs.  </a:t>
            </a:r>
          </a:p>
          <a:p>
            <a:pPr marL="0" marR="0" indent="0">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indent="0">
              <a:spcBef>
                <a:spcPts val="600"/>
              </a:spcBef>
              <a:spcAft>
                <a:spcPts val="600"/>
              </a:spcAft>
              <a:buNone/>
            </a:pPr>
            <a:r>
              <a:rPr lang="en-US" sz="1800" i="1" dirty="0">
                <a:effectLst/>
                <a:latin typeface="Calibri" panose="020F0502020204030204" pitchFamily="34" charset="0"/>
                <a:ea typeface="Calibri" panose="020F0502020204030204" pitchFamily="34" charset="0"/>
                <a:cs typeface="Times New Roman" panose="02020603050405020304" pitchFamily="18" charset="0"/>
              </a:rPr>
              <a:t>Scenario 2:</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Members of Congress have reviewed research showing that students learn foreign languages more quickly when they learn them in elementary school (rather than middle school or high school). They have identified funding for elementary schools that want to start foreign language programs.</a:t>
            </a:r>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4170921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110</TotalTime>
  <Words>405</Words>
  <Application>Microsoft Office PowerPoint</Application>
  <PresentationFormat>Widescreen</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Practicum in Education and Training | Unit 1: Career Exploration and Awareness? | Lesson 1.02</vt:lpstr>
      <vt:lpstr>TEKS Standards &amp; Objectives</vt:lpstr>
      <vt:lpstr>Bellringer</vt:lpstr>
      <vt:lpstr>Vocabulary</vt:lpstr>
      <vt:lpstr>Federal Governance of Education in the US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1.02: Federal and State Government Roles in Education</dc:title>
  <dc:subject>Lesson 1.02: Federal and State Government Roles in Education</dc:subject>
  <dc:creator>Texas Education Agency</dc:creator>
  <cp:lastModifiedBy>White (she/her), Whitney</cp:lastModifiedBy>
  <cp:revision>3</cp:revision>
  <dcterms:created xsi:type="dcterms:W3CDTF">2022-05-09T19:40:20Z</dcterms:created>
  <dcterms:modified xsi:type="dcterms:W3CDTF">2023-08-18T20:16:00Z</dcterms:modified>
</cp:coreProperties>
</file>
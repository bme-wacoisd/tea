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4" r:id="rId5"/>
    <p:sldId id="266" r:id="rId6"/>
    <p:sldId id="267"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00"/>
    <a:srgbClr val="FF0000"/>
    <a:srgbClr val="7800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EE4F27-65F6-4C2A-AEE5-ECC0673CDB6A}" v="1" dt="2023-08-31T19:36:55.7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712" autoAdjust="0"/>
  </p:normalViewPr>
  <p:slideViewPr>
    <p:cSldViewPr snapToGrid="0">
      <p:cViewPr varScale="1">
        <p:scale>
          <a:sx n="108" d="100"/>
          <a:sy n="108" d="100"/>
        </p:scale>
        <p:origin x="6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B18F48BF-822B-4B35-923B-FFBA5D306C4D}"/>
    <pc:docChg chg="undo custSel addSld delSld modSld">
      <pc:chgData name="White, Whitney" userId="65f39021-2f1d-4d8b-87dc-b123826f65bf" providerId="ADAL" clId="{B18F48BF-822B-4B35-923B-FFBA5D306C4D}" dt="2022-08-04T13:58:19.631" v="272" actId="47"/>
      <pc:docMkLst>
        <pc:docMk/>
      </pc:docMkLst>
      <pc:sldChg chg="modSp mod">
        <pc:chgData name="White, Whitney" userId="65f39021-2f1d-4d8b-87dc-b123826f65bf" providerId="ADAL" clId="{B18F48BF-822B-4B35-923B-FFBA5D306C4D}" dt="2022-08-04T13:41:14.368" v="37" actId="20577"/>
        <pc:sldMkLst>
          <pc:docMk/>
          <pc:sldMk cId="1482277026" sldId="256"/>
        </pc:sldMkLst>
        <pc:spChg chg="mod">
          <ac:chgData name="White, Whitney" userId="65f39021-2f1d-4d8b-87dc-b123826f65bf" providerId="ADAL" clId="{B18F48BF-822B-4B35-923B-FFBA5D306C4D}" dt="2022-07-31T05:16:49.952" v="3" actId="20577"/>
          <ac:spMkLst>
            <pc:docMk/>
            <pc:sldMk cId="1482277026" sldId="256"/>
            <ac:spMk id="2" creationId="{BFFCF5BD-F8FF-4A67-A8B6-EBB21E79279B}"/>
          </ac:spMkLst>
        </pc:spChg>
        <pc:spChg chg="mod">
          <ac:chgData name="White, Whitney" userId="65f39021-2f1d-4d8b-87dc-b123826f65bf" providerId="ADAL" clId="{B18F48BF-822B-4B35-923B-FFBA5D306C4D}" dt="2022-08-04T13:41:14.368" v="37" actId="20577"/>
          <ac:spMkLst>
            <pc:docMk/>
            <pc:sldMk cId="1482277026" sldId="256"/>
            <ac:spMk id="3" creationId="{E0FBD98F-3A67-498E-8174-652040DD7B60}"/>
          </ac:spMkLst>
        </pc:spChg>
      </pc:sldChg>
      <pc:sldChg chg="modSp mod">
        <pc:chgData name="White, Whitney" userId="65f39021-2f1d-4d8b-87dc-b123826f65bf" providerId="ADAL" clId="{B18F48BF-822B-4B35-923B-FFBA5D306C4D}" dt="2022-08-04T13:42:20.283" v="60" actId="27636"/>
        <pc:sldMkLst>
          <pc:docMk/>
          <pc:sldMk cId="4071305681" sldId="258"/>
        </pc:sldMkLst>
        <pc:spChg chg="mod">
          <ac:chgData name="White, Whitney" userId="65f39021-2f1d-4d8b-87dc-b123826f65bf" providerId="ADAL" clId="{B18F48BF-822B-4B35-923B-FFBA5D306C4D}" dt="2022-08-04T13:42:20.283" v="60" actId="27636"/>
          <ac:spMkLst>
            <pc:docMk/>
            <pc:sldMk cId="4071305681" sldId="258"/>
            <ac:spMk id="3" creationId="{392BE286-77A6-49DD-B15D-7E4718D52FE7}"/>
          </ac:spMkLst>
        </pc:spChg>
      </pc:sldChg>
      <pc:sldChg chg="modSp mod">
        <pc:chgData name="White, Whitney" userId="65f39021-2f1d-4d8b-87dc-b123826f65bf" providerId="ADAL" clId="{B18F48BF-822B-4B35-923B-FFBA5D306C4D}" dt="2022-08-04T13:41:35.780" v="52" actId="12"/>
        <pc:sldMkLst>
          <pc:docMk/>
          <pc:sldMk cId="2772527113" sldId="259"/>
        </pc:sldMkLst>
        <pc:spChg chg="mod">
          <ac:chgData name="White, Whitney" userId="65f39021-2f1d-4d8b-87dc-b123826f65bf" providerId="ADAL" clId="{B18F48BF-822B-4B35-923B-FFBA5D306C4D}" dt="2022-08-04T13:41:35.780" v="52" actId="12"/>
          <ac:spMkLst>
            <pc:docMk/>
            <pc:sldMk cId="2772527113" sldId="259"/>
            <ac:spMk id="3" creationId="{8CE08C7F-0286-423B-92F7-DEB89F31111A}"/>
          </ac:spMkLst>
        </pc:spChg>
      </pc:sldChg>
      <pc:sldChg chg="modSp mod">
        <pc:chgData name="White, Whitney" userId="65f39021-2f1d-4d8b-87dc-b123826f65bf" providerId="ADAL" clId="{B18F48BF-822B-4B35-923B-FFBA5D306C4D}" dt="2022-08-04T13:42:49.791" v="64" actId="255"/>
        <pc:sldMkLst>
          <pc:docMk/>
          <pc:sldMk cId="2147408764" sldId="260"/>
        </pc:sldMkLst>
        <pc:spChg chg="mod">
          <ac:chgData name="White, Whitney" userId="65f39021-2f1d-4d8b-87dc-b123826f65bf" providerId="ADAL" clId="{B18F48BF-822B-4B35-923B-FFBA5D306C4D}" dt="2022-08-04T13:42:49.791" v="64" actId="255"/>
          <ac:spMkLst>
            <pc:docMk/>
            <pc:sldMk cId="2147408764" sldId="260"/>
            <ac:spMk id="3" creationId="{49F2A5AF-3C0B-4968-A438-E435325199EA}"/>
          </ac:spMkLst>
        </pc:spChg>
      </pc:sldChg>
      <pc:sldChg chg="del">
        <pc:chgData name="White, Whitney" userId="65f39021-2f1d-4d8b-87dc-b123826f65bf" providerId="ADAL" clId="{B18F48BF-822B-4B35-923B-FFBA5D306C4D}" dt="2022-08-04T13:42:33.569" v="61" actId="2696"/>
        <pc:sldMkLst>
          <pc:docMk/>
          <pc:sldMk cId="3054216349" sldId="261"/>
        </pc:sldMkLst>
      </pc:sldChg>
      <pc:sldChg chg="del">
        <pc:chgData name="White, Whitney" userId="65f39021-2f1d-4d8b-87dc-b123826f65bf" providerId="ADAL" clId="{B18F48BF-822B-4B35-923B-FFBA5D306C4D}" dt="2022-08-04T13:58:19.631" v="272" actId="47"/>
        <pc:sldMkLst>
          <pc:docMk/>
          <pc:sldMk cId="4170921578" sldId="262"/>
        </pc:sldMkLst>
      </pc:sldChg>
      <pc:sldChg chg="del">
        <pc:chgData name="White, Whitney" userId="65f39021-2f1d-4d8b-87dc-b123826f65bf" providerId="ADAL" clId="{B18F48BF-822B-4B35-923B-FFBA5D306C4D}" dt="2022-08-04T13:58:19.074" v="271" actId="47"/>
        <pc:sldMkLst>
          <pc:docMk/>
          <pc:sldMk cId="1163931679" sldId="263"/>
        </pc:sldMkLst>
      </pc:sldChg>
      <pc:sldChg chg="addSp delSp modSp mod delAnim modAnim">
        <pc:chgData name="White, Whitney" userId="65f39021-2f1d-4d8b-87dc-b123826f65bf" providerId="ADAL" clId="{B18F48BF-822B-4B35-923B-FFBA5D306C4D}" dt="2022-08-04T13:56:53.482" v="267" actId="207"/>
        <pc:sldMkLst>
          <pc:docMk/>
          <pc:sldMk cId="3493109116" sldId="264"/>
        </pc:sldMkLst>
        <pc:spChg chg="mod">
          <ac:chgData name="White, Whitney" userId="65f39021-2f1d-4d8b-87dc-b123826f65bf" providerId="ADAL" clId="{B18F48BF-822B-4B35-923B-FFBA5D306C4D}" dt="2022-08-04T13:44:09.435" v="103" actId="5793"/>
          <ac:spMkLst>
            <pc:docMk/>
            <pc:sldMk cId="3493109116" sldId="264"/>
            <ac:spMk id="2" creationId="{D7836664-70C0-47BA-9BFF-496A04EBBFDE}"/>
          </ac:spMkLst>
        </pc:spChg>
        <pc:spChg chg="del">
          <ac:chgData name="White, Whitney" userId="65f39021-2f1d-4d8b-87dc-b123826f65bf" providerId="ADAL" clId="{B18F48BF-822B-4B35-923B-FFBA5D306C4D}" dt="2022-08-04T13:44:17.485" v="104"/>
          <ac:spMkLst>
            <pc:docMk/>
            <pc:sldMk cId="3493109116" sldId="264"/>
            <ac:spMk id="3" creationId="{F64339F5-2F5D-46B5-A25D-C197D73747BD}"/>
          </ac:spMkLst>
        </pc:spChg>
        <pc:spChg chg="add mod">
          <ac:chgData name="White, Whitney" userId="65f39021-2f1d-4d8b-87dc-b123826f65bf" providerId="ADAL" clId="{B18F48BF-822B-4B35-923B-FFBA5D306C4D}" dt="2022-08-04T13:56:53.482" v="267" actId="207"/>
          <ac:spMkLst>
            <pc:docMk/>
            <pc:sldMk cId="3493109116" sldId="264"/>
            <ac:spMk id="9" creationId="{520DA088-407A-44F7-9B25-C06CEB30D8D4}"/>
          </ac:spMkLst>
        </pc:spChg>
        <pc:graphicFrameChg chg="add del mod modGraphic">
          <ac:chgData name="White, Whitney" userId="65f39021-2f1d-4d8b-87dc-b123826f65bf" providerId="ADAL" clId="{B18F48BF-822B-4B35-923B-FFBA5D306C4D}" dt="2022-08-04T13:50:26.460" v="141" actId="21"/>
          <ac:graphicFrameMkLst>
            <pc:docMk/>
            <pc:sldMk cId="3493109116" sldId="264"/>
            <ac:graphicFrameMk id="5" creationId="{338DD7C3-0BB7-48A2-966B-874515841309}"/>
          </ac:graphicFrameMkLst>
        </pc:graphicFrameChg>
        <pc:graphicFrameChg chg="add del mod">
          <ac:chgData name="White, Whitney" userId="65f39021-2f1d-4d8b-87dc-b123826f65bf" providerId="ADAL" clId="{B18F48BF-822B-4B35-923B-FFBA5D306C4D}" dt="2022-08-04T13:47:08.522" v="119"/>
          <ac:graphicFrameMkLst>
            <pc:docMk/>
            <pc:sldMk cId="3493109116" sldId="264"/>
            <ac:graphicFrameMk id="6" creationId="{867303D6-0BC9-4EAC-B200-D3438BC8F389}"/>
          </ac:graphicFrameMkLst>
        </pc:graphicFrameChg>
        <pc:graphicFrameChg chg="add del mod modGraphic">
          <ac:chgData name="White, Whitney" userId="65f39021-2f1d-4d8b-87dc-b123826f65bf" providerId="ADAL" clId="{B18F48BF-822B-4B35-923B-FFBA5D306C4D}" dt="2022-08-04T13:50:24.464" v="140" actId="21"/>
          <ac:graphicFrameMkLst>
            <pc:docMk/>
            <pc:sldMk cId="3493109116" sldId="264"/>
            <ac:graphicFrameMk id="7" creationId="{D47F0D1C-77E1-4AC0-9855-04AF1B4C4D2A}"/>
          </ac:graphicFrameMkLst>
        </pc:graphicFrameChg>
      </pc:sldChg>
      <pc:sldChg chg="add del">
        <pc:chgData name="White, Whitney" userId="65f39021-2f1d-4d8b-87dc-b123826f65bf" providerId="ADAL" clId="{B18F48BF-822B-4B35-923B-FFBA5D306C4D}" dt="2022-08-04T13:52:16.743" v="195" actId="2696"/>
        <pc:sldMkLst>
          <pc:docMk/>
          <pc:sldMk cId="2771781713" sldId="265"/>
        </pc:sldMkLst>
      </pc:sldChg>
      <pc:sldChg chg="addSp delSp modSp add mod">
        <pc:chgData name="White, Whitney" userId="65f39021-2f1d-4d8b-87dc-b123826f65bf" providerId="ADAL" clId="{B18F48BF-822B-4B35-923B-FFBA5D306C4D}" dt="2022-08-04T13:56:45.677" v="264" actId="207"/>
        <pc:sldMkLst>
          <pc:docMk/>
          <pc:sldMk cId="3551953158" sldId="266"/>
        </pc:sldMkLst>
        <pc:spChg chg="add mod">
          <ac:chgData name="White, Whitney" userId="65f39021-2f1d-4d8b-87dc-b123826f65bf" providerId="ADAL" clId="{B18F48BF-822B-4B35-923B-FFBA5D306C4D}" dt="2022-08-04T13:56:45.677" v="264" actId="207"/>
          <ac:spMkLst>
            <pc:docMk/>
            <pc:sldMk cId="3551953158" sldId="266"/>
            <ac:spMk id="6" creationId="{ECBCB308-78EA-4FC9-A6D2-711E53BABD8C}"/>
          </ac:spMkLst>
        </pc:spChg>
        <pc:graphicFrameChg chg="del">
          <ac:chgData name="White, Whitney" userId="65f39021-2f1d-4d8b-87dc-b123826f65bf" providerId="ADAL" clId="{B18F48BF-822B-4B35-923B-FFBA5D306C4D}" dt="2022-08-04T13:52:21.247" v="196" actId="21"/>
          <ac:graphicFrameMkLst>
            <pc:docMk/>
            <pc:sldMk cId="3551953158" sldId="266"/>
            <ac:graphicFrameMk id="5" creationId="{338DD7C3-0BB7-48A2-966B-874515841309}"/>
          </ac:graphicFrameMkLst>
        </pc:graphicFrameChg>
      </pc:sldChg>
      <pc:sldChg chg="modSp add mod">
        <pc:chgData name="White, Whitney" userId="65f39021-2f1d-4d8b-87dc-b123826f65bf" providerId="ADAL" clId="{B18F48BF-822B-4B35-923B-FFBA5D306C4D}" dt="2022-08-04T13:57:13.687" v="270" actId="207"/>
        <pc:sldMkLst>
          <pc:docMk/>
          <pc:sldMk cId="3396566809" sldId="267"/>
        </pc:sldMkLst>
        <pc:spChg chg="mod">
          <ac:chgData name="White, Whitney" userId="65f39021-2f1d-4d8b-87dc-b123826f65bf" providerId="ADAL" clId="{B18F48BF-822B-4B35-923B-FFBA5D306C4D}" dt="2022-08-04T13:57:13.687" v="270" actId="207"/>
          <ac:spMkLst>
            <pc:docMk/>
            <pc:sldMk cId="3396566809" sldId="267"/>
            <ac:spMk id="6" creationId="{ECBCB308-78EA-4FC9-A6D2-711E53BABD8C}"/>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she/her), Whitney" userId="65f39021-2f1d-4d8b-87dc-b123826f65bf" providerId="ADAL" clId="{89EE4F27-65F6-4C2A-AEE5-ECC0673CDB6A}"/>
    <pc:docChg chg="modSld">
      <pc:chgData name="White (she/her), Whitney" userId="65f39021-2f1d-4d8b-87dc-b123826f65bf" providerId="ADAL" clId="{89EE4F27-65F6-4C2A-AEE5-ECC0673CDB6A}" dt="2023-08-31T19:37:05.582" v="5" actId="20577"/>
      <pc:docMkLst>
        <pc:docMk/>
      </pc:docMkLst>
      <pc:sldChg chg="addSp modSp mod">
        <pc:chgData name="White (she/her), Whitney" userId="65f39021-2f1d-4d8b-87dc-b123826f65bf" providerId="ADAL" clId="{89EE4F27-65F6-4C2A-AEE5-ECC0673CDB6A}" dt="2023-08-31T19:36:57.962" v="2" actId="1076"/>
        <pc:sldMkLst>
          <pc:docMk/>
          <pc:sldMk cId="1482277026" sldId="256"/>
        </pc:sldMkLst>
        <pc:spChg chg="mod">
          <ac:chgData name="White (she/her), Whitney" userId="65f39021-2f1d-4d8b-87dc-b123826f65bf" providerId="ADAL" clId="{89EE4F27-65F6-4C2A-AEE5-ECC0673CDB6A}" dt="2023-08-31T19:36:57.962" v="2" actId="1076"/>
          <ac:spMkLst>
            <pc:docMk/>
            <pc:sldMk cId="1482277026" sldId="256"/>
            <ac:spMk id="2" creationId="{BFFCF5BD-F8FF-4A67-A8B6-EBB21E79279B}"/>
          </ac:spMkLst>
        </pc:spChg>
        <pc:spChg chg="add mod">
          <ac:chgData name="White (she/her), Whitney" userId="65f39021-2f1d-4d8b-87dc-b123826f65bf" providerId="ADAL" clId="{89EE4F27-65F6-4C2A-AEE5-ECC0673CDB6A}" dt="2023-08-31T19:36:55.765" v="1"/>
          <ac:spMkLst>
            <pc:docMk/>
            <pc:sldMk cId="1482277026" sldId="256"/>
            <ac:spMk id="4" creationId="{FC8EB7A3-FDDF-8DB1-370A-17A5AD3B5E3B}"/>
          </ac:spMkLst>
        </pc:spChg>
      </pc:sldChg>
      <pc:sldChg chg="modSp mod">
        <pc:chgData name="White (she/her), Whitney" userId="65f39021-2f1d-4d8b-87dc-b123826f65bf" providerId="ADAL" clId="{89EE4F27-65F6-4C2A-AEE5-ECC0673CDB6A}" dt="2023-08-31T19:37:03.284" v="3" actId="20577"/>
        <pc:sldMkLst>
          <pc:docMk/>
          <pc:sldMk cId="3551953158" sldId="266"/>
        </pc:sldMkLst>
        <pc:spChg chg="mod">
          <ac:chgData name="White (she/her), Whitney" userId="65f39021-2f1d-4d8b-87dc-b123826f65bf" providerId="ADAL" clId="{89EE4F27-65F6-4C2A-AEE5-ECC0673CDB6A}" dt="2023-08-31T19:37:03.284" v="3" actId="20577"/>
          <ac:spMkLst>
            <pc:docMk/>
            <pc:sldMk cId="3551953158" sldId="266"/>
            <ac:spMk id="2" creationId="{D7836664-70C0-47BA-9BFF-496A04EBBFDE}"/>
          </ac:spMkLst>
        </pc:spChg>
      </pc:sldChg>
      <pc:sldChg chg="modSp mod">
        <pc:chgData name="White (she/her), Whitney" userId="65f39021-2f1d-4d8b-87dc-b123826f65bf" providerId="ADAL" clId="{89EE4F27-65F6-4C2A-AEE5-ECC0673CDB6A}" dt="2023-08-31T19:37:05.582" v="5" actId="20577"/>
        <pc:sldMkLst>
          <pc:docMk/>
          <pc:sldMk cId="3396566809" sldId="267"/>
        </pc:sldMkLst>
        <pc:spChg chg="mod">
          <ac:chgData name="White (she/her), Whitney" userId="65f39021-2f1d-4d8b-87dc-b123826f65bf" providerId="ADAL" clId="{89EE4F27-65F6-4C2A-AEE5-ECC0673CDB6A}" dt="2023-08-31T19:37:05.582" v="5" actId="20577"/>
          <ac:spMkLst>
            <pc:docMk/>
            <pc:sldMk cId="3396566809" sldId="267"/>
            <ac:spMk id="2" creationId="{D7836664-70C0-47BA-9BFF-496A04EBBFDE}"/>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Practicing Effective Communication</a:t>
            </a:r>
          </a:p>
        </p:txBody>
      </p:sp>
      <p:sp>
        <p:nvSpPr>
          <p:cNvPr id="4" name="TextBox 3">
            <a:extLst>
              <a:ext uri="{FF2B5EF4-FFF2-40B4-BE49-F238E27FC236}">
                <a16:creationId xmlns:a16="http://schemas.microsoft.com/office/drawing/2014/main" id="{FC8EB7A3-FDDF-8DB1-370A-17A5AD3B5E3B}"/>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1A, 1E, 1I</a:t>
            </a:r>
          </a:p>
          <a:p>
            <a:pPr marL="0" indent="0">
              <a:buNone/>
            </a:pPr>
            <a:endParaRPr lang="en-US" dirty="0"/>
          </a:p>
          <a:p>
            <a:pPr marL="0" indent="0">
              <a:buNone/>
            </a:pPr>
            <a:r>
              <a:rPr lang="en-US" dirty="0"/>
              <a:t>The student will:</a:t>
            </a:r>
          </a:p>
          <a:p>
            <a:r>
              <a:rPr lang="en-US" dirty="0">
                <a:solidFill>
                  <a:srgbClr val="000000"/>
                </a:solidFill>
                <a:latin typeface="Calibri" panose="020F0502020204030204" pitchFamily="34" charset="0"/>
                <a:ea typeface="Times New Roman" panose="02020603050405020304" pitchFamily="18" charset="0"/>
              </a:rPr>
              <a:t>d</a:t>
            </a:r>
            <a:r>
              <a:rPr lang="en-US" sz="2800" dirty="0">
                <a:solidFill>
                  <a:srgbClr val="000000"/>
                </a:solidFill>
                <a:effectLst/>
                <a:latin typeface="Calibri" panose="020F0502020204030204" pitchFamily="34" charset="0"/>
                <a:ea typeface="Times New Roman" panose="02020603050405020304" pitchFamily="18" charset="0"/>
              </a:rPr>
              <a:t>raft authentic and effective written communication adhering to professional practices.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fontScale="92500" lnSpcReduction="10000"/>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Determine whether the below statement is True or False about communication: </a:t>
            </a:r>
          </a:p>
          <a:p>
            <a:pPr marL="0" marR="0" indent="0">
              <a:spcBef>
                <a:spcPts val="600"/>
              </a:spcBef>
              <a:spcAft>
                <a:spcPts val="600"/>
              </a:spcAft>
              <a:buNone/>
            </a:pPr>
            <a:r>
              <a:rPr lang="en-US" sz="2600" dirty="0">
                <a:effectLst/>
                <a:latin typeface="Calibri" panose="020F0502020204030204" pitchFamily="34" charset="0"/>
                <a:ea typeface="Calibri" panose="020F0502020204030204" pitchFamily="34" charset="0"/>
                <a:cs typeface="Arial" panose="020B0604020202020204" pitchFamily="34" charset="0"/>
              </a:rPr>
              <a:t>1) Effective communication means everyone understands what’s going on and is satisfied </a:t>
            </a:r>
          </a:p>
          <a:p>
            <a:pPr marL="0" marR="0" indent="0">
              <a:spcBef>
                <a:spcPts val="600"/>
              </a:spcBef>
              <a:spcAft>
                <a:spcPts val="600"/>
              </a:spcAft>
              <a:buNone/>
            </a:pPr>
            <a:r>
              <a:rPr lang="en-US" sz="2600" dirty="0">
                <a:effectLst/>
                <a:latin typeface="Calibri" panose="020F0502020204030204" pitchFamily="34" charset="0"/>
                <a:ea typeface="Calibri" panose="020F0502020204030204" pitchFamily="34" charset="0"/>
                <a:cs typeface="Arial" panose="020B0604020202020204" pitchFamily="34" charset="0"/>
              </a:rPr>
              <a:t>2) Effective communication is clear, simple, and appropriate to the audience</a:t>
            </a:r>
          </a:p>
          <a:p>
            <a:pPr marL="0" marR="0" indent="0">
              <a:spcBef>
                <a:spcPts val="600"/>
              </a:spcBef>
              <a:spcAft>
                <a:spcPts val="600"/>
              </a:spcAft>
              <a:buNone/>
            </a:pPr>
            <a:r>
              <a:rPr lang="en-US" sz="2600" dirty="0">
                <a:effectLst/>
                <a:latin typeface="Calibri" panose="020F0502020204030204" pitchFamily="34" charset="0"/>
                <a:ea typeface="Calibri" panose="020F0502020204030204" pitchFamily="34" charset="0"/>
                <a:cs typeface="Arial" panose="020B0604020202020204" pitchFamily="34" charset="0"/>
              </a:rPr>
              <a:t>3) Effective communication is only written, not spoken</a:t>
            </a:r>
          </a:p>
          <a:p>
            <a:pPr marL="0" marR="0" indent="0">
              <a:spcBef>
                <a:spcPts val="600"/>
              </a:spcBef>
              <a:spcAft>
                <a:spcPts val="600"/>
              </a:spcAft>
              <a:buNone/>
            </a:pPr>
            <a:r>
              <a:rPr lang="en-US" sz="2600" dirty="0">
                <a:effectLst/>
                <a:latin typeface="Calibri" panose="020F0502020204030204" pitchFamily="34" charset="0"/>
                <a:ea typeface="Calibri" panose="020F0502020204030204" pitchFamily="34" charset="0"/>
                <a:cs typeface="Arial" panose="020B0604020202020204" pitchFamily="34" charset="0"/>
              </a:rPr>
              <a:t>4) Effective communication is helpful in your professional life, not your personal life</a:t>
            </a:r>
          </a:p>
          <a:p>
            <a:pPr marL="0" marR="0" indent="0">
              <a:spcBef>
                <a:spcPts val="600"/>
              </a:spcBef>
              <a:spcAft>
                <a:spcPts val="600"/>
              </a:spcAft>
              <a:buNone/>
            </a:pPr>
            <a:r>
              <a:rPr lang="en-US" sz="2600" dirty="0">
                <a:effectLst/>
                <a:latin typeface="Calibri" panose="020F0502020204030204" pitchFamily="34" charset="0"/>
                <a:ea typeface="Calibri" panose="020F0502020204030204" pitchFamily="34" charset="0"/>
                <a:cs typeface="Arial" panose="020B0604020202020204" pitchFamily="34" charset="0"/>
              </a:rPr>
              <a:t>5) Teachers must have effective communication skills to be successful</a:t>
            </a:r>
          </a:p>
          <a:p>
            <a:pPr marL="0" marR="0" indent="0">
              <a:spcBef>
                <a:spcPts val="600"/>
              </a:spcBef>
              <a:spcAft>
                <a:spcPts val="600"/>
              </a:spcAft>
              <a:buNone/>
            </a:pPr>
            <a:r>
              <a:rPr lang="en-US" sz="2600" dirty="0">
                <a:effectLst/>
                <a:latin typeface="Calibri" panose="020F0502020204030204" pitchFamily="34" charset="0"/>
                <a:ea typeface="Calibri" panose="020F0502020204030204" pitchFamily="34" charset="0"/>
                <a:cs typeface="Arial" panose="020B0604020202020204" pitchFamily="34" charset="0"/>
              </a:rPr>
              <a:t>6) I am an effective communicator</a:t>
            </a:r>
          </a:p>
          <a:p>
            <a:pPr marL="0" indent="0">
              <a:buNone/>
            </a:pPr>
            <a:r>
              <a:rPr lang="en-US" sz="1800" i="1" dirty="0">
                <a:effectLst/>
                <a:latin typeface="Calibri" panose="020F0502020204030204" pitchFamily="34" charset="0"/>
                <a:ea typeface="Calibri" panose="020F0502020204030204" pitchFamily="34" charset="0"/>
                <a:cs typeface="Arial" panose="020B0604020202020204" pitchFamily="34" charset="0"/>
              </a:rPr>
              <a:t>Please explain why you answered question 6 the way you did. </a:t>
            </a:r>
          </a:p>
          <a:p>
            <a:pPr marL="0" indent="0">
              <a:buNone/>
            </a:pP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Effective Written Communication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
        <p:nvSpPr>
          <p:cNvPr id="9" name="Content Placeholder 8">
            <a:extLst>
              <a:ext uri="{FF2B5EF4-FFF2-40B4-BE49-F238E27FC236}">
                <a16:creationId xmlns:a16="http://schemas.microsoft.com/office/drawing/2014/main" id="{520DA088-407A-44F7-9B25-C06CEB30D8D4}"/>
              </a:ext>
            </a:extLst>
          </p:cNvPr>
          <p:cNvSpPr>
            <a:spLocks noGrp="1"/>
          </p:cNvSpPr>
          <p:nvPr>
            <p:ph idx="1"/>
          </p:nvPr>
        </p:nvSpPr>
        <p:spPr/>
        <p:txBody>
          <a:bodyPr>
            <a:noAutofit/>
          </a:bodyPr>
          <a:lstStyle/>
          <a:p>
            <a:pPr marL="0" indent="0">
              <a:buNone/>
            </a:pPr>
            <a:r>
              <a:rPr lang="en-US" sz="2000" dirty="0"/>
              <a:t>What is effective communication?</a:t>
            </a:r>
          </a:p>
          <a:p>
            <a:pPr marL="0" indent="0">
              <a:buNone/>
            </a:pPr>
            <a:r>
              <a:rPr lang="en-US" sz="2000" i="1" dirty="0">
                <a:solidFill>
                  <a:srgbClr val="007800"/>
                </a:solidFill>
                <a:effectLst/>
                <a:ea typeface="Calibri" panose="020F0502020204030204" pitchFamily="34" charset="0"/>
                <a:cs typeface="Times New Roman" panose="02020603050405020304" pitchFamily="18" charset="0"/>
              </a:rPr>
              <a:t>The process of exchanging ideas, knowledge, opinions, facts, or data in a clear and purposeful manner so that it is understood by all involved.</a:t>
            </a:r>
          </a:p>
          <a:p>
            <a:pPr marL="0" indent="0">
              <a:buNone/>
            </a:pPr>
            <a:endParaRPr lang="en-US" sz="2000" i="1" dirty="0">
              <a:cs typeface="Times New Roman" panose="02020603050405020304" pitchFamily="18" charset="0"/>
            </a:endParaRPr>
          </a:p>
          <a:p>
            <a:pPr marL="0" indent="0">
              <a:buNone/>
            </a:pPr>
            <a:r>
              <a:rPr lang="en-US" sz="2000" dirty="0">
                <a:effectLst/>
                <a:ea typeface="Calibri" panose="020F0502020204030204" pitchFamily="34" charset="0"/>
                <a:cs typeface="Times New Roman" panose="02020603050405020304" pitchFamily="18" charset="0"/>
              </a:rPr>
              <a:t>Why must teachers communicate effectively?</a:t>
            </a:r>
            <a:endParaRPr lang="en-US" sz="2000" i="1" dirty="0">
              <a:effectLst/>
              <a:ea typeface="Calibri" panose="020F0502020204030204" pitchFamily="34" charset="0"/>
              <a:cs typeface="Times New Roman" panose="02020603050405020304" pitchFamily="18" charset="0"/>
            </a:endParaRPr>
          </a:p>
          <a:p>
            <a:pPr marL="0" indent="0">
              <a:buNone/>
            </a:pPr>
            <a:r>
              <a:rPr lang="en-US" sz="2000" i="1" dirty="0">
                <a:solidFill>
                  <a:srgbClr val="007800"/>
                </a:solidFill>
                <a:effectLst/>
                <a:ea typeface="Calibri" panose="020F0502020204030204" pitchFamily="34" charset="0"/>
                <a:cs typeface="Times New Roman" panose="02020603050405020304" pitchFamily="18" charset="0"/>
              </a:rPr>
              <a:t>Because it helps create a safe and positive learning environment and to help students succeed academically and personally. </a:t>
            </a:r>
            <a:endParaRPr lang="en-US" sz="2000" i="1" dirty="0">
              <a:solidFill>
                <a:srgbClr val="007800"/>
              </a:solidFill>
              <a:ea typeface="Calibri" panose="020F0502020204030204" pitchFamily="34" charset="0"/>
              <a:cs typeface="Times New Roman" panose="02020603050405020304" pitchFamily="18" charset="0"/>
            </a:endParaRPr>
          </a:p>
          <a:p>
            <a:pPr marL="0" indent="0">
              <a:buNone/>
            </a:pPr>
            <a:endParaRPr lang="en-US" sz="2000" i="1" dirty="0">
              <a:cs typeface="Times New Roman" panose="02020603050405020304" pitchFamily="18" charset="0"/>
            </a:endParaRPr>
          </a:p>
          <a:p>
            <a:pPr marL="0" indent="0">
              <a:buNone/>
            </a:pPr>
            <a:r>
              <a:rPr lang="en-US" sz="2000" dirty="0">
                <a:effectLst/>
                <a:ea typeface="Calibri" panose="020F0502020204030204" pitchFamily="34" charset="0"/>
                <a:cs typeface="Times New Roman" panose="02020603050405020304" pitchFamily="18" charset="0"/>
              </a:rPr>
              <a:t>Why must teachers have effective written communication skills?</a:t>
            </a:r>
          </a:p>
          <a:p>
            <a:pPr marL="0" indent="0">
              <a:buNone/>
            </a:pPr>
            <a:r>
              <a:rPr lang="en-US" sz="2000" i="1" dirty="0">
                <a:solidFill>
                  <a:srgbClr val="007800"/>
                </a:solidFill>
                <a:effectLst/>
                <a:ea typeface="Calibri" panose="020F0502020204030204" pitchFamily="34" charset="0"/>
                <a:cs typeface="Times New Roman" panose="02020603050405020304" pitchFamily="18" charset="0"/>
              </a:rPr>
              <a:t>Teachers use written communication for a large majority of their work and use written communication to interact with multiple stakeholders in education. They must have them to be successful in their jobs. </a:t>
            </a:r>
            <a:endParaRPr lang="en-US" sz="2000" dirty="0">
              <a:solidFill>
                <a:srgbClr val="007800"/>
              </a:solidFill>
            </a:endParaRPr>
          </a:p>
        </p:txBody>
      </p:sp>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Effective Written Communication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
        <p:nvSpPr>
          <p:cNvPr id="6" name="Content Placeholder 5">
            <a:extLst>
              <a:ext uri="{FF2B5EF4-FFF2-40B4-BE49-F238E27FC236}">
                <a16:creationId xmlns:a16="http://schemas.microsoft.com/office/drawing/2014/main" id="{ECBCB308-78EA-4FC9-A6D2-711E53BABD8C}"/>
              </a:ext>
            </a:extLst>
          </p:cNvPr>
          <p:cNvSpPr>
            <a:spLocks noGrp="1"/>
          </p:cNvSpPr>
          <p:nvPr>
            <p:ph idx="1"/>
          </p:nvPr>
        </p:nvSpPr>
        <p:spPr>
          <a:xfrm>
            <a:off x="673623" y="1649691"/>
            <a:ext cx="10844753" cy="4546126"/>
          </a:xfrm>
        </p:spPr>
        <p:txBody>
          <a:bodyPr>
            <a:normAutofit/>
          </a:bodyPr>
          <a:lstStyle/>
          <a:p>
            <a:pPr marL="0" indent="0">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Who is a teacher’s audience? </a:t>
            </a:r>
            <a:r>
              <a:rPr lang="en-US" sz="20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Students</a:t>
            </a:r>
            <a:r>
              <a:rPr lang="en-US" sz="2000" dirty="0">
                <a:solidFill>
                  <a:srgbClr val="007800"/>
                </a:solidFill>
                <a:latin typeface="Calibri" panose="020F0502020204030204" pitchFamily="34" charset="0"/>
                <a:ea typeface="Calibri" panose="020F0502020204030204" pitchFamily="34" charset="0"/>
                <a:cs typeface="Times New Roman" panose="02020603050405020304" pitchFamily="18" charset="0"/>
              </a:rPr>
              <a:t>, </a:t>
            </a:r>
            <a:r>
              <a:rPr lang="en-US" sz="20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Parents and families</a:t>
            </a:r>
            <a:r>
              <a:rPr lang="en-US" sz="2000" dirty="0">
                <a:solidFill>
                  <a:srgbClr val="007800"/>
                </a:solidFill>
                <a:latin typeface="Calibri" panose="020F0502020204030204" pitchFamily="34" charset="0"/>
                <a:ea typeface="Calibri" panose="020F0502020204030204" pitchFamily="34" charset="0"/>
                <a:cs typeface="Times New Roman" panose="02020603050405020304" pitchFamily="18" charset="0"/>
              </a:rPr>
              <a:t>, </a:t>
            </a:r>
            <a:r>
              <a:rPr lang="en-US" sz="20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Other teachers or school professionals</a:t>
            </a:r>
          </a:p>
          <a:p>
            <a:pPr marL="0" marR="0" lvl="0" indent="0">
              <a:spcBef>
                <a:spcPts val="600"/>
              </a:spcBef>
              <a:spcAft>
                <a:spcPts val="600"/>
              </a:spcAft>
              <a:buClr>
                <a:srgbClr val="008000"/>
              </a:buClr>
              <a:buNone/>
            </a:pPr>
            <a:endParaRPr lang="en-US" sz="20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600"/>
              </a:spcBef>
              <a:spcAft>
                <a:spcPts val="600"/>
              </a:spcAft>
              <a:buClr>
                <a:srgbClr val="008000"/>
              </a:buClr>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What are some examples of how teachers use written communication?</a:t>
            </a:r>
          </a:p>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Students: </a:t>
            </a:r>
            <a:r>
              <a:rPr lang="en-US" sz="20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Directions and written assignments, feedback on student assignments, progress reports</a:t>
            </a:r>
            <a:endParaRPr lang="en-US" sz="2000"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Parents and families: </a:t>
            </a:r>
            <a:r>
              <a:rPr lang="en-US" sz="20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Newsletters or blogs, progress reports, email exchanges, IEPs</a:t>
            </a:r>
            <a:endParaRPr lang="en-US" sz="2000"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Other teachers and school professionals: </a:t>
            </a:r>
            <a:r>
              <a:rPr lang="en-US" sz="20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Emails, written communication in professional learning communities, updates on student progress for student intervention plans</a:t>
            </a:r>
            <a:endParaRPr lang="en-US" sz="2000" i="1" dirty="0">
              <a:solidFill>
                <a:srgbClr val="0078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1953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Effective Written </a:t>
            </a:r>
            <a:r>
              <a:rPr lang="en-US"/>
              <a:t>Communication   </a:t>
            </a: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
        <p:nvSpPr>
          <p:cNvPr id="6" name="Content Placeholder 5">
            <a:extLst>
              <a:ext uri="{FF2B5EF4-FFF2-40B4-BE49-F238E27FC236}">
                <a16:creationId xmlns:a16="http://schemas.microsoft.com/office/drawing/2014/main" id="{ECBCB308-78EA-4FC9-A6D2-711E53BABD8C}"/>
              </a:ext>
            </a:extLst>
          </p:cNvPr>
          <p:cNvSpPr>
            <a:spLocks noGrp="1"/>
          </p:cNvSpPr>
          <p:nvPr>
            <p:ph idx="1"/>
          </p:nvPr>
        </p:nvSpPr>
        <p:spPr/>
        <p:txBody>
          <a:bodyPr>
            <a:normAutofit/>
          </a:bodyPr>
          <a:lstStyle/>
          <a:p>
            <a:pPr marL="0" indent="0">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What are the success criteria of effective written communication by teachers?</a:t>
            </a:r>
            <a:endParaRPr lang="en-US" sz="20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600"/>
              </a:spcBef>
              <a:spcAft>
                <a:spcPts val="600"/>
              </a:spcAft>
              <a:buNone/>
            </a:pPr>
            <a:r>
              <a:rPr lang="en-US" sz="20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Effective written communication includes: </a:t>
            </a:r>
            <a:endParaRPr lang="en-US" sz="2000"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endParaRPr>
          </a:p>
          <a:p>
            <a:pPr lvl="1">
              <a:spcBef>
                <a:spcPts val="600"/>
              </a:spcBef>
              <a:spcAft>
                <a:spcPts val="600"/>
              </a:spcAft>
              <a:buClr>
                <a:srgbClr val="008000"/>
              </a:buClr>
            </a:pPr>
            <a:r>
              <a:rPr lang="en-US" sz="20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A goal clearly stated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lvl="1">
              <a:spcBef>
                <a:spcPts val="600"/>
              </a:spcBef>
              <a:spcAft>
                <a:spcPts val="600"/>
              </a:spcAft>
              <a:buClr>
                <a:srgbClr val="008000"/>
              </a:buClr>
            </a:pPr>
            <a:r>
              <a:rPr lang="en-US" sz="20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Is welcoming and has an appropriate tone for the audience (formality and age appropriate)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lvl="1">
              <a:spcBef>
                <a:spcPts val="600"/>
              </a:spcBef>
              <a:spcAft>
                <a:spcPts val="600"/>
              </a:spcAft>
              <a:buClr>
                <a:srgbClr val="008000"/>
              </a:buClr>
            </a:pPr>
            <a:r>
              <a:rPr lang="en-US" sz="20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Is simple and stays on topic</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lvl="1">
              <a:spcBef>
                <a:spcPts val="600"/>
              </a:spcBef>
              <a:spcAft>
                <a:spcPts val="600"/>
              </a:spcAft>
              <a:buClr>
                <a:srgbClr val="008000"/>
              </a:buClr>
            </a:pPr>
            <a:r>
              <a:rPr lang="en-US" sz="20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Free from grammatical or spelling errors</a:t>
            </a:r>
          </a:p>
          <a:p>
            <a:pPr lvl="1">
              <a:spcBef>
                <a:spcPts val="600"/>
              </a:spcBef>
              <a:spcAft>
                <a:spcPts val="600"/>
              </a:spcAft>
              <a:buClr>
                <a:srgbClr val="008000"/>
              </a:buClr>
            </a:pPr>
            <a:r>
              <a:rPr lang="en-US" sz="20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Professional content</a:t>
            </a:r>
            <a:endParaRPr lang="en-US" sz="2000" dirty="0"/>
          </a:p>
        </p:txBody>
      </p:sp>
    </p:spTree>
    <p:extLst>
      <p:ext uri="{BB962C8B-B14F-4D97-AF65-F5344CB8AC3E}">
        <p14:creationId xmlns:p14="http://schemas.microsoft.com/office/powerpoint/2010/main" val="339656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Considering the written communication that you produced, evaluate your effectiveness in each of the key areas of effective written communication and reflect on how you would improve that areas to make your communication more effective.</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TotalTime>
  <Words>439</Words>
  <Application>Microsoft Office PowerPoint</Application>
  <PresentationFormat>Widescreen</PresentationFormat>
  <Paragraphs>49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Practicum in Education and Training| Unit 2: The Professional Educator | Lesson 2.03</vt:lpstr>
      <vt:lpstr>TEKS Standards &amp; Objectives</vt:lpstr>
      <vt:lpstr>Bellringer</vt:lpstr>
      <vt:lpstr>Effective Written Communication </vt:lpstr>
      <vt:lpstr>Effective Written Communication  </vt:lpstr>
      <vt:lpstr>Effective Written Communication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2.03: Practicing Effective Communication</dc:title>
  <dc:subject>Lesson 2.03: Practicing Effective Communication</dc:subject>
  <dc:creator>Texas Education Agency</dc:creator>
  <cp:lastModifiedBy>White (she/her), Whitney</cp:lastModifiedBy>
  <cp:revision>3</cp:revision>
  <dcterms:created xsi:type="dcterms:W3CDTF">2022-05-09T19:40:20Z</dcterms:created>
  <dcterms:modified xsi:type="dcterms:W3CDTF">2023-08-31T19:37:07Z</dcterms:modified>
</cp:coreProperties>
</file>
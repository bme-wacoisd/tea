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6" r:id="rId5"/>
    <p:sldId id="259" r:id="rId6"/>
    <p:sldId id="258" r:id="rId7"/>
    <p:sldId id="264" r:id="rId8"/>
    <p:sldId id="268" r:id="rId9"/>
    <p:sldId id="281" r:id="rId10"/>
    <p:sldId id="282" r:id="rId11"/>
    <p:sldId id="283" r:id="rId12"/>
    <p:sldId id="284" r:id="rId13"/>
    <p:sldId id="285" r:id="rId14"/>
    <p:sldId id="286" r:id="rId15"/>
    <p:sldId id="287"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4CFBB4-01FC-8FCF-D11E-89A7BBDA933C}" v="14" dt="2025-05-16T20:22:44.1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3792" autoAdjust="0"/>
  </p:normalViewPr>
  <p:slideViewPr>
    <p:cSldViewPr snapToGrid="0">
      <p:cViewPr varScale="1">
        <p:scale>
          <a:sx n="62" d="100"/>
          <a:sy n="62" d="100"/>
        </p:scale>
        <p:origin x="752"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6/6/2025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6/6/2025</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6/6/2025</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6/6/2025</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6/6/2025</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6/6/2025</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6/6/2025</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6/6/2025</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KuTJJQWnMaQ?list=PLLKd3h8UX_F_f0XT9ze59-yl6gOv_obIj"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90535" y="5986305"/>
            <a:ext cx="9144000" cy="370300"/>
          </a:xfrm>
        </p:spPr>
        <p:txBody>
          <a:bodyPr>
            <a:normAutofit/>
          </a:bodyPr>
          <a:lstStyle/>
          <a:p>
            <a:pPr algn="l"/>
            <a:r>
              <a:rPr lang="en-US" sz="1800" dirty="0"/>
              <a:t>Practicum| Unit 4: Research Based Instructional Strategies (RBIS) Math | Lesson 4.08</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A UDL Approach to Math</a:t>
            </a:r>
          </a:p>
        </p:txBody>
      </p:sp>
      <p:sp>
        <p:nvSpPr>
          <p:cNvPr id="6" name="TextBox 5">
            <a:extLst>
              <a:ext uri="{FF2B5EF4-FFF2-40B4-BE49-F238E27FC236}">
                <a16:creationId xmlns:a16="http://schemas.microsoft.com/office/drawing/2014/main" id="{1F2FC8EF-FD3E-0B3B-7FC0-E735822B7C57}"/>
              </a:ext>
            </a:extLst>
          </p:cNvPr>
          <p:cNvSpPr txBox="1"/>
          <p:nvPr/>
        </p:nvSpPr>
        <p:spPr>
          <a:xfrm>
            <a:off x="90535" y="6356605"/>
            <a:ext cx="11352944" cy="369332"/>
          </a:xfrm>
          <a:prstGeom prst="rect">
            <a:avLst/>
          </a:prstGeom>
          <a:noFill/>
        </p:spPr>
        <p:txBody>
          <a:bodyPr wrap="square">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4E &amp; 5B</a:t>
            </a:r>
          </a:p>
          <a:p>
            <a:pPr marL="0" indent="0">
              <a:buNone/>
            </a:pPr>
            <a:endParaRPr lang="en-US" dirty="0"/>
          </a:p>
          <a:p>
            <a:pPr marL="0" indent="0">
              <a:buNone/>
            </a:pPr>
            <a:r>
              <a:rPr lang="en-US" dirty="0"/>
              <a:t>The student will…</a:t>
            </a:r>
          </a:p>
          <a:p>
            <a:r>
              <a:rPr lang="en-US" dirty="0"/>
              <a:t>Compare a traditional approach to planning with a UDL approach</a:t>
            </a:r>
          </a:p>
          <a:p>
            <a:r>
              <a:rPr lang="en-US" dirty="0"/>
              <a:t>Describe how a UDL approach promotes more accessible outcomes for all students</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64975" y="18255"/>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606490" y="1520890"/>
            <a:ext cx="10747310" cy="5001208"/>
          </a:xfrm>
        </p:spPr>
        <p:txBody>
          <a:bodyPr>
            <a:normAutofit/>
          </a:bodyPr>
          <a:lstStyle/>
          <a:p>
            <a:pPr marL="0" indent="0">
              <a:buNone/>
            </a:pPr>
            <a:r>
              <a:rPr lang="en-US" dirty="0"/>
              <a:t>How do I meet the different needs of my students AND teach the grade-level TEKS as they are intended?</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lstStyle/>
          <a:p>
            <a:r>
              <a:rPr lang="en-US" dirty="0"/>
              <a:t>Vocabulary</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1991935363"/>
              </p:ext>
            </p:extLst>
          </p:nvPr>
        </p:nvGraphicFramePr>
        <p:xfrm>
          <a:off x="472441" y="1442832"/>
          <a:ext cx="11181494" cy="3848305"/>
        </p:xfrm>
        <a:graphic>
          <a:graphicData uri="http://schemas.openxmlformats.org/drawingml/2006/table">
            <a:tbl>
              <a:tblPr firstRow="1" bandRow="1">
                <a:tableStyleId>{5C22544A-7EE6-4342-B048-85BDC9FD1C3A}</a:tableStyleId>
              </a:tblPr>
              <a:tblGrid>
                <a:gridCol w="2972344">
                  <a:extLst>
                    <a:ext uri="{9D8B030D-6E8A-4147-A177-3AD203B41FA5}">
                      <a16:colId xmlns:a16="http://schemas.microsoft.com/office/drawing/2014/main" val="1922918179"/>
                    </a:ext>
                  </a:extLst>
                </a:gridCol>
                <a:gridCol w="8209150">
                  <a:extLst>
                    <a:ext uri="{9D8B030D-6E8A-4147-A177-3AD203B41FA5}">
                      <a16:colId xmlns:a16="http://schemas.microsoft.com/office/drawing/2014/main" val="3619535809"/>
                    </a:ext>
                  </a:extLst>
                </a:gridCol>
              </a:tblGrid>
              <a:tr h="358348">
                <a:tc>
                  <a:txBody>
                    <a:bodyPr/>
                    <a:lstStyle/>
                    <a:p>
                      <a:r>
                        <a:rPr lang="en-US" dirty="0"/>
                        <a:t>Term</a:t>
                      </a:r>
                    </a:p>
                  </a:txBody>
                  <a:tcPr/>
                </a:tc>
                <a:tc>
                  <a:txBody>
                    <a:bodyPr/>
                    <a:lstStyle/>
                    <a:p>
                      <a:r>
                        <a:rPr lang="en-US" dirty="0"/>
                        <a:t>Definition</a:t>
                      </a:r>
                    </a:p>
                  </a:txBody>
                  <a:tcPr/>
                </a:tc>
                <a:extLst>
                  <a:ext uri="{0D108BD9-81ED-4DB2-BD59-A6C34878D82A}">
                    <a16:rowId xmlns:a16="http://schemas.microsoft.com/office/drawing/2014/main" val="886189608"/>
                  </a:ext>
                </a:extLst>
              </a:tr>
              <a:tr h="699969">
                <a:tc>
                  <a:txBody>
                    <a:bodyPr/>
                    <a:lstStyle/>
                    <a:p>
                      <a:pPr marL="0" marR="0">
                        <a:spcBef>
                          <a:spcPts val="60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Unfinished Learning</a:t>
                      </a:r>
                    </a:p>
                  </a:txBody>
                  <a:tcPr marL="68580" marR="68580" marT="0" marB="0"/>
                </a:tc>
                <a:tc>
                  <a:txBody>
                    <a:bodyPr/>
                    <a:lstStyle/>
                    <a:p>
                      <a:pPr marL="0" marR="0">
                        <a:spcBef>
                          <a:spcPts val="60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Knowledge or skills in the TEKS that students haven’t yet mastered</a:t>
                      </a:r>
                    </a:p>
                  </a:txBody>
                  <a:tcPr marL="68580" marR="68580" marT="0" marB="0"/>
                </a:tc>
                <a:extLst>
                  <a:ext uri="{0D108BD9-81ED-4DB2-BD59-A6C34878D82A}">
                    <a16:rowId xmlns:a16="http://schemas.microsoft.com/office/drawing/2014/main" val="2589762599"/>
                  </a:ext>
                </a:extLst>
              </a:tr>
              <a:tr h="862336">
                <a:tc>
                  <a:txBody>
                    <a:bodyPr/>
                    <a:lstStyle/>
                    <a:p>
                      <a:pPr marL="0" marR="0">
                        <a:spcBef>
                          <a:spcPts val="60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Traditional Approach</a:t>
                      </a:r>
                    </a:p>
                  </a:txBody>
                  <a:tcPr marL="68580" marR="68580" marT="0" marB="0"/>
                </a:tc>
                <a:tc>
                  <a:txBody>
                    <a:bodyPr/>
                    <a:lstStyle/>
                    <a:p>
                      <a:pPr marL="0" marR="0">
                        <a:spcBef>
                          <a:spcPts val="60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The teacher modifies lessons for some learners so that they can address unfinished learning, such as giving them different problems than other students.</a:t>
                      </a:r>
                    </a:p>
                  </a:txBody>
                  <a:tcPr marL="68580" marR="68580" marT="0" marB="0"/>
                </a:tc>
                <a:extLst>
                  <a:ext uri="{0D108BD9-81ED-4DB2-BD59-A6C34878D82A}">
                    <a16:rowId xmlns:a16="http://schemas.microsoft.com/office/drawing/2014/main" val="3622417617"/>
                  </a:ext>
                </a:extLst>
              </a:tr>
              <a:tr h="925215">
                <a:tc>
                  <a:txBody>
                    <a:bodyPr/>
                    <a:lstStyle/>
                    <a:p>
                      <a:pPr marL="0" marR="0">
                        <a:spcBef>
                          <a:spcPts val="60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Universal Design for Learning (UDL)</a:t>
                      </a:r>
                    </a:p>
                  </a:txBody>
                  <a:tcPr marL="68580" marR="68580" marT="0" marB="0"/>
                </a:tc>
                <a:tc>
                  <a:txBody>
                    <a:bodyPr/>
                    <a:lstStyle/>
                    <a:p>
                      <a:pPr marL="0" marR="0">
                        <a:spcBef>
                          <a:spcPts val="60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An educational framework to guide the development of flexible learning environments that can accommodate individual learning differences through engagement, representation, and expression. UDL minimizes barriers and maximizes learning for all students</a:t>
                      </a:r>
                    </a:p>
                  </a:txBody>
                  <a:tcPr marL="68580" marR="68580" marT="0" marB="0"/>
                </a:tc>
                <a:extLst>
                  <a:ext uri="{0D108BD9-81ED-4DB2-BD59-A6C34878D82A}">
                    <a16:rowId xmlns:a16="http://schemas.microsoft.com/office/drawing/2014/main" val="1766994879"/>
                  </a:ext>
                </a:extLst>
              </a:tr>
              <a:tr h="651719">
                <a:tc>
                  <a:txBody>
                    <a:bodyPr/>
                    <a:lstStyle/>
                    <a:p>
                      <a:pPr marL="0" marR="0">
                        <a:spcBef>
                          <a:spcPts val="60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UDL Guidelines</a:t>
                      </a:r>
                    </a:p>
                  </a:txBody>
                  <a:tcPr marL="68580" marR="68580" marT="0" marB="0"/>
                </a:tc>
                <a:tc>
                  <a:txBody>
                    <a:bodyPr/>
                    <a:lstStyle/>
                    <a:p>
                      <a:pPr marL="0" marR="0">
                        <a:spcBef>
                          <a:spcPts val="600"/>
                        </a:spcBef>
                        <a:spcAft>
                          <a:spcPts val="600"/>
                        </a:spcAft>
                      </a:pPr>
                      <a:r>
                        <a:rPr lang="en-US" sz="1800" dirty="0">
                          <a:effectLst/>
                          <a:latin typeface="Calibri" panose="020F0502020204030204" pitchFamily="34" charset="0"/>
                          <a:ea typeface="Calibri" panose="020F0502020204030204" pitchFamily="34" charset="0"/>
                          <a:cs typeface="Arial" panose="020B0604020202020204" pitchFamily="34" charset="0"/>
                        </a:rPr>
                        <a:t>A set of strategies that can be applied to any subject or grade level to ensure that all learners can access and participate in meaningful, challenging learning opportunities (CAST, 2022).</a:t>
                      </a:r>
                    </a:p>
                  </a:txBody>
                  <a:tcPr marL="68580" marR="68580" marT="0" marB="0"/>
                </a:tc>
                <a:extLst>
                  <a:ext uri="{0D108BD9-81ED-4DB2-BD59-A6C34878D82A}">
                    <a16:rowId xmlns:a16="http://schemas.microsoft.com/office/drawing/2014/main" val="3422717954"/>
                  </a:ext>
                </a:extLst>
              </a:tr>
            </a:tbl>
          </a:graphicData>
        </a:graphic>
      </p:graphicFrame>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Notes: UDL in Math</a:t>
            </a:r>
          </a:p>
        </p:txBody>
      </p:sp>
      <p:sp>
        <p:nvSpPr>
          <p:cNvPr id="6" name="TextBox 5">
            <a:extLst>
              <a:ext uri="{FF2B5EF4-FFF2-40B4-BE49-F238E27FC236}">
                <a16:creationId xmlns:a16="http://schemas.microsoft.com/office/drawing/2014/main" id="{C15470E5-2FA3-E09F-59A5-4402F0E7B4E3}"/>
              </a:ext>
            </a:extLst>
          </p:cNvPr>
          <p:cNvSpPr txBox="1"/>
          <p:nvPr/>
        </p:nvSpPr>
        <p:spPr>
          <a:xfrm>
            <a:off x="1315615" y="2136339"/>
            <a:ext cx="9497057" cy="1938992"/>
          </a:xfrm>
          <a:prstGeom prst="rect">
            <a:avLst/>
          </a:prstGeom>
          <a:noFill/>
        </p:spPr>
        <p:txBody>
          <a:bodyPr wrap="square" lIns="91440" tIns="45720" rIns="91440" bIns="45720" anchor="t">
            <a:spAutoFit/>
          </a:bodyPr>
          <a:lstStyle/>
          <a:p>
            <a:pPr algn="ctr"/>
            <a:r>
              <a:rPr lang="en-US" sz="2400" dirty="0"/>
              <a:t>According to a report called the Opportunity Myth (2018), “Students spent more than 500 hours per school year on assignments that weren’t appropriate for their grade and with instruction that didn’t ask enough of them—the equivalent of six months of wasted class time in each core subject…”</a:t>
            </a:r>
          </a:p>
        </p:txBody>
      </p:sp>
      <p:sp>
        <p:nvSpPr>
          <p:cNvPr id="8" name="TextBox 7">
            <a:extLst>
              <a:ext uri="{FF2B5EF4-FFF2-40B4-BE49-F238E27FC236}">
                <a16:creationId xmlns:a16="http://schemas.microsoft.com/office/drawing/2014/main" id="{1A61DD1B-D70A-E9DC-6827-A58E4E882272}"/>
              </a:ext>
            </a:extLst>
          </p:cNvPr>
          <p:cNvSpPr txBox="1"/>
          <p:nvPr/>
        </p:nvSpPr>
        <p:spPr>
          <a:xfrm>
            <a:off x="118284" y="6198255"/>
            <a:ext cx="9184336" cy="523220"/>
          </a:xfrm>
          <a:prstGeom prst="rect">
            <a:avLst/>
          </a:prstGeom>
          <a:noFill/>
        </p:spPr>
        <p:txBody>
          <a:bodyPr wrap="square">
            <a:spAutoFit/>
          </a:bodyPr>
          <a:lstStyle/>
          <a:p>
            <a:r>
              <a:rPr lang="en-US" sz="1400" dirty="0"/>
              <a:t>Opportunity Myth Source: Citation: TNTP. (2018). The Opportunity Myth: What Students Can Show Us About How School Is Letting Them Down—and How to Fix It. https://tntp.org/assets/documents/TNTP_The-Opportunity-Myth_Web.pdf</a:t>
            </a:r>
          </a:p>
        </p:txBody>
      </p:sp>
    </p:spTree>
    <p:extLst>
      <p:ext uri="{BB962C8B-B14F-4D97-AF65-F5344CB8AC3E}">
        <p14:creationId xmlns:p14="http://schemas.microsoft.com/office/powerpoint/2010/main" val="1815750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Notes: UDL in Math (Cont.)</a:t>
            </a:r>
          </a:p>
        </p:txBody>
      </p:sp>
      <p:sp>
        <p:nvSpPr>
          <p:cNvPr id="6" name="TextBox 5">
            <a:extLst>
              <a:ext uri="{FF2B5EF4-FFF2-40B4-BE49-F238E27FC236}">
                <a16:creationId xmlns:a16="http://schemas.microsoft.com/office/drawing/2014/main" id="{C15470E5-2FA3-E09F-59A5-4402F0E7B4E3}"/>
              </a:ext>
            </a:extLst>
          </p:cNvPr>
          <p:cNvSpPr txBox="1"/>
          <p:nvPr/>
        </p:nvSpPr>
        <p:spPr>
          <a:xfrm>
            <a:off x="1315615" y="2136339"/>
            <a:ext cx="9497057" cy="1200329"/>
          </a:xfrm>
          <a:prstGeom prst="rect">
            <a:avLst/>
          </a:prstGeom>
          <a:noFill/>
        </p:spPr>
        <p:txBody>
          <a:bodyPr wrap="square">
            <a:spAutoFit/>
          </a:bodyPr>
          <a:lstStyle/>
          <a:p>
            <a:pPr algn="ctr"/>
            <a:r>
              <a:rPr lang="en-US" sz="2400" dirty="0"/>
              <a:t>The study also found that “In classrooms where students had greater access to grade-appropriate assignments, they gained nearly two months of additional learning compared to their peers.” </a:t>
            </a:r>
          </a:p>
        </p:txBody>
      </p:sp>
      <p:sp>
        <p:nvSpPr>
          <p:cNvPr id="8" name="TextBox 7">
            <a:extLst>
              <a:ext uri="{FF2B5EF4-FFF2-40B4-BE49-F238E27FC236}">
                <a16:creationId xmlns:a16="http://schemas.microsoft.com/office/drawing/2014/main" id="{1A61DD1B-D70A-E9DC-6827-A58E4E882272}"/>
              </a:ext>
            </a:extLst>
          </p:cNvPr>
          <p:cNvSpPr txBox="1"/>
          <p:nvPr/>
        </p:nvSpPr>
        <p:spPr>
          <a:xfrm>
            <a:off x="118284" y="6198255"/>
            <a:ext cx="9184336" cy="523220"/>
          </a:xfrm>
          <a:prstGeom prst="rect">
            <a:avLst/>
          </a:prstGeom>
          <a:noFill/>
        </p:spPr>
        <p:txBody>
          <a:bodyPr wrap="square">
            <a:spAutoFit/>
          </a:bodyPr>
          <a:lstStyle/>
          <a:p>
            <a:r>
              <a:rPr lang="en-US" sz="1400" dirty="0"/>
              <a:t>Opportunity Myth Source: Citation: TNTP. (2018). The Opportunity Myth: What Students Can Show Us About How School Is Letting Them Down—and How to Fix It. https://tntp.org/assets/documents/TNTP_The-Opportunity-Myth_Web.pdf</a:t>
            </a:r>
          </a:p>
        </p:txBody>
      </p:sp>
    </p:spTree>
    <p:extLst>
      <p:ext uri="{BB962C8B-B14F-4D97-AF65-F5344CB8AC3E}">
        <p14:creationId xmlns:p14="http://schemas.microsoft.com/office/powerpoint/2010/main" val="424346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Notes: UDL in Math (Cont. 2)</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419878" y="1786687"/>
            <a:ext cx="10758196" cy="3108543"/>
          </a:xfrm>
          <a:prstGeom prst="rect">
            <a:avLst/>
          </a:prstGeom>
          <a:noFill/>
        </p:spPr>
        <p:txBody>
          <a:bodyPr wrap="square">
            <a:spAutoFit/>
          </a:bodyPr>
          <a:lstStyle/>
          <a:p>
            <a:r>
              <a:rPr lang="en-US" sz="2800" dirty="0"/>
              <a:t>What does </a:t>
            </a:r>
            <a:r>
              <a:rPr lang="en-US" sz="2800" b="1" dirty="0"/>
              <a:t>multiple means of engagement </a:t>
            </a:r>
            <a:r>
              <a:rPr lang="en-US" sz="2800" dirty="0"/>
              <a:t>look like in a classroom?</a:t>
            </a:r>
          </a:p>
          <a:p>
            <a:pPr algn="ctr"/>
            <a:endParaRPr lang="en-US" sz="2800" dirty="0"/>
          </a:p>
          <a:p>
            <a:pPr marL="342900" indent="-342900">
              <a:buFont typeface="Arial" panose="020B0604020202020204" pitchFamily="34" charset="0"/>
              <a:buChar char="•"/>
            </a:pPr>
            <a:r>
              <a:rPr lang="en-US" sz="2800" dirty="0"/>
              <a:t>Allowing students choice in how they might reach a learning target </a:t>
            </a:r>
          </a:p>
          <a:p>
            <a:pPr marL="342900" indent="-342900">
              <a:buFont typeface="Arial" panose="020B0604020202020204" pitchFamily="34" charset="0"/>
              <a:buChar char="•"/>
            </a:pPr>
            <a:r>
              <a:rPr lang="en-US" sz="2800" dirty="0"/>
              <a:t>Providing opportunities for students to engage in learning experiences that are relevant and valuable to their goals and individual interests</a:t>
            </a:r>
          </a:p>
          <a:p>
            <a:pPr marL="342900" indent="-342900">
              <a:buFont typeface="Arial" panose="020B0604020202020204" pitchFamily="34" charset="0"/>
              <a:buChar char="•"/>
            </a:pPr>
            <a:r>
              <a:rPr lang="en-US" sz="2800" dirty="0"/>
              <a:t>Creating a supportive environment where students feel safe to learn and take risks</a:t>
            </a:r>
          </a:p>
        </p:txBody>
      </p:sp>
    </p:spTree>
    <p:extLst>
      <p:ext uri="{BB962C8B-B14F-4D97-AF65-F5344CB8AC3E}">
        <p14:creationId xmlns:p14="http://schemas.microsoft.com/office/powerpoint/2010/main" val="215371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Notes: UDL in Math (Cont. 3)</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419878" y="1786687"/>
            <a:ext cx="10758196" cy="2246769"/>
          </a:xfrm>
          <a:prstGeom prst="rect">
            <a:avLst/>
          </a:prstGeom>
          <a:noFill/>
        </p:spPr>
        <p:txBody>
          <a:bodyPr wrap="square">
            <a:spAutoFit/>
          </a:bodyPr>
          <a:lstStyle/>
          <a:p>
            <a:r>
              <a:rPr lang="en-US" sz="2800" dirty="0"/>
              <a:t>What does </a:t>
            </a:r>
            <a:r>
              <a:rPr lang="en-US" sz="2800" b="1" dirty="0"/>
              <a:t>multiple means of representation </a:t>
            </a:r>
            <a:r>
              <a:rPr lang="en-US" sz="2800" dirty="0"/>
              <a:t>look like in a classroom?</a:t>
            </a:r>
          </a:p>
          <a:p>
            <a:endParaRPr lang="en-US" sz="2800" dirty="0"/>
          </a:p>
          <a:p>
            <a:pPr marL="457200" indent="-457200">
              <a:buFont typeface="Arial" panose="020B0604020202020204" pitchFamily="34" charset="0"/>
              <a:buChar char="•"/>
            </a:pPr>
            <a:r>
              <a:rPr lang="en-US" sz="2800" dirty="0"/>
              <a:t>Offering options for customizing the display of information</a:t>
            </a:r>
          </a:p>
          <a:p>
            <a:pPr marL="457200" indent="-457200">
              <a:buFont typeface="Arial" panose="020B0604020202020204" pitchFamily="34" charset="0"/>
              <a:buChar char="•"/>
            </a:pPr>
            <a:r>
              <a:rPr lang="en-US" sz="2800" dirty="0"/>
              <a:t>Offering alternatives for auditory information</a:t>
            </a:r>
          </a:p>
          <a:p>
            <a:pPr marL="457200" indent="-457200">
              <a:buFont typeface="Arial" panose="020B0604020202020204" pitchFamily="34" charset="0"/>
              <a:buChar char="•"/>
            </a:pPr>
            <a:r>
              <a:rPr lang="en-US" sz="2800" dirty="0"/>
              <a:t>Offering alternatives for visual information</a:t>
            </a:r>
          </a:p>
        </p:txBody>
      </p:sp>
    </p:spTree>
    <p:extLst>
      <p:ext uri="{BB962C8B-B14F-4D97-AF65-F5344CB8AC3E}">
        <p14:creationId xmlns:p14="http://schemas.microsoft.com/office/powerpoint/2010/main" val="3267428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Notes: UDL in Math (Cont. 4)</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419878" y="1524258"/>
            <a:ext cx="10758196" cy="4832092"/>
          </a:xfrm>
          <a:prstGeom prst="rect">
            <a:avLst/>
          </a:prstGeom>
          <a:noFill/>
        </p:spPr>
        <p:txBody>
          <a:bodyPr wrap="square">
            <a:spAutoFit/>
          </a:bodyPr>
          <a:lstStyle/>
          <a:p>
            <a:r>
              <a:rPr lang="en-US" sz="2800" dirty="0"/>
              <a:t>What does </a:t>
            </a:r>
            <a:r>
              <a:rPr lang="en-US" sz="2800" b="1" dirty="0"/>
              <a:t>multiple means of action and expression </a:t>
            </a:r>
            <a:r>
              <a:rPr lang="en-US" sz="2800" dirty="0"/>
              <a:t>look like in a classroom?</a:t>
            </a:r>
          </a:p>
          <a:p>
            <a:pPr marL="457200" indent="-457200">
              <a:buFont typeface="Arial" panose="020B0604020202020204" pitchFamily="34" charset="0"/>
              <a:buChar char="•"/>
            </a:pPr>
            <a:r>
              <a:rPr lang="en-US" sz="2800" dirty="0"/>
              <a:t>Allowing students to share their learning in different ways</a:t>
            </a:r>
          </a:p>
          <a:p>
            <a:pPr marL="457200" indent="-457200">
              <a:buFont typeface="Arial" panose="020B0604020202020204" pitchFamily="34" charset="0"/>
              <a:buChar char="•"/>
            </a:pPr>
            <a:r>
              <a:rPr lang="en-US" sz="2800" dirty="0"/>
              <a:t>Providing alternative ways for students to interact with instructional materials and their environment</a:t>
            </a:r>
          </a:p>
          <a:p>
            <a:pPr marL="457200" indent="-457200">
              <a:buFont typeface="Arial" panose="020B0604020202020204" pitchFamily="34" charset="0"/>
              <a:buChar char="•"/>
            </a:pPr>
            <a:r>
              <a:rPr lang="en-US" sz="2800" dirty="0"/>
              <a:t>Providing access to and support with tools and assistive technologies</a:t>
            </a:r>
          </a:p>
          <a:p>
            <a:pPr marL="457200" indent="-457200">
              <a:buFont typeface="Arial" panose="020B0604020202020204" pitchFamily="34" charset="0"/>
              <a:buChar char="•"/>
            </a:pPr>
            <a:r>
              <a:rPr lang="en-US" sz="2800" dirty="0"/>
              <a:t>Providing opportunities for students to communicate using multiple forms of media</a:t>
            </a:r>
          </a:p>
          <a:p>
            <a:pPr marL="457200" indent="-457200">
              <a:buFont typeface="Arial" panose="020B0604020202020204" pitchFamily="34" charset="0"/>
              <a:buChar char="•"/>
            </a:pPr>
            <a:r>
              <a:rPr lang="en-US" sz="2800" dirty="0"/>
              <a:t>Supporting learners in setting challenging and authentic goals </a:t>
            </a:r>
          </a:p>
          <a:p>
            <a:pPr marL="457200" indent="-457200">
              <a:buFont typeface="Arial" panose="020B0604020202020204" pitchFamily="34" charset="0"/>
              <a:buChar char="•"/>
            </a:pPr>
            <a:r>
              <a:rPr lang="en-US" sz="2800" dirty="0"/>
              <a:t>Provide flexible tools and processes to support organization and memory</a:t>
            </a:r>
          </a:p>
        </p:txBody>
      </p:sp>
    </p:spTree>
    <p:extLst>
      <p:ext uri="{BB962C8B-B14F-4D97-AF65-F5344CB8AC3E}">
        <p14:creationId xmlns:p14="http://schemas.microsoft.com/office/powerpoint/2010/main" val="1925853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Practice 1: Guided Example</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419878" y="1524258"/>
            <a:ext cx="10758196" cy="4524315"/>
          </a:xfrm>
          <a:prstGeom prst="rect">
            <a:avLst/>
          </a:prstGeom>
          <a:noFill/>
        </p:spPr>
        <p:txBody>
          <a:bodyPr wrap="square">
            <a:spAutoFit/>
          </a:bodyPr>
          <a:lstStyle/>
          <a:p>
            <a:r>
              <a:rPr lang="en-US" sz="2400" dirty="0"/>
              <a:t>A 6th grade math class is working on the following TEKS:  </a:t>
            </a:r>
          </a:p>
          <a:p>
            <a:endParaRPr lang="en-US" sz="2400" dirty="0"/>
          </a:p>
          <a:p>
            <a:r>
              <a:rPr lang="en-US" sz="2400" b="1" dirty="0"/>
              <a:t>6.4(B) Apply qualitative and quantitative reasoning to solve prediction and comparison of real-world problems involving ratios, rates and proportions.</a:t>
            </a:r>
          </a:p>
          <a:p>
            <a:endParaRPr lang="en-US" sz="2400" dirty="0"/>
          </a:p>
          <a:p>
            <a:r>
              <a:rPr lang="en-US" sz="2400" dirty="0"/>
              <a:t>The teacher gives her students the following word problem: Jay was paid $190 for a job that required 40 hours of work. At this rate, how much should he be paid for a job requiring 60 hours of work?</a:t>
            </a:r>
          </a:p>
          <a:p>
            <a:endParaRPr lang="en-US" sz="2400" dirty="0"/>
          </a:p>
          <a:p>
            <a:r>
              <a:rPr lang="en-US" sz="2400" dirty="0"/>
              <a:t>Many of her students were successfully able to complete the word problem, but one student has unfinished learning as he has a hard time operating with fractions. What should the teacher do?</a:t>
            </a:r>
          </a:p>
        </p:txBody>
      </p:sp>
    </p:spTree>
    <p:extLst>
      <p:ext uri="{BB962C8B-B14F-4D97-AF65-F5344CB8AC3E}">
        <p14:creationId xmlns:p14="http://schemas.microsoft.com/office/powerpoint/2010/main" val="3999766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Practice 2: Video Analysis</a:t>
            </a:r>
          </a:p>
        </p:txBody>
      </p:sp>
      <p:pic>
        <p:nvPicPr>
          <p:cNvPr id="3" name="Online Media 2" title="UDL Guidelines in Practice: Grade 1 Mathematics">
            <a:hlinkClick r:id="" action="ppaction://media"/>
            <a:extLst>
              <a:ext uri="{FF2B5EF4-FFF2-40B4-BE49-F238E27FC236}">
                <a16:creationId xmlns:a16="http://schemas.microsoft.com/office/drawing/2014/main" id="{1413DCF7-91A1-51CB-2FD9-26EB371A53FA}"/>
              </a:ext>
            </a:extLst>
          </p:cNvPr>
          <p:cNvPicPr>
            <a:picLocks noRot="1" noChangeAspect="1"/>
          </p:cNvPicPr>
          <p:nvPr>
            <a:videoFile r:link="rId1"/>
          </p:nvPr>
        </p:nvPicPr>
        <p:blipFill>
          <a:blip r:embed="rId3"/>
          <a:stretch>
            <a:fillRect/>
          </a:stretch>
        </p:blipFill>
        <p:spPr>
          <a:xfrm>
            <a:off x="2654439" y="1291132"/>
            <a:ext cx="6883121" cy="5162341"/>
          </a:xfrm>
          <a:prstGeom prst="rect">
            <a:avLst/>
          </a:prstGeom>
        </p:spPr>
      </p:pic>
    </p:spTree>
    <p:extLst>
      <p:ext uri="{BB962C8B-B14F-4D97-AF65-F5344CB8AC3E}">
        <p14:creationId xmlns:p14="http://schemas.microsoft.com/office/powerpoint/2010/main" val="242361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Practice 3: Scenarios</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12</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419878" y="1524258"/>
            <a:ext cx="10758196" cy="4739759"/>
          </a:xfrm>
          <a:prstGeom prst="rect">
            <a:avLst/>
          </a:prstGeom>
          <a:noFill/>
        </p:spPr>
        <p:txBody>
          <a:bodyPr wrap="square">
            <a:spAutoFit/>
          </a:bodyPr>
          <a:lstStyle/>
          <a:p>
            <a:r>
              <a:rPr lang="en-US" sz="2400" dirty="0"/>
              <a:t>Students in Mr. P’s 5th grade math class were given the following problem to solve.</a:t>
            </a:r>
          </a:p>
          <a:p>
            <a:endParaRPr lang="en-US" sz="2400" dirty="0"/>
          </a:p>
          <a:p>
            <a:r>
              <a:rPr lang="en-US" sz="2400" dirty="0"/>
              <a:t>A restaurant bill was paid equally by 7 friends. The bill was $99.96. How much money in dollars and cents did each person pay? </a:t>
            </a:r>
          </a:p>
          <a:p>
            <a:r>
              <a:rPr lang="en-US" sz="1400" i="1" dirty="0"/>
              <a:t>(STAAR End-of-Grade Assessment in Grade 5 Mathematics, 2022 Released Form)</a:t>
            </a:r>
          </a:p>
          <a:p>
            <a:endParaRPr lang="en-US" sz="2400" dirty="0"/>
          </a:p>
          <a:p>
            <a:r>
              <a:rPr lang="en-US" sz="2400" dirty="0"/>
              <a:t>Most of the students were able to complete the problem with ease, but one student struggled with decimals. The teacher decided to modify the numbers in the word problem so that the student would only have to solve the problem using whole numbers instead of decimals.</a:t>
            </a:r>
          </a:p>
          <a:p>
            <a:endParaRPr lang="en-US" sz="2400" dirty="0"/>
          </a:p>
          <a:p>
            <a:pPr marL="342900" indent="-342900">
              <a:buFont typeface="Arial" panose="020B0604020202020204" pitchFamily="34" charset="0"/>
              <a:buChar char="•"/>
            </a:pPr>
            <a:r>
              <a:rPr lang="en-US" sz="2400" dirty="0"/>
              <a:t>What is the long-term impact for this student?</a:t>
            </a:r>
          </a:p>
          <a:p>
            <a:pPr marL="342900" indent="-342900">
              <a:buFont typeface="Arial" panose="020B0604020202020204" pitchFamily="34" charset="0"/>
              <a:buChar char="•"/>
            </a:pPr>
            <a:r>
              <a:rPr lang="en-US" sz="2400" dirty="0"/>
              <a:t>What might a UDL approach look like? </a:t>
            </a:r>
          </a:p>
        </p:txBody>
      </p:sp>
    </p:spTree>
    <p:extLst>
      <p:ext uri="{BB962C8B-B14F-4D97-AF65-F5344CB8AC3E}">
        <p14:creationId xmlns:p14="http://schemas.microsoft.com/office/powerpoint/2010/main" val="2427426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84801"/>
            <a:ext cx="10515600" cy="4908073"/>
          </a:xfrm>
        </p:spPr>
        <p:txBody>
          <a:bodyPr vert="horz" lIns="91440" tIns="45720" rIns="91440" bIns="45720" rtlCol="0" anchor="t">
            <a:normAutofit fontScale="92500" lnSpcReduction="10000"/>
          </a:bodyPr>
          <a:lstStyle/>
          <a:p>
            <a:pPr marL="0" indent="0">
              <a:lnSpc>
                <a:spcPct val="107000"/>
              </a:lnSpc>
              <a:spcBef>
                <a:spcPts val="0"/>
              </a:spcBef>
              <a:buNone/>
            </a:pPr>
            <a:r>
              <a:rPr lang="en-US" dirty="0">
                <a:solidFill>
                  <a:srgbClr val="000000"/>
                </a:solidFill>
                <a:latin typeface="Calibri"/>
                <a:ea typeface="Times New Roman" panose="02020603050405020304" pitchFamily="18" charset="0"/>
                <a:cs typeface="Calibri"/>
              </a:rPr>
              <a:t>In your field site, you may have seen teachers use different UDL practices in math. Now is your opportunity to share the examples of UDL you have seen in your field site or suggest opportunities where UDL could have been used with the class. If you have seen UDL in math during your field experience, describe a few examples and tell the outcome.  If you have not seen teachers use UDL practices in math, provide examples of a few opportunities where they could have done so. How could they have engaged students in a more </a:t>
            </a:r>
            <a:r>
              <a:rPr lang="en-US">
                <a:solidFill>
                  <a:srgbClr val="000000"/>
                </a:solidFill>
                <a:latin typeface="Calibri"/>
                <a:ea typeface="Times New Roman" panose="02020603050405020304" pitchFamily="18" charset="0"/>
                <a:cs typeface="Calibri"/>
              </a:rPr>
              <a:t>productive way? How does a UDL approach promote more accessible outcomes for </a:t>
            </a:r>
            <a:r>
              <a:rPr lang="en-US" dirty="0">
                <a:solidFill>
                  <a:srgbClr val="000000"/>
                </a:solidFill>
                <a:latin typeface="Calibri"/>
                <a:ea typeface="Times New Roman" panose="02020603050405020304" pitchFamily="18" charset="0"/>
                <a:cs typeface="Calibri"/>
              </a:rPr>
              <a:t>all students?</a:t>
            </a:r>
          </a:p>
          <a:p>
            <a:pPr marL="0" indent="0">
              <a:lnSpc>
                <a:spcPct val="107000"/>
              </a:lnSpc>
              <a:spcBef>
                <a:spcPts val="0"/>
              </a:spcBef>
              <a:buNone/>
            </a:pPr>
            <a:endPar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You can choose how you want to share your learning. You may choose to write your response, create a video, perform a skit, develop a poster, etc.</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13</a:t>
            </a:fld>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846d8e3-a298-4df9-941d-031d5a654278" xsi:nil="true"/>
    <lcf76f155ced4ddcb4097134ff3c332f xmlns="1a31ff91-fdef-444f-97ac-59e8c717c66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7AD57B0C54CC24F934F6B5B683E9FF3" ma:contentTypeVersion="17" ma:contentTypeDescription="Create a new document." ma:contentTypeScope="" ma:versionID="74c475a7f88c09ad26452b08dcff0b32">
  <xsd:schema xmlns:xsd="http://www.w3.org/2001/XMLSchema" xmlns:xs="http://www.w3.org/2001/XMLSchema" xmlns:p="http://schemas.microsoft.com/office/2006/metadata/properties" xmlns:ns2="1a31ff91-fdef-444f-97ac-59e8c717c665" xmlns:ns3="c846d8e3-a298-4df9-941d-031d5a654278" targetNamespace="http://schemas.microsoft.com/office/2006/metadata/properties" ma:root="true" ma:fieldsID="927c3c6b4a17e24bf610af3d477f503d" ns2:_="" ns3:_="">
    <xsd:import namespace="1a31ff91-fdef-444f-97ac-59e8c717c665"/>
    <xsd:import namespace="c846d8e3-a298-4df9-941d-031d5a65427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LengthInSeconds"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31ff91-fdef-444f-97ac-59e8c717c6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46d8e3-a298-4df9-941d-031d5a65427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acdb30-d662-427e-8aeb-ae7c33e06b0f}" ma:internalName="TaxCatchAll" ma:showField="CatchAllData" ma:web="c846d8e3-a298-4df9-941d-031d5a65427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8986B4-E2C0-4010-AC92-58FC6518D38D}">
  <ds:schemaRefs>
    <ds:schemaRef ds:uri="http://schemas.microsoft.com/sharepoint/v3/contenttype/forms"/>
  </ds:schemaRefs>
</ds:datastoreItem>
</file>

<file path=customXml/itemProps2.xml><?xml version="1.0" encoding="utf-8"?>
<ds:datastoreItem xmlns:ds="http://schemas.openxmlformats.org/officeDocument/2006/customXml" ds:itemID="{D06487C5-0F54-4510-A2E7-D9D1F2C2C51D}">
  <ds:schemaRefs>
    <ds:schemaRef ds:uri="http://schemas.microsoft.com/office/2006/metadata/properties"/>
    <ds:schemaRef ds:uri="http://schemas.microsoft.com/office/infopath/2007/PartnerControls"/>
    <ds:schemaRef ds:uri="c846d8e3-a298-4df9-941d-031d5a654278"/>
    <ds:schemaRef ds:uri="1a31ff91-fdef-444f-97ac-59e8c717c665"/>
  </ds:schemaRefs>
</ds:datastoreItem>
</file>

<file path=customXml/itemProps3.xml><?xml version="1.0" encoding="utf-8"?>
<ds:datastoreItem xmlns:ds="http://schemas.openxmlformats.org/officeDocument/2006/customXml" ds:itemID="{44F35FDE-445D-4295-A9E5-029A2FED35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31ff91-fdef-444f-97ac-59e8c717c665"/>
    <ds:schemaRef ds:uri="c846d8e3-a298-4df9-941d-031d5a6542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300</TotalTime>
  <Words>1045</Words>
  <Application>Microsoft Office PowerPoint</Application>
  <PresentationFormat>Widescreen</PresentationFormat>
  <Paragraphs>80</Paragraphs>
  <Slides>13</Slides>
  <Notes>0</Notes>
  <HiddenSlides>0</HiddenSlides>
  <MMClips>1</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Practicum| Unit 4: Research Based Instructional Strategies (RBIS) Math | Lesson 4.08</vt:lpstr>
      <vt:lpstr>TEKS Standards &amp; Objectives</vt:lpstr>
      <vt:lpstr>Bellringer</vt:lpstr>
      <vt:lpstr>Vocabulary</vt:lpstr>
      <vt:lpstr>Notes: UDL in Math</vt:lpstr>
      <vt:lpstr>Notes: UDL in Math (Cont.)</vt:lpstr>
      <vt:lpstr>Notes: UDL in Math (Cont. 2)</vt:lpstr>
      <vt:lpstr>Notes: UDL in Math (Cont. 3)</vt:lpstr>
      <vt:lpstr>Notes: UDL in Math (Cont. 4)</vt:lpstr>
      <vt:lpstr>Practice 1: Guided Example</vt:lpstr>
      <vt:lpstr>Practice 2: Video Analysis</vt:lpstr>
      <vt:lpstr>Practice 3: Scenarios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4.08: A UDL Approach to Math</dc:title>
  <dc:subject>Lesson 4.08: A UDL Approach to Math</dc:subject>
  <dc:creator>Texas Education Agency</dc:creator>
  <cp:lastModifiedBy>White (she/her), Whitney</cp:lastModifiedBy>
  <cp:revision>16</cp:revision>
  <dcterms:created xsi:type="dcterms:W3CDTF">2022-05-09T19:40:20Z</dcterms:created>
  <dcterms:modified xsi:type="dcterms:W3CDTF">2025-06-07T00:50:18Z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0x01010037AD57B0C54CC24F934F6B5B683E9FF3</vt:lpwstr>
  </property>
  <property fmtid="{D5CDD505-2E9C-101B-9397-08002B2CF9AE}" pid="3" name="MediaServiceImageTags">
    <vt:lpwstr/>
  </property>
</Properties>
</file>
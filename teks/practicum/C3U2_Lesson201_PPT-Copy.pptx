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59" r:id="rId6"/>
    <p:sldId id="258" r:id="rId7"/>
    <p:sldId id="261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CEAA4-FEE0-4F86-8F44-AD1D7503AE56}" v="57" dt="2025-05-16T17:57:08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6/6/2025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6/6/2025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6/6/2025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6/6/2025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6/6/2025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Why is Educator Professionalism Important?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7BB7B-C237-8B25-99D2-26322F709D15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1I, 11A, 11B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 fontAlgn="base">
              <a:buFont typeface="Symbol" panose="05050102010706020507" pitchFamily="18" charset="2"/>
              <a:buChar char=""/>
            </a:pPr>
            <a:r>
              <a:rPr lang="en-US" dirty="0">
                <a:ea typeface="Times New Roman" panose="02020603050405020304" pitchFamily="18" charset="0"/>
              </a:rPr>
              <a:t>i</a:t>
            </a:r>
            <a:r>
              <a:rPr lang="en-US" dirty="0">
                <a:effectLst/>
                <a:ea typeface="Times New Roman" panose="02020603050405020304" pitchFamily="18" charset="0"/>
              </a:rPr>
              <a:t>dentify and describe practices in professional conduct, appearance, and communication.</a:t>
            </a:r>
          </a:p>
          <a:p>
            <a:pPr marL="342900" marR="0" lvl="0" indent="-342900" fontAlgn="base">
              <a:buFont typeface="Symbol" panose="05050102010706020507" pitchFamily="18" charset="2"/>
              <a:buChar char=""/>
            </a:pPr>
            <a:r>
              <a:rPr lang="en-US" dirty="0"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ea typeface="Times New Roman" panose="02020603050405020304" pitchFamily="18" charset="0"/>
              </a:rPr>
              <a:t>nalyze state and local guidelines for professional and ethical conduct</a:t>
            </a:r>
          </a:p>
          <a:p>
            <a:pPr marL="342900" marR="0" lvl="0" indent="-342900" fontAlgn="base"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</a:rPr>
              <a:t>e</a:t>
            </a:r>
            <a:r>
              <a:rPr lang="en-US" dirty="0">
                <a:effectLst/>
                <a:ea typeface="Calibri" panose="020F0502020204030204" pitchFamily="34" charset="0"/>
              </a:rPr>
              <a:t>xplain the importance of professionalism at the E&amp;T field site.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Imagine that you are the manager of a business. What behavior would you expect from your best employees?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C3DEE2F-B7C8-4038-A027-ED8D373A13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705155"/>
              </p:ext>
            </p:extLst>
          </p:nvPr>
        </p:nvGraphicFramePr>
        <p:xfrm>
          <a:off x="798662" y="1828709"/>
          <a:ext cx="10594675" cy="3523088"/>
        </p:xfrm>
        <a:graphic>
          <a:graphicData uri="http://schemas.openxmlformats.org/drawingml/2006/table">
            <a:tbl>
              <a:tblPr firstRow="1" firstCol="1" bandRow="1"/>
              <a:tblGrid>
                <a:gridCol w="2613803">
                  <a:extLst>
                    <a:ext uri="{9D8B030D-6E8A-4147-A177-3AD203B41FA5}">
                      <a16:colId xmlns:a16="http://schemas.microsoft.com/office/drawing/2014/main" val="3060055452"/>
                    </a:ext>
                  </a:extLst>
                </a:gridCol>
                <a:gridCol w="7980872">
                  <a:extLst>
                    <a:ext uri="{9D8B030D-6E8A-4147-A177-3AD203B41FA5}">
                      <a16:colId xmlns:a16="http://schemas.microsoft.com/office/drawing/2014/main" val="3510729562"/>
                    </a:ext>
                  </a:extLst>
                </a:gridCol>
              </a:tblGrid>
              <a:tr h="112146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/>
                          <a:ea typeface="Calibri"/>
                          <a:cs typeface="Arial"/>
                        </a:rPr>
                        <a:t>Professionalism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/>
                          <a:ea typeface="Calibri"/>
                          <a:cs typeface="Arial"/>
                        </a:rPr>
                        <a:t>The qualities, behaviors, and attitudes a person exhibits on the job.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552160"/>
                  </a:ext>
                </a:extLst>
              </a:tr>
              <a:tr h="112146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/>
                          <a:ea typeface="Calibri"/>
                          <a:cs typeface="Arial"/>
                        </a:rPr>
                        <a:t>Ethical behavior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/>
                          <a:ea typeface="Calibri"/>
                          <a:cs typeface="Arial"/>
                        </a:rPr>
                        <a:t>Respecting and obeying the law, being honest and demonstrating good moral character and being fair to all.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58607"/>
                  </a:ext>
                </a:extLst>
              </a:tr>
              <a:tr h="1121464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Conduct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way a person behaves.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15809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Areas of Teacher Professionalism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Interactions with Students: How a teacher engages and communicates with students</a:t>
            </a:r>
          </a:p>
          <a:p>
            <a:endParaRPr lang="en-US" dirty="0"/>
          </a:p>
          <a:p>
            <a:r>
              <a:rPr lang="en-US" dirty="0"/>
              <a:t>Workplace Professional Conduct: How a teacher behaves at work</a:t>
            </a:r>
          </a:p>
          <a:p>
            <a:endParaRPr lang="en-US" dirty="0"/>
          </a:p>
          <a:p>
            <a:r>
              <a:rPr lang="en-US" dirty="0"/>
              <a:t>Appearance: How a teacher visually presents themselves</a:t>
            </a:r>
          </a:p>
          <a:p>
            <a:endParaRPr lang="en-US" dirty="0"/>
          </a:p>
          <a:p>
            <a:r>
              <a:rPr lang="en-US" dirty="0"/>
              <a:t>Interactions with Colleagues and the Community: How a teacher engages and communicates with colleagues, parents, and other members of the community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professionalism important in the classroom?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List the four areas or categories of teacher professionalism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Calibri"/>
                <a:ea typeface="Times New Roman" panose="02020603050405020304" pitchFamily="18" charset="0"/>
                <a:cs typeface="Calibri"/>
              </a:rPr>
              <a:t>List four guidelines from a state or local standards of conduct and label each guideline into the appropriate category. Explain your </a:t>
            </a:r>
            <a:r>
              <a:rPr lang="en-US" dirty="0">
                <a:solidFill>
                  <a:srgbClr val="000000"/>
                </a:solidFill>
                <a:latin typeface="Calibri"/>
                <a:ea typeface="Times New Roman" panose="02020603050405020304" pitchFamily="18" charset="0"/>
                <a:cs typeface="Calibri"/>
              </a:rPr>
              <a:t>thinking.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846d8e3-a298-4df9-941d-031d5a654278" xsi:nil="true"/>
    <lcf76f155ced4ddcb4097134ff3c332f xmlns="1a31ff91-fdef-444f-97ac-59e8c717c66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AD57B0C54CC24F934F6B5B683E9FF3" ma:contentTypeVersion="17" ma:contentTypeDescription="Create a new document." ma:contentTypeScope="" ma:versionID="74c475a7f88c09ad26452b08dcff0b32">
  <xsd:schema xmlns:xsd="http://www.w3.org/2001/XMLSchema" xmlns:xs="http://www.w3.org/2001/XMLSchema" xmlns:p="http://schemas.microsoft.com/office/2006/metadata/properties" xmlns:ns2="1a31ff91-fdef-444f-97ac-59e8c717c665" xmlns:ns3="c846d8e3-a298-4df9-941d-031d5a654278" targetNamespace="http://schemas.microsoft.com/office/2006/metadata/properties" ma:root="true" ma:fieldsID="927c3c6b4a17e24bf610af3d477f503d" ns2:_="" ns3:_="">
    <xsd:import namespace="1a31ff91-fdef-444f-97ac-59e8c717c665"/>
    <xsd:import namespace="c846d8e3-a298-4df9-941d-031d5a6542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31ff91-fdef-444f-97ac-59e8c717c6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b7a77b5-e59d-49f3-97a2-3dde868dbe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46d8e3-a298-4df9-941d-031d5a6542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bacdb30-d662-427e-8aeb-ae7c33e06b0f}" ma:internalName="TaxCatchAll" ma:showField="CatchAllData" ma:web="c846d8e3-a298-4df9-941d-031d5a6542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44FFC5-1007-4BC7-A2EE-D487AF3751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7BEF7B-2A51-4082-B85D-6A2AF05DCEC2}">
  <ds:schemaRefs>
    <ds:schemaRef ds:uri="http://schemas.microsoft.com/office/2006/metadata/properties"/>
    <ds:schemaRef ds:uri="http://schemas.microsoft.com/office/infopath/2007/PartnerControls"/>
    <ds:schemaRef ds:uri="c846d8e3-a298-4df9-941d-031d5a654278"/>
    <ds:schemaRef ds:uri="1a31ff91-fdef-444f-97ac-59e8c717c665"/>
  </ds:schemaRefs>
</ds:datastoreItem>
</file>

<file path=customXml/itemProps3.xml><?xml version="1.0" encoding="utf-8"?>
<ds:datastoreItem xmlns:ds="http://schemas.openxmlformats.org/officeDocument/2006/customXml" ds:itemID="{2F257C12-9CBC-405F-94F9-875C93E221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31ff91-fdef-444f-97ac-59e8c717c665"/>
    <ds:schemaRef ds:uri="c846d8e3-a298-4df9-941d-031d5a6542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257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Practicum in Education and Training| Unit 2: The Professional Educator | Lesson 2.01</vt:lpstr>
      <vt:lpstr>TEKS Standards &amp; Objectives</vt:lpstr>
      <vt:lpstr>Bellringer</vt:lpstr>
      <vt:lpstr>Vocabulary</vt:lpstr>
      <vt:lpstr>Areas of Teacher Professionalism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2.01: Why is Educator Professionalism Important?</dc:title>
  <dc:subject>Lesson 2.01: Why is Educator Professionalism Important?</dc:subject>
  <dc:creator>Texas Education Agency</dc:creator>
  <cp:lastModifiedBy>White (she/her), Whitney</cp:lastModifiedBy>
  <cp:revision>8</cp:revision>
  <dcterms:created xsi:type="dcterms:W3CDTF">2022-05-09T19:40:20Z</dcterms:created>
  <dcterms:modified xsi:type="dcterms:W3CDTF">2025-06-07T00:36:38Z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0x01010037AD57B0C54CC24F934F6B5B683E9FF3</vt:lpwstr>
  </property>
  <property fmtid="{D5CDD505-2E9C-101B-9397-08002B2CF9AE}" pid="3" name="MediaServiceImageTags">
    <vt:lpwstr/>
  </property>
</Properties>
</file>
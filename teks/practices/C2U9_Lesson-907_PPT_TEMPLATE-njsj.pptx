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9" r:id="rId3"/>
    <p:sldId id="258" r:id="rId4"/>
    <p:sldId id="266" r:id="rId5"/>
    <p:sldId id="263" r:id="rId6"/>
    <p:sldId id="264" r:id="rId7"/>
    <p:sldId id="267" r:id="rId8"/>
    <p:sldId id="265" r:id="rId9"/>
    <p:sldId id="268" r:id="rId10"/>
    <p:sldId id="269" r:id="rId11"/>
    <p:sldId id="270"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07" autoAdjust="0"/>
  </p:normalViewPr>
  <p:slideViewPr>
    <p:cSldViewPr snapToGrid="0">
      <p:cViewPr varScale="1">
        <p:scale>
          <a:sx n="113" d="100"/>
          <a:sy n="113" d="100"/>
        </p:scale>
        <p:origin x="3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78626"/>
            <a:ext cx="9144000" cy="370300"/>
          </a:xfrm>
        </p:spPr>
        <p:txBody>
          <a:bodyPr>
            <a:normAutofit/>
          </a:bodyPr>
          <a:lstStyle/>
          <a:p>
            <a:pPr algn="l"/>
            <a:r>
              <a:rPr lang="en-US" sz="1800" dirty="0"/>
              <a:t>Instructional Practices| Unit 9: Feedback| Lesson 9.07</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vert="horz" lIns="91440" tIns="45720" rIns="91440" bIns="45720" rtlCol="0" anchor="t">
            <a:normAutofit/>
          </a:bodyPr>
          <a:lstStyle/>
          <a:p>
            <a:r>
              <a:rPr lang="en-US" sz="6000" dirty="0">
                <a:cs typeface="Calibri"/>
              </a:rPr>
              <a:t>Utilizing Peer Feedback to Improve Student Learning</a:t>
            </a:r>
          </a:p>
        </p:txBody>
      </p:sp>
      <p:sp>
        <p:nvSpPr>
          <p:cNvPr id="4" name="TextBox 6">
            <a:extLst>
              <a:ext uri="{FF2B5EF4-FFF2-40B4-BE49-F238E27FC236}">
                <a16:creationId xmlns:a16="http://schemas.microsoft.com/office/drawing/2014/main" id="{7043CB6F-D838-C517-8383-5E8A10FD3A17}"/>
              </a:ext>
            </a:extLst>
          </p:cNvPr>
          <p:cNvSpPr txBox="1"/>
          <p:nvPr/>
        </p:nvSpPr>
        <p:spPr>
          <a:xfrm>
            <a:off x="72188" y="6448926"/>
            <a:ext cx="1015465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 B-C, 14 A,C,D</a:t>
            </a:r>
            <a:endParaRPr lang="en-US" dirty="0">
              <a:cs typeface="Calibri"/>
            </a:endParaRPr>
          </a:p>
          <a:p>
            <a:pPr marL="0" indent="0">
              <a:buNone/>
            </a:pPr>
            <a:endParaRPr lang="en-US" dirty="0"/>
          </a:p>
          <a:p>
            <a:pPr marL="0" indent="0">
              <a:buNone/>
            </a:pPr>
            <a:r>
              <a:rPr lang="en-US" dirty="0"/>
              <a:t>The student will:</a:t>
            </a:r>
          </a:p>
          <a:p>
            <a:pPr>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Calibri" panose="020F0502020204030204" pitchFamily="34" charset="0"/>
              </a:rPr>
              <a:t>Explore and reflect on strategies that teachers use to incorporate opportunities for peer feedback in their lessons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7983"/>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905312" y="1149292"/>
            <a:ext cx="10515600" cy="4683723"/>
          </a:xfrm>
        </p:spPr>
        <p:txBody>
          <a:bodyPr vert="horz" lIns="91440" tIns="45720" rIns="91440" bIns="45720" rtlCol="0" anchor="t">
            <a:noAutofit/>
          </a:bodyPr>
          <a:lstStyle/>
          <a:p>
            <a:pPr marL="0" marR="0" indent="0">
              <a:lnSpc>
                <a:spcPct val="100000"/>
              </a:lnSpc>
              <a:spcBef>
                <a:spcPts val="1200"/>
              </a:spcBef>
              <a:spcAft>
                <a:spcPts val="12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Below are some examples of sentence starters that could be used to support peer feedback.  How can sentence starters help teachers to scaffold or structure effective feedback?</a:t>
            </a:r>
          </a:p>
          <a:p>
            <a:pPr marL="342900" marR="0" lvl="0" indent="-342900">
              <a:lnSpc>
                <a:spcPct val="100000"/>
              </a:lnSpc>
              <a:spcBef>
                <a:spcPts val="1200"/>
              </a:spcBef>
              <a:spcAft>
                <a:spcPts val="12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The best part of your work is…because…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0000"/>
              </a:lnSpc>
              <a:spcBef>
                <a:spcPts val="1200"/>
              </a:spcBef>
              <a:spcAft>
                <a:spcPts val="12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To make your work stronger I would suggest….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0000"/>
              </a:lnSpc>
              <a:spcBef>
                <a:spcPts val="1200"/>
              </a:spcBef>
              <a:spcAft>
                <a:spcPts val="12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I am wondering…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13D7-8C81-4531-8745-36776AFF0658}"/>
              </a:ext>
            </a:extLst>
          </p:cNvPr>
          <p:cNvSpPr>
            <a:spLocks noGrp="1"/>
          </p:cNvSpPr>
          <p:nvPr>
            <p:ph type="title"/>
          </p:nvPr>
        </p:nvSpPr>
        <p:spPr/>
        <p:txBody>
          <a:bodyPr/>
          <a:lstStyle/>
          <a:p>
            <a:r>
              <a:rPr lang="en-US" dirty="0"/>
              <a:t>Peer Feedback Strategy: TAG</a:t>
            </a:r>
          </a:p>
        </p:txBody>
      </p:sp>
      <p:graphicFrame>
        <p:nvGraphicFramePr>
          <p:cNvPr id="5" name="Table 5">
            <a:extLst>
              <a:ext uri="{FF2B5EF4-FFF2-40B4-BE49-F238E27FC236}">
                <a16:creationId xmlns:a16="http://schemas.microsoft.com/office/drawing/2014/main" id="{80E0918E-FF04-4605-8D37-DCB81F485176}"/>
              </a:ext>
            </a:extLst>
          </p:cNvPr>
          <p:cNvGraphicFramePr>
            <a:graphicFrameLocks noGrp="1"/>
          </p:cNvGraphicFramePr>
          <p:nvPr>
            <p:ph idx="1"/>
            <p:extLst>
              <p:ext uri="{D42A27DB-BD31-4B8C-83A1-F6EECF244321}">
                <p14:modId xmlns:p14="http://schemas.microsoft.com/office/powerpoint/2010/main" val="822020092"/>
              </p:ext>
            </p:extLst>
          </p:nvPr>
        </p:nvGraphicFramePr>
        <p:xfrm>
          <a:off x="838200" y="1825625"/>
          <a:ext cx="10515597" cy="304800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792900892"/>
                    </a:ext>
                  </a:extLst>
                </a:gridCol>
                <a:gridCol w="3505199">
                  <a:extLst>
                    <a:ext uri="{9D8B030D-6E8A-4147-A177-3AD203B41FA5}">
                      <a16:colId xmlns:a16="http://schemas.microsoft.com/office/drawing/2014/main" val="2516810292"/>
                    </a:ext>
                  </a:extLst>
                </a:gridCol>
                <a:gridCol w="3505199">
                  <a:extLst>
                    <a:ext uri="{9D8B030D-6E8A-4147-A177-3AD203B41FA5}">
                      <a16:colId xmlns:a16="http://schemas.microsoft.com/office/drawing/2014/main" val="2742206315"/>
                    </a:ext>
                  </a:extLst>
                </a:gridCol>
              </a:tblGrid>
              <a:tr h="370840">
                <a:tc>
                  <a:txBody>
                    <a:bodyPr/>
                    <a:lstStyle/>
                    <a:p>
                      <a:r>
                        <a:rPr lang="en-US" sz="2800" b="1" u="sng" dirty="0"/>
                        <a:t>T</a:t>
                      </a:r>
                      <a:r>
                        <a:rPr lang="en-US" sz="2800" dirty="0"/>
                        <a:t>ell</a:t>
                      </a:r>
                      <a:r>
                        <a:rPr lang="en-US" dirty="0"/>
                        <a:t> </a:t>
                      </a:r>
                      <a:r>
                        <a:rPr lang="en-US" sz="2000" dirty="0"/>
                        <a:t>some things that you like</a:t>
                      </a:r>
                    </a:p>
                  </a:txBody>
                  <a:tcPr/>
                </a:tc>
                <a:tc>
                  <a:txBody>
                    <a:bodyPr/>
                    <a:lstStyle/>
                    <a:p>
                      <a:r>
                        <a:rPr lang="en-US" sz="2800" b="1" u="sng" dirty="0"/>
                        <a:t>A</a:t>
                      </a:r>
                      <a:r>
                        <a:rPr lang="en-US" sz="2800" dirty="0"/>
                        <a:t>sk</a:t>
                      </a:r>
                      <a:r>
                        <a:rPr lang="en-US" dirty="0"/>
                        <a:t> </a:t>
                      </a:r>
                      <a:r>
                        <a:rPr lang="en-US" sz="2000" dirty="0"/>
                        <a:t>thoughtful questions</a:t>
                      </a:r>
                    </a:p>
                  </a:txBody>
                  <a:tcPr/>
                </a:tc>
                <a:tc>
                  <a:txBody>
                    <a:bodyPr/>
                    <a:lstStyle/>
                    <a:p>
                      <a:r>
                        <a:rPr lang="en-US" sz="2800" b="1" u="sng" dirty="0"/>
                        <a:t>G</a:t>
                      </a:r>
                      <a:r>
                        <a:rPr lang="en-US" sz="2800" dirty="0"/>
                        <a:t>ive</a:t>
                      </a:r>
                      <a:r>
                        <a:rPr lang="en-US" dirty="0"/>
                        <a:t> </a:t>
                      </a:r>
                      <a:r>
                        <a:rPr lang="en-US" sz="2000" dirty="0"/>
                        <a:t>positive suggestions</a:t>
                      </a:r>
                    </a:p>
                  </a:txBody>
                  <a:tcPr/>
                </a:tc>
                <a:extLst>
                  <a:ext uri="{0D108BD9-81ED-4DB2-BD59-A6C34878D82A}">
                    <a16:rowId xmlns:a16="http://schemas.microsoft.com/office/drawing/2014/main" val="1963262975"/>
                  </a:ext>
                </a:extLst>
              </a:tr>
              <a:tr h="370840">
                <a:tc>
                  <a:txBody>
                    <a:bodyPr/>
                    <a:lstStyle/>
                    <a:p>
                      <a:pPr marL="285750" indent="-285750">
                        <a:buFont typeface="Arial" panose="020B0604020202020204" pitchFamily="34" charset="0"/>
                        <a:buChar char="•"/>
                      </a:pPr>
                      <a:r>
                        <a:rPr lang="en-US" sz="2000" dirty="0"/>
                        <a:t>I like how you…</a:t>
                      </a:r>
                    </a:p>
                    <a:p>
                      <a:pPr marL="285750" indent="-285750">
                        <a:buFont typeface="Arial" panose="020B0604020202020204" pitchFamily="34" charset="0"/>
                        <a:buChar char="•"/>
                      </a:pPr>
                      <a:r>
                        <a:rPr lang="en-US" sz="2000" dirty="0"/>
                        <a:t>What really wowed me was…</a:t>
                      </a:r>
                    </a:p>
                    <a:p>
                      <a:pPr marL="285750" indent="-285750">
                        <a:buFont typeface="Arial" panose="020B0604020202020204" pitchFamily="34" charset="0"/>
                        <a:buChar char="•"/>
                      </a:pPr>
                      <a:r>
                        <a:rPr lang="en-US" sz="2000" dirty="0"/>
                        <a:t>The best part of your work is…</a:t>
                      </a:r>
                    </a:p>
                    <a:p>
                      <a:pPr marL="285750" indent="-285750">
                        <a:buFont typeface="Arial" panose="020B0604020202020204" pitchFamily="34" charset="0"/>
                        <a:buChar char="•"/>
                      </a:pPr>
                      <a:r>
                        <a:rPr lang="en-US" sz="2000" dirty="0"/>
                        <a:t>I connect with…</a:t>
                      </a:r>
                    </a:p>
                    <a:p>
                      <a:pPr marL="285750" indent="-285750">
                        <a:buFont typeface="Arial" panose="020B0604020202020204" pitchFamily="34" charset="0"/>
                        <a:buChar char="•"/>
                      </a:pPr>
                      <a:r>
                        <a:rPr lang="en-US" sz="2000" dirty="0"/>
                        <a:t>I enjoyed your work because…</a:t>
                      </a:r>
                    </a:p>
                    <a:p>
                      <a:pPr marL="285750" indent="-285750">
                        <a:buFont typeface="Arial" panose="020B0604020202020204" pitchFamily="34" charset="0"/>
                        <a:buChar char="•"/>
                      </a:pPr>
                      <a:r>
                        <a:rPr lang="en-US" sz="2000" dirty="0"/>
                        <a:t>It made me smile when…</a:t>
                      </a:r>
                    </a:p>
                  </a:txBody>
                  <a:tcPr/>
                </a:tc>
                <a:tc>
                  <a:txBody>
                    <a:bodyPr/>
                    <a:lstStyle/>
                    <a:p>
                      <a:pPr marL="285750" indent="-285750">
                        <a:buFont typeface="Arial" panose="020B0604020202020204" pitchFamily="34" charset="0"/>
                        <a:buChar char="•"/>
                      </a:pPr>
                      <a:r>
                        <a:rPr lang="en-US" sz="2000" dirty="0"/>
                        <a:t>Why did you…</a:t>
                      </a:r>
                    </a:p>
                    <a:p>
                      <a:pPr marL="285750" indent="-285750">
                        <a:buFont typeface="Arial" panose="020B0604020202020204" pitchFamily="34" charset="0"/>
                        <a:buChar char="•"/>
                      </a:pPr>
                      <a:r>
                        <a:rPr lang="en-US" sz="2000" dirty="0"/>
                        <a:t>How will you…</a:t>
                      </a:r>
                    </a:p>
                    <a:p>
                      <a:pPr marL="285750" indent="-285750">
                        <a:buFont typeface="Arial" panose="020B0604020202020204" pitchFamily="34" charset="0"/>
                        <a:buChar char="•"/>
                      </a:pPr>
                      <a:r>
                        <a:rPr lang="en-US" sz="2000" dirty="0"/>
                        <a:t>What did you mean by…</a:t>
                      </a:r>
                    </a:p>
                    <a:p>
                      <a:pPr marL="285750" indent="-285750">
                        <a:buFont typeface="Arial" panose="020B0604020202020204" pitchFamily="34" charset="0"/>
                        <a:buChar char="•"/>
                      </a:pPr>
                      <a:r>
                        <a:rPr lang="en-US" sz="2000" dirty="0"/>
                        <a:t>Why is…</a:t>
                      </a:r>
                    </a:p>
                    <a:p>
                      <a:pPr marL="285750" indent="-285750">
                        <a:buFont typeface="Arial" panose="020B0604020202020204" pitchFamily="34" charset="0"/>
                        <a:buChar char="•"/>
                      </a:pPr>
                      <a:r>
                        <a:rPr lang="en-US" sz="2000" dirty="0"/>
                        <a:t>Did you consider…</a:t>
                      </a:r>
                    </a:p>
                    <a:p>
                      <a:pPr marL="285750" indent="-285750">
                        <a:buFont typeface="Arial" panose="020B0604020202020204" pitchFamily="34" charset="0"/>
                        <a:buChar char="•"/>
                      </a:pPr>
                      <a:r>
                        <a:rPr lang="en-US" sz="2000" dirty="0"/>
                        <a:t>I am wondering…</a:t>
                      </a:r>
                    </a:p>
                  </a:txBody>
                  <a:tcPr/>
                </a:tc>
                <a:tc>
                  <a:txBody>
                    <a:bodyPr/>
                    <a:lstStyle/>
                    <a:p>
                      <a:pPr marL="285750" indent="-285750">
                        <a:buFont typeface="Arial" panose="020B0604020202020204" pitchFamily="34" charset="0"/>
                        <a:buChar char="•"/>
                      </a:pPr>
                      <a:r>
                        <a:rPr lang="en-US" sz="2000" dirty="0"/>
                        <a:t>One suggestion is…</a:t>
                      </a:r>
                    </a:p>
                    <a:p>
                      <a:pPr marL="285750" indent="-285750">
                        <a:buFont typeface="Arial" panose="020B0604020202020204" pitchFamily="34" charset="0"/>
                        <a:buChar char="•"/>
                      </a:pPr>
                      <a:r>
                        <a:rPr lang="en-US" sz="2000" dirty="0"/>
                        <a:t>You might change…</a:t>
                      </a:r>
                    </a:p>
                    <a:p>
                      <a:pPr marL="285750" indent="-285750">
                        <a:buFont typeface="Arial" panose="020B0604020202020204" pitchFamily="34" charset="0"/>
                        <a:buChar char="•"/>
                      </a:pPr>
                      <a:r>
                        <a:rPr lang="en-US" sz="2000" dirty="0"/>
                        <a:t>I think you should add…</a:t>
                      </a:r>
                    </a:p>
                    <a:p>
                      <a:pPr marL="285750" indent="-285750">
                        <a:buFont typeface="Arial" panose="020B0604020202020204" pitchFamily="34" charset="0"/>
                        <a:buChar char="•"/>
                      </a:pPr>
                      <a:r>
                        <a:rPr lang="en-US" sz="2000" dirty="0"/>
                        <a:t>You might consider…</a:t>
                      </a:r>
                    </a:p>
                    <a:p>
                      <a:pPr marL="285750" indent="-285750">
                        <a:buFont typeface="Arial" panose="020B0604020202020204" pitchFamily="34" charset="0"/>
                        <a:buChar char="•"/>
                      </a:pPr>
                      <a:r>
                        <a:rPr lang="en-US" sz="2000" dirty="0"/>
                        <a:t>Do you think you should…</a:t>
                      </a:r>
                    </a:p>
                  </a:txBody>
                  <a:tcPr/>
                </a:tc>
                <a:extLst>
                  <a:ext uri="{0D108BD9-81ED-4DB2-BD59-A6C34878D82A}">
                    <a16:rowId xmlns:a16="http://schemas.microsoft.com/office/drawing/2014/main" val="201256390"/>
                  </a:ext>
                </a:extLst>
              </a:tr>
            </a:tbl>
          </a:graphicData>
        </a:graphic>
      </p:graphicFrame>
      <p:sp>
        <p:nvSpPr>
          <p:cNvPr id="4" name="Slide Number Placeholder 3">
            <a:extLst>
              <a:ext uri="{FF2B5EF4-FFF2-40B4-BE49-F238E27FC236}">
                <a16:creationId xmlns:a16="http://schemas.microsoft.com/office/drawing/2014/main" id="{01E16D86-02A9-4B2E-A13C-E3236338CDC3}"/>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958095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B6E9E-7E15-400B-9EEE-A257204537D5}"/>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4D337640-2FDA-4249-B959-C56DB43FAAFB}"/>
              </a:ext>
            </a:extLst>
          </p:cNvPr>
          <p:cNvGraphicFramePr>
            <a:graphicFrameLocks noGrp="1"/>
          </p:cNvGraphicFramePr>
          <p:nvPr>
            <p:ph idx="1"/>
            <p:extLst>
              <p:ext uri="{D42A27DB-BD31-4B8C-83A1-F6EECF244321}">
                <p14:modId xmlns:p14="http://schemas.microsoft.com/office/powerpoint/2010/main" val="576479979"/>
              </p:ext>
            </p:extLst>
          </p:nvPr>
        </p:nvGraphicFramePr>
        <p:xfrm>
          <a:off x="838200" y="1825625"/>
          <a:ext cx="10515600" cy="944880"/>
        </p:xfrm>
        <a:graphic>
          <a:graphicData uri="http://schemas.openxmlformats.org/drawingml/2006/table">
            <a:tbl>
              <a:tblPr firstRow="1" bandRow="1">
                <a:tableStyleId>{5940675A-B579-460E-94D1-54222C63F5DA}</a:tableStyleId>
              </a:tblPr>
              <a:tblGrid>
                <a:gridCol w="2811011">
                  <a:extLst>
                    <a:ext uri="{9D8B030D-6E8A-4147-A177-3AD203B41FA5}">
                      <a16:colId xmlns:a16="http://schemas.microsoft.com/office/drawing/2014/main" val="2859382115"/>
                    </a:ext>
                  </a:extLst>
                </a:gridCol>
                <a:gridCol w="7704589">
                  <a:extLst>
                    <a:ext uri="{9D8B030D-6E8A-4147-A177-3AD203B41FA5}">
                      <a16:colId xmlns:a16="http://schemas.microsoft.com/office/drawing/2014/main" val="1280478346"/>
                    </a:ext>
                  </a:extLst>
                </a:gridCol>
              </a:tblGrid>
              <a:tr h="370840">
                <a:tc>
                  <a:txBody>
                    <a:bodyPr/>
                    <a:lstStyle/>
                    <a:p>
                      <a:r>
                        <a:rPr lang="en-US" sz="2800" b="0" dirty="0"/>
                        <a:t>Peer Feedback</a:t>
                      </a:r>
                    </a:p>
                  </a:txBody>
                  <a:tcPr/>
                </a:tc>
                <a:tc>
                  <a:txBody>
                    <a:bodyPr/>
                    <a:lstStyle/>
                    <a:p>
                      <a:r>
                        <a:rPr lang="en-US" sz="2800" b="0" dirty="0"/>
                        <a:t>Practice where feedback is given by one student to another</a:t>
                      </a:r>
                    </a:p>
                  </a:txBody>
                  <a:tcPr/>
                </a:tc>
                <a:extLst>
                  <a:ext uri="{0D108BD9-81ED-4DB2-BD59-A6C34878D82A}">
                    <a16:rowId xmlns:a16="http://schemas.microsoft.com/office/drawing/2014/main" val="760164101"/>
                  </a:ext>
                </a:extLst>
              </a:tr>
            </a:tbl>
          </a:graphicData>
        </a:graphic>
      </p:graphicFrame>
      <p:sp>
        <p:nvSpPr>
          <p:cNvPr id="4" name="Slide Number Placeholder 3">
            <a:extLst>
              <a:ext uri="{FF2B5EF4-FFF2-40B4-BE49-F238E27FC236}">
                <a16:creationId xmlns:a16="http://schemas.microsoft.com/office/drawing/2014/main" id="{99CF9DDC-72AB-48FE-88BF-2EBC9D2FCF72}"/>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89634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136525"/>
            <a:ext cx="10515600" cy="1325563"/>
          </a:xfrm>
        </p:spPr>
        <p:txBody>
          <a:bodyPr/>
          <a:lstStyle/>
          <a:p>
            <a:r>
              <a:rPr lang="en-US" dirty="0"/>
              <a:t>Considerations for Determining Peer Feedback Strategy</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
        <p:nvSpPr>
          <p:cNvPr id="6" name="Content Placeholder 5">
            <a:extLst>
              <a:ext uri="{FF2B5EF4-FFF2-40B4-BE49-F238E27FC236}">
                <a16:creationId xmlns:a16="http://schemas.microsoft.com/office/drawing/2014/main" id="{A9BEA837-5178-418C-BCC8-03CCA5491737}"/>
              </a:ext>
            </a:extLst>
          </p:cNvPr>
          <p:cNvSpPr>
            <a:spLocks noGrp="1"/>
          </p:cNvSpPr>
          <p:nvPr>
            <p:ph idx="1"/>
          </p:nvPr>
        </p:nvSpPr>
        <p:spPr>
          <a:xfrm>
            <a:off x="838200" y="1602296"/>
            <a:ext cx="10515600" cy="4754053"/>
          </a:xfrm>
        </p:spPr>
        <p:txBody>
          <a:bodyPr>
            <a:normAutofit/>
          </a:bodyPr>
          <a:lstStyle/>
          <a:p>
            <a:pPr>
              <a:spcAft>
                <a:spcPts val="1200"/>
              </a:spcAft>
            </a:pPr>
            <a:r>
              <a:rPr lang="en-US" dirty="0"/>
              <a:t>Age group of students</a:t>
            </a:r>
          </a:p>
          <a:p>
            <a:pPr>
              <a:spcAft>
                <a:spcPts val="1200"/>
              </a:spcAft>
            </a:pPr>
            <a:r>
              <a:rPr lang="en-US" dirty="0"/>
              <a:t>Amount of time required to provide feedback</a:t>
            </a:r>
          </a:p>
          <a:p>
            <a:pPr>
              <a:spcAft>
                <a:spcPts val="1200"/>
              </a:spcAft>
            </a:pPr>
            <a:r>
              <a:rPr lang="en-US" dirty="0"/>
              <a:t>Type of feedback (small part of work vs whole piece of work)</a:t>
            </a:r>
          </a:p>
          <a:p>
            <a:pPr>
              <a:spcAft>
                <a:spcPts val="1200"/>
              </a:spcAft>
            </a:pPr>
            <a:r>
              <a:rPr lang="en-US" dirty="0"/>
              <a:t>How much feedback to give (feedback from many students or just one or two)</a:t>
            </a:r>
          </a:p>
          <a:p>
            <a:pPr>
              <a:spcAft>
                <a:spcPts val="1200"/>
              </a:spcAft>
            </a:pPr>
            <a:r>
              <a:rPr lang="en-US" dirty="0"/>
              <a:t>What stage of the work is the strategy best used? (Before draft is complete vs. after a draft is complete)</a:t>
            </a:r>
          </a:p>
          <a:p>
            <a:pPr>
              <a:spcAft>
                <a:spcPts val="1200"/>
              </a:spcAft>
            </a:pPr>
            <a:r>
              <a:rPr lang="en-US" dirty="0"/>
              <a:t>Scaffolds to support effective feedback</a:t>
            </a:r>
          </a:p>
        </p:txBody>
      </p:sp>
    </p:spTree>
    <p:extLst>
      <p:ext uri="{BB962C8B-B14F-4D97-AF65-F5344CB8AC3E}">
        <p14:creationId xmlns:p14="http://schemas.microsoft.com/office/powerpoint/2010/main" val="176103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13D7-8C81-4531-8745-36776AFF0658}"/>
              </a:ext>
            </a:extLst>
          </p:cNvPr>
          <p:cNvSpPr>
            <a:spLocks noGrp="1"/>
          </p:cNvSpPr>
          <p:nvPr>
            <p:ph type="title"/>
          </p:nvPr>
        </p:nvSpPr>
        <p:spPr/>
        <p:txBody>
          <a:bodyPr/>
          <a:lstStyle/>
          <a:p>
            <a:r>
              <a:rPr lang="en-US" dirty="0"/>
              <a:t>Peer Feedback Strategy: TAG </a:t>
            </a:r>
          </a:p>
        </p:txBody>
      </p:sp>
      <p:graphicFrame>
        <p:nvGraphicFramePr>
          <p:cNvPr id="5" name="Table 5">
            <a:extLst>
              <a:ext uri="{FF2B5EF4-FFF2-40B4-BE49-F238E27FC236}">
                <a16:creationId xmlns:a16="http://schemas.microsoft.com/office/drawing/2014/main" id="{80E0918E-FF04-4605-8D37-DCB81F485176}"/>
              </a:ext>
            </a:extLst>
          </p:cNvPr>
          <p:cNvGraphicFramePr>
            <a:graphicFrameLocks noGrp="1"/>
          </p:cNvGraphicFramePr>
          <p:nvPr>
            <p:ph idx="1"/>
          </p:nvPr>
        </p:nvGraphicFramePr>
        <p:xfrm>
          <a:off x="838200" y="1825625"/>
          <a:ext cx="10515597" cy="304800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792900892"/>
                    </a:ext>
                  </a:extLst>
                </a:gridCol>
                <a:gridCol w="3505199">
                  <a:extLst>
                    <a:ext uri="{9D8B030D-6E8A-4147-A177-3AD203B41FA5}">
                      <a16:colId xmlns:a16="http://schemas.microsoft.com/office/drawing/2014/main" val="2516810292"/>
                    </a:ext>
                  </a:extLst>
                </a:gridCol>
                <a:gridCol w="3505199">
                  <a:extLst>
                    <a:ext uri="{9D8B030D-6E8A-4147-A177-3AD203B41FA5}">
                      <a16:colId xmlns:a16="http://schemas.microsoft.com/office/drawing/2014/main" val="2742206315"/>
                    </a:ext>
                  </a:extLst>
                </a:gridCol>
              </a:tblGrid>
              <a:tr h="370840">
                <a:tc>
                  <a:txBody>
                    <a:bodyPr/>
                    <a:lstStyle/>
                    <a:p>
                      <a:r>
                        <a:rPr lang="en-US" sz="2800" b="1" u="sng" dirty="0"/>
                        <a:t>T</a:t>
                      </a:r>
                      <a:r>
                        <a:rPr lang="en-US" sz="2800" dirty="0"/>
                        <a:t>ell</a:t>
                      </a:r>
                      <a:r>
                        <a:rPr lang="en-US" dirty="0"/>
                        <a:t> </a:t>
                      </a:r>
                      <a:r>
                        <a:rPr lang="en-US" sz="2000" dirty="0"/>
                        <a:t>some things that you like</a:t>
                      </a:r>
                    </a:p>
                  </a:txBody>
                  <a:tcPr/>
                </a:tc>
                <a:tc>
                  <a:txBody>
                    <a:bodyPr/>
                    <a:lstStyle/>
                    <a:p>
                      <a:r>
                        <a:rPr lang="en-US" sz="2800" b="1" u="sng" dirty="0"/>
                        <a:t>A</a:t>
                      </a:r>
                      <a:r>
                        <a:rPr lang="en-US" sz="2800" dirty="0"/>
                        <a:t>sk</a:t>
                      </a:r>
                      <a:r>
                        <a:rPr lang="en-US" dirty="0"/>
                        <a:t> </a:t>
                      </a:r>
                      <a:r>
                        <a:rPr lang="en-US" sz="2000" dirty="0"/>
                        <a:t>thoughtful questions</a:t>
                      </a:r>
                    </a:p>
                  </a:txBody>
                  <a:tcPr/>
                </a:tc>
                <a:tc>
                  <a:txBody>
                    <a:bodyPr/>
                    <a:lstStyle/>
                    <a:p>
                      <a:r>
                        <a:rPr lang="en-US" sz="2800" b="1" u="sng" dirty="0"/>
                        <a:t>G</a:t>
                      </a:r>
                      <a:r>
                        <a:rPr lang="en-US" sz="2800" dirty="0"/>
                        <a:t>ive</a:t>
                      </a:r>
                      <a:r>
                        <a:rPr lang="en-US" dirty="0"/>
                        <a:t> </a:t>
                      </a:r>
                      <a:r>
                        <a:rPr lang="en-US" sz="2000" dirty="0"/>
                        <a:t>positive suggestions</a:t>
                      </a:r>
                    </a:p>
                  </a:txBody>
                  <a:tcPr/>
                </a:tc>
                <a:extLst>
                  <a:ext uri="{0D108BD9-81ED-4DB2-BD59-A6C34878D82A}">
                    <a16:rowId xmlns:a16="http://schemas.microsoft.com/office/drawing/2014/main" val="1963262975"/>
                  </a:ext>
                </a:extLst>
              </a:tr>
              <a:tr h="370840">
                <a:tc>
                  <a:txBody>
                    <a:bodyPr/>
                    <a:lstStyle/>
                    <a:p>
                      <a:pPr marL="285750" indent="-285750">
                        <a:buFont typeface="Arial" panose="020B0604020202020204" pitchFamily="34" charset="0"/>
                        <a:buChar char="•"/>
                      </a:pPr>
                      <a:r>
                        <a:rPr lang="en-US" sz="2000" dirty="0"/>
                        <a:t>I like how you…</a:t>
                      </a:r>
                    </a:p>
                    <a:p>
                      <a:pPr marL="285750" indent="-285750">
                        <a:buFont typeface="Arial" panose="020B0604020202020204" pitchFamily="34" charset="0"/>
                        <a:buChar char="•"/>
                      </a:pPr>
                      <a:r>
                        <a:rPr lang="en-US" sz="2000" dirty="0"/>
                        <a:t>What really wowed me was…</a:t>
                      </a:r>
                    </a:p>
                    <a:p>
                      <a:pPr marL="285750" indent="-285750">
                        <a:buFont typeface="Arial" panose="020B0604020202020204" pitchFamily="34" charset="0"/>
                        <a:buChar char="•"/>
                      </a:pPr>
                      <a:r>
                        <a:rPr lang="en-US" sz="2000" dirty="0"/>
                        <a:t>The best part of your work is…</a:t>
                      </a:r>
                    </a:p>
                    <a:p>
                      <a:pPr marL="285750" indent="-285750">
                        <a:buFont typeface="Arial" panose="020B0604020202020204" pitchFamily="34" charset="0"/>
                        <a:buChar char="•"/>
                      </a:pPr>
                      <a:r>
                        <a:rPr lang="en-US" sz="2000" dirty="0"/>
                        <a:t>I connect with…</a:t>
                      </a:r>
                    </a:p>
                    <a:p>
                      <a:pPr marL="285750" indent="-285750">
                        <a:buFont typeface="Arial" panose="020B0604020202020204" pitchFamily="34" charset="0"/>
                        <a:buChar char="•"/>
                      </a:pPr>
                      <a:r>
                        <a:rPr lang="en-US" sz="2000" dirty="0"/>
                        <a:t>I enjoyed your work because…</a:t>
                      </a:r>
                    </a:p>
                    <a:p>
                      <a:pPr marL="285750" indent="-285750">
                        <a:buFont typeface="Arial" panose="020B0604020202020204" pitchFamily="34" charset="0"/>
                        <a:buChar char="•"/>
                      </a:pPr>
                      <a:r>
                        <a:rPr lang="en-US" sz="2000" dirty="0"/>
                        <a:t>It made me smile when…</a:t>
                      </a:r>
                    </a:p>
                  </a:txBody>
                  <a:tcPr/>
                </a:tc>
                <a:tc>
                  <a:txBody>
                    <a:bodyPr/>
                    <a:lstStyle/>
                    <a:p>
                      <a:pPr marL="285750" indent="-285750">
                        <a:buFont typeface="Arial" panose="020B0604020202020204" pitchFamily="34" charset="0"/>
                        <a:buChar char="•"/>
                      </a:pPr>
                      <a:r>
                        <a:rPr lang="en-US" sz="2000" dirty="0"/>
                        <a:t>Why did you…</a:t>
                      </a:r>
                    </a:p>
                    <a:p>
                      <a:pPr marL="285750" indent="-285750">
                        <a:buFont typeface="Arial" panose="020B0604020202020204" pitchFamily="34" charset="0"/>
                        <a:buChar char="•"/>
                      </a:pPr>
                      <a:r>
                        <a:rPr lang="en-US" sz="2000" dirty="0"/>
                        <a:t>How will you…</a:t>
                      </a:r>
                    </a:p>
                    <a:p>
                      <a:pPr marL="285750" indent="-285750">
                        <a:buFont typeface="Arial" panose="020B0604020202020204" pitchFamily="34" charset="0"/>
                        <a:buChar char="•"/>
                      </a:pPr>
                      <a:r>
                        <a:rPr lang="en-US" sz="2000" dirty="0"/>
                        <a:t>What did you mean by…</a:t>
                      </a:r>
                    </a:p>
                    <a:p>
                      <a:pPr marL="285750" indent="-285750">
                        <a:buFont typeface="Arial" panose="020B0604020202020204" pitchFamily="34" charset="0"/>
                        <a:buChar char="•"/>
                      </a:pPr>
                      <a:r>
                        <a:rPr lang="en-US" sz="2000" dirty="0"/>
                        <a:t>Why is…</a:t>
                      </a:r>
                    </a:p>
                    <a:p>
                      <a:pPr marL="285750" indent="-285750">
                        <a:buFont typeface="Arial" panose="020B0604020202020204" pitchFamily="34" charset="0"/>
                        <a:buChar char="•"/>
                      </a:pPr>
                      <a:r>
                        <a:rPr lang="en-US" sz="2000" dirty="0"/>
                        <a:t>Did you consider…</a:t>
                      </a:r>
                    </a:p>
                    <a:p>
                      <a:pPr marL="285750" indent="-285750">
                        <a:buFont typeface="Arial" panose="020B0604020202020204" pitchFamily="34" charset="0"/>
                        <a:buChar char="•"/>
                      </a:pPr>
                      <a:r>
                        <a:rPr lang="en-US" sz="2000" dirty="0"/>
                        <a:t>I am wondering…</a:t>
                      </a:r>
                    </a:p>
                  </a:txBody>
                  <a:tcPr/>
                </a:tc>
                <a:tc>
                  <a:txBody>
                    <a:bodyPr/>
                    <a:lstStyle/>
                    <a:p>
                      <a:pPr marL="285750" indent="-285750">
                        <a:buFont typeface="Arial" panose="020B0604020202020204" pitchFamily="34" charset="0"/>
                        <a:buChar char="•"/>
                      </a:pPr>
                      <a:r>
                        <a:rPr lang="en-US" sz="2000" dirty="0"/>
                        <a:t>One suggestion is…</a:t>
                      </a:r>
                    </a:p>
                    <a:p>
                      <a:pPr marL="285750" indent="-285750">
                        <a:buFont typeface="Arial" panose="020B0604020202020204" pitchFamily="34" charset="0"/>
                        <a:buChar char="•"/>
                      </a:pPr>
                      <a:r>
                        <a:rPr lang="en-US" sz="2000" dirty="0"/>
                        <a:t>You might change…</a:t>
                      </a:r>
                    </a:p>
                    <a:p>
                      <a:pPr marL="285750" indent="-285750">
                        <a:buFont typeface="Arial" panose="020B0604020202020204" pitchFamily="34" charset="0"/>
                        <a:buChar char="•"/>
                      </a:pPr>
                      <a:r>
                        <a:rPr lang="en-US" sz="2000" dirty="0"/>
                        <a:t>I think you should add…</a:t>
                      </a:r>
                    </a:p>
                    <a:p>
                      <a:pPr marL="285750" indent="-285750">
                        <a:buFont typeface="Arial" panose="020B0604020202020204" pitchFamily="34" charset="0"/>
                        <a:buChar char="•"/>
                      </a:pPr>
                      <a:r>
                        <a:rPr lang="en-US" sz="2000" dirty="0"/>
                        <a:t>You might consider…</a:t>
                      </a:r>
                    </a:p>
                    <a:p>
                      <a:pPr marL="285750" indent="-285750">
                        <a:buFont typeface="Arial" panose="020B0604020202020204" pitchFamily="34" charset="0"/>
                        <a:buChar char="•"/>
                      </a:pPr>
                      <a:r>
                        <a:rPr lang="en-US" sz="2000" dirty="0"/>
                        <a:t>Do you think you should…</a:t>
                      </a:r>
                    </a:p>
                  </a:txBody>
                  <a:tcPr/>
                </a:tc>
                <a:extLst>
                  <a:ext uri="{0D108BD9-81ED-4DB2-BD59-A6C34878D82A}">
                    <a16:rowId xmlns:a16="http://schemas.microsoft.com/office/drawing/2014/main" val="201256390"/>
                  </a:ext>
                </a:extLst>
              </a:tr>
            </a:tbl>
          </a:graphicData>
        </a:graphic>
      </p:graphicFrame>
      <p:sp>
        <p:nvSpPr>
          <p:cNvPr id="4" name="Slide Number Placeholder 3">
            <a:extLst>
              <a:ext uri="{FF2B5EF4-FFF2-40B4-BE49-F238E27FC236}">
                <a16:creationId xmlns:a16="http://schemas.microsoft.com/office/drawing/2014/main" id="{01E16D86-02A9-4B2E-A13C-E3236338CDC3}"/>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91093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Steps for Teaching Peer Feedback Strategies</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
        <p:nvSpPr>
          <p:cNvPr id="6" name="Content Placeholder 5">
            <a:extLst>
              <a:ext uri="{FF2B5EF4-FFF2-40B4-BE49-F238E27FC236}">
                <a16:creationId xmlns:a16="http://schemas.microsoft.com/office/drawing/2014/main" id="{A9BEA837-5178-418C-BCC8-03CCA5491737}"/>
              </a:ext>
            </a:extLst>
          </p:cNvPr>
          <p:cNvSpPr>
            <a:spLocks noGrp="1"/>
          </p:cNvSpPr>
          <p:nvPr>
            <p:ph idx="1"/>
          </p:nvPr>
        </p:nvSpPr>
        <p:spPr>
          <a:xfrm>
            <a:off x="838200" y="1602296"/>
            <a:ext cx="10515600" cy="4754053"/>
          </a:xfrm>
        </p:spPr>
        <p:txBody>
          <a:bodyPr>
            <a:normAutofit/>
          </a:bodyPr>
          <a:lstStyle/>
          <a:p>
            <a:pPr marL="514350" indent="-514350">
              <a:spcAft>
                <a:spcPts val="1200"/>
              </a:spcAft>
              <a:buAutoNum type="arabicPeriod"/>
            </a:pPr>
            <a:r>
              <a:rPr lang="en-US" dirty="0"/>
              <a:t>Explain the peer feedback process and purpose of the feedback.</a:t>
            </a:r>
          </a:p>
          <a:p>
            <a:pPr marL="514350" indent="-514350">
              <a:spcAft>
                <a:spcPts val="1200"/>
              </a:spcAft>
              <a:buAutoNum type="arabicPeriod"/>
            </a:pPr>
            <a:r>
              <a:rPr lang="en-US" dirty="0"/>
              <a:t>Introduce the task and the success criteria for the task.</a:t>
            </a:r>
          </a:p>
          <a:p>
            <a:pPr marL="514350" indent="-514350">
              <a:spcAft>
                <a:spcPts val="1200"/>
              </a:spcAft>
              <a:buAutoNum type="arabicPeriod"/>
            </a:pPr>
            <a:r>
              <a:rPr lang="en-US" dirty="0"/>
              <a:t>Introduce the strategy and process for the feedback.</a:t>
            </a:r>
          </a:p>
          <a:p>
            <a:pPr marL="514350" indent="-514350">
              <a:spcAft>
                <a:spcPts val="1200"/>
              </a:spcAft>
              <a:buAutoNum type="arabicPeriod"/>
            </a:pPr>
            <a:r>
              <a:rPr lang="en-US" dirty="0"/>
              <a:t>Explain what effective peer feedback looks like to students.</a:t>
            </a:r>
          </a:p>
          <a:p>
            <a:pPr marL="514350" indent="-514350">
              <a:spcAft>
                <a:spcPts val="1200"/>
              </a:spcAft>
              <a:buAutoNum type="arabicPeriod"/>
            </a:pPr>
            <a:r>
              <a:rPr lang="en-US" dirty="0"/>
              <a:t>Provide scaffolds such as handouts, tables, or charts to keep students on track.</a:t>
            </a:r>
          </a:p>
          <a:p>
            <a:pPr marL="514350" indent="-514350">
              <a:spcAft>
                <a:spcPts val="1200"/>
              </a:spcAft>
              <a:buAutoNum type="arabicPeriod"/>
            </a:pPr>
            <a:r>
              <a:rPr lang="en-US" dirty="0"/>
              <a:t>Have students reflect on the feedback and the next steps.</a:t>
            </a:r>
          </a:p>
        </p:txBody>
      </p:sp>
    </p:spTree>
    <p:extLst>
      <p:ext uri="{BB962C8B-B14F-4D97-AF65-F5344CB8AC3E}">
        <p14:creationId xmlns:p14="http://schemas.microsoft.com/office/powerpoint/2010/main" val="2115495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0A623-06E8-4FC1-9D2A-148BCE13416D}"/>
              </a:ext>
            </a:extLst>
          </p:cNvPr>
          <p:cNvSpPr>
            <a:spLocks noGrp="1"/>
          </p:cNvSpPr>
          <p:nvPr>
            <p:ph type="title"/>
          </p:nvPr>
        </p:nvSpPr>
        <p:spPr>
          <a:xfrm>
            <a:off x="838200" y="365125"/>
            <a:ext cx="10515600" cy="800945"/>
          </a:xfrm>
        </p:spPr>
        <p:txBody>
          <a:bodyPr/>
          <a:lstStyle/>
          <a:p>
            <a:r>
              <a:rPr lang="en-US" dirty="0"/>
              <a:t>Scenario 1</a:t>
            </a:r>
          </a:p>
        </p:txBody>
      </p:sp>
      <p:sp>
        <p:nvSpPr>
          <p:cNvPr id="3" name="Content Placeholder 2">
            <a:extLst>
              <a:ext uri="{FF2B5EF4-FFF2-40B4-BE49-F238E27FC236}">
                <a16:creationId xmlns:a16="http://schemas.microsoft.com/office/drawing/2014/main" id="{387F2227-42F3-48F2-8740-8753354A8E8F}"/>
              </a:ext>
            </a:extLst>
          </p:cNvPr>
          <p:cNvSpPr>
            <a:spLocks noGrp="1"/>
          </p:cNvSpPr>
          <p:nvPr>
            <p:ph idx="1"/>
          </p:nvPr>
        </p:nvSpPr>
        <p:spPr>
          <a:xfrm>
            <a:off x="838200" y="1355842"/>
            <a:ext cx="10515600" cy="4351338"/>
          </a:xfrm>
        </p:spPr>
        <p:txBody>
          <a:bodyPr>
            <a:noAutofit/>
          </a:bodyPr>
          <a:lstStyle/>
          <a:p>
            <a:pPr marL="0" indent="0">
              <a:lnSpc>
                <a:spcPct val="150000"/>
              </a:lnSpc>
              <a:spcBef>
                <a:spcPts val="0"/>
              </a:spcBef>
              <a:buNone/>
            </a:pPr>
            <a:r>
              <a:rPr lang="en-US" sz="2200" dirty="0">
                <a:solidFill>
                  <a:srgbClr val="000000"/>
                </a:solidFill>
                <a:effectLst/>
                <a:ea typeface="Calibri" panose="020F0502020204030204" pitchFamily="34" charset="0"/>
              </a:rPr>
              <a:t>Mr. Olivera is working with his 2</a:t>
            </a:r>
            <a:r>
              <a:rPr lang="en-US" sz="2200" baseline="30000" dirty="0">
                <a:solidFill>
                  <a:srgbClr val="000000"/>
                </a:solidFill>
                <a:effectLst/>
                <a:ea typeface="Calibri" panose="020F0502020204030204" pitchFamily="34" charset="0"/>
              </a:rPr>
              <a:t>nd</a:t>
            </a:r>
            <a:r>
              <a:rPr lang="en-US" sz="2200" dirty="0">
                <a:solidFill>
                  <a:srgbClr val="000000"/>
                </a:solidFill>
                <a:effectLst/>
                <a:ea typeface="Calibri" panose="020F0502020204030204" pitchFamily="34" charset="0"/>
              </a:rPr>
              <a:t> grade students on their opinion writing.  Students have been asked to write a short paragraph describing whether they prefer dogs or cats as a pet.  Each student has completed an opinion paragraph supporting their claim with at least three details and the paragraph contains 3-5 sentences.  The students also included a picture with their work that illustrates some part of their paragraph.  Now that students have completed their task, he wants the students to receive some feedback on their work from peers.  He only has about 30 minutes to dedicate to the process in his classroom but feels it is important for the students to hear from at least a few peers.</a:t>
            </a:r>
            <a:endParaRPr lang="en-US" sz="2200" dirty="0"/>
          </a:p>
        </p:txBody>
      </p:sp>
      <p:sp>
        <p:nvSpPr>
          <p:cNvPr id="4" name="Slide Number Placeholder 3">
            <a:extLst>
              <a:ext uri="{FF2B5EF4-FFF2-40B4-BE49-F238E27FC236}">
                <a16:creationId xmlns:a16="http://schemas.microsoft.com/office/drawing/2014/main" id="{346B4BB7-5943-4218-AC66-270F0AC81348}"/>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622702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0A623-06E8-4FC1-9D2A-148BCE13416D}"/>
              </a:ext>
            </a:extLst>
          </p:cNvPr>
          <p:cNvSpPr>
            <a:spLocks noGrp="1"/>
          </p:cNvSpPr>
          <p:nvPr>
            <p:ph type="title"/>
          </p:nvPr>
        </p:nvSpPr>
        <p:spPr>
          <a:xfrm>
            <a:off x="838200" y="365125"/>
            <a:ext cx="10515600" cy="800945"/>
          </a:xfrm>
        </p:spPr>
        <p:txBody>
          <a:bodyPr/>
          <a:lstStyle/>
          <a:p>
            <a:r>
              <a:rPr lang="en-US" dirty="0"/>
              <a:t>Scenario 2</a:t>
            </a:r>
          </a:p>
        </p:txBody>
      </p:sp>
      <p:sp>
        <p:nvSpPr>
          <p:cNvPr id="3" name="Content Placeholder 2">
            <a:extLst>
              <a:ext uri="{FF2B5EF4-FFF2-40B4-BE49-F238E27FC236}">
                <a16:creationId xmlns:a16="http://schemas.microsoft.com/office/drawing/2014/main" id="{387F2227-42F3-48F2-8740-8753354A8E8F}"/>
              </a:ext>
            </a:extLst>
          </p:cNvPr>
          <p:cNvSpPr>
            <a:spLocks noGrp="1"/>
          </p:cNvSpPr>
          <p:nvPr>
            <p:ph idx="1"/>
          </p:nvPr>
        </p:nvSpPr>
        <p:spPr>
          <a:xfrm>
            <a:off x="838200" y="1166070"/>
            <a:ext cx="10515600" cy="4351338"/>
          </a:xfrm>
        </p:spPr>
        <p:txBody>
          <a:bodyPr>
            <a:noAutofit/>
          </a:bodyPr>
          <a:lstStyle/>
          <a:p>
            <a:pPr marL="0" marR="0" indent="0">
              <a:lnSpc>
                <a:spcPct val="150000"/>
              </a:lnSpc>
              <a:spcBef>
                <a:spcPts val="0"/>
              </a:spcBef>
              <a:buNone/>
            </a:pPr>
            <a:r>
              <a:rPr lang="en-US" sz="2200" dirty="0">
                <a:solidFill>
                  <a:srgbClr val="000000"/>
                </a:solidFill>
                <a:effectLst/>
                <a:ea typeface="Calibri" panose="020F0502020204030204" pitchFamily="34" charset="0"/>
                <a:cs typeface="Times New Roman" panose="02020603050405020304" pitchFamily="18" charset="0"/>
              </a:rPr>
              <a:t>The students in Mrs. Greaves 8</a:t>
            </a:r>
            <a:r>
              <a:rPr lang="en-US" sz="2200" baseline="30000" dirty="0">
                <a:solidFill>
                  <a:srgbClr val="000000"/>
                </a:solidFill>
                <a:effectLst/>
                <a:ea typeface="Calibri" panose="020F0502020204030204" pitchFamily="34" charset="0"/>
                <a:cs typeface="Times New Roman" panose="02020603050405020304" pitchFamily="18" charset="0"/>
              </a:rPr>
              <a:t>th</a:t>
            </a:r>
            <a:r>
              <a:rPr lang="en-US" sz="2200" dirty="0">
                <a:solidFill>
                  <a:srgbClr val="000000"/>
                </a:solidFill>
                <a:effectLst/>
                <a:ea typeface="Calibri" panose="020F0502020204030204" pitchFamily="34" charset="0"/>
                <a:cs typeface="Times New Roman" panose="02020603050405020304" pitchFamily="18" charset="0"/>
              </a:rPr>
              <a:t> grade social studies class have been learning about the New England Colonies and the foundations of representative government in the United States.  In groups of three, the students were tasked with creating a front page of a newspaper from colonial times that highlighted articles about life as a colonist as well as key events during that period.  Students worked to create their newspaper page on a large poster, creating a creative name and including images that enhance and support the information shared in their articles.  Mrs. Greaves wants the groups to get feedback from everyone in the class on their work but only has about a half of class period to dedicate to the feedback process.</a:t>
            </a:r>
            <a:endParaRPr lang="en-US" sz="2200" dirty="0">
              <a:effectLs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46B4BB7-5943-4218-AC66-270F0AC81348}"/>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3705963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0A623-06E8-4FC1-9D2A-148BCE13416D}"/>
              </a:ext>
            </a:extLst>
          </p:cNvPr>
          <p:cNvSpPr>
            <a:spLocks noGrp="1"/>
          </p:cNvSpPr>
          <p:nvPr>
            <p:ph type="title"/>
          </p:nvPr>
        </p:nvSpPr>
        <p:spPr>
          <a:xfrm>
            <a:off x="838200" y="136525"/>
            <a:ext cx="10515600" cy="800945"/>
          </a:xfrm>
        </p:spPr>
        <p:txBody>
          <a:bodyPr/>
          <a:lstStyle/>
          <a:p>
            <a:r>
              <a:rPr lang="en-US" dirty="0"/>
              <a:t>Scenario 3</a:t>
            </a:r>
          </a:p>
        </p:txBody>
      </p:sp>
      <p:sp>
        <p:nvSpPr>
          <p:cNvPr id="3" name="Content Placeholder 2">
            <a:extLst>
              <a:ext uri="{FF2B5EF4-FFF2-40B4-BE49-F238E27FC236}">
                <a16:creationId xmlns:a16="http://schemas.microsoft.com/office/drawing/2014/main" id="{387F2227-42F3-48F2-8740-8753354A8E8F}"/>
              </a:ext>
            </a:extLst>
          </p:cNvPr>
          <p:cNvSpPr>
            <a:spLocks noGrp="1"/>
          </p:cNvSpPr>
          <p:nvPr>
            <p:ph idx="1"/>
          </p:nvPr>
        </p:nvSpPr>
        <p:spPr>
          <a:xfrm>
            <a:off x="838200" y="937470"/>
            <a:ext cx="10515600" cy="4351338"/>
          </a:xfrm>
        </p:spPr>
        <p:txBody>
          <a:bodyPr>
            <a:noAutofit/>
          </a:bodyPr>
          <a:lstStyle/>
          <a:p>
            <a:pPr marL="0" marR="0" indent="0">
              <a:lnSpc>
                <a:spcPct val="150000"/>
              </a:lnSpc>
              <a:spcBef>
                <a:spcPts val="0"/>
              </a:spcBef>
              <a:buNone/>
            </a:pPr>
            <a:r>
              <a:rPr lang="en-US" sz="2000" dirty="0">
                <a:solidFill>
                  <a:srgbClr val="000000"/>
                </a:solidFill>
                <a:effectLst/>
                <a:ea typeface="Calibri" panose="020F0502020204030204" pitchFamily="34" charset="0"/>
              </a:rPr>
              <a:t>Mr. Johannsson is teaching a level II art class at the local high school.  His students are exploring artistic styles from a variety of historical periods and cultures.  He has tasked his students to choose a time period and culture and create an original work of art that demonstrates the specific characteristics of representative artwork from that time and culture.  The students have completed a draft plan for the piece of work outlining some of the materials and key characteristics to include.  They have also completed a sketch of the potential work.  Mr. Johannsson thought it would be helpful for the students to get some feedback from peers before beginning work on the final piece. Because this piece is an important part of the student’s grade for the quarter, he is willing to dedicate a full 90-minute class as for feedback to allow students the opportunities to think about revisions before they start working on the final piece the following week.  </a:t>
            </a:r>
            <a:endParaRPr lang="en-US" sz="2000" dirty="0">
              <a:effectLs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46B4BB7-5943-4218-AC66-270F0AC81348}"/>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3720451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136525"/>
            <a:ext cx="10515600" cy="800945"/>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007902"/>
            <a:ext cx="10657667" cy="5445124"/>
          </a:xfrm>
        </p:spPr>
        <p:txBody>
          <a:bodyPr vert="horz" lIns="91440" tIns="45720" rIns="91440" bIns="45720" rtlCol="0" anchor="t">
            <a:normAutofit lnSpcReduction="10000"/>
          </a:bodyPr>
          <a:lstStyle/>
          <a:p>
            <a:pPr marL="0" marR="0" indent="0">
              <a:lnSpc>
                <a:spcPct val="107000"/>
              </a:lnSpc>
              <a:spcBef>
                <a:spcPts val="0"/>
              </a:spcBef>
              <a:spcAft>
                <a:spcPts val="800"/>
              </a:spcAft>
              <a:buNone/>
            </a:pPr>
            <a:r>
              <a:rPr lang="en-US" sz="2400" dirty="0">
                <a:solidFill>
                  <a:srgbClr val="000000"/>
                </a:solidFill>
                <a:effectLst/>
                <a:ea typeface="Calibri" panose="020F0502020204030204" pitchFamily="34" charset="0"/>
                <a:cs typeface="Times New Roman" panose="02020603050405020304" pitchFamily="18" charset="0"/>
              </a:rPr>
              <a:t>Students in Mrs. Blanchard’s middle school science class have worked on developing science experiments to investigate density.  The students designed an experiment to determine the density of different objects, conducted the experiment to collect data and then created a poster to present the experiment, data, and findings to their classmates.  The students have just completed their posters and Mrs. Blanchard wants all the students to have a chance to explore and provide feedback on each of the experiment posters.  She has dedicated about twenty minutes of class time to allow for students to provide feedback.  </a:t>
            </a:r>
            <a:endParaRPr lang="en-US" sz="2400" dirty="0">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800"/>
              </a:spcAft>
              <a:buFont typeface="+mj-lt"/>
              <a:buAutoNum type="arabicPeriod"/>
            </a:pPr>
            <a:r>
              <a:rPr lang="en-US" sz="2400" dirty="0">
                <a:solidFill>
                  <a:srgbClr val="000000"/>
                </a:solidFill>
                <a:effectLst/>
                <a:ea typeface="Calibri" panose="020F0502020204030204" pitchFamily="34" charset="0"/>
                <a:cs typeface="Times New Roman" panose="02020603050405020304" pitchFamily="18" charset="0"/>
              </a:rPr>
              <a:t>Which of the peer feedback strategies that we have discussed would be most appropriate to use for this application? (TAG, Gallery Walk, Glow and Grows, Charette Protocol)</a:t>
            </a:r>
          </a:p>
          <a:p>
            <a:pPr marL="342900" marR="0" indent="-342900">
              <a:lnSpc>
                <a:spcPct val="107000"/>
              </a:lnSpc>
              <a:spcBef>
                <a:spcPts val="0"/>
              </a:spcBef>
              <a:spcAft>
                <a:spcPts val="800"/>
              </a:spcAft>
              <a:buFont typeface="+mj-lt"/>
              <a:buAutoNum type="arabicPeriod"/>
            </a:pPr>
            <a:r>
              <a:rPr lang="en-US" sz="2400" dirty="0">
                <a:solidFill>
                  <a:srgbClr val="000000"/>
                </a:solidFill>
                <a:ea typeface="Calibri" panose="020F0502020204030204" pitchFamily="34" charset="0"/>
                <a:cs typeface="Times New Roman" panose="02020603050405020304" pitchFamily="18" charset="0"/>
              </a:rPr>
              <a:t>Which of the key considerations impacted your decision to select this strategy and why?</a:t>
            </a:r>
            <a:endParaRPr lang="en-US" sz="2400" dirty="0">
              <a:effectLst/>
              <a:ea typeface="Calibri" panose="020F0502020204030204" pitchFamily="34" charset="0"/>
              <a:cs typeface="Times New Roman" panose="02020603050405020304" pitchFamily="18" charset="0"/>
            </a:endParaRPr>
          </a:p>
          <a:p>
            <a:pPr marL="0" indent="0">
              <a:buNone/>
            </a:pPr>
            <a:endParaRPr lang="en-US" dirty="0">
              <a:effectLst/>
              <a:ea typeface="Calibri" panose="020F0502020204030204" pitchFamily="34" charset="0"/>
              <a:cs typeface="Times New Roman" panose="02020603050405020304" pitchFamily="18" charset="0"/>
            </a:endParaRPr>
          </a:p>
          <a:p>
            <a:pPr marL="0" indent="0">
              <a:buNone/>
            </a:pPr>
            <a:endParaRPr lang="en-US" dirty="0">
              <a:cs typeface="Calibri" panose="020F0502020204030204"/>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dirty="0" smtClean="0"/>
              <a:pPr/>
              <a:t>12</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207</TotalTime>
  <Words>1083</Words>
  <Application>Microsoft Office PowerPoint</Application>
  <PresentationFormat>Widescreen</PresentationFormat>
  <Paragraphs>93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Symbol</vt:lpstr>
      <vt:lpstr>Office Theme</vt:lpstr>
      <vt:lpstr>Instructional Practices| Unit 9: Feedback| Lesson 9.07</vt:lpstr>
      <vt:lpstr>TEKS Standards &amp; Objectives</vt:lpstr>
      <vt:lpstr>Bellringer</vt:lpstr>
      <vt:lpstr>Peer Feedback Strategy: TAG</vt:lpstr>
      <vt:lpstr>Vocabulary</vt:lpstr>
      <vt:lpstr>Considerations for Determining Peer Feedback Strategy</vt:lpstr>
      <vt:lpstr>Peer Feedback Strategy: TAG </vt:lpstr>
      <vt:lpstr>Steps for Teaching Peer Feedback Strategies</vt:lpstr>
      <vt:lpstr>Scenario 1</vt:lpstr>
      <vt:lpstr>Scenario 2</vt:lpstr>
      <vt:lpstr>Scenario 3</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9.02: Practice with Informal Feedback</dc:title>
  <dc:subject>Lesson 9.02: Practice with Informal Feedback</dc:subject>
  <dc:creator>Texas Education Agency</dc:creator>
  <cp:lastModifiedBy>London White</cp:lastModifiedBy>
  <cp:revision>88</cp:revision>
  <dcterms:created xsi:type="dcterms:W3CDTF">2022-05-09T19:40:20Z</dcterms:created>
  <dcterms:modified xsi:type="dcterms:W3CDTF">2023-08-31T03:36:55Z</dcterms:modified>
</cp:coreProperties>
</file>
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
  </p:notesMasterIdLst>
  <p:sldIdLst>
    <p:sldId id="256" r:id="rId2"/>
    <p:sldId id="259" r:id="rId3"/>
    <p:sldId id="258" r:id="rId4"/>
    <p:sldId id="261" r:id="rId5"/>
    <p:sldId id="264" r:id="rId6"/>
    <p:sldId id="263" r:id="rId7"/>
    <p:sldId id="262" r:id="rId8"/>
    <p:sldId id="260"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7800"/>
    <a:srgbClr val="FF0000"/>
    <a:srgbClr val="780000"/>
    <a:srgbClr val="00000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29EFBD0-4446-4D8A-B5B4-003AB41A9A06}" v="3" dt="2022-09-18T05:35:44.32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32" autoAdjust="0"/>
    <p:restoredTop sz="94660"/>
  </p:normalViewPr>
  <p:slideViewPr>
    <p:cSldViewPr snapToGrid="0">
      <p:cViewPr varScale="1">
        <p:scale>
          <a:sx n="62" d="100"/>
          <a:sy n="62" d="100"/>
        </p:scale>
        <p:origin x="420"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6/11/relationships/changesInfo" Target="changesInfos/changesInfo1.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hite (she/her), Whitney" userId="65f39021-2f1d-4d8b-87dc-b123826f65bf" providerId="ADAL" clId="{629EFBD0-4446-4D8A-B5B4-003AB41A9A06}"/>
    <pc:docChg chg="modSld">
      <pc:chgData name="White (she/her), Whitney" userId="65f39021-2f1d-4d8b-87dc-b123826f65bf" providerId="ADAL" clId="{629EFBD0-4446-4D8A-B5B4-003AB41A9A06}" dt="2022-09-18T05:35:34.017" v="0" actId="20577"/>
      <pc:docMkLst>
        <pc:docMk/>
      </pc:docMkLst>
      <pc:sldChg chg="modSp mod">
        <pc:chgData name="White (she/her), Whitney" userId="65f39021-2f1d-4d8b-87dc-b123826f65bf" providerId="ADAL" clId="{629EFBD0-4446-4D8A-B5B4-003AB41A9A06}" dt="2022-09-18T05:35:34.017" v="0" actId="20577"/>
        <pc:sldMkLst>
          <pc:docMk/>
          <pc:sldMk cId="1482277026" sldId="256"/>
        </pc:sldMkLst>
        <pc:spChg chg="mod">
          <ac:chgData name="White (she/her), Whitney" userId="65f39021-2f1d-4d8b-87dc-b123826f65bf" providerId="ADAL" clId="{629EFBD0-4446-4D8A-B5B4-003AB41A9A06}" dt="2022-09-18T05:35:34.017" v="0" actId="20577"/>
          <ac:spMkLst>
            <pc:docMk/>
            <pc:sldMk cId="1482277026" sldId="256"/>
            <ac:spMk id="3" creationId="{E0FBD98F-3A67-498E-8174-652040DD7B6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F5DDE70-9ADB-4C9A-B58D-9BDED1E4A627}" type="datetimeFigureOut">
              <a:rPr lang="en-US" smtClean="0"/>
              <a:t>9/18/2022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8949DE8-90B8-4B66-9B76-C7482BDD03BC}" type="slidenum">
              <a:rPr lang="en-US" smtClean="0"/>
              <a:t>‹#›</a:t>
            </a:fld>
            <a:endParaRPr lang="en-US"/>
          </a:p>
        </p:txBody>
      </p:sp>
    </p:spTree>
    <p:extLst>
      <p:ext uri="{BB962C8B-B14F-4D97-AF65-F5344CB8AC3E}">
        <p14:creationId xmlns:p14="http://schemas.microsoft.com/office/powerpoint/2010/main" val="1828829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0E4FD1-C863-4F6C-BC67-9529A3DF2F5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5F02A33A-B5BD-43C3-902B-F6F09D5D238A}"/>
              </a:ext>
            </a:extLst>
          </p:cNvPr>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insert Lesson Plan Title</a:t>
            </a:r>
          </a:p>
        </p:txBody>
      </p:sp>
      <p:sp>
        <p:nvSpPr>
          <p:cNvPr id="4" name="Date Placeholder 3">
            <a:extLst>
              <a:ext uri="{FF2B5EF4-FFF2-40B4-BE49-F238E27FC236}">
                <a16:creationId xmlns:a16="http://schemas.microsoft.com/office/drawing/2014/main" id="{AD677D06-A159-4AA2-93DA-1C52F18ECBD7}"/>
              </a:ext>
            </a:extLst>
          </p:cNvPr>
          <p:cNvSpPr>
            <a:spLocks noGrp="1"/>
          </p:cNvSpPr>
          <p:nvPr>
            <p:ph type="dt" sz="half" idx="10"/>
          </p:nvPr>
        </p:nvSpPr>
        <p:spPr/>
        <p:txBody>
          <a:bodyPr/>
          <a:lstStyle>
            <a:lvl1pPr>
              <a:defRPr/>
            </a:lvl1pPr>
          </a:lstStyle>
          <a:p>
            <a:fld id="{D4C3A9F1-823B-4DED-8A9C-F71E6CE5796E}" type="datetime1">
              <a:rPr lang="en-US" smtClean="0"/>
              <a:t>9/18/2022</a:t>
            </a:fld>
            <a:endParaRPr lang="en-US" dirty="0"/>
          </a:p>
        </p:txBody>
      </p:sp>
      <p:pic>
        <p:nvPicPr>
          <p:cNvPr id="9" name="Picture 8" descr="Icon. This is TEA's logo.">
            <a:extLst>
              <a:ext uri="{FF2B5EF4-FFF2-40B4-BE49-F238E27FC236}">
                <a16:creationId xmlns:a16="http://schemas.microsoft.com/office/drawing/2014/main" id="{659EBB25-66A1-4A3B-BD33-7EA229672757}"/>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pic>
        <p:nvPicPr>
          <p:cNvPr id="8" name="Picture 7" descr="Icon&#10;&#10;This is TEA's Education and Training logo.">
            <a:extLst>
              <a:ext uri="{FF2B5EF4-FFF2-40B4-BE49-F238E27FC236}">
                <a16:creationId xmlns:a16="http://schemas.microsoft.com/office/drawing/2014/main" id="{253E1ECF-C55D-47F6-BD1B-E5CFD8AC6DC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150018" y="5619940"/>
            <a:ext cx="548640" cy="918972"/>
          </a:xfrm>
          <a:prstGeom prst="rect">
            <a:avLst/>
          </a:prstGeom>
        </p:spPr>
      </p:pic>
    </p:spTree>
    <p:extLst>
      <p:ext uri="{BB962C8B-B14F-4D97-AF65-F5344CB8AC3E}">
        <p14:creationId xmlns:p14="http://schemas.microsoft.com/office/powerpoint/2010/main" val="19605637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3952EC27-F26B-4322-BE1D-79E86DF93672}"/>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7" name="Picture 6" descr="Icon.&#10;&#10;This is TEA's logo.">
            <a:extLst>
              <a:ext uri="{FF2B5EF4-FFF2-40B4-BE49-F238E27FC236}">
                <a16:creationId xmlns:a16="http://schemas.microsoft.com/office/drawing/2014/main" id="{5E0CFE64-7D39-43D0-AAFE-02B4F49538FD}"/>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26C9151B-2AB9-45C2-83BD-E5F2A13853A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5CF151C-FCEC-402E-946E-FFBB138CCC8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D2676C1-1BAD-4C95-93B1-0521C6096717}"/>
              </a:ext>
            </a:extLst>
          </p:cNvPr>
          <p:cNvSpPr>
            <a:spLocks noGrp="1"/>
          </p:cNvSpPr>
          <p:nvPr>
            <p:ph type="dt" sz="half" idx="10"/>
          </p:nvPr>
        </p:nvSpPr>
        <p:spPr/>
        <p:txBody>
          <a:bodyPr/>
          <a:lstStyle>
            <a:lvl1pPr>
              <a:defRPr/>
            </a:lvl1pPr>
          </a:lstStyle>
          <a:p>
            <a:fld id="{BFA63772-DBA2-4AC7-80D7-5D423EA9FA3C}" type="datetime1">
              <a:rPr lang="en-US" smtClean="0"/>
              <a:t>9/18/2022</a:t>
            </a:fld>
            <a:endParaRPr lang="en-US" dirty="0"/>
          </a:p>
        </p:txBody>
      </p:sp>
      <p:sp>
        <p:nvSpPr>
          <p:cNvPr id="6" name="Slide Number Placeholder 5">
            <a:extLst>
              <a:ext uri="{FF2B5EF4-FFF2-40B4-BE49-F238E27FC236}">
                <a16:creationId xmlns:a16="http://schemas.microsoft.com/office/drawing/2014/main" id="{46950A59-130A-44A5-9168-67E5241BD61D}"/>
              </a:ext>
            </a:extLst>
          </p:cNvPr>
          <p:cNvSpPr>
            <a:spLocks noGrp="1"/>
          </p:cNvSpPr>
          <p:nvPr>
            <p:ph type="sldNum" sz="quarter" idx="12"/>
          </p:nvPr>
        </p:nvSpPr>
        <p:spPr/>
        <p:txBody>
          <a:bodyPr/>
          <a:lstStyle/>
          <a:p>
            <a:fld id="{E2D56C8B-F564-4051-AFED-A78F1C6A2F0E}" type="slidenum">
              <a:rPr lang="en-US" smtClean="0"/>
              <a:pPr/>
              <a:t>‹#›</a:t>
            </a:fld>
            <a:endParaRPr lang="en-US" dirty="0"/>
          </a:p>
        </p:txBody>
      </p:sp>
    </p:spTree>
    <p:extLst>
      <p:ext uri="{BB962C8B-B14F-4D97-AF65-F5344CB8AC3E}">
        <p14:creationId xmlns:p14="http://schemas.microsoft.com/office/powerpoint/2010/main" val="8663956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EB2BA44D-5463-4739-92DD-A12DF6D39EE3}"/>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007F5972-B8BD-4624-B605-5D7E30461D9B}"/>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D2B8D024-2002-4D1F-B2F4-818A3AE1C64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B81A1FD-4443-45CB-9625-00873E1F371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497D6C9-834D-47FE-A0C7-DB3B2E40CB9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C3995EF-AAAA-4FB8-8BC8-3C5C9D7667A2}"/>
              </a:ext>
            </a:extLst>
          </p:cNvPr>
          <p:cNvSpPr>
            <a:spLocks noGrp="1"/>
          </p:cNvSpPr>
          <p:nvPr>
            <p:ph type="dt" sz="half" idx="10"/>
          </p:nvPr>
        </p:nvSpPr>
        <p:spPr/>
        <p:txBody>
          <a:bodyPr/>
          <a:lstStyle/>
          <a:p>
            <a:fld id="{80D0AFF5-B04B-402F-A66D-73FFE55B90A5}" type="datetime1">
              <a:rPr lang="en-US" smtClean="0"/>
              <a:t>9/18/2022</a:t>
            </a:fld>
            <a:endParaRPr lang="en-US"/>
          </a:p>
        </p:txBody>
      </p:sp>
      <p:sp>
        <p:nvSpPr>
          <p:cNvPr id="7" name="Slide Number Placeholder 6">
            <a:extLst>
              <a:ext uri="{FF2B5EF4-FFF2-40B4-BE49-F238E27FC236}">
                <a16:creationId xmlns:a16="http://schemas.microsoft.com/office/drawing/2014/main" id="{91949A45-2D3F-45E0-9651-F2BB98073004}"/>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64040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7" name="Picture 6" descr="Icon&#10;&#10;This is TEA's E&amp;T logo.">
            <a:extLst>
              <a:ext uri="{FF2B5EF4-FFF2-40B4-BE49-F238E27FC236}">
                <a16:creationId xmlns:a16="http://schemas.microsoft.com/office/drawing/2014/main" id="{ED6DCFE0-29AE-4AD0-BD08-B81AC0B7E71B}"/>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6" name="Picture 5" descr="Icon.&#10;&#10;This is TEA's logo.">
            <a:extLst>
              <a:ext uri="{FF2B5EF4-FFF2-40B4-BE49-F238E27FC236}">
                <a16:creationId xmlns:a16="http://schemas.microsoft.com/office/drawing/2014/main" id="{AFD2FB0B-28F4-4754-AC40-6EB57E165198}"/>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4CCA1F59-10A0-43F6-9ED7-DE8CB1637F7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1E26DD3-E445-481B-9E2A-838E7F52ABB3}"/>
              </a:ext>
            </a:extLst>
          </p:cNvPr>
          <p:cNvSpPr>
            <a:spLocks noGrp="1"/>
          </p:cNvSpPr>
          <p:nvPr>
            <p:ph type="dt" sz="half" idx="10"/>
          </p:nvPr>
        </p:nvSpPr>
        <p:spPr/>
        <p:txBody>
          <a:bodyPr/>
          <a:lstStyle/>
          <a:p>
            <a:fld id="{4364A506-6889-4F7C-A35D-9173F655B112}" type="datetime1">
              <a:rPr lang="en-US" smtClean="0"/>
              <a:t>9/18/2022</a:t>
            </a:fld>
            <a:endParaRPr lang="en-US"/>
          </a:p>
        </p:txBody>
      </p:sp>
      <p:sp>
        <p:nvSpPr>
          <p:cNvPr id="5" name="Slide Number Placeholder 4">
            <a:extLst>
              <a:ext uri="{FF2B5EF4-FFF2-40B4-BE49-F238E27FC236}">
                <a16:creationId xmlns:a16="http://schemas.microsoft.com/office/drawing/2014/main" id="{C41E09D6-CB72-40FF-9BBA-2E736CEC53A9}"/>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28797603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B5FAF1F7-69D1-48B7-B507-F3B679B89092}"/>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D54A681B-39F8-4AF9-B518-FCFAA5D3B4FA}"/>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4F93258C-A373-4A72-8D76-37BF36B7DAC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EFB9538-CE15-4C63-AC84-5352E688E0D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803CD23-0AA9-4649-BC6F-AF45EB68A4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4ECAFE6-DED3-4180-88B3-AB1AF2AE9E8A}"/>
              </a:ext>
            </a:extLst>
          </p:cNvPr>
          <p:cNvSpPr>
            <a:spLocks noGrp="1"/>
          </p:cNvSpPr>
          <p:nvPr>
            <p:ph type="dt" sz="half" idx="10"/>
          </p:nvPr>
        </p:nvSpPr>
        <p:spPr/>
        <p:txBody>
          <a:bodyPr/>
          <a:lstStyle/>
          <a:p>
            <a:fld id="{1240BC81-90C7-4034-841A-62432A0701C4}" type="datetime1">
              <a:rPr lang="en-US" smtClean="0"/>
              <a:t>9/18/2022</a:t>
            </a:fld>
            <a:endParaRPr lang="en-US"/>
          </a:p>
        </p:txBody>
      </p:sp>
      <p:sp>
        <p:nvSpPr>
          <p:cNvPr id="7" name="Slide Number Placeholder 6">
            <a:extLst>
              <a:ext uri="{FF2B5EF4-FFF2-40B4-BE49-F238E27FC236}">
                <a16:creationId xmlns:a16="http://schemas.microsoft.com/office/drawing/2014/main" id="{3EAEF087-6D43-4EAE-9B1B-CEB9C3AC5C11}"/>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3391490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E0EEECB2-4807-41E3-B2D3-991EE641007B}"/>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25C4FCAD-219B-4F99-A83E-DA5126B57DE5}"/>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5AAB400A-C810-4485-886B-EBBC5DD6CC7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61684E1D-A07E-43A4-9566-78EC65CF04B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ADBF354A-AAF6-40F3-97E9-EACCAB858EB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D092308-4B6B-4A76-A68F-BE16B13E121A}"/>
              </a:ext>
            </a:extLst>
          </p:cNvPr>
          <p:cNvSpPr>
            <a:spLocks noGrp="1"/>
          </p:cNvSpPr>
          <p:nvPr>
            <p:ph type="dt" sz="half" idx="10"/>
          </p:nvPr>
        </p:nvSpPr>
        <p:spPr/>
        <p:txBody>
          <a:bodyPr/>
          <a:lstStyle/>
          <a:p>
            <a:fld id="{0194B010-5EDA-416E-B5AB-AEBD814FEF92}" type="datetime1">
              <a:rPr lang="en-US" smtClean="0"/>
              <a:t>9/18/2022</a:t>
            </a:fld>
            <a:endParaRPr lang="en-US"/>
          </a:p>
        </p:txBody>
      </p:sp>
      <p:sp>
        <p:nvSpPr>
          <p:cNvPr id="7" name="Slide Number Placeholder 6">
            <a:extLst>
              <a:ext uri="{FF2B5EF4-FFF2-40B4-BE49-F238E27FC236}">
                <a16:creationId xmlns:a16="http://schemas.microsoft.com/office/drawing/2014/main" id="{A07AFB43-88EB-4A6C-AB03-405A03ABEC82}"/>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381919770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E9192C8-5397-4FC4-85A7-05CFC353289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2EC8621-C852-47CD-A118-D24B6AC3DDC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1DE9C7-0406-4194-A53C-344BADD62F8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D86C95F-23BA-4339-9C8C-C90EF96A4C91}" type="datetime1">
              <a:rPr lang="en-US" smtClean="0"/>
              <a:t>9/18/2022</a:t>
            </a:fld>
            <a:endParaRPr lang="en-US"/>
          </a:p>
        </p:txBody>
      </p:sp>
      <p:sp>
        <p:nvSpPr>
          <p:cNvPr id="5" name="Footer Placeholder 4">
            <a:extLst>
              <a:ext uri="{FF2B5EF4-FFF2-40B4-BE49-F238E27FC236}">
                <a16:creationId xmlns:a16="http://schemas.microsoft.com/office/drawing/2014/main" id="{280D1EDA-3944-4DA5-A7A2-1ACE2385338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1.02: Exploring the Impact of Teachers on Student Lives</a:t>
            </a:r>
          </a:p>
        </p:txBody>
      </p:sp>
      <p:sp>
        <p:nvSpPr>
          <p:cNvPr id="6" name="Slide Number Placeholder 5">
            <a:extLst>
              <a:ext uri="{FF2B5EF4-FFF2-40B4-BE49-F238E27FC236}">
                <a16:creationId xmlns:a16="http://schemas.microsoft.com/office/drawing/2014/main" id="{55111E65-8042-49F9-8B63-5DF8961B324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2D56C8B-F564-4051-AFED-A78F1C6A2F0E}" type="slidenum">
              <a:rPr lang="en-US" smtClean="0"/>
              <a:t>‹#›</a:t>
            </a:fld>
            <a:endParaRPr lang="en-US"/>
          </a:p>
        </p:txBody>
      </p:sp>
    </p:spTree>
    <p:extLst>
      <p:ext uri="{BB962C8B-B14F-4D97-AF65-F5344CB8AC3E}">
        <p14:creationId xmlns:p14="http://schemas.microsoft.com/office/powerpoint/2010/main" val="39550774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4" r:id="rId4"/>
    <p:sldLayoutId id="2147483656" r:id="rId5"/>
    <p:sldLayoutId id="2147483657" r:id="rId6"/>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hyperlink" Target="https://drive.google.com/file/d/1lHi5hQwbWuIhCER7G3hNn8DHZkA-zwGO/view?usp=sharing"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FCF5BD-F8FF-4A67-A8B6-EBB21E79279B}"/>
              </a:ext>
            </a:extLst>
          </p:cNvPr>
          <p:cNvSpPr>
            <a:spLocks noGrp="1"/>
          </p:cNvSpPr>
          <p:nvPr>
            <p:ph type="ctrTitle"/>
          </p:nvPr>
        </p:nvSpPr>
        <p:spPr>
          <a:xfrm>
            <a:off x="0" y="6487700"/>
            <a:ext cx="9144000" cy="370300"/>
          </a:xfrm>
        </p:spPr>
        <p:txBody>
          <a:bodyPr>
            <a:normAutofit/>
          </a:bodyPr>
          <a:lstStyle/>
          <a:p>
            <a:pPr algn="l"/>
            <a:r>
              <a:rPr lang="en-US" sz="1800" dirty="0"/>
              <a:t>Instructional Practices| Unit 6: Instructional Alignment| Lesson 6.09</a:t>
            </a:r>
          </a:p>
        </p:txBody>
      </p:sp>
      <p:sp>
        <p:nvSpPr>
          <p:cNvPr id="3" name="Subtitle 2">
            <a:extLst>
              <a:ext uri="{FF2B5EF4-FFF2-40B4-BE49-F238E27FC236}">
                <a16:creationId xmlns:a16="http://schemas.microsoft.com/office/drawing/2014/main" id="{E0FBD98F-3A67-498E-8174-652040DD7B60}"/>
              </a:ext>
            </a:extLst>
          </p:cNvPr>
          <p:cNvSpPr>
            <a:spLocks noGrp="1"/>
          </p:cNvSpPr>
          <p:nvPr>
            <p:ph type="subTitle" idx="1"/>
          </p:nvPr>
        </p:nvSpPr>
        <p:spPr>
          <a:xfrm>
            <a:off x="1338469" y="2321719"/>
            <a:ext cx="9515061" cy="2214561"/>
          </a:xfrm>
        </p:spPr>
        <p:txBody>
          <a:bodyPr>
            <a:normAutofit/>
          </a:bodyPr>
          <a:lstStyle/>
          <a:p>
            <a:r>
              <a:rPr lang="en-US" sz="6000" dirty="0"/>
              <a:t>Scaffolding a Lesson | Modeling, </a:t>
            </a:r>
            <a:r>
              <a:rPr lang="en-US" sz="6000"/>
              <a:t>Part II</a:t>
            </a:r>
            <a:endParaRPr lang="en-US" sz="6000" dirty="0"/>
          </a:p>
        </p:txBody>
      </p:sp>
    </p:spTree>
    <p:extLst>
      <p:ext uri="{BB962C8B-B14F-4D97-AF65-F5344CB8AC3E}">
        <p14:creationId xmlns:p14="http://schemas.microsoft.com/office/powerpoint/2010/main" val="14822770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A3C58C-DC1D-4BDF-8706-48D86266F7FD}"/>
              </a:ext>
            </a:extLst>
          </p:cNvPr>
          <p:cNvSpPr>
            <a:spLocks noGrp="1"/>
          </p:cNvSpPr>
          <p:nvPr>
            <p:ph type="title"/>
          </p:nvPr>
        </p:nvSpPr>
        <p:spPr/>
        <p:txBody>
          <a:bodyPr/>
          <a:lstStyle/>
          <a:p>
            <a:r>
              <a:rPr lang="en-US" dirty="0"/>
              <a:t>TEKS Standards &amp; Objectives</a:t>
            </a:r>
          </a:p>
        </p:txBody>
      </p:sp>
      <p:sp>
        <p:nvSpPr>
          <p:cNvPr id="3" name="Content Placeholder 2">
            <a:extLst>
              <a:ext uri="{FF2B5EF4-FFF2-40B4-BE49-F238E27FC236}">
                <a16:creationId xmlns:a16="http://schemas.microsoft.com/office/drawing/2014/main" id="{8CE08C7F-0286-423B-92F7-DEB89F31111A}"/>
              </a:ext>
            </a:extLst>
          </p:cNvPr>
          <p:cNvSpPr>
            <a:spLocks noGrp="1"/>
          </p:cNvSpPr>
          <p:nvPr>
            <p:ph idx="1"/>
          </p:nvPr>
        </p:nvSpPr>
        <p:spPr/>
        <p:txBody>
          <a:bodyPr/>
          <a:lstStyle/>
          <a:p>
            <a:pPr marL="0" indent="0">
              <a:buNone/>
            </a:pPr>
            <a:r>
              <a:rPr lang="en-US" dirty="0"/>
              <a:t>TEKS 3B, 6A, 6C, 6F</a:t>
            </a:r>
          </a:p>
          <a:p>
            <a:pPr marL="0" indent="0">
              <a:buNone/>
            </a:pPr>
            <a:endParaRPr lang="en-US" dirty="0"/>
          </a:p>
          <a:p>
            <a:pPr marL="0" indent="0">
              <a:buNone/>
            </a:pPr>
            <a:r>
              <a:rPr lang="en-US" dirty="0"/>
              <a:t>The student will:</a:t>
            </a:r>
          </a:p>
          <a:p>
            <a:r>
              <a:rPr lang="en-US" dirty="0"/>
              <a:t>Define and describe characteristics of effective modeling</a:t>
            </a:r>
          </a:p>
          <a:p>
            <a:r>
              <a:rPr lang="en-US" dirty="0"/>
              <a:t>Identify and apply examples of modeling within a lesson</a:t>
            </a:r>
          </a:p>
          <a:p>
            <a:r>
              <a:rPr lang="en-US" dirty="0"/>
              <a:t>Evaluate the modeling within a lesson based on characteristics of effective modeling</a:t>
            </a:r>
          </a:p>
          <a:p>
            <a:pPr marL="0" indent="0">
              <a:buNone/>
            </a:pPr>
            <a:endParaRPr lang="en-US" dirty="0"/>
          </a:p>
        </p:txBody>
      </p:sp>
      <p:sp>
        <p:nvSpPr>
          <p:cNvPr id="4" name="Slide Number Placeholder 3">
            <a:extLst>
              <a:ext uri="{FF2B5EF4-FFF2-40B4-BE49-F238E27FC236}">
                <a16:creationId xmlns:a16="http://schemas.microsoft.com/office/drawing/2014/main" id="{FD0EEDDD-3DDC-4909-AF99-60870B25C0CC}"/>
              </a:ext>
            </a:extLst>
          </p:cNvPr>
          <p:cNvSpPr>
            <a:spLocks noGrp="1"/>
          </p:cNvSpPr>
          <p:nvPr>
            <p:ph type="sldNum" sz="quarter" idx="12"/>
          </p:nvPr>
        </p:nvSpPr>
        <p:spPr/>
        <p:txBody>
          <a:bodyPr/>
          <a:lstStyle/>
          <a:p>
            <a:fld id="{E2D56C8B-F564-4051-AFED-A78F1C6A2F0E}" type="slidenum">
              <a:rPr lang="en-US" smtClean="0"/>
              <a:pPr/>
              <a:t>2</a:t>
            </a:fld>
            <a:endParaRPr lang="en-US" dirty="0"/>
          </a:p>
        </p:txBody>
      </p:sp>
    </p:spTree>
    <p:extLst>
      <p:ext uri="{BB962C8B-B14F-4D97-AF65-F5344CB8AC3E}">
        <p14:creationId xmlns:p14="http://schemas.microsoft.com/office/powerpoint/2010/main" val="27725271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3F004-EE4F-44F2-AA0E-56B8CFF11342}"/>
              </a:ext>
            </a:extLst>
          </p:cNvPr>
          <p:cNvSpPr>
            <a:spLocks noGrp="1"/>
          </p:cNvSpPr>
          <p:nvPr>
            <p:ph type="title"/>
          </p:nvPr>
        </p:nvSpPr>
        <p:spPr/>
        <p:txBody>
          <a:bodyPr/>
          <a:lstStyle/>
          <a:p>
            <a:r>
              <a:rPr lang="en-US" dirty="0"/>
              <a:t>Bellringer</a:t>
            </a:r>
          </a:p>
        </p:txBody>
      </p:sp>
      <p:sp>
        <p:nvSpPr>
          <p:cNvPr id="3" name="Content Placeholder 2">
            <a:extLst>
              <a:ext uri="{FF2B5EF4-FFF2-40B4-BE49-F238E27FC236}">
                <a16:creationId xmlns:a16="http://schemas.microsoft.com/office/drawing/2014/main" id="{392BE286-77A6-49DD-B15D-7E4718D52FE7}"/>
              </a:ext>
            </a:extLst>
          </p:cNvPr>
          <p:cNvSpPr>
            <a:spLocks noGrp="1"/>
          </p:cNvSpPr>
          <p:nvPr>
            <p:ph idx="1"/>
          </p:nvPr>
        </p:nvSpPr>
        <p:spPr/>
        <p:txBody>
          <a:bodyPr/>
          <a:lstStyle/>
          <a:p>
            <a:pPr marL="0" indent="0">
              <a:buNone/>
            </a:pPr>
            <a:r>
              <a:rPr lang="en-US" dirty="0">
                <a:effectLst/>
                <a:latin typeface="Calibri" panose="020F0502020204030204" pitchFamily="34" charset="0"/>
                <a:ea typeface="Calibri" panose="020F0502020204030204" pitchFamily="34" charset="0"/>
                <a:cs typeface="Times New Roman" panose="02020603050405020304" pitchFamily="18" charset="0"/>
              </a:rPr>
              <a:t>Look at each lesson example below and determine if it is an example of the “I do”, “We do”, or “You do” portion of the lesson. Write if it is “I do”, “we do”, or “you do” beside the example number.</a:t>
            </a:r>
          </a:p>
          <a:p>
            <a:pPr marL="0" indent="0">
              <a:buNone/>
            </a:pPr>
            <a:endParaRPr lang="en-US" dirty="0">
              <a:highlight>
                <a:srgbClr val="FFFF00"/>
              </a:highlight>
            </a:endParaRPr>
          </a:p>
        </p:txBody>
      </p:sp>
      <p:sp>
        <p:nvSpPr>
          <p:cNvPr id="4" name="Slide Number Placeholder 3">
            <a:extLst>
              <a:ext uri="{FF2B5EF4-FFF2-40B4-BE49-F238E27FC236}">
                <a16:creationId xmlns:a16="http://schemas.microsoft.com/office/drawing/2014/main" id="{2DC7D18A-F106-4CA1-A59B-DE4084E585CF}"/>
              </a:ext>
            </a:extLst>
          </p:cNvPr>
          <p:cNvSpPr>
            <a:spLocks noGrp="1"/>
          </p:cNvSpPr>
          <p:nvPr>
            <p:ph type="sldNum" sz="quarter" idx="12"/>
          </p:nvPr>
        </p:nvSpPr>
        <p:spPr/>
        <p:txBody>
          <a:bodyPr/>
          <a:lstStyle/>
          <a:p>
            <a:fld id="{E2D56C8B-F564-4051-AFED-A78F1C6A2F0E}" type="slidenum">
              <a:rPr lang="en-US" smtClean="0"/>
              <a:pPr/>
              <a:t>3</a:t>
            </a:fld>
            <a:endParaRPr lang="en-US" dirty="0"/>
          </a:p>
        </p:txBody>
      </p:sp>
    </p:spTree>
    <p:extLst>
      <p:ext uri="{BB962C8B-B14F-4D97-AF65-F5344CB8AC3E}">
        <p14:creationId xmlns:p14="http://schemas.microsoft.com/office/powerpoint/2010/main" val="40713056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0E203D-F288-408D-B325-66954BDD332E}"/>
              </a:ext>
            </a:extLst>
          </p:cNvPr>
          <p:cNvSpPr>
            <a:spLocks noGrp="1"/>
          </p:cNvSpPr>
          <p:nvPr>
            <p:ph type="title"/>
          </p:nvPr>
        </p:nvSpPr>
        <p:spPr/>
        <p:txBody>
          <a:bodyPr/>
          <a:lstStyle/>
          <a:p>
            <a:r>
              <a:rPr lang="en-US" dirty="0"/>
              <a:t>Vocabulary</a:t>
            </a:r>
          </a:p>
        </p:txBody>
      </p:sp>
      <p:sp>
        <p:nvSpPr>
          <p:cNvPr id="3" name="Content Placeholder 2">
            <a:extLst>
              <a:ext uri="{FF2B5EF4-FFF2-40B4-BE49-F238E27FC236}">
                <a16:creationId xmlns:a16="http://schemas.microsoft.com/office/drawing/2014/main" id="{AE13FDB6-F093-4D9E-B14E-3D7DB894C34C}"/>
              </a:ext>
            </a:extLst>
          </p:cNvPr>
          <p:cNvSpPr>
            <a:spLocks noGrp="1"/>
          </p:cNvSpPr>
          <p:nvPr>
            <p:ph idx="1"/>
          </p:nvPr>
        </p:nvSpPr>
        <p:spPr/>
        <p:txBody>
          <a:bodyPr/>
          <a:lstStyle/>
          <a:p>
            <a:pPr marL="0" indent="0">
              <a:buNone/>
            </a:pPr>
            <a:r>
              <a:rPr lang="en-US" dirty="0"/>
              <a:t>Modeling: An instructional strategy where the teacher demonstrates how to perform a skill while describing each step with a rationale.</a:t>
            </a:r>
          </a:p>
        </p:txBody>
      </p:sp>
      <p:sp>
        <p:nvSpPr>
          <p:cNvPr id="4" name="Slide Number Placeholder 3">
            <a:extLst>
              <a:ext uri="{FF2B5EF4-FFF2-40B4-BE49-F238E27FC236}">
                <a16:creationId xmlns:a16="http://schemas.microsoft.com/office/drawing/2014/main" id="{F8BAFE7B-549A-4E98-93BA-74C837CF231D}"/>
              </a:ext>
            </a:extLst>
          </p:cNvPr>
          <p:cNvSpPr>
            <a:spLocks noGrp="1"/>
          </p:cNvSpPr>
          <p:nvPr>
            <p:ph type="sldNum" sz="quarter" idx="12"/>
          </p:nvPr>
        </p:nvSpPr>
        <p:spPr/>
        <p:txBody>
          <a:bodyPr/>
          <a:lstStyle/>
          <a:p>
            <a:fld id="{E2D56C8B-F564-4051-AFED-A78F1C6A2F0E}" type="slidenum">
              <a:rPr lang="en-US" smtClean="0"/>
              <a:pPr/>
              <a:t>4</a:t>
            </a:fld>
            <a:endParaRPr lang="en-US" dirty="0"/>
          </a:p>
        </p:txBody>
      </p:sp>
    </p:spTree>
    <p:extLst>
      <p:ext uri="{BB962C8B-B14F-4D97-AF65-F5344CB8AC3E}">
        <p14:creationId xmlns:p14="http://schemas.microsoft.com/office/powerpoint/2010/main" val="30542163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E4C21D4F-8384-43A3-B624-EC5DF85C5417}"/>
              </a:ext>
            </a:extLst>
          </p:cNvPr>
          <p:cNvPicPr>
            <a:picLocks noGrp="1" noChangeAspect="1"/>
          </p:cNvPicPr>
          <p:nvPr>
            <p:ph idx="1"/>
          </p:nvPr>
        </p:nvPicPr>
        <p:blipFill>
          <a:blip r:embed="rId2"/>
          <a:stretch>
            <a:fillRect/>
          </a:stretch>
        </p:blipFill>
        <p:spPr>
          <a:xfrm>
            <a:off x="3064468" y="1098340"/>
            <a:ext cx="6063063" cy="5258010"/>
          </a:xfrm>
          <a:prstGeom prst="rect">
            <a:avLst/>
          </a:prstGeom>
          <a:noFill/>
        </p:spPr>
      </p:pic>
      <p:sp>
        <p:nvSpPr>
          <p:cNvPr id="2" name="Title 1">
            <a:extLst>
              <a:ext uri="{FF2B5EF4-FFF2-40B4-BE49-F238E27FC236}">
                <a16:creationId xmlns:a16="http://schemas.microsoft.com/office/drawing/2014/main" id="{D7836664-70C0-47BA-9BFF-496A04EBBFDE}"/>
              </a:ext>
            </a:extLst>
          </p:cNvPr>
          <p:cNvSpPr>
            <a:spLocks noGrp="1"/>
          </p:cNvSpPr>
          <p:nvPr>
            <p:ph type="title"/>
          </p:nvPr>
        </p:nvSpPr>
        <p:spPr>
          <a:xfrm>
            <a:off x="125279" y="318630"/>
            <a:ext cx="10515600" cy="1325563"/>
          </a:xfrm>
        </p:spPr>
        <p:txBody>
          <a:bodyPr anchor="ctr">
            <a:normAutofit/>
          </a:bodyPr>
          <a:lstStyle/>
          <a:p>
            <a:r>
              <a:rPr lang="en-US" dirty="0"/>
              <a:t>Gradual Release of Responsibility</a:t>
            </a:r>
          </a:p>
        </p:txBody>
      </p:sp>
      <p:sp>
        <p:nvSpPr>
          <p:cNvPr id="4" name="Slide Number Placeholder 3">
            <a:extLst>
              <a:ext uri="{FF2B5EF4-FFF2-40B4-BE49-F238E27FC236}">
                <a16:creationId xmlns:a16="http://schemas.microsoft.com/office/drawing/2014/main" id="{F767700B-954E-42AD-AD69-9CC1C5B510A5}"/>
              </a:ext>
            </a:extLst>
          </p:cNvPr>
          <p:cNvSpPr>
            <a:spLocks noGrp="1"/>
          </p:cNvSpPr>
          <p:nvPr>
            <p:ph type="sldNum" sz="quarter" idx="12"/>
          </p:nvPr>
        </p:nvSpPr>
        <p:spPr>
          <a:xfrm>
            <a:off x="8610600" y="6356350"/>
            <a:ext cx="2743200" cy="365125"/>
          </a:xfrm>
        </p:spPr>
        <p:txBody>
          <a:bodyPr anchor="ctr">
            <a:normAutofit/>
          </a:bodyPr>
          <a:lstStyle/>
          <a:p>
            <a:pPr>
              <a:spcAft>
                <a:spcPts val="600"/>
              </a:spcAft>
            </a:pPr>
            <a:fld id="{E2D56C8B-F564-4051-AFED-A78F1C6A2F0E}" type="slidenum">
              <a:rPr lang="en-US" smtClean="0"/>
              <a:pPr>
                <a:spcAft>
                  <a:spcPts val="600"/>
                </a:spcAft>
              </a:pPr>
              <a:t>5</a:t>
            </a:fld>
            <a:endParaRPr lang="en-US"/>
          </a:p>
        </p:txBody>
      </p:sp>
    </p:spTree>
    <p:extLst>
      <p:ext uri="{BB962C8B-B14F-4D97-AF65-F5344CB8AC3E}">
        <p14:creationId xmlns:p14="http://schemas.microsoft.com/office/powerpoint/2010/main" val="34931091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1ECDB3-7F62-4124-A1E9-E48D699D2427}"/>
              </a:ext>
            </a:extLst>
          </p:cNvPr>
          <p:cNvSpPr>
            <a:spLocks noGrp="1"/>
          </p:cNvSpPr>
          <p:nvPr>
            <p:ph type="title"/>
          </p:nvPr>
        </p:nvSpPr>
        <p:spPr>
          <a:xfrm>
            <a:off x="838200" y="500062"/>
            <a:ext cx="10515600" cy="1325563"/>
          </a:xfrm>
        </p:spPr>
        <p:txBody>
          <a:bodyPr/>
          <a:lstStyle/>
          <a:p>
            <a:r>
              <a:rPr lang="en-US" dirty="0"/>
              <a:t>Success Criteria for Successful Modeling</a:t>
            </a:r>
          </a:p>
        </p:txBody>
      </p:sp>
      <p:sp>
        <p:nvSpPr>
          <p:cNvPr id="3" name="Content Placeholder 2">
            <a:extLst>
              <a:ext uri="{FF2B5EF4-FFF2-40B4-BE49-F238E27FC236}">
                <a16:creationId xmlns:a16="http://schemas.microsoft.com/office/drawing/2014/main" id="{012C84E3-4C09-4253-8964-13B9C34E5E48}"/>
              </a:ext>
            </a:extLst>
          </p:cNvPr>
          <p:cNvSpPr>
            <a:spLocks noGrp="1"/>
          </p:cNvSpPr>
          <p:nvPr>
            <p:ph idx="1"/>
          </p:nvPr>
        </p:nvSpPr>
        <p:spPr/>
        <p:txBody>
          <a:bodyPr>
            <a:normAutofit/>
          </a:bodyPr>
          <a:lstStyle/>
          <a:p>
            <a:pPr marL="742950" marR="0" lvl="1" indent="-285750">
              <a:spcBef>
                <a:spcPts val="600"/>
              </a:spcBef>
              <a:spcAft>
                <a:spcPts val="0"/>
              </a:spcAft>
              <a:buFont typeface="Symbol" panose="05050102010706020507" pitchFamily="18" charset="2"/>
              <a:buChar char=""/>
            </a:pPr>
            <a:r>
              <a:rPr lang="en-US" sz="2800" dirty="0">
                <a:effectLst/>
                <a:latin typeface="Calibri" panose="020F0502020204030204" pitchFamily="34" charset="0"/>
                <a:ea typeface="Calibri" panose="020F0502020204030204" pitchFamily="34" charset="0"/>
                <a:cs typeface="Times New Roman" panose="02020603050405020304" pitchFamily="18" charset="0"/>
              </a:rPr>
              <a:t>Break down the skill into learnable steps</a:t>
            </a:r>
          </a:p>
          <a:p>
            <a:pPr marL="742950" marR="0" lvl="1" indent="-285750">
              <a:spcBef>
                <a:spcPts val="0"/>
              </a:spcBef>
              <a:spcAft>
                <a:spcPts val="0"/>
              </a:spcAft>
              <a:buFont typeface="Symbol" panose="05050102010706020507" pitchFamily="18" charset="2"/>
              <a:buChar char=""/>
            </a:pPr>
            <a:r>
              <a:rPr lang="en-US" sz="2800" dirty="0">
                <a:effectLst/>
                <a:latin typeface="Calibri" panose="020F0502020204030204" pitchFamily="34" charset="0"/>
                <a:ea typeface="Calibri" panose="020F0502020204030204" pitchFamily="34" charset="0"/>
                <a:cs typeface="Times New Roman" panose="02020603050405020304" pitchFamily="18" charset="0"/>
              </a:rPr>
              <a:t>Visually demonstrate the steps as students watch</a:t>
            </a:r>
          </a:p>
          <a:p>
            <a:pPr marL="742950" marR="0" lvl="1" indent="-285750">
              <a:spcBef>
                <a:spcPts val="0"/>
              </a:spcBef>
              <a:spcAft>
                <a:spcPts val="0"/>
              </a:spcAft>
              <a:buFont typeface="Symbol" panose="05050102010706020507" pitchFamily="18" charset="2"/>
              <a:buChar char=""/>
            </a:pPr>
            <a:r>
              <a:rPr lang="en-US" sz="2800" dirty="0">
                <a:effectLst/>
                <a:latin typeface="Calibri" panose="020F0502020204030204" pitchFamily="34" charset="0"/>
                <a:ea typeface="Calibri" panose="020F0502020204030204" pitchFamily="34" charset="0"/>
                <a:cs typeface="Times New Roman" panose="02020603050405020304" pitchFamily="18" charset="0"/>
              </a:rPr>
              <a:t>Think Aloud = Verbally explain what the student is seeing as you model</a:t>
            </a:r>
          </a:p>
          <a:p>
            <a:pPr marL="742950" marR="0" lvl="1" indent="-285750">
              <a:spcBef>
                <a:spcPts val="0"/>
              </a:spcBef>
              <a:spcAft>
                <a:spcPts val="0"/>
              </a:spcAft>
              <a:buFont typeface="Symbol" panose="05050102010706020507" pitchFamily="18" charset="2"/>
              <a:buChar char=""/>
            </a:pPr>
            <a:r>
              <a:rPr lang="en-US" sz="2800" dirty="0">
                <a:effectLst/>
                <a:latin typeface="Calibri" panose="020F0502020204030204" pitchFamily="34" charset="0"/>
                <a:ea typeface="Calibri" panose="020F0502020204030204" pitchFamily="34" charset="0"/>
                <a:cs typeface="Times New Roman" panose="02020603050405020304" pitchFamily="18" charset="0"/>
              </a:rPr>
              <a:t>Make important connections between the steps</a:t>
            </a:r>
          </a:p>
          <a:p>
            <a:pPr marL="742950" marR="0" lvl="1" indent="-285750">
              <a:spcBef>
                <a:spcPts val="0"/>
              </a:spcBef>
              <a:spcAft>
                <a:spcPts val="0"/>
              </a:spcAft>
              <a:buFont typeface="Symbol" panose="05050102010706020507" pitchFamily="18" charset="2"/>
              <a:buChar char=""/>
            </a:pPr>
            <a:r>
              <a:rPr lang="en-US" sz="2800" dirty="0">
                <a:effectLst/>
                <a:latin typeface="Calibri" panose="020F0502020204030204" pitchFamily="34" charset="0"/>
                <a:ea typeface="Calibri" panose="020F0502020204030204" pitchFamily="34" charset="0"/>
                <a:cs typeface="Times New Roman" panose="02020603050405020304" pitchFamily="18" charset="0"/>
              </a:rPr>
              <a:t>Check for student understanding along the way and re-model steps as necessary</a:t>
            </a:r>
          </a:p>
          <a:p>
            <a:pPr marL="742950" marR="0" lvl="1" indent="-285750">
              <a:spcBef>
                <a:spcPts val="0"/>
              </a:spcBef>
              <a:spcAft>
                <a:spcPts val="0"/>
              </a:spcAft>
              <a:buFont typeface="Symbol" panose="05050102010706020507" pitchFamily="18" charset="2"/>
              <a:buChar char=""/>
            </a:pPr>
            <a:r>
              <a:rPr lang="en-US" sz="2800" dirty="0">
                <a:effectLst/>
                <a:latin typeface="Calibri" panose="020F0502020204030204" pitchFamily="34" charset="0"/>
                <a:ea typeface="Calibri" panose="020F0502020204030204" pitchFamily="34" charset="0"/>
                <a:cs typeface="Times New Roman" panose="02020603050405020304" pitchFamily="18" charset="0"/>
              </a:rPr>
              <a:t>Ensure pacing is just the right speed</a:t>
            </a:r>
          </a:p>
          <a:p>
            <a:pPr marL="742950" marR="0" lvl="1" indent="-285750">
              <a:spcBef>
                <a:spcPts val="0"/>
              </a:spcBef>
              <a:spcAft>
                <a:spcPts val="600"/>
              </a:spcAft>
              <a:buFont typeface="Symbol" panose="05050102010706020507" pitchFamily="18" charset="2"/>
              <a:buChar char=""/>
            </a:pPr>
            <a:r>
              <a:rPr lang="en-US" sz="2800" dirty="0">
                <a:effectLst/>
                <a:latin typeface="Calibri" panose="020F0502020204030204" pitchFamily="34" charset="0"/>
                <a:ea typeface="Calibri" panose="020F0502020204030204" pitchFamily="34" charset="0"/>
                <a:cs typeface="Times New Roman" panose="02020603050405020304" pitchFamily="18" charset="0"/>
              </a:rPr>
              <a:t>Allow opportunities for students to ask questions and get clarification </a:t>
            </a:r>
          </a:p>
          <a:p>
            <a:pPr marL="0" indent="0">
              <a:buNone/>
            </a:pPr>
            <a:endParaRPr lang="en-US" dirty="0"/>
          </a:p>
        </p:txBody>
      </p:sp>
      <p:sp>
        <p:nvSpPr>
          <p:cNvPr id="4" name="Slide Number Placeholder 3">
            <a:extLst>
              <a:ext uri="{FF2B5EF4-FFF2-40B4-BE49-F238E27FC236}">
                <a16:creationId xmlns:a16="http://schemas.microsoft.com/office/drawing/2014/main" id="{497159D5-CAC3-47F8-8492-7D28C15A3A58}"/>
              </a:ext>
            </a:extLst>
          </p:cNvPr>
          <p:cNvSpPr>
            <a:spLocks noGrp="1"/>
          </p:cNvSpPr>
          <p:nvPr>
            <p:ph type="sldNum" sz="quarter" idx="12"/>
          </p:nvPr>
        </p:nvSpPr>
        <p:spPr/>
        <p:txBody>
          <a:bodyPr/>
          <a:lstStyle/>
          <a:p>
            <a:fld id="{E2D56C8B-F564-4051-AFED-A78F1C6A2F0E}" type="slidenum">
              <a:rPr lang="en-US" smtClean="0"/>
              <a:pPr/>
              <a:t>6</a:t>
            </a:fld>
            <a:endParaRPr lang="en-US" dirty="0"/>
          </a:p>
        </p:txBody>
      </p:sp>
    </p:spTree>
    <p:extLst>
      <p:ext uri="{BB962C8B-B14F-4D97-AF65-F5344CB8AC3E}">
        <p14:creationId xmlns:p14="http://schemas.microsoft.com/office/powerpoint/2010/main" val="11639316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DAC820-49EE-4F41-8B1F-B9E33FF6BE24}"/>
              </a:ext>
            </a:extLst>
          </p:cNvPr>
          <p:cNvSpPr>
            <a:spLocks noGrp="1"/>
          </p:cNvSpPr>
          <p:nvPr>
            <p:ph type="title"/>
          </p:nvPr>
        </p:nvSpPr>
        <p:spPr>
          <a:xfrm>
            <a:off x="838200" y="500062"/>
            <a:ext cx="10515600" cy="1325563"/>
          </a:xfrm>
        </p:spPr>
        <p:txBody>
          <a:bodyPr/>
          <a:lstStyle/>
          <a:p>
            <a:r>
              <a:rPr lang="en-US" dirty="0"/>
              <a:t>Video: (17:05-21:40)</a:t>
            </a:r>
          </a:p>
        </p:txBody>
      </p:sp>
      <p:sp>
        <p:nvSpPr>
          <p:cNvPr id="3" name="Content Placeholder 2">
            <a:extLst>
              <a:ext uri="{FF2B5EF4-FFF2-40B4-BE49-F238E27FC236}">
                <a16:creationId xmlns:a16="http://schemas.microsoft.com/office/drawing/2014/main" id="{79FFCA46-4155-4484-8350-F1E0B95F6088}"/>
              </a:ext>
            </a:extLst>
          </p:cNvPr>
          <p:cNvSpPr>
            <a:spLocks noGrp="1"/>
          </p:cNvSpPr>
          <p:nvPr>
            <p:ph idx="1"/>
          </p:nvPr>
        </p:nvSpPr>
        <p:spPr/>
        <p:txBody>
          <a:bodyPr>
            <a:normAutofit/>
          </a:bodyPr>
          <a:lstStyle/>
          <a:p>
            <a:pPr marL="0" indent="0">
              <a:buNone/>
            </a:pPr>
            <a:r>
              <a:rPr lang="en-US" u="sng" dirty="0">
                <a:solidFill>
                  <a:srgbClr val="0D6CB9"/>
                </a:solidFill>
                <a:effectLst/>
                <a:latin typeface="Calibri" panose="020F0502020204030204" pitchFamily="34" charset="0"/>
                <a:ea typeface="Calibri" panose="020F0502020204030204" pitchFamily="34" charset="0"/>
                <a:cs typeface="Times New Roman" panose="02020603050405020304" pitchFamily="18" charset="0"/>
                <a:hlinkClick r:id="rId2"/>
              </a:rPr>
              <a:t>https://drive.google.com/file/d/1lHi5hQwbWuIhCER7G3hNn8DHZkA-zwGO/view?usp=sharing</a:t>
            </a:r>
            <a:r>
              <a:rPr lang="en-US" dirty="0">
                <a:effectLst/>
                <a:latin typeface="Calibri" panose="020F0502020204030204" pitchFamily="34" charset="0"/>
                <a:ea typeface="Calibri" panose="020F0502020204030204" pitchFamily="34" charset="0"/>
                <a:cs typeface="Times New Roman" panose="02020603050405020304" pitchFamily="18" charset="0"/>
              </a:rPr>
              <a:t> </a:t>
            </a:r>
            <a:endParaRPr lang="en-US" sz="4000" dirty="0"/>
          </a:p>
        </p:txBody>
      </p:sp>
      <p:sp>
        <p:nvSpPr>
          <p:cNvPr id="4" name="Slide Number Placeholder 3">
            <a:extLst>
              <a:ext uri="{FF2B5EF4-FFF2-40B4-BE49-F238E27FC236}">
                <a16:creationId xmlns:a16="http://schemas.microsoft.com/office/drawing/2014/main" id="{3E0C1FB4-016B-4122-B211-50411DB9BA9F}"/>
              </a:ext>
            </a:extLst>
          </p:cNvPr>
          <p:cNvSpPr>
            <a:spLocks noGrp="1"/>
          </p:cNvSpPr>
          <p:nvPr>
            <p:ph type="sldNum" sz="quarter" idx="12"/>
          </p:nvPr>
        </p:nvSpPr>
        <p:spPr/>
        <p:txBody>
          <a:bodyPr/>
          <a:lstStyle/>
          <a:p>
            <a:fld id="{E2D56C8B-F564-4051-AFED-A78F1C6A2F0E}" type="slidenum">
              <a:rPr lang="en-US" smtClean="0"/>
              <a:pPr/>
              <a:t>7</a:t>
            </a:fld>
            <a:endParaRPr lang="en-US" dirty="0"/>
          </a:p>
        </p:txBody>
      </p:sp>
    </p:spTree>
    <p:extLst>
      <p:ext uri="{BB962C8B-B14F-4D97-AF65-F5344CB8AC3E}">
        <p14:creationId xmlns:p14="http://schemas.microsoft.com/office/powerpoint/2010/main" val="41709215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B837C-3E07-4129-B371-9F5CA97D5605}"/>
              </a:ext>
            </a:extLst>
          </p:cNvPr>
          <p:cNvSpPr>
            <a:spLocks noGrp="1"/>
          </p:cNvSpPr>
          <p:nvPr>
            <p:ph type="title"/>
          </p:nvPr>
        </p:nvSpPr>
        <p:spPr/>
        <p:txBody>
          <a:bodyPr/>
          <a:lstStyle/>
          <a:p>
            <a:r>
              <a:rPr lang="en-US" dirty="0"/>
              <a:t>Exit Ticket</a:t>
            </a:r>
          </a:p>
        </p:txBody>
      </p:sp>
      <p:sp>
        <p:nvSpPr>
          <p:cNvPr id="3" name="Content Placeholder 2">
            <a:extLst>
              <a:ext uri="{FF2B5EF4-FFF2-40B4-BE49-F238E27FC236}">
                <a16:creationId xmlns:a16="http://schemas.microsoft.com/office/drawing/2014/main" id="{49F2A5AF-3C0B-4968-A438-E435325199EA}"/>
              </a:ext>
            </a:extLst>
          </p:cNvPr>
          <p:cNvSpPr>
            <a:spLocks noGrp="1"/>
          </p:cNvSpPr>
          <p:nvPr>
            <p:ph idx="1"/>
          </p:nvPr>
        </p:nvSpPr>
        <p:spPr/>
        <p:txBody>
          <a:bodyPr/>
          <a:lstStyle/>
          <a:p>
            <a:pPr marL="0" marR="0" indent="0">
              <a:lnSpc>
                <a:spcPct val="107000"/>
              </a:lnSpc>
              <a:spcBef>
                <a:spcPts val="0"/>
              </a:spcBef>
              <a:spcAft>
                <a:spcPts val="800"/>
              </a:spcAft>
              <a:buNone/>
            </a:pPr>
            <a:r>
              <a:rPr lang="en-US" sz="1800" b="1" dirty="0">
                <a:effectLst/>
                <a:latin typeface="Calibri" panose="020F0502020204030204" pitchFamily="34" charset="0"/>
                <a:ea typeface="Calibri" panose="020F0502020204030204" pitchFamily="34" charset="0"/>
                <a:cs typeface="Times New Roman" panose="02020603050405020304" pitchFamily="18" charset="0"/>
              </a:rPr>
              <a:t>Review the scenario below to determine whether it meets the characteristics of effective modeling. If the criteria are not met, provide a suggestion for improvement.</a:t>
            </a:r>
          </a:p>
          <a:p>
            <a:pPr marL="0" marR="0" indent="0">
              <a:lnSpc>
                <a:spcPct val="107000"/>
              </a:lnSpc>
              <a:spcBef>
                <a:spcPts val="0"/>
              </a:spcBef>
              <a:spcAft>
                <a:spcPts val="800"/>
              </a:spcAft>
              <a:buNone/>
            </a:pPr>
            <a:r>
              <a:rPr lang="en-US" sz="1800" i="1" dirty="0">
                <a:effectLst/>
                <a:latin typeface="Calibri" panose="020F0502020204030204" pitchFamily="34" charset="0"/>
                <a:ea typeface="Calibri" panose="020F0502020204030204" pitchFamily="34" charset="0"/>
                <a:cs typeface="Times New Roman" panose="02020603050405020304" pitchFamily="18" charset="0"/>
              </a:rPr>
              <a:t>A 1</a:t>
            </a:r>
            <a:r>
              <a:rPr lang="en-US" sz="1800" i="1" baseline="30000" dirty="0">
                <a:effectLst/>
                <a:latin typeface="Calibri" panose="020F0502020204030204" pitchFamily="34" charset="0"/>
                <a:ea typeface="Calibri" panose="020F0502020204030204" pitchFamily="34" charset="0"/>
                <a:cs typeface="Times New Roman" panose="02020603050405020304" pitchFamily="18" charset="0"/>
              </a:rPr>
              <a:t>st</a:t>
            </a:r>
            <a:r>
              <a:rPr lang="en-US" sz="1800" i="1" dirty="0">
                <a:effectLst/>
                <a:latin typeface="Calibri" panose="020F0502020204030204" pitchFamily="34" charset="0"/>
                <a:ea typeface="Calibri" panose="020F0502020204030204" pitchFamily="34" charset="0"/>
                <a:cs typeface="Times New Roman" panose="02020603050405020304" pitchFamily="18" charset="0"/>
              </a:rPr>
              <a:t> grade teacher is teaching her students how to solve addition problems by making a bar model. The teacher introduces the following word problem: </a:t>
            </a:r>
          </a:p>
          <a:p>
            <a:pPr marL="0" marR="0" indent="0">
              <a:lnSpc>
                <a:spcPct val="107000"/>
              </a:lnSpc>
              <a:spcBef>
                <a:spcPts val="0"/>
              </a:spcBef>
              <a:spcAft>
                <a:spcPts val="800"/>
              </a:spcAft>
              <a:buNone/>
            </a:pPr>
            <a:r>
              <a:rPr lang="en-US" sz="1800" i="1" dirty="0">
                <a:solidFill>
                  <a:srgbClr val="007800"/>
                </a:solidFill>
                <a:effectLst/>
                <a:latin typeface="Calibri" panose="020F0502020204030204" pitchFamily="34" charset="0"/>
                <a:ea typeface="Calibri" panose="020F0502020204030204" pitchFamily="34" charset="0"/>
                <a:cs typeface="Times New Roman" panose="02020603050405020304" pitchFamily="18" charset="0"/>
              </a:rPr>
              <a:t>Tom has 5 books in a box. He puts 3 more books in the box. How many books are in the box?</a:t>
            </a:r>
          </a:p>
          <a:p>
            <a:pPr marL="0" marR="0" indent="0">
              <a:lnSpc>
                <a:spcPct val="107000"/>
              </a:lnSpc>
              <a:spcBef>
                <a:spcPts val="0"/>
              </a:spcBef>
              <a:spcAft>
                <a:spcPts val="800"/>
              </a:spcAft>
              <a:buNone/>
            </a:pPr>
            <a:r>
              <a:rPr lang="en-US" sz="1800" i="1" dirty="0">
                <a:effectLst/>
                <a:latin typeface="Calibri" panose="020F0502020204030204" pitchFamily="34" charset="0"/>
                <a:ea typeface="Calibri" panose="020F0502020204030204" pitchFamily="34" charset="0"/>
                <a:cs typeface="Times New Roman" panose="02020603050405020304" pitchFamily="18" charset="0"/>
              </a:rPr>
              <a:t>The teacher does a think aloud for the following question: What do we need to find? She explains that we need to find how many books are in the box. She then asks students to think about what information from the word problem they need to use. The teacher underlines important information in the word problem, such as 5 books and 3 more books. The teacher then draws a bar model to show students how to put the information they found in the word problem into a bar model. Last, the teacher wrote the equation 5 + 3 = 8.</a:t>
            </a:r>
          </a:p>
          <a:p>
            <a:pPr marL="0" indent="0">
              <a:buNone/>
            </a:pPr>
            <a:r>
              <a:rPr lang="en-US" sz="1800" b="1" dirty="0">
                <a:effectLst/>
                <a:latin typeface="Calibri" panose="020F0502020204030204" pitchFamily="34" charset="0"/>
                <a:ea typeface="Calibri" panose="020F0502020204030204" pitchFamily="34" charset="0"/>
                <a:cs typeface="Times New Roman" panose="02020603050405020304" pitchFamily="18" charset="0"/>
              </a:rPr>
              <a:t>How does teacher modeling help build student understanding and mastery of the standard?</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dirty="0">
              <a:highlight>
                <a:srgbClr val="FFFF00"/>
              </a:highlight>
            </a:endParaRPr>
          </a:p>
        </p:txBody>
      </p:sp>
      <p:sp>
        <p:nvSpPr>
          <p:cNvPr id="4" name="Slide Number Placeholder 3">
            <a:extLst>
              <a:ext uri="{FF2B5EF4-FFF2-40B4-BE49-F238E27FC236}">
                <a16:creationId xmlns:a16="http://schemas.microsoft.com/office/drawing/2014/main" id="{00210221-3F4A-4187-A674-5BB2A5218FDE}"/>
              </a:ext>
            </a:extLst>
          </p:cNvPr>
          <p:cNvSpPr>
            <a:spLocks noGrp="1"/>
          </p:cNvSpPr>
          <p:nvPr>
            <p:ph type="sldNum" sz="quarter" idx="12"/>
          </p:nvPr>
        </p:nvSpPr>
        <p:spPr/>
        <p:txBody>
          <a:bodyPr/>
          <a:lstStyle/>
          <a:p>
            <a:fld id="{E2D56C8B-F564-4051-AFED-A78F1C6A2F0E}" type="slidenum">
              <a:rPr lang="en-US" smtClean="0"/>
              <a:pPr/>
              <a:t>8</a:t>
            </a:fld>
            <a:endParaRPr lang="en-US" dirty="0"/>
          </a:p>
        </p:txBody>
      </p:sp>
    </p:spTree>
    <p:extLst>
      <p:ext uri="{BB962C8B-B14F-4D97-AF65-F5344CB8AC3E}">
        <p14:creationId xmlns:p14="http://schemas.microsoft.com/office/powerpoint/2010/main" val="21474087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2U6 Template" id="{AF0A3B9D-A4D4-43B9-877C-DC7685DF529F}" vid="{24BCECEA-A865-4364-8D35-4F287E7D5DE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C2U6 Template</Template>
  <TotalTime>7</TotalTime>
  <Words>449</Words>
  <Application>Microsoft Office PowerPoint</Application>
  <PresentationFormat>Widescreen</PresentationFormat>
  <Paragraphs>37</Paragraphs>
  <Slides>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Arial</vt:lpstr>
      <vt:lpstr>Calibri</vt:lpstr>
      <vt:lpstr>Calibri Light</vt:lpstr>
      <vt:lpstr>Symbol</vt:lpstr>
      <vt:lpstr>Office Theme</vt:lpstr>
      <vt:lpstr>Instructional Practices| Unit 6: Instructional Alignment| Lesson 6.09</vt:lpstr>
      <vt:lpstr>TEKS Standards &amp; Objectives</vt:lpstr>
      <vt:lpstr>Bellringer</vt:lpstr>
      <vt:lpstr>Vocabulary</vt:lpstr>
      <vt:lpstr>Gradual Release of Responsibility</vt:lpstr>
      <vt:lpstr>Success Criteria for Successful Modeling</vt:lpstr>
      <vt:lpstr>Video: (17:05-21:40)</vt:lpstr>
      <vt:lpstr>Exit Ticket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Scaffolding a Lesson | Modeling, Part II</dc:title>
  <dc:subject>Scaffolding a Lesson | Modeling, Part II</dc:subject>
  <dc:creator>Texas Education Agency</dc:creator>
  <cp:lastModifiedBy>White (she/her), Whitney</cp:lastModifiedBy>
  <cp:revision>1</cp:revision>
  <dcterms:created xsi:type="dcterms:W3CDTF">2022-09-18T01:55:59Z</dcterms:created>
  <dcterms:modified xsi:type="dcterms:W3CDTF">2022-09-18T05:35:46Z</dcterms:modified>
</cp:coreProperties>
</file>
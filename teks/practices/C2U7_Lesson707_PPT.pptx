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9" r:id="rId6"/>
    <p:sldId id="258" r:id="rId7"/>
    <p:sldId id="261" r:id="rId8"/>
    <p:sldId id="262" r:id="rId9"/>
    <p:sldId id="263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E000ABC9-E9F5-430F-B087-F09C6DF407C1}">
          <p14:sldIdLst>
            <p14:sldId id="256"/>
            <p14:sldId id="259"/>
            <p14:sldId id="258"/>
            <p14:sldId id="261"/>
            <p14:sldId id="262"/>
            <p14:sldId id="263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DCE90-6A76-4644-8606-553304D05C76}" v="8" dt="2023-01-17T05:28:56.341"/>
    <p1510:client id="{38F44297-F94C-4991-BC7E-AAD79838D019}" v="4" dt="2023-01-17T03:43:33.9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2" autoAdjust="0"/>
    <p:restoredTop sz="94614" autoAdjust="0"/>
  </p:normalViewPr>
  <p:slideViewPr>
    <p:cSldViewPr snapToGrid="0">
      <p:cViewPr varScale="1">
        <p:scale>
          <a:sx n="60" d="100"/>
          <a:sy n="60" d="100"/>
        </p:scale>
        <p:origin x="2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6/6/2025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6/6/2025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6/6/2025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6/6/2025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6/6/2025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6/6/2025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7: High Leverage Teaching Practices| Lesson 7.07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Collaborative Learning | Part 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455C8-9B7E-F998-7FA5-55BF87054B92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key practices for structuring effective collaborative learning activities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Define, practice, and reflect on strategies for engaging students in effective collaborative work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Describe a time when you were asked to work as a part of a group to complete a project. What are the characteristics of effective and ineffective group work? 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Collaborative Learning: </a:t>
            </a:r>
            <a:r>
              <a:rPr lang="en-US" dirty="0">
                <a:effectLst/>
                <a:ea typeface="Calibri" panose="020F0502020204030204" pitchFamily="34" charset="0"/>
              </a:rPr>
              <a:t>Educational approach where groups are used to enhance learning through working together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414A-AD8C-4E6F-B75E-07EA0E40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ea typeface="Calibri" panose="020F0502020204030204" pitchFamily="34" charset="0"/>
              </a:rPr>
              <a:t>Why is Collaborative Learning a High Impact Teaching Strategy?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3DB47-D801-4117-9C3D-1906F9F2F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Collaborative learning develops higher-level thinking, verbal communication, self-management, and leadership skills.</a:t>
            </a: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Collaborative learning exposes students to an increase in understanding of different perspectives.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CEAD5-1FAC-4D53-868F-2C6AE3E00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517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98FC9-284E-4F8B-B6C7-FA44B935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ea typeface="Calibri" panose="020F0502020204030204" pitchFamily="34" charset="0"/>
              </a:rPr>
              <a:t>Five Key </a:t>
            </a:r>
            <a:r>
              <a:rPr lang="en-US" dirty="0">
                <a:ea typeface="Calibri" panose="020F0502020204030204" pitchFamily="34" charset="0"/>
              </a:rPr>
              <a:t>P</a:t>
            </a:r>
            <a:r>
              <a:rPr lang="en-US" dirty="0">
                <a:effectLst/>
                <a:ea typeface="Calibri" panose="020F0502020204030204" pitchFamily="34" charset="0"/>
              </a:rPr>
              <a:t>ractices for Structuring </a:t>
            </a:r>
            <a:r>
              <a:rPr lang="en-US" dirty="0">
                <a:ea typeface="Calibri" panose="020F0502020204030204" pitchFamily="34" charset="0"/>
              </a:rPr>
              <a:t>C</a:t>
            </a:r>
            <a:r>
              <a:rPr lang="en-US" dirty="0">
                <a:effectLst/>
                <a:ea typeface="Calibri" panose="020F0502020204030204" pitchFamily="34" charset="0"/>
              </a:rPr>
              <a:t>ollaborative </a:t>
            </a:r>
            <a:r>
              <a:rPr lang="en-US" dirty="0">
                <a:ea typeface="Calibri" panose="020F0502020204030204" pitchFamily="34" charset="0"/>
              </a:rPr>
              <a:t>L</a:t>
            </a:r>
            <a:r>
              <a:rPr lang="en-US" dirty="0">
                <a:effectLst/>
                <a:ea typeface="Calibri" panose="020F0502020204030204" pitchFamily="34" charset="0"/>
              </a:rPr>
              <a:t>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1CDC1-1538-421E-AA13-2A2B531BE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Ensure that the task is designed so that collaboration is necessary to accomplish the task.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Vary the size and membership of the group according to the activity’s purpose and individual learning goals. Groups are most effective when they range in size from 3-5 participants.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Use structures such as group roles, norms, and explicit time keeping to ensure that students share the responsibility and ownership of outcomes.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Provide opportunities for regular feedback on group processes as well as student/group self-evaluation.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 clear about expectations and instructions for the task.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98B61-793B-4360-8DC3-B9D1465CA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2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Describe three things that teachers can do to structure effective collaborative learning. </a:t>
            </a: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Reflect on your experience with being the Rally Coach today. How did the activity support the success of the partnership?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AD57B0C54CC24F934F6B5B683E9FF3" ma:contentTypeVersion="17" ma:contentTypeDescription="Create a new document." ma:contentTypeScope="" ma:versionID="74c475a7f88c09ad26452b08dcff0b32">
  <xsd:schema xmlns:xsd="http://www.w3.org/2001/XMLSchema" xmlns:xs="http://www.w3.org/2001/XMLSchema" xmlns:p="http://schemas.microsoft.com/office/2006/metadata/properties" xmlns:ns2="1a31ff91-fdef-444f-97ac-59e8c717c665" xmlns:ns3="c846d8e3-a298-4df9-941d-031d5a654278" targetNamespace="http://schemas.microsoft.com/office/2006/metadata/properties" ma:root="true" ma:fieldsID="927c3c6b4a17e24bf610af3d477f503d" ns2:_="" ns3:_="">
    <xsd:import namespace="1a31ff91-fdef-444f-97ac-59e8c717c665"/>
    <xsd:import namespace="c846d8e3-a298-4df9-941d-031d5a6542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31ff91-fdef-444f-97ac-59e8c717c6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b7a77b5-e59d-49f3-97a2-3dde868dbe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46d8e3-a298-4df9-941d-031d5a65427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bacdb30-d662-427e-8aeb-ae7c33e06b0f}" ma:internalName="TaxCatchAll" ma:showField="CatchAllData" ma:web="c846d8e3-a298-4df9-941d-031d5a6542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846d8e3-a298-4df9-941d-031d5a654278" xsi:nil="true"/>
    <lcf76f155ced4ddcb4097134ff3c332f xmlns="1a31ff91-fdef-444f-97ac-59e8c717c66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475D564-818B-4F85-A3C0-28C3919227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B75187-ABBA-4928-8DB0-36BE3E163A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31ff91-fdef-444f-97ac-59e8c717c665"/>
    <ds:schemaRef ds:uri="c846d8e3-a298-4df9-941d-031d5a6542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0D70A0-5C08-448F-AEBF-A517173BBE61}">
  <ds:schemaRefs>
    <ds:schemaRef ds:uri="http://schemas.microsoft.com/office/2006/metadata/properties"/>
    <ds:schemaRef ds:uri="http://schemas.microsoft.com/office/infopath/2007/PartnerControls"/>
    <ds:schemaRef ds:uri="c846d8e3-a298-4df9-941d-031d5a654278"/>
    <ds:schemaRef ds:uri="1a31ff91-fdef-444f-97ac-59e8c717c66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45</TotalTime>
  <Words>302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Instructional Practices| Unit 7: High Leverage Teaching Practices| Lesson 7.07</vt:lpstr>
      <vt:lpstr>TEKS Standards &amp; Objectives</vt:lpstr>
      <vt:lpstr>Bellringer</vt:lpstr>
      <vt:lpstr>Vocabulary</vt:lpstr>
      <vt:lpstr>Why is Collaborative Learning a High Impact Teaching Strategy?</vt:lpstr>
      <vt:lpstr>Five Key Practices for Structuring Collaborative Learning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Collaborative Learning | Part I</dc:title>
  <dc:subject>Collaborative Learning | Part I</dc:subject>
  <dc:creator>Texas Education Agency</dc:creator>
  <cp:lastModifiedBy>Ye, Ruth</cp:lastModifiedBy>
  <cp:revision>4</cp:revision>
  <dcterms:created xsi:type="dcterms:W3CDTF">2022-09-17T16:30:16Z</dcterms:created>
  <dcterms:modified xsi:type="dcterms:W3CDTF">2025-06-06T22:33:44Z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0x01010037AD57B0C54CC24F934F6B5B683E9FF3</vt:lpwstr>
  </property>
</Properties>
</file>
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3" r:id="rId5"/>
    <p:sldId id="262" r:id="rId6"/>
    <p:sldId id="264" r:id="rId7"/>
    <p:sldId id="265" r:id="rId8"/>
    <p:sldId id="266" r:id="rId9"/>
    <p:sldId id="267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D918B-E880-4C74-B46D-D74593F7DC61}" v="11" dt="2023-01-01T19:03:43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07" autoAdjust="0"/>
  </p:normalViewPr>
  <p:slideViewPr>
    <p:cSldViewPr snapToGrid="0">
      <p:cViewPr varScale="1">
        <p:scale>
          <a:sx n="113" d="100"/>
          <a:sy n="11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2247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9: Feedback| Lesson 9.01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cs typeface="Calibri"/>
              </a:rPr>
              <a:t>Types and Characteristics of Effective Academic Feedback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05C459-A130-8302-9637-4C0AB43D3DDB}"/>
              </a:ext>
            </a:extLst>
          </p:cNvPr>
          <p:cNvSpPr txBox="1"/>
          <p:nvPr/>
        </p:nvSpPr>
        <p:spPr>
          <a:xfrm>
            <a:off x="-17089" y="6392779"/>
            <a:ext cx="106840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4 B-C, 14 A,C,D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Identify the different types of feedback (formal &amp; informal, written &amp; verbal)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Define and describe the key characteristics of effective feedback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240"/>
            <a:ext cx="10515600" cy="46837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The concept of effective feedback was introduced in the science of learning unit. Use what you remember from the unit to answer the following 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How does feedback improve learning?  </a:t>
            </a:r>
            <a:endParaRPr lang="en-US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What are some key elements of effective feedback?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60CC-4688-42B6-9E3E-7C0468FB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Characteristics of Effective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2BFF7-AAF0-4BDE-ADCF-1C6F927CC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and clear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Focused on the task not the student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strengths and areas for improvement</a:t>
            </a:r>
          </a:p>
          <a:p>
            <a:pPr marL="342900" marR="0" lvl="0" indent="-342900"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Timely and actionable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D52C9-4FDC-4EB9-88C3-271DC1D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3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2583-E808-4DE7-BC6C-FC0CF921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83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09B7E02-AB76-4AF4-905F-9512640DD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47256"/>
              </p:ext>
            </p:extLst>
          </p:nvPr>
        </p:nvGraphicFramePr>
        <p:xfrm>
          <a:off x="838200" y="1213229"/>
          <a:ext cx="10515600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7279">
                  <a:extLst>
                    <a:ext uri="{9D8B030D-6E8A-4147-A177-3AD203B41FA5}">
                      <a16:colId xmlns:a16="http://schemas.microsoft.com/office/drawing/2014/main" val="2353553242"/>
                    </a:ext>
                  </a:extLst>
                </a:gridCol>
                <a:gridCol w="8518321">
                  <a:extLst>
                    <a:ext uri="{9D8B030D-6E8A-4147-A177-3AD203B41FA5}">
                      <a16:colId xmlns:a16="http://schemas.microsoft.com/office/drawing/2014/main" val="1676494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Informal Feedback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provided in the moment, not planned.  This feedback is tailored to a situation as it arises.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597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Formal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that is planned and systematically scheduled into the learning process.  It is provided consistently for each student.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48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Verbal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Immediate feedback provided to a student verbally. 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6458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Written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Formal feedback that is provided to as student in written form after a task has been completed. 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86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Formative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that is provided during instruction and intended to move instruction or learning forward.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437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Summative Feedback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Feedback provided after task completion that is intended to provide information about where a student has met/not met success criteria for a task.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1349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C839A-A44D-4EFA-A3CF-BE9DCC4C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8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E2EB-AE18-451C-B3D0-B5D0D47E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57B8E-E868-46A1-BDB8-AB43AC43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Delivered in the moment, tailored to the situation, not provided equally to all students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instruction/learning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Verbally provided by the teacher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Move learning/instruction forward, formative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9FFE-C50C-42DD-8202-8BC09559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E2EB-AE18-451C-B3D0-B5D0D47E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57B8E-E868-46A1-BDB8-AB43AC43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Planned and systematically scheduled into the learning process.  It is provided consistently for all students.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after instruction or learning.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Written or provided verbally by the teacher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is to measure learning against standards, summative in nature.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9FFE-C50C-42DD-8202-8BC09559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E2EB-AE18-451C-B3D0-B5D0D47E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Written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57B8E-E868-46A1-BDB8-AB43AC43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that is provided to a student in written form after a task has been completed.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after instruction or learning.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Written, provided by the teacher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is to provide a record of what a student is doing well, allows students to return to feedback to make revisions.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9FFE-C50C-42DD-8202-8BC09559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06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E2EB-AE18-451C-B3D0-B5D0D47E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Verbal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57B8E-E868-46A1-BDB8-AB43AC43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feedback provided during instruction.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During instruction or sometimes after instruction.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Verbal, provided by the teacher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Allows for quick and instant correction; allows for a dialogue or clarification for student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9FFE-C50C-42DD-8202-8BC09559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3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00945"/>
          </a:xfrm>
        </p:spPr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350"/>
            <a:ext cx="10657667" cy="5445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11760B-9495-47AB-85F6-C32762370623}"/>
              </a:ext>
            </a:extLst>
          </p:cNvPr>
          <p:cNvSpPr txBox="1">
            <a:spLocks/>
          </p:cNvSpPr>
          <p:nvPr/>
        </p:nvSpPr>
        <p:spPr>
          <a:xfrm>
            <a:off x="779477" y="1529534"/>
            <a:ext cx="10515600" cy="892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 each of the different types of feedback below with the statement that best describes it.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4B89A33-F898-4180-A599-DB58CFDF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589369"/>
              </p:ext>
            </p:extLst>
          </p:nvPr>
        </p:nvGraphicFramePr>
        <p:xfrm>
          <a:off x="838200" y="2122415"/>
          <a:ext cx="1022618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185">
                  <a:extLst>
                    <a:ext uri="{9D8B030D-6E8A-4147-A177-3AD203B41FA5}">
                      <a16:colId xmlns:a16="http://schemas.microsoft.com/office/drawing/2014/main" val="3701549755"/>
                    </a:ext>
                  </a:extLst>
                </a:gridCol>
                <a:gridCol w="227047">
                  <a:extLst>
                    <a:ext uri="{9D8B030D-6E8A-4147-A177-3AD203B41FA5}">
                      <a16:colId xmlns:a16="http://schemas.microsoft.com/office/drawing/2014/main" val="1219513120"/>
                    </a:ext>
                  </a:extLst>
                </a:gridCol>
                <a:gridCol w="7966948">
                  <a:extLst>
                    <a:ext uri="{9D8B030D-6E8A-4147-A177-3AD203B41FA5}">
                      <a16:colId xmlns:a16="http://schemas.microsoft.com/office/drawing/2014/main" val="3777856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of Feedback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i="1" dirty="0">
                          <a:solidFill>
                            <a:srgbClr val="70AD47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Descriptions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4761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  Informal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A.  Immediate feedback spoken to a student during instruction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2259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  Formal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  Feedback that is provided in the moment and is tailored to the situation.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3527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  Written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   Feedback that recorded and given to students after a task is completed.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326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  Verbal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D.  Feedback that is scheduled and given to all students consistently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1942651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7B36E3-9F94-4E6D-A1B6-09FB3D92AEEC}"/>
              </a:ext>
            </a:extLst>
          </p:cNvPr>
          <p:cNvSpPr txBox="1">
            <a:spLocks/>
          </p:cNvSpPr>
          <p:nvPr/>
        </p:nvSpPr>
        <p:spPr>
          <a:xfrm>
            <a:off x="838200" y="4274379"/>
            <a:ext cx="10515600" cy="892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 What are the four key characteristics of effective feedback?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dirty="0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538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9: Feedback| Lesson 9.01</vt:lpstr>
      <vt:lpstr>TEKS Standards &amp; Objectives</vt:lpstr>
      <vt:lpstr>Bellringer</vt:lpstr>
      <vt:lpstr>4 Characteristics of Effective Feedback</vt:lpstr>
      <vt:lpstr>Vocabulary</vt:lpstr>
      <vt:lpstr>Informal Feedback</vt:lpstr>
      <vt:lpstr>Formal Feedback</vt:lpstr>
      <vt:lpstr>Written Feedback</vt:lpstr>
      <vt:lpstr>Verbal Feedback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9.01: Types &amp; Characteristics of Effective Academic Feedback</dc:title>
  <dc:subject>Lesson 9.01: Types &amp; Characteristics of Effective Academic Feedback</dc:subject>
  <dc:creator>Texas Education Agency</dc:creator>
  <cp:lastModifiedBy>London White</cp:lastModifiedBy>
  <cp:revision>86</cp:revision>
  <dcterms:created xsi:type="dcterms:W3CDTF">2022-05-09T19:40:20Z</dcterms:created>
  <dcterms:modified xsi:type="dcterms:W3CDTF">2023-08-31T03:27:54Z</dcterms:modified>
</cp:coreProperties>
</file>
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4" r:id="rId6"/>
    <p:sldId id="263" r:id="rId7"/>
    <p:sldId id="262"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00"/>
    <a:srgbClr val="FF0000"/>
    <a:srgbClr val="780000"/>
    <a:srgbClr val="0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9EFBD0-4446-4D8A-B5B4-003AB41A9A06}" v="3" dt="2022-09-18T05:35:44.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2"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6/16/2025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6/16/2025</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6/16/2025</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6/16/2025</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6/16/2025</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6/16/2025</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6/16/2025</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6/16/2025</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drive.google.com/file/d/1lHi5hQwbWuIhCER7G3hNn8DHZkA-zwGO/view?usp=shar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6: Instructional Alignment| Lesson 6.09</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Scaffolding a Lesson | Modeling, </a:t>
            </a:r>
            <a:r>
              <a:rPr lang="en-US" sz="6000"/>
              <a:t>Part II</a:t>
            </a:r>
            <a:endParaRPr lang="en-US" sz="6000" dirty="0"/>
          </a:p>
        </p:txBody>
      </p:sp>
      <p:sp>
        <p:nvSpPr>
          <p:cNvPr id="4" name="TextBox 3">
            <a:extLst>
              <a:ext uri="{FF2B5EF4-FFF2-40B4-BE49-F238E27FC236}">
                <a16:creationId xmlns:a16="http://schemas.microsoft.com/office/drawing/2014/main" id="{B27BB20B-F01F-1D28-C3A3-70A146C10AC7}"/>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6A, 6C, 6F</a:t>
            </a:r>
          </a:p>
          <a:p>
            <a:pPr marL="0" indent="0">
              <a:buNone/>
            </a:pPr>
            <a:endParaRPr lang="en-US" dirty="0"/>
          </a:p>
          <a:p>
            <a:pPr marL="0" indent="0">
              <a:buNone/>
            </a:pPr>
            <a:r>
              <a:rPr lang="en-US" dirty="0"/>
              <a:t>The student will:</a:t>
            </a:r>
          </a:p>
          <a:p>
            <a:r>
              <a:rPr lang="en-US" dirty="0"/>
              <a:t>Define and describe characteristics of effective modeling</a:t>
            </a:r>
          </a:p>
          <a:p>
            <a:r>
              <a:rPr lang="en-US" dirty="0"/>
              <a:t>Identify and apply examples of modeling within a lesson</a:t>
            </a:r>
          </a:p>
          <a:p>
            <a:r>
              <a:rPr lang="en-US" dirty="0"/>
              <a:t>Evaluate the modeling within a lesson based on characteristics of effective modeling</a:t>
            </a:r>
          </a:p>
          <a:p>
            <a:pPr marL="0" indent="0">
              <a:buNone/>
            </a:pP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Times New Roman" panose="02020603050405020304" pitchFamily="18" charset="0"/>
              </a:rPr>
              <a:t>Look at each lesson example below and determine if it is an example of the “I do”, “We do”, or “You do” portion of the lesson. Write if it is “I do”, “we do”, or “you do” beside the example number.</a:t>
            </a: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Modeling: An instructional strategy where the teacher demonstrates how to perform a skill while describing each step with a rationale.</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his diagram shows the Optimal Learning Model, which can be described as an &quot;I Do, We Do, You Do&quot; model. It is depicting a gradual release of responsibility wherein a teacher begins with a lot of control over what is being learned (through demonstrations and a high support environment) to gradually releasing the student to independent practice where the student will have more of the control and self-support than in the beginning.">
            <a:extLst>
              <a:ext uri="{FF2B5EF4-FFF2-40B4-BE49-F238E27FC236}">
                <a16:creationId xmlns:a16="http://schemas.microsoft.com/office/drawing/2014/main" id="{E4C21D4F-8384-43A3-B624-EC5DF85C5417}"/>
              </a:ext>
            </a:extLst>
          </p:cNvPr>
          <p:cNvPicPr>
            <a:picLocks noGrp="1" noChangeAspect="1"/>
          </p:cNvPicPr>
          <p:nvPr>
            <p:ph idx="1"/>
          </p:nvPr>
        </p:nvPicPr>
        <p:blipFill>
          <a:blip r:embed="rId2"/>
          <a:stretch>
            <a:fillRect/>
          </a:stretch>
        </p:blipFill>
        <p:spPr>
          <a:xfrm>
            <a:off x="3064468" y="1098340"/>
            <a:ext cx="6063063" cy="5258010"/>
          </a:xfrm>
          <a:prstGeom prst="rect">
            <a:avLst/>
          </a:prstGeom>
          <a:noFill/>
        </p:spPr>
      </p:pic>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125279" y="318630"/>
            <a:ext cx="10515600" cy="1325563"/>
          </a:xfrm>
        </p:spPr>
        <p:txBody>
          <a:bodyPr anchor="ctr">
            <a:normAutofit/>
          </a:bodyPr>
          <a:lstStyle/>
          <a:p>
            <a:r>
              <a:rPr lang="en-US" dirty="0"/>
              <a:t>Gradual Release of Responsibility</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5</a:t>
            </a:fld>
            <a:endParaRPr lang="en-US"/>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Success Criteria for Successful Modeling</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742950" marR="0" lvl="1" indent="-285750">
              <a:spcBef>
                <a:spcPts val="60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Break down the skill into learnable steps</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Visually demonstrate the steps as students watch</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Think Aloud = Verbally explain what the student is seeing as you model</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Make important connections between the steps</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Check for student understanding along the way and re-model steps as necessary</a:t>
            </a:r>
          </a:p>
          <a:p>
            <a:pPr marL="742950" marR="0" lvl="1" indent="-285750">
              <a:spcBef>
                <a:spcPts val="0"/>
              </a:spcBef>
              <a:spcAft>
                <a:spcPts val="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Ensure pacing is just the right speed</a:t>
            </a:r>
          </a:p>
          <a:p>
            <a:pPr marL="742950" marR="0" lvl="1" indent="-285750">
              <a:spcBef>
                <a:spcPts val="0"/>
              </a:spcBef>
              <a:spcAft>
                <a:spcPts val="600"/>
              </a:spcAft>
              <a:buFont typeface="Symbol" panose="05050102010706020507" pitchFamily="18" charset="2"/>
              <a:buChar char=""/>
            </a:pPr>
            <a:r>
              <a:rPr lang="en-US" sz="2800" dirty="0">
                <a:effectLst/>
                <a:latin typeface="Calibri" panose="020F0502020204030204" pitchFamily="34" charset="0"/>
                <a:ea typeface="Calibri" panose="020F0502020204030204" pitchFamily="34" charset="0"/>
                <a:cs typeface="Times New Roman" panose="02020603050405020304" pitchFamily="18" charset="0"/>
              </a:rPr>
              <a:t>Allow opportunities for students to ask questions and get clarification </a:t>
            </a: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Video: (17:05-21:40)</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indent="0">
              <a:buNone/>
            </a:pPr>
            <a:r>
              <a:rPr lang="en-US" u="sng" dirty="0">
                <a:solidFill>
                  <a:srgbClr val="0D6CB9"/>
                </a:solidFill>
                <a:effectLst/>
                <a:latin typeface="Calibri" panose="020F0502020204030204" pitchFamily="34" charset="0"/>
                <a:ea typeface="Calibri" panose="020F0502020204030204" pitchFamily="34" charset="0"/>
                <a:cs typeface="Times New Roman" panose="02020603050405020304" pitchFamily="18" charset="0"/>
                <a:hlinkClick r:id="rId2"/>
              </a:rPr>
              <a:t>https://drive.google.com/file/d/1lHi5hQwbWuIhCER7G3hNn8DHZkA-zwGO/view?usp=sharing</a:t>
            </a:r>
            <a:r>
              <a:rPr lang="en-US" dirty="0">
                <a:effectLst/>
                <a:latin typeface="Calibri" panose="020F0502020204030204" pitchFamily="34" charset="0"/>
                <a:ea typeface="Calibri" panose="020F0502020204030204" pitchFamily="34" charset="0"/>
                <a:cs typeface="Times New Roman" panose="02020603050405020304" pitchFamily="18" charset="0"/>
              </a:rPr>
              <a:t> </a:t>
            </a:r>
            <a:endParaRPr lang="en-US" sz="40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lnSpc>
                <a:spcPct val="107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Review the scenario below to determine whether it meets the characteristics of effective modeling. If the criteria are not met, provide a suggestion for improvement.</a:t>
            </a:r>
          </a:p>
          <a:p>
            <a:pPr marL="0" marR="0" indent="0">
              <a:lnSpc>
                <a:spcPct val="107000"/>
              </a:lnSpc>
              <a:spcBef>
                <a:spcPts val="0"/>
              </a:spcBef>
              <a:spcAft>
                <a:spcPts val="800"/>
              </a:spcAft>
              <a:buNone/>
            </a:pPr>
            <a:r>
              <a:rPr lang="en-US" sz="1800" i="1" dirty="0">
                <a:effectLst/>
                <a:latin typeface="Calibri" panose="020F0502020204030204" pitchFamily="34" charset="0"/>
                <a:ea typeface="Calibri" panose="020F0502020204030204" pitchFamily="34" charset="0"/>
                <a:cs typeface="Times New Roman" panose="02020603050405020304" pitchFamily="18" charset="0"/>
              </a:rPr>
              <a:t>A 1</a:t>
            </a:r>
            <a:r>
              <a:rPr lang="en-US" sz="1800" i="1" baseline="30000" dirty="0">
                <a:effectLst/>
                <a:latin typeface="Calibri" panose="020F0502020204030204" pitchFamily="34" charset="0"/>
                <a:ea typeface="Calibri" panose="020F0502020204030204" pitchFamily="34" charset="0"/>
                <a:cs typeface="Times New Roman" panose="02020603050405020304" pitchFamily="18" charset="0"/>
              </a:rPr>
              <a:t>st</a:t>
            </a:r>
            <a:r>
              <a:rPr lang="en-US" sz="1800" i="1" dirty="0">
                <a:effectLst/>
                <a:latin typeface="Calibri" panose="020F0502020204030204" pitchFamily="34" charset="0"/>
                <a:ea typeface="Calibri" panose="020F0502020204030204" pitchFamily="34" charset="0"/>
                <a:cs typeface="Times New Roman" panose="02020603050405020304" pitchFamily="18" charset="0"/>
              </a:rPr>
              <a:t> grade teacher is teaching her students how to solve addition problems by making a bar model. The teacher introduces the following word problem: </a:t>
            </a:r>
          </a:p>
          <a:p>
            <a:pPr marL="0" marR="0" indent="0">
              <a:lnSpc>
                <a:spcPct val="107000"/>
              </a:lnSpc>
              <a:spcBef>
                <a:spcPts val="0"/>
              </a:spcBef>
              <a:spcAft>
                <a:spcPts val="800"/>
              </a:spcAft>
              <a:buNone/>
            </a:pPr>
            <a:r>
              <a:rPr lang="en-US" sz="1800" i="1" dirty="0">
                <a:solidFill>
                  <a:srgbClr val="007800"/>
                </a:solidFill>
                <a:effectLst/>
                <a:latin typeface="Calibri" panose="020F0502020204030204" pitchFamily="34" charset="0"/>
                <a:ea typeface="Calibri" panose="020F0502020204030204" pitchFamily="34" charset="0"/>
                <a:cs typeface="Times New Roman" panose="02020603050405020304" pitchFamily="18" charset="0"/>
              </a:rPr>
              <a:t>Tom has 5 books in a box. He puts 3 more books in the box. How many books are in the box?</a:t>
            </a:r>
          </a:p>
          <a:p>
            <a:pPr marL="0" marR="0" indent="0">
              <a:lnSpc>
                <a:spcPct val="107000"/>
              </a:lnSpc>
              <a:spcBef>
                <a:spcPts val="0"/>
              </a:spcBef>
              <a:spcAft>
                <a:spcPts val="800"/>
              </a:spcAft>
              <a:buNone/>
            </a:pPr>
            <a:r>
              <a:rPr lang="en-US" sz="1800" i="1" dirty="0">
                <a:effectLst/>
                <a:latin typeface="Calibri" panose="020F0502020204030204" pitchFamily="34" charset="0"/>
                <a:ea typeface="Calibri" panose="020F0502020204030204" pitchFamily="34" charset="0"/>
                <a:cs typeface="Times New Roman" panose="02020603050405020304" pitchFamily="18" charset="0"/>
              </a:rPr>
              <a:t>The teacher does a think aloud for the following question: What do we need to find? She explains that we need to find how many books are in the box. She then asks students to think about what information from the word problem they need to use. The teacher underlines important information in the word problem, such as 5 books and 3 more books. The teacher then draws a bar model to show students how to put the information they found in the word problem into a bar model. Last, the teacher wrote the equation 5 + 3 = 8.</a:t>
            </a:r>
          </a:p>
          <a:p>
            <a:pPr marL="0" indent="0">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How does teacher modeling help build student understanding and mastery of the standard?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highlight>
                <a:srgbClr val="FFFF00"/>
              </a:highlight>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2U6 Template" id="{AF0A3B9D-A4D4-43B9-877C-DC7685DF529F}" vid="{24BCECEA-A865-4364-8D35-4F287E7D5D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C2U6 Template</Template>
  <TotalTime>7</TotalTime>
  <Words>463</Words>
  <Application>Microsoft Office PowerPoint</Application>
  <PresentationFormat>Widescreen</PresentationFormat>
  <Paragraphs>38</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Instructional Practices| Unit 6: Instructional Alignment| Lesson 6.09</vt:lpstr>
      <vt:lpstr>TEKS Standards &amp; Objectives</vt:lpstr>
      <vt:lpstr>Bellringer</vt:lpstr>
      <vt:lpstr>Vocabulary</vt:lpstr>
      <vt:lpstr>Gradual Release of Responsibility</vt:lpstr>
      <vt:lpstr>Success Criteria for Successful Modeling</vt:lpstr>
      <vt:lpstr>Video: (17:05-21:40)</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Scaffolding a Lesson | Modeling, Part II</dc:title>
  <dc:subject>Scaffolding a Lesson | Modeling, Part II</dc:subject>
  <dc:creator>Texas Education Agency</dc:creator>
  <cp:lastModifiedBy>London White</cp:lastModifiedBy>
  <cp:revision>3</cp:revision>
  <dcterms:created xsi:type="dcterms:W3CDTF">2022-09-18T01:55:59Z</dcterms:created>
  <dcterms:modified xsi:type="dcterms:W3CDTF">2025-06-17T02:00:30Z</dcterms:modified>
</cp:coreProperties>
</file>
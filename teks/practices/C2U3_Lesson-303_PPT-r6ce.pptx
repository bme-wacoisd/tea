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1" r:id="rId5"/>
    <p:sldId id="264"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FDFE62-AEA6-4F7B-80D5-968A375B184C}" v="1" dt="2023-08-31T01:57:03.3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4" d="100"/>
          <a:sy n="114" d="100"/>
        </p:scale>
        <p:origin x="3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46FDFE62-AEA6-4F7B-80D5-968A375B184C}"/>
    <pc:docChg chg="modSld">
      <pc:chgData name="White (she/her), Whitney" userId="65f39021-2f1d-4d8b-87dc-b123826f65bf" providerId="ADAL" clId="{46FDFE62-AEA6-4F7B-80D5-968A375B184C}" dt="2023-08-31T01:57:06.131" v="2" actId="1076"/>
      <pc:docMkLst>
        <pc:docMk/>
      </pc:docMkLst>
      <pc:sldChg chg="addSp modSp mod">
        <pc:chgData name="White (she/her), Whitney" userId="65f39021-2f1d-4d8b-87dc-b123826f65bf" providerId="ADAL" clId="{46FDFE62-AEA6-4F7B-80D5-968A375B184C}" dt="2023-08-31T01:57:06.131" v="2" actId="1076"/>
        <pc:sldMkLst>
          <pc:docMk/>
          <pc:sldMk cId="1482277026" sldId="256"/>
        </pc:sldMkLst>
        <pc:spChg chg="mod">
          <ac:chgData name="White (she/her), Whitney" userId="65f39021-2f1d-4d8b-87dc-b123826f65bf" providerId="ADAL" clId="{46FDFE62-AEA6-4F7B-80D5-968A375B184C}" dt="2023-08-31T01:57:02.078" v="0" actId="1076"/>
          <ac:spMkLst>
            <pc:docMk/>
            <pc:sldMk cId="1482277026" sldId="256"/>
            <ac:spMk id="2" creationId="{BFFCF5BD-F8FF-4A67-A8B6-EBB21E79279B}"/>
          </ac:spMkLst>
        </pc:spChg>
        <pc:spChg chg="add mod">
          <ac:chgData name="White (she/her), Whitney" userId="65f39021-2f1d-4d8b-87dc-b123826f65bf" providerId="ADAL" clId="{46FDFE62-AEA6-4F7B-80D5-968A375B184C}" dt="2023-08-31T01:57:06.131" v="2" actId="1076"/>
          <ac:spMkLst>
            <pc:docMk/>
            <pc:sldMk cId="1482277026" sldId="256"/>
            <ac:spMk id="4" creationId="{EF2C829C-2CB9-F22C-8719-329832E783D4}"/>
          </ac:spMkLst>
        </pc:spChg>
      </pc:sldChg>
    </pc:docChg>
  </pc:docChgLst>
  <pc:docChgLst>
    <pc:chgData name="White (she/her), Whitney" userId="65f39021-2f1d-4d8b-87dc-b123826f65bf" providerId="ADAL" clId="{0CEE82F1-9FBD-4736-8448-00A6416A8283}"/>
    <pc:docChg chg="undo custSel modSld">
      <pc:chgData name="White (she/her), Whitney" userId="65f39021-2f1d-4d8b-87dc-b123826f65bf" providerId="ADAL" clId="{0CEE82F1-9FBD-4736-8448-00A6416A8283}" dt="2023-01-03T18:12:15.389" v="79"/>
      <pc:docMkLst>
        <pc:docMk/>
      </pc:docMkLst>
      <pc:sldChg chg="modSp mod">
        <pc:chgData name="White (she/her), Whitney" userId="65f39021-2f1d-4d8b-87dc-b123826f65bf" providerId="ADAL" clId="{0CEE82F1-9FBD-4736-8448-00A6416A8283}" dt="2023-01-03T18:09:20.723" v="23" actId="20577"/>
        <pc:sldMkLst>
          <pc:docMk/>
          <pc:sldMk cId="4071305681" sldId="258"/>
        </pc:sldMkLst>
        <pc:spChg chg="mod">
          <ac:chgData name="White (she/her), Whitney" userId="65f39021-2f1d-4d8b-87dc-b123826f65bf" providerId="ADAL" clId="{0CEE82F1-9FBD-4736-8448-00A6416A8283}" dt="2023-01-03T18:09:20.723" v="23" actId="20577"/>
          <ac:spMkLst>
            <pc:docMk/>
            <pc:sldMk cId="4071305681" sldId="258"/>
            <ac:spMk id="3" creationId="{392BE286-77A6-49DD-B15D-7E4718D52FE7}"/>
          </ac:spMkLst>
        </pc:spChg>
      </pc:sldChg>
      <pc:sldChg chg="modSp mod">
        <pc:chgData name="White (she/her), Whitney" userId="65f39021-2f1d-4d8b-87dc-b123826f65bf" providerId="ADAL" clId="{0CEE82F1-9FBD-4736-8448-00A6416A8283}" dt="2023-01-03T18:08:40.964" v="17" actId="403"/>
        <pc:sldMkLst>
          <pc:docMk/>
          <pc:sldMk cId="2772527113" sldId="259"/>
        </pc:sldMkLst>
        <pc:spChg chg="mod">
          <ac:chgData name="White (she/her), Whitney" userId="65f39021-2f1d-4d8b-87dc-b123826f65bf" providerId="ADAL" clId="{0CEE82F1-9FBD-4736-8448-00A6416A8283}" dt="2023-01-03T18:08:40.964" v="17" actId="403"/>
          <ac:spMkLst>
            <pc:docMk/>
            <pc:sldMk cId="2772527113" sldId="259"/>
            <ac:spMk id="3" creationId="{8CE08C7F-0286-423B-92F7-DEB89F31111A}"/>
          </ac:spMkLst>
        </pc:spChg>
      </pc:sldChg>
      <pc:sldChg chg="addSp delSp modSp mod">
        <pc:chgData name="White (she/her), Whitney" userId="65f39021-2f1d-4d8b-87dc-b123826f65bf" providerId="ADAL" clId="{0CEE82F1-9FBD-4736-8448-00A6416A8283}" dt="2023-01-03T18:11:20.190" v="48" actId="403"/>
        <pc:sldMkLst>
          <pc:docMk/>
          <pc:sldMk cId="3054216349" sldId="261"/>
        </pc:sldMkLst>
        <pc:spChg chg="add del">
          <ac:chgData name="White (she/her), Whitney" userId="65f39021-2f1d-4d8b-87dc-b123826f65bf" providerId="ADAL" clId="{0CEE82F1-9FBD-4736-8448-00A6416A8283}" dt="2023-01-03T18:11:06.675" v="40"/>
          <ac:spMkLst>
            <pc:docMk/>
            <pc:sldMk cId="3054216349" sldId="261"/>
            <ac:spMk id="3" creationId="{AE13FDB6-F093-4D9E-B14E-3D7DB894C34C}"/>
          </ac:spMkLst>
        </pc:spChg>
        <pc:graphicFrameChg chg="add mod modGraphic">
          <ac:chgData name="White (she/her), Whitney" userId="65f39021-2f1d-4d8b-87dc-b123826f65bf" providerId="ADAL" clId="{0CEE82F1-9FBD-4736-8448-00A6416A8283}" dt="2023-01-03T18:11:20.190" v="48" actId="403"/>
          <ac:graphicFrameMkLst>
            <pc:docMk/>
            <pc:sldMk cId="3054216349" sldId="261"/>
            <ac:graphicFrameMk id="6" creationId="{9197754C-FAE4-4555-B6BD-2C915976E534}"/>
          </ac:graphicFrameMkLst>
        </pc:graphicFrameChg>
        <pc:picChg chg="add del mod">
          <ac:chgData name="White (she/her), Whitney" userId="65f39021-2f1d-4d8b-87dc-b123826f65bf" providerId="ADAL" clId="{0CEE82F1-9FBD-4736-8448-00A6416A8283}" dt="2023-01-03T18:11:02.345" v="39"/>
          <ac:picMkLst>
            <pc:docMk/>
            <pc:sldMk cId="3054216349" sldId="261"/>
            <ac:picMk id="5" creationId="{981E328A-702F-4F3C-AC81-BBC14A6FA93A}"/>
          </ac:picMkLst>
        </pc:picChg>
      </pc:sldChg>
      <pc:sldChg chg="modSp mod modAnim">
        <pc:chgData name="White (she/her), Whitney" userId="65f39021-2f1d-4d8b-87dc-b123826f65bf" providerId="ADAL" clId="{0CEE82F1-9FBD-4736-8448-00A6416A8283}" dt="2023-01-03T18:12:15.389" v="79"/>
        <pc:sldMkLst>
          <pc:docMk/>
          <pc:sldMk cId="3493109116" sldId="264"/>
        </pc:sldMkLst>
        <pc:spChg chg="mod">
          <ac:chgData name="White (she/her), Whitney" userId="65f39021-2f1d-4d8b-87dc-b123826f65bf" providerId="ADAL" clId="{0CEE82F1-9FBD-4736-8448-00A6416A8283}" dt="2023-01-03T18:12:00.155" v="76" actId="20577"/>
          <ac:spMkLst>
            <pc:docMk/>
            <pc:sldMk cId="3493109116" sldId="264"/>
            <ac:spMk id="2" creationId="{D7836664-70C0-47BA-9BFF-496A04EBBFDE}"/>
          </ac:spMkLst>
        </pc:spChg>
        <pc:spChg chg="mod">
          <ac:chgData name="White (she/her), Whitney" userId="65f39021-2f1d-4d8b-87dc-b123826f65bf" providerId="ADAL" clId="{0CEE82F1-9FBD-4736-8448-00A6416A8283}" dt="2023-01-03T18:12:06.397" v="77"/>
          <ac:spMkLst>
            <pc:docMk/>
            <pc:sldMk cId="3493109116" sldId="264"/>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1472"/>
            <a:ext cx="9144000" cy="370300"/>
          </a:xfrm>
        </p:spPr>
        <p:txBody>
          <a:bodyPr>
            <a:normAutofit/>
          </a:bodyPr>
          <a:lstStyle/>
          <a:p>
            <a:pPr algn="l"/>
            <a:r>
              <a:rPr lang="en-US" sz="1800" dirty="0"/>
              <a:t>Instructional Practices| Unit 3: Knowledge of Students to Drive Instruction | Lesson 3.03</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Building Trust and Rapport with Students | Trust Generating Practices</a:t>
            </a:r>
          </a:p>
        </p:txBody>
      </p:sp>
      <p:sp>
        <p:nvSpPr>
          <p:cNvPr id="4" name="TextBox 3">
            <a:extLst>
              <a:ext uri="{FF2B5EF4-FFF2-40B4-BE49-F238E27FC236}">
                <a16:creationId xmlns:a16="http://schemas.microsoft.com/office/drawing/2014/main" id="{EF2C829C-2CB9-F22C-8719-329832E783D4}"/>
              </a:ext>
            </a:extLst>
          </p:cNvPr>
          <p:cNvSpPr txBox="1"/>
          <p:nvPr/>
        </p:nvSpPr>
        <p:spPr>
          <a:xfrm>
            <a:off x="0" y="6421772"/>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4A-B, 4F, 5A</a:t>
            </a:r>
          </a:p>
          <a:p>
            <a:pPr marL="0" indent="0">
              <a:buNone/>
            </a:pPr>
            <a:endParaRPr lang="en-US" dirty="0"/>
          </a:p>
          <a:p>
            <a:pPr marL="0" indent="0">
              <a:buNone/>
            </a:pPr>
            <a:r>
              <a:rPr lang="en-US" dirty="0"/>
              <a:t>The student will:</a:t>
            </a:r>
          </a:p>
          <a:p>
            <a:r>
              <a:rPr lang="en-US" sz="2400" dirty="0">
                <a:effectLst/>
                <a:latin typeface="Calibri" panose="020F0502020204030204" pitchFamily="34" charset="0"/>
                <a:ea typeface="Calibri" panose="020F0502020204030204" pitchFamily="34" charset="0"/>
                <a:cs typeface="Arial" panose="020B0604020202020204" pitchFamily="34" charset="0"/>
              </a:rPr>
              <a:t>Describe trust-generating techniques for developing effective relationships with students that foster mutual respect and rapport Identify and evaluate trust-generating techniques used in various scenarios</a:t>
            </a:r>
            <a:endParaRPr lang="en-US" sz="3600"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Mr. Q is getting ready to have a brief check-in with a student. How can he build rapport with the student and show the student that he is authentically listening?</a:t>
            </a:r>
            <a:endParaRPr lang="en-US" sz="4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6" name="Content Placeholder 5">
            <a:extLst>
              <a:ext uri="{FF2B5EF4-FFF2-40B4-BE49-F238E27FC236}">
                <a16:creationId xmlns:a16="http://schemas.microsoft.com/office/drawing/2014/main" id="{9197754C-FAE4-4555-B6BD-2C915976E534}"/>
              </a:ext>
            </a:extLst>
          </p:cNvPr>
          <p:cNvGraphicFramePr>
            <a:graphicFrameLocks noGrp="1"/>
          </p:cNvGraphicFramePr>
          <p:nvPr>
            <p:ph idx="1"/>
            <p:extLst>
              <p:ext uri="{D42A27DB-BD31-4B8C-83A1-F6EECF244321}">
                <p14:modId xmlns:p14="http://schemas.microsoft.com/office/powerpoint/2010/main" val="655665544"/>
              </p:ext>
            </p:extLst>
          </p:nvPr>
        </p:nvGraphicFramePr>
        <p:xfrm>
          <a:off x="452306" y="1690688"/>
          <a:ext cx="10515600" cy="4267200"/>
        </p:xfrm>
        <a:graphic>
          <a:graphicData uri="http://schemas.openxmlformats.org/drawingml/2006/table">
            <a:tbl>
              <a:tblPr firstRow="1" firstCol="1" bandRow="1"/>
              <a:tblGrid>
                <a:gridCol w="2297978">
                  <a:extLst>
                    <a:ext uri="{9D8B030D-6E8A-4147-A177-3AD203B41FA5}">
                      <a16:colId xmlns:a16="http://schemas.microsoft.com/office/drawing/2014/main" val="1843852827"/>
                    </a:ext>
                  </a:extLst>
                </a:gridCol>
                <a:gridCol w="8217622">
                  <a:extLst>
                    <a:ext uri="{9D8B030D-6E8A-4147-A177-3AD203B41FA5}">
                      <a16:colId xmlns:a16="http://schemas.microsoft.com/office/drawing/2014/main" val="1831106437"/>
                    </a:ext>
                  </a:extLst>
                </a:gridCol>
              </a:tblGrid>
              <a:tr h="0">
                <a:tc>
                  <a:txBody>
                    <a:bodyPr/>
                    <a:lstStyle/>
                    <a:p>
                      <a:pPr marL="0" marR="0">
                        <a:spcBef>
                          <a:spcPts val="600"/>
                        </a:spcBef>
                        <a:spcAft>
                          <a:spcPts val="600"/>
                        </a:spcAft>
                      </a:pPr>
                      <a:r>
                        <a:rPr lang="en-US" sz="2000" b="1" dirty="0">
                          <a:effectLst/>
                          <a:latin typeface="Calibri" panose="020F0502020204030204" pitchFamily="34" charset="0"/>
                          <a:ea typeface="Calibri" panose="020F0502020204030204" pitchFamily="34" charset="0"/>
                          <a:cs typeface="Arial" panose="020B0604020202020204" pitchFamily="34" charset="0"/>
                        </a:rPr>
                        <a:t>Rapport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A relationship characterized by mutual understanding or empathy that makes communication possible or easy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964180"/>
                  </a:ext>
                </a:extLst>
              </a:tr>
              <a:tr h="0">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Authentic Listening</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A strategy to build rapport with students that includes the teacher giving full attention to conversations, demonstrating empathy, and suspending judgment so that the student can be fully heard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1710556"/>
                  </a:ext>
                </a:extLst>
              </a:tr>
              <a:tr h="0">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Trust Generators</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Activities used to build trust and strengthen rapport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8762837"/>
                  </a:ext>
                </a:extLst>
              </a:tr>
              <a:tr h="0">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Selective Vulnerability</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Connecting with another person who also shares their own vulnerable moments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5425203"/>
                  </a:ext>
                </a:extLst>
              </a:tr>
              <a:tr h="0">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Familiarity</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Relaxed friendliness between people who are recognizable based on seeing one another on a regular basis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8669891"/>
                  </a:ext>
                </a:extLst>
              </a:tr>
              <a:tr h="0">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Similarity of Interests</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A common affinity that allows a point of connection beyond any obvious racial, class, or linguistic differences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8374015"/>
                  </a:ext>
                </a:extLst>
              </a:tr>
              <a:tr h="0">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Concern</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a:effectLst/>
                          <a:latin typeface="Calibri" panose="020F0502020204030204" pitchFamily="34" charset="0"/>
                          <a:ea typeface="Calibri" panose="020F0502020204030204" pitchFamily="34" charset="0"/>
                          <a:cs typeface="Arial" panose="020B0604020202020204" pitchFamily="34" charset="0"/>
                        </a:rPr>
                        <a:t>A matter of interest important to someone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0201824"/>
                  </a:ext>
                </a:extLst>
              </a:tr>
              <a:tr h="0">
                <a:tc>
                  <a:txBody>
                    <a:bodyPr/>
                    <a:lstStyle/>
                    <a:p>
                      <a:pPr marL="0" marR="0">
                        <a:spcBef>
                          <a:spcPts val="600"/>
                        </a:spcBef>
                        <a:spcAft>
                          <a:spcPts val="600"/>
                        </a:spcAft>
                      </a:pPr>
                      <a:r>
                        <a:rPr lang="en-US" sz="2000" b="1">
                          <a:effectLst/>
                          <a:latin typeface="Calibri" panose="020F0502020204030204" pitchFamily="34" charset="0"/>
                          <a:ea typeface="Calibri" panose="020F0502020204030204" pitchFamily="34" charset="0"/>
                          <a:cs typeface="Arial" panose="020B0604020202020204" pitchFamily="34" charset="0"/>
                        </a:rPr>
                        <a:t>Competence</a:t>
                      </a:r>
                      <a:endParaRPr lang="en-US" sz="20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The skill, knowledge, and will to help and support another person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6024374"/>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Key Trust Generators</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lvl="0"/>
            <a:r>
              <a:rPr lang="en-US" dirty="0"/>
              <a:t>Selective vulnerability:  Selectively sharing appropriate challenges or mistakes</a:t>
            </a:r>
          </a:p>
          <a:p>
            <a:pPr lvl="0"/>
            <a:r>
              <a:rPr lang="en-US" dirty="0"/>
              <a:t>Familiarity: Being a regular presence in the students’ lives. </a:t>
            </a:r>
          </a:p>
          <a:p>
            <a:pPr lvl="0"/>
            <a:r>
              <a:rPr lang="en-US" dirty="0"/>
              <a:t>Similarity of interests: Sharing with students’ similar likes, dislikes, hobbies, etc. </a:t>
            </a:r>
          </a:p>
          <a:p>
            <a:pPr lvl="0"/>
            <a:r>
              <a:rPr lang="en-US" dirty="0"/>
              <a:t>Concern: Showing interest in issues and events that are important to students.</a:t>
            </a:r>
          </a:p>
          <a:p>
            <a:pPr lvl="0"/>
            <a:r>
              <a:rPr lang="en-US" dirty="0"/>
              <a:t>Competence: Demonstrating knowledge of a subject and how to teach it. </a:t>
            </a:r>
          </a:p>
          <a:p>
            <a:pPr marL="0" indent="0">
              <a:buNone/>
            </a:pPr>
            <a:endParaRPr lang="en-US" sz="36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lnSpc>
                <a:spcPct val="107000"/>
              </a:lnSpc>
              <a:spcBef>
                <a:spcPts val="0"/>
              </a:spcBef>
              <a:spcAft>
                <a:spcPts val="800"/>
              </a:spcAft>
              <a:buNone/>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Complete the chart below. In the first column, list the five Trust Generators. In the second column provide examples from the text of how Mr. C used the trust generator. If Mr. C did not use the trust generator, provide a suggestion as to how he could implement it.</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indent="0">
              <a:spcBef>
                <a:spcPts val="0"/>
              </a:spcBef>
              <a:spcAft>
                <a:spcPts val="600"/>
              </a:spcAft>
              <a:buNone/>
            </a:pPr>
            <a:r>
              <a:rPr lang="en-US" sz="1800" i="1" dirty="0">
                <a:effectLst/>
                <a:latin typeface="Calibri" panose="020F0502020204030204" pitchFamily="34" charset="0"/>
                <a:ea typeface="Calibri" panose="020F0502020204030204" pitchFamily="34" charset="0"/>
                <a:cs typeface="Arial" panose="020B0604020202020204" pitchFamily="34" charset="0"/>
              </a:rPr>
              <a:t>Lars is a student in Mr. C science class. The class is working in small groups to complete a science lab. Mr. C is in the middle of explaining how this lab relates to a student that is currently happening at the local nature preserve where the students recently went on a field trip, when a student yells out, “Stop telling me what to do! Just because you are the leader of the group doesn’t mean you can boss me around!” Then, the student slams his book shut and returns to his desk. He pulls out his sketch book from art class and begins sketching. Mr. C quickly moves towards Lars’ desk. He kneels beside Lars’ desk and sees that he is sketching cars. Mr. C begins his conversation with Lars by saying, “Wow, that’s a really good sketch. I was into cars, too, when I was younger, but I wasn’t ever that good at drawing them. How is your entry for the art competition going?” The student tells him that it’s almost complete, but he doesn’t elaborate. Then, Mr. C says, “I notice you are not getting along with your group. Are you having a hard day? It’s not like you to get frustrated so easily.”</a:t>
            </a: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134</TotalTime>
  <Words>619</Words>
  <Application>Microsoft Office PowerPoint</Application>
  <PresentationFormat>Widescreen</PresentationFormat>
  <Paragraphs>41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Instructional Practices| Unit 3: Knowledge of Students to Drive Instruction | Lesson 3.03</vt:lpstr>
      <vt:lpstr>TEKS Standards &amp; Objectives</vt:lpstr>
      <vt:lpstr>Bellringer</vt:lpstr>
      <vt:lpstr>Vocabulary</vt:lpstr>
      <vt:lpstr>Key Trust Generators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3.03: Building Trust and Rapport with Students | Trust Generating Practices</dc:title>
  <dc:subject>Lesson 3.03: Building Trust and Rapport with Students | Trust Generating Practices</dc:subject>
  <dc:creator>Texas Education Agency</dc:creator>
  <cp:lastModifiedBy>White (she/her), Whitney</cp:lastModifiedBy>
  <cp:revision>5</cp:revision>
  <dcterms:created xsi:type="dcterms:W3CDTF">2022-05-09T19:40:20Z</dcterms:created>
  <dcterms:modified xsi:type="dcterms:W3CDTF">2023-08-31T01:57:11Z</dcterms:modified>
</cp:coreProperties>
</file>
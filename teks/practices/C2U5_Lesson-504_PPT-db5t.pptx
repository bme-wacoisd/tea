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59" r:id="rId3"/>
    <p:sldId id="258" r:id="rId4"/>
    <p:sldId id="261" r:id="rId5"/>
    <p:sldId id="264" r:id="rId6"/>
    <p:sldId id="265" r:id="rId7"/>
    <p:sldId id="266" r:id="rId8"/>
    <p:sldId id="267" r:id="rId9"/>
    <p:sldId id="260"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780000"/>
    <a:srgbClr val="000000"/>
    <a:srgbClr val="0078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01AD1EA-BA95-461A-95BE-249C4CDA8194}" v="14" dt="2022-10-09T19:57:30.88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14" autoAdjust="0"/>
  </p:normalViewPr>
  <p:slideViewPr>
    <p:cSldViewPr snapToGrid="0">
      <p:cViewPr varScale="1">
        <p:scale>
          <a:sx n="108" d="100"/>
          <a:sy n="108" d="100"/>
        </p:scale>
        <p:origin x="510"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hite (she/her), Whitney" userId="65f39021-2f1d-4d8b-87dc-b123826f65bf" providerId="ADAL" clId="{201AD1EA-BA95-461A-95BE-249C4CDA8194}"/>
    <pc:docChg chg="undo custSel addSld delSld modSld">
      <pc:chgData name="White (she/her), Whitney" userId="65f39021-2f1d-4d8b-87dc-b123826f65bf" providerId="ADAL" clId="{201AD1EA-BA95-461A-95BE-249C4CDA8194}" dt="2022-10-09T20:00:09.882" v="424" actId="13926"/>
      <pc:docMkLst>
        <pc:docMk/>
      </pc:docMkLst>
      <pc:sldChg chg="modSp mod">
        <pc:chgData name="White (she/her), Whitney" userId="65f39021-2f1d-4d8b-87dc-b123826f65bf" providerId="ADAL" clId="{201AD1EA-BA95-461A-95BE-249C4CDA8194}" dt="2022-10-09T19:45:43.967" v="26" actId="403"/>
        <pc:sldMkLst>
          <pc:docMk/>
          <pc:sldMk cId="4071305681" sldId="258"/>
        </pc:sldMkLst>
        <pc:spChg chg="mod">
          <ac:chgData name="White (she/her), Whitney" userId="65f39021-2f1d-4d8b-87dc-b123826f65bf" providerId="ADAL" clId="{201AD1EA-BA95-461A-95BE-249C4CDA8194}" dt="2022-10-09T19:45:43.967" v="26" actId="403"/>
          <ac:spMkLst>
            <pc:docMk/>
            <pc:sldMk cId="4071305681" sldId="258"/>
            <ac:spMk id="3" creationId="{392BE286-77A6-49DD-B15D-7E4718D52FE7}"/>
          </ac:spMkLst>
        </pc:spChg>
      </pc:sldChg>
      <pc:sldChg chg="modSp mod">
        <pc:chgData name="White (she/her), Whitney" userId="65f39021-2f1d-4d8b-87dc-b123826f65bf" providerId="ADAL" clId="{201AD1EA-BA95-461A-95BE-249C4CDA8194}" dt="2022-10-09T19:45:31.956" v="22" actId="27636"/>
        <pc:sldMkLst>
          <pc:docMk/>
          <pc:sldMk cId="2772527113" sldId="259"/>
        </pc:sldMkLst>
        <pc:spChg chg="mod">
          <ac:chgData name="White (she/her), Whitney" userId="65f39021-2f1d-4d8b-87dc-b123826f65bf" providerId="ADAL" clId="{201AD1EA-BA95-461A-95BE-249C4CDA8194}" dt="2022-10-09T19:45:31.956" v="22" actId="27636"/>
          <ac:spMkLst>
            <pc:docMk/>
            <pc:sldMk cId="2772527113" sldId="259"/>
            <ac:spMk id="3" creationId="{8CE08C7F-0286-423B-92F7-DEB89F31111A}"/>
          </ac:spMkLst>
        </pc:spChg>
      </pc:sldChg>
      <pc:sldChg chg="modSp mod">
        <pc:chgData name="White (she/her), Whitney" userId="65f39021-2f1d-4d8b-87dc-b123826f65bf" providerId="ADAL" clId="{201AD1EA-BA95-461A-95BE-249C4CDA8194}" dt="2022-10-09T20:00:09.882" v="424" actId="13926"/>
        <pc:sldMkLst>
          <pc:docMk/>
          <pc:sldMk cId="2147408764" sldId="260"/>
        </pc:sldMkLst>
        <pc:spChg chg="mod">
          <ac:chgData name="White (she/her), Whitney" userId="65f39021-2f1d-4d8b-87dc-b123826f65bf" providerId="ADAL" clId="{201AD1EA-BA95-461A-95BE-249C4CDA8194}" dt="2022-10-09T20:00:09.882" v="424" actId="13926"/>
          <ac:spMkLst>
            <pc:docMk/>
            <pc:sldMk cId="2147408764" sldId="260"/>
            <ac:spMk id="3" creationId="{49F2A5AF-3C0B-4968-A438-E435325199EA}"/>
          </ac:spMkLst>
        </pc:spChg>
      </pc:sldChg>
      <pc:sldChg chg="addSp delSp modSp mod">
        <pc:chgData name="White (she/her), Whitney" userId="65f39021-2f1d-4d8b-87dc-b123826f65bf" providerId="ADAL" clId="{201AD1EA-BA95-461A-95BE-249C4CDA8194}" dt="2022-10-09T19:46:52.602" v="42" actId="1076"/>
        <pc:sldMkLst>
          <pc:docMk/>
          <pc:sldMk cId="3054216349" sldId="261"/>
        </pc:sldMkLst>
        <pc:spChg chg="del mod">
          <ac:chgData name="White (she/her), Whitney" userId="65f39021-2f1d-4d8b-87dc-b123826f65bf" providerId="ADAL" clId="{201AD1EA-BA95-461A-95BE-249C4CDA8194}" dt="2022-10-09T19:46:00.005" v="28"/>
          <ac:spMkLst>
            <pc:docMk/>
            <pc:sldMk cId="3054216349" sldId="261"/>
            <ac:spMk id="3" creationId="{AE13FDB6-F093-4D9E-B14E-3D7DB894C34C}"/>
          </ac:spMkLst>
        </pc:spChg>
        <pc:graphicFrameChg chg="add mod modGraphic">
          <ac:chgData name="White (she/her), Whitney" userId="65f39021-2f1d-4d8b-87dc-b123826f65bf" providerId="ADAL" clId="{201AD1EA-BA95-461A-95BE-249C4CDA8194}" dt="2022-10-09T19:46:52.602" v="42" actId="1076"/>
          <ac:graphicFrameMkLst>
            <pc:docMk/>
            <pc:sldMk cId="3054216349" sldId="261"/>
            <ac:graphicFrameMk id="5" creationId="{3F32326E-1739-4A2A-8477-DED449DBC679}"/>
          </ac:graphicFrameMkLst>
        </pc:graphicFrameChg>
      </pc:sldChg>
      <pc:sldChg chg="del">
        <pc:chgData name="White (she/her), Whitney" userId="65f39021-2f1d-4d8b-87dc-b123826f65bf" providerId="ADAL" clId="{201AD1EA-BA95-461A-95BE-249C4CDA8194}" dt="2022-10-09T19:58:55.897" v="202" actId="47"/>
        <pc:sldMkLst>
          <pc:docMk/>
          <pc:sldMk cId="4170921578" sldId="262"/>
        </pc:sldMkLst>
      </pc:sldChg>
      <pc:sldChg chg="del">
        <pc:chgData name="White (she/her), Whitney" userId="65f39021-2f1d-4d8b-87dc-b123826f65bf" providerId="ADAL" clId="{201AD1EA-BA95-461A-95BE-249C4CDA8194}" dt="2022-10-09T19:58:55.317" v="201" actId="47"/>
        <pc:sldMkLst>
          <pc:docMk/>
          <pc:sldMk cId="1163931679" sldId="263"/>
        </pc:sldMkLst>
      </pc:sldChg>
      <pc:sldChg chg="addSp delSp modSp mod modAnim">
        <pc:chgData name="White (she/her), Whitney" userId="65f39021-2f1d-4d8b-87dc-b123826f65bf" providerId="ADAL" clId="{201AD1EA-BA95-461A-95BE-249C4CDA8194}" dt="2022-10-09T19:54:02.403" v="114"/>
        <pc:sldMkLst>
          <pc:docMk/>
          <pc:sldMk cId="3493109116" sldId="264"/>
        </pc:sldMkLst>
        <pc:spChg chg="mod">
          <ac:chgData name="White (she/her), Whitney" userId="65f39021-2f1d-4d8b-87dc-b123826f65bf" providerId="ADAL" clId="{201AD1EA-BA95-461A-95BE-249C4CDA8194}" dt="2022-10-09T19:53:48.034" v="111" actId="13926"/>
          <ac:spMkLst>
            <pc:docMk/>
            <pc:sldMk cId="3493109116" sldId="264"/>
            <ac:spMk id="2" creationId="{D7836664-70C0-47BA-9BFF-496A04EBBFDE}"/>
          </ac:spMkLst>
        </pc:spChg>
        <pc:spChg chg="add del">
          <ac:chgData name="White (she/her), Whitney" userId="65f39021-2f1d-4d8b-87dc-b123826f65bf" providerId="ADAL" clId="{201AD1EA-BA95-461A-95BE-249C4CDA8194}" dt="2022-10-09T19:51:01.882" v="88"/>
          <ac:spMkLst>
            <pc:docMk/>
            <pc:sldMk cId="3493109116" sldId="264"/>
            <ac:spMk id="3" creationId="{F64339F5-2F5D-46B5-A25D-C197D73747BD}"/>
          </ac:spMkLst>
        </pc:spChg>
        <pc:graphicFrameChg chg="add del mod modGraphic">
          <ac:chgData name="White (she/her), Whitney" userId="65f39021-2f1d-4d8b-87dc-b123826f65bf" providerId="ADAL" clId="{201AD1EA-BA95-461A-95BE-249C4CDA8194}" dt="2022-10-09T19:49:40.785" v="87"/>
          <ac:graphicFrameMkLst>
            <pc:docMk/>
            <pc:sldMk cId="3493109116" sldId="264"/>
            <ac:graphicFrameMk id="5" creationId="{DFC2529F-0AD6-498C-9E74-D755CD140CDC}"/>
          </ac:graphicFrameMkLst>
        </pc:graphicFrameChg>
        <pc:graphicFrameChg chg="add mod modGraphic">
          <ac:chgData name="White (she/her), Whitney" userId="65f39021-2f1d-4d8b-87dc-b123826f65bf" providerId="ADAL" clId="{201AD1EA-BA95-461A-95BE-249C4CDA8194}" dt="2022-10-09T19:53:38.643" v="109" actId="1076"/>
          <ac:graphicFrameMkLst>
            <pc:docMk/>
            <pc:sldMk cId="3493109116" sldId="264"/>
            <ac:graphicFrameMk id="6" creationId="{AA9E840F-8AF4-4375-ABD3-E1C6A6E90252}"/>
          </ac:graphicFrameMkLst>
        </pc:graphicFrameChg>
      </pc:sldChg>
      <pc:sldChg chg="modSp add mod">
        <pc:chgData name="White (she/her), Whitney" userId="65f39021-2f1d-4d8b-87dc-b123826f65bf" providerId="ADAL" clId="{201AD1EA-BA95-461A-95BE-249C4CDA8194}" dt="2022-10-09T19:56:31.775" v="179" actId="1076"/>
        <pc:sldMkLst>
          <pc:docMk/>
          <pc:sldMk cId="4164285496" sldId="265"/>
        </pc:sldMkLst>
        <pc:graphicFrameChg chg="mod modGraphic">
          <ac:chgData name="White (she/her), Whitney" userId="65f39021-2f1d-4d8b-87dc-b123826f65bf" providerId="ADAL" clId="{201AD1EA-BA95-461A-95BE-249C4CDA8194}" dt="2022-10-09T19:56:31.775" v="179" actId="1076"/>
          <ac:graphicFrameMkLst>
            <pc:docMk/>
            <pc:sldMk cId="4164285496" sldId="265"/>
            <ac:graphicFrameMk id="6" creationId="{AA9E840F-8AF4-4375-ABD3-E1C6A6E90252}"/>
          </ac:graphicFrameMkLst>
        </pc:graphicFrameChg>
      </pc:sldChg>
      <pc:sldChg chg="modSp add mod">
        <pc:chgData name="White (she/her), Whitney" userId="65f39021-2f1d-4d8b-87dc-b123826f65bf" providerId="ADAL" clId="{201AD1EA-BA95-461A-95BE-249C4CDA8194}" dt="2022-10-09T19:57:15.491" v="188" actId="2161"/>
        <pc:sldMkLst>
          <pc:docMk/>
          <pc:sldMk cId="1060251285" sldId="266"/>
        </pc:sldMkLst>
        <pc:graphicFrameChg chg="mod modGraphic">
          <ac:chgData name="White (she/her), Whitney" userId="65f39021-2f1d-4d8b-87dc-b123826f65bf" providerId="ADAL" clId="{201AD1EA-BA95-461A-95BE-249C4CDA8194}" dt="2022-10-09T19:57:15.491" v="188" actId="2161"/>
          <ac:graphicFrameMkLst>
            <pc:docMk/>
            <pc:sldMk cId="1060251285" sldId="266"/>
            <ac:graphicFrameMk id="6" creationId="{AA9E840F-8AF4-4375-ABD3-E1C6A6E90252}"/>
          </ac:graphicFrameMkLst>
        </pc:graphicFrameChg>
      </pc:sldChg>
      <pc:sldChg chg="modSp add mod">
        <pc:chgData name="White (she/her), Whitney" userId="65f39021-2f1d-4d8b-87dc-b123826f65bf" providerId="ADAL" clId="{201AD1EA-BA95-461A-95BE-249C4CDA8194}" dt="2022-10-09T19:58:49.232" v="200" actId="114"/>
        <pc:sldMkLst>
          <pc:docMk/>
          <pc:sldMk cId="2419430570" sldId="267"/>
        </pc:sldMkLst>
        <pc:graphicFrameChg chg="mod modGraphic">
          <ac:chgData name="White (she/her), Whitney" userId="65f39021-2f1d-4d8b-87dc-b123826f65bf" providerId="ADAL" clId="{201AD1EA-BA95-461A-95BE-249C4CDA8194}" dt="2022-10-09T19:58:49.232" v="200" actId="114"/>
          <ac:graphicFrameMkLst>
            <pc:docMk/>
            <pc:sldMk cId="2419430570" sldId="267"/>
            <ac:graphicFrameMk id="6" creationId="{AA9E840F-8AF4-4375-ABD3-E1C6A6E90252}"/>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5DDE70-9ADB-4C9A-B58D-9BDED1E4A627}" type="datetimeFigureOut">
              <a:rPr lang="en-US" smtClean="0"/>
              <a:t>8/31/2023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949DE8-90B8-4B66-9B76-C7482BDD03BC}" type="slidenum">
              <a:rPr lang="en-US" smtClean="0"/>
              <a:t>‹#›</a:t>
            </a:fld>
            <a:endParaRPr lang="en-US"/>
          </a:p>
        </p:txBody>
      </p:sp>
    </p:spTree>
    <p:extLst>
      <p:ext uri="{BB962C8B-B14F-4D97-AF65-F5344CB8AC3E}">
        <p14:creationId xmlns:p14="http://schemas.microsoft.com/office/powerpoint/2010/main" val="1828829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E4FD1-C863-4F6C-BC67-9529A3DF2F5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5F02A33A-B5BD-43C3-902B-F6F09D5D238A}"/>
              </a:ext>
            </a:extLst>
          </p:cNvPr>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insert Lesson Plan Title</a:t>
            </a:r>
          </a:p>
        </p:txBody>
      </p:sp>
      <p:sp>
        <p:nvSpPr>
          <p:cNvPr id="4" name="Date Placeholder 3">
            <a:extLst>
              <a:ext uri="{FF2B5EF4-FFF2-40B4-BE49-F238E27FC236}">
                <a16:creationId xmlns:a16="http://schemas.microsoft.com/office/drawing/2014/main" id="{AD677D06-A159-4AA2-93DA-1C52F18ECBD7}"/>
              </a:ext>
            </a:extLst>
          </p:cNvPr>
          <p:cNvSpPr>
            <a:spLocks noGrp="1"/>
          </p:cNvSpPr>
          <p:nvPr>
            <p:ph type="dt" sz="half" idx="10"/>
          </p:nvPr>
        </p:nvSpPr>
        <p:spPr/>
        <p:txBody>
          <a:bodyPr/>
          <a:lstStyle>
            <a:lvl1pPr>
              <a:defRPr/>
            </a:lvl1pPr>
          </a:lstStyle>
          <a:p>
            <a:fld id="{D4C3A9F1-823B-4DED-8A9C-F71E6CE5796E}" type="datetime1">
              <a:rPr lang="en-US" smtClean="0"/>
              <a:t>8/31/2023</a:t>
            </a:fld>
            <a:endParaRPr lang="en-US" dirty="0"/>
          </a:p>
        </p:txBody>
      </p:sp>
      <p:pic>
        <p:nvPicPr>
          <p:cNvPr id="9" name="Picture 8" descr="Icon. This is TEA's logo.">
            <a:extLst>
              <a:ext uri="{FF2B5EF4-FFF2-40B4-BE49-F238E27FC236}">
                <a16:creationId xmlns:a16="http://schemas.microsoft.com/office/drawing/2014/main" id="{659EBB25-66A1-4A3B-BD33-7EA22967275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pic>
        <p:nvPicPr>
          <p:cNvPr id="8" name="Picture 7" descr="Icon&#10;&#10;This is TEA's Education and Training logo.">
            <a:extLst>
              <a:ext uri="{FF2B5EF4-FFF2-40B4-BE49-F238E27FC236}">
                <a16:creationId xmlns:a16="http://schemas.microsoft.com/office/drawing/2014/main" id="{253E1ECF-C55D-47F6-BD1B-E5CFD8AC6DC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50018" y="5619940"/>
            <a:ext cx="548640" cy="918972"/>
          </a:xfrm>
          <a:prstGeom prst="rect">
            <a:avLst/>
          </a:prstGeom>
        </p:spPr>
      </p:pic>
    </p:spTree>
    <p:extLst>
      <p:ext uri="{BB962C8B-B14F-4D97-AF65-F5344CB8AC3E}">
        <p14:creationId xmlns:p14="http://schemas.microsoft.com/office/powerpoint/2010/main" val="1960563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3952EC27-F26B-4322-BE1D-79E86DF9367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7" name="Picture 6" descr="Icon.&#10;&#10;This is TEA's logo.">
            <a:extLst>
              <a:ext uri="{FF2B5EF4-FFF2-40B4-BE49-F238E27FC236}">
                <a16:creationId xmlns:a16="http://schemas.microsoft.com/office/drawing/2014/main" id="{5E0CFE64-7D39-43D0-AAFE-02B4F49538FD}"/>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26C9151B-2AB9-45C2-83BD-E5F2A13853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CF151C-FCEC-402E-946E-FFBB138CCC8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2676C1-1BAD-4C95-93B1-0521C6096717}"/>
              </a:ext>
            </a:extLst>
          </p:cNvPr>
          <p:cNvSpPr>
            <a:spLocks noGrp="1"/>
          </p:cNvSpPr>
          <p:nvPr>
            <p:ph type="dt" sz="half" idx="10"/>
          </p:nvPr>
        </p:nvSpPr>
        <p:spPr/>
        <p:txBody>
          <a:bodyPr/>
          <a:lstStyle>
            <a:lvl1pPr>
              <a:defRPr/>
            </a:lvl1pPr>
          </a:lstStyle>
          <a:p>
            <a:fld id="{BFA63772-DBA2-4AC7-80D7-5D423EA9FA3C}" type="datetime1">
              <a:rPr lang="en-US" smtClean="0"/>
              <a:t>8/31/2023</a:t>
            </a:fld>
            <a:endParaRPr lang="en-US" dirty="0"/>
          </a:p>
        </p:txBody>
      </p:sp>
      <p:sp>
        <p:nvSpPr>
          <p:cNvPr id="6" name="Slide Number Placeholder 5">
            <a:extLst>
              <a:ext uri="{FF2B5EF4-FFF2-40B4-BE49-F238E27FC236}">
                <a16:creationId xmlns:a16="http://schemas.microsoft.com/office/drawing/2014/main" id="{46950A59-130A-44A5-9168-67E5241BD61D}"/>
              </a:ext>
            </a:extLst>
          </p:cNvPr>
          <p:cNvSpPr>
            <a:spLocks noGrp="1"/>
          </p:cNvSpPr>
          <p:nvPr>
            <p:ph type="sldNum" sz="quarter" idx="12"/>
          </p:nvPr>
        </p:nvSpPr>
        <p:spPr/>
        <p:txBody>
          <a:bodyPr/>
          <a:lstStyle/>
          <a:p>
            <a:fld id="{E2D56C8B-F564-4051-AFED-A78F1C6A2F0E}" type="slidenum">
              <a:rPr lang="en-US" smtClean="0"/>
              <a:pPr/>
              <a:t>‹#›</a:t>
            </a:fld>
            <a:endParaRPr lang="en-US" dirty="0"/>
          </a:p>
        </p:txBody>
      </p:sp>
    </p:spTree>
    <p:extLst>
      <p:ext uri="{BB962C8B-B14F-4D97-AF65-F5344CB8AC3E}">
        <p14:creationId xmlns:p14="http://schemas.microsoft.com/office/powerpoint/2010/main" val="8663956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B2BA44D-5463-4739-92DD-A12DF6D39EE3}"/>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007F5972-B8BD-4624-B605-5D7E30461D9B}"/>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D2B8D024-2002-4D1F-B2F4-818A3AE1C6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81A1FD-4443-45CB-9625-00873E1F371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497D6C9-834D-47FE-A0C7-DB3B2E40CB9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C3995EF-AAAA-4FB8-8BC8-3C5C9D7667A2}"/>
              </a:ext>
            </a:extLst>
          </p:cNvPr>
          <p:cNvSpPr>
            <a:spLocks noGrp="1"/>
          </p:cNvSpPr>
          <p:nvPr>
            <p:ph type="dt" sz="half" idx="10"/>
          </p:nvPr>
        </p:nvSpPr>
        <p:spPr/>
        <p:txBody>
          <a:bodyPr/>
          <a:lstStyle/>
          <a:p>
            <a:fld id="{80D0AFF5-B04B-402F-A66D-73FFE55B90A5}" type="datetime1">
              <a:rPr lang="en-US" smtClean="0"/>
              <a:t>8/31/2023</a:t>
            </a:fld>
            <a:endParaRPr lang="en-US"/>
          </a:p>
        </p:txBody>
      </p:sp>
      <p:sp>
        <p:nvSpPr>
          <p:cNvPr id="7" name="Slide Number Placeholder 6">
            <a:extLst>
              <a:ext uri="{FF2B5EF4-FFF2-40B4-BE49-F238E27FC236}">
                <a16:creationId xmlns:a16="http://schemas.microsoft.com/office/drawing/2014/main" id="{91949A45-2D3F-45E0-9651-F2BB98073004}"/>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64040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7" name="Picture 6" descr="Icon&#10;&#10;This is TEA's E&amp;T logo.">
            <a:extLst>
              <a:ext uri="{FF2B5EF4-FFF2-40B4-BE49-F238E27FC236}">
                <a16:creationId xmlns:a16="http://schemas.microsoft.com/office/drawing/2014/main" id="{ED6DCFE0-29AE-4AD0-BD08-B81AC0B7E71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6" name="Picture 5" descr="Icon.&#10;&#10;This is TEA's logo.">
            <a:extLst>
              <a:ext uri="{FF2B5EF4-FFF2-40B4-BE49-F238E27FC236}">
                <a16:creationId xmlns:a16="http://schemas.microsoft.com/office/drawing/2014/main" id="{AFD2FB0B-28F4-4754-AC40-6EB57E165198}"/>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CCA1F59-10A0-43F6-9ED7-DE8CB1637F7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1E26DD3-E445-481B-9E2A-838E7F52ABB3}"/>
              </a:ext>
            </a:extLst>
          </p:cNvPr>
          <p:cNvSpPr>
            <a:spLocks noGrp="1"/>
          </p:cNvSpPr>
          <p:nvPr>
            <p:ph type="dt" sz="half" idx="10"/>
          </p:nvPr>
        </p:nvSpPr>
        <p:spPr/>
        <p:txBody>
          <a:bodyPr/>
          <a:lstStyle/>
          <a:p>
            <a:fld id="{4364A506-6889-4F7C-A35D-9173F655B112}" type="datetime1">
              <a:rPr lang="en-US" smtClean="0"/>
              <a:t>8/31/2023</a:t>
            </a:fld>
            <a:endParaRPr lang="en-US"/>
          </a:p>
        </p:txBody>
      </p:sp>
      <p:sp>
        <p:nvSpPr>
          <p:cNvPr id="5" name="Slide Number Placeholder 4">
            <a:extLst>
              <a:ext uri="{FF2B5EF4-FFF2-40B4-BE49-F238E27FC236}">
                <a16:creationId xmlns:a16="http://schemas.microsoft.com/office/drawing/2014/main" id="{C41E09D6-CB72-40FF-9BBA-2E736CEC53A9}"/>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2879760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B5FAF1F7-69D1-48B7-B507-F3B679B8909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D54A681B-39F8-4AF9-B518-FCFAA5D3B4FA}"/>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F93258C-A373-4A72-8D76-37BF36B7DA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FB9538-CE15-4C63-AC84-5352E688E0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803CD23-0AA9-4649-BC6F-AF45EB68A4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ECAFE6-DED3-4180-88B3-AB1AF2AE9E8A}"/>
              </a:ext>
            </a:extLst>
          </p:cNvPr>
          <p:cNvSpPr>
            <a:spLocks noGrp="1"/>
          </p:cNvSpPr>
          <p:nvPr>
            <p:ph type="dt" sz="half" idx="10"/>
          </p:nvPr>
        </p:nvSpPr>
        <p:spPr/>
        <p:txBody>
          <a:bodyPr/>
          <a:lstStyle/>
          <a:p>
            <a:fld id="{1240BC81-90C7-4034-841A-62432A0701C4}" type="datetime1">
              <a:rPr lang="en-US" smtClean="0"/>
              <a:t>8/31/2023</a:t>
            </a:fld>
            <a:endParaRPr lang="en-US"/>
          </a:p>
        </p:txBody>
      </p:sp>
      <p:sp>
        <p:nvSpPr>
          <p:cNvPr id="7" name="Slide Number Placeholder 6">
            <a:extLst>
              <a:ext uri="{FF2B5EF4-FFF2-40B4-BE49-F238E27FC236}">
                <a16:creationId xmlns:a16="http://schemas.microsoft.com/office/drawing/2014/main" id="{3EAEF087-6D43-4EAE-9B1B-CEB9C3AC5C11}"/>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391490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0EEECB2-4807-41E3-B2D3-991EE641007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25C4FCAD-219B-4F99-A83E-DA5126B57DE5}"/>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5AAB400A-C810-4485-886B-EBBC5DD6CC7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61684E1D-A07E-43A4-9566-78EC65CF04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ADBF354A-AAF6-40F3-97E9-EACCAB858E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D092308-4B6B-4A76-A68F-BE16B13E121A}"/>
              </a:ext>
            </a:extLst>
          </p:cNvPr>
          <p:cNvSpPr>
            <a:spLocks noGrp="1"/>
          </p:cNvSpPr>
          <p:nvPr>
            <p:ph type="dt" sz="half" idx="10"/>
          </p:nvPr>
        </p:nvSpPr>
        <p:spPr/>
        <p:txBody>
          <a:bodyPr/>
          <a:lstStyle/>
          <a:p>
            <a:fld id="{0194B010-5EDA-416E-B5AB-AEBD814FEF92}" type="datetime1">
              <a:rPr lang="en-US" smtClean="0"/>
              <a:t>8/31/2023</a:t>
            </a:fld>
            <a:endParaRPr lang="en-US"/>
          </a:p>
        </p:txBody>
      </p:sp>
      <p:sp>
        <p:nvSpPr>
          <p:cNvPr id="7" name="Slide Number Placeholder 6">
            <a:extLst>
              <a:ext uri="{FF2B5EF4-FFF2-40B4-BE49-F238E27FC236}">
                <a16:creationId xmlns:a16="http://schemas.microsoft.com/office/drawing/2014/main" id="{A07AFB43-88EB-4A6C-AB03-405A03ABEC82}"/>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81919770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9192C8-5397-4FC4-85A7-05CFC35328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2EC8621-C852-47CD-A118-D24B6AC3DD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1DE9C7-0406-4194-A53C-344BADD62F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86C95F-23BA-4339-9C8C-C90EF96A4C91}" type="datetime1">
              <a:rPr lang="en-US" smtClean="0"/>
              <a:t>8/31/2023</a:t>
            </a:fld>
            <a:endParaRPr lang="en-US"/>
          </a:p>
        </p:txBody>
      </p:sp>
      <p:sp>
        <p:nvSpPr>
          <p:cNvPr id="5" name="Footer Placeholder 4">
            <a:extLst>
              <a:ext uri="{FF2B5EF4-FFF2-40B4-BE49-F238E27FC236}">
                <a16:creationId xmlns:a16="http://schemas.microsoft.com/office/drawing/2014/main" id="{280D1EDA-3944-4DA5-A7A2-1ACE238533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1.02: Exploring the Impact of Teachers on Student Lives</a:t>
            </a:r>
          </a:p>
        </p:txBody>
      </p:sp>
      <p:sp>
        <p:nvSpPr>
          <p:cNvPr id="6" name="Slide Number Placeholder 5">
            <a:extLst>
              <a:ext uri="{FF2B5EF4-FFF2-40B4-BE49-F238E27FC236}">
                <a16:creationId xmlns:a16="http://schemas.microsoft.com/office/drawing/2014/main" id="{55111E65-8042-49F9-8B63-5DF8961B32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D56C8B-F564-4051-AFED-A78F1C6A2F0E}" type="slidenum">
              <a:rPr lang="en-US" smtClean="0"/>
              <a:t>‹#›</a:t>
            </a:fld>
            <a:endParaRPr lang="en-US"/>
          </a:p>
        </p:txBody>
      </p:sp>
    </p:spTree>
    <p:extLst>
      <p:ext uri="{BB962C8B-B14F-4D97-AF65-F5344CB8AC3E}">
        <p14:creationId xmlns:p14="http://schemas.microsoft.com/office/powerpoint/2010/main" val="39550774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 id="2147483656" r:id="rId5"/>
    <p:sldLayoutId id="2147483657" r:id="rId6"/>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creativecommons.org/licenses/by-nc-sa/4.0/"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CF5BD-F8FF-4A67-A8B6-EBB21E79279B}"/>
              </a:ext>
            </a:extLst>
          </p:cNvPr>
          <p:cNvSpPr>
            <a:spLocks noGrp="1"/>
          </p:cNvSpPr>
          <p:nvPr>
            <p:ph type="ctrTitle"/>
          </p:nvPr>
        </p:nvSpPr>
        <p:spPr>
          <a:xfrm>
            <a:off x="0" y="6118584"/>
            <a:ext cx="9144000" cy="370300"/>
          </a:xfrm>
        </p:spPr>
        <p:txBody>
          <a:bodyPr>
            <a:normAutofit/>
          </a:bodyPr>
          <a:lstStyle/>
          <a:p>
            <a:pPr algn="l"/>
            <a:r>
              <a:rPr lang="en-US" sz="1800" dirty="0"/>
              <a:t>Instructional Practices| Unit 5: Planning For and With Assessment | </a:t>
            </a:r>
            <a:r>
              <a:rPr lang="en-US" sz="1800"/>
              <a:t>Lesson 5.04</a:t>
            </a:r>
            <a:endParaRPr lang="en-US" sz="1800" dirty="0"/>
          </a:p>
        </p:txBody>
      </p:sp>
      <p:sp>
        <p:nvSpPr>
          <p:cNvPr id="3" name="Subtitle 2">
            <a:extLst>
              <a:ext uri="{FF2B5EF4-FFF2-40B4-BE49-F238E27FC236}">
                <a16:creationId xmlns:a16="http://schemas.microsoft.com/office/drawing/2014/main" id="{E0FBD98F-3A67-498E-8174-652040DD7B60}"/>
              </a:ext>
            </a:extLst>
          </p:cNvPr>
          <p:cNvSpPr>
            <a:spLocks noGrp="1"/>
          </p:cNvSpPr>
          <p:nvPr>
            <p:ph type="subTitle" idx="1"/>
          </p:nvPr>
        </p:nvSpPr>
        <p:spPr>
          <a:xfrm>
            <a:off x="1338469" y="2321719"/>
            <a:ext cx="9515061" cy="2214561"/>
          </a:xfrm>
        </p:spPr>
        <p:txBody>
          <a:bodyPr>
            <a:normAutofit/>
          </a:bodyPr>
          <a:lstStyle/>
          <a:p>
            <a:r>
              <a:rPr lang="en-US" sz="48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Introduction to Informal Formative Assessment Strategies</a:t>
            </a:r>
            <a:endParaRPr lang="en-US" sz="4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sz="6000" dirty="0"/>
          </a:p>
        </p:txBody>
      </p:sp>
      <p:sp>
        <p:nvSpPr>
          <p:cNvPr id="7" name="TextBox 6">
            <a:extLst>
              <a:ext uri="{FF2B5EF4-FFF2-40B4-BE49-F238E27FC236}">
                <a16:creationId xmlns:a16="http://schemas.microsoft.com/office/drawing/2014/main" id="{37277623-0A38-36E5-EC91-144569D608FC}"/>
              </a:ext>
            </a:extLst>
          </p:cNvPr>
          <p:cNvSpPr txBox="1"/>
          <p:nvPr/>
        </p:nvSpPr>
        <p:spPr>
          <a:xfrm>
            <a:off x="0" y="6488884"/>
            <a:ext cx="11985771" cy="338554"/>
          </a:xfrm>
          <a:prstGeom prst="rect">
            <a:avLst/>
          </a:prstGeom>
          <a:noFill/>
        </p:spPr>
        <p:txBody>
          <a:bodyPr wrap="square">
            <a:spAutoFit/>
          </a:bodyPr>
          <a:lstStyle/>
          <a:p>
            <a:pPr marL="0" marR="0">
              <a:spcBef>
                <a:spcPts val="0"/>
              </a:spcBef>
              <a:spcAft>
                <a:spcPts val="0"/>
              </a:spcAft>
              <a:tabLst>
                <a:tab pos="2971800" algn="ctr"/>
                <a:tab pos="5943600" algn="r"/>
              </a:tabLst>
            </a:pPr>
            <a:r>
              <a:rPr lang="en-US" sz="1600" dirty="0">
                <a:solidFill>
                  <a:srgbClr val="464646"/>
                </a:solidFill>
                <a:effectLst/>
                <a:latin typeface="Calibri" panose="020F0502020204030204" pitchFamily="34" charset="0"/>
                <a:ea typeface="Calibri" panose="020F0502020204030204" pitchFamily="34" charset="0"/>
                <a:cs typeface="Calibri" panose="020F0502020204030204" pitchFamily="34" charset="0"/>
              </a:rPr>
              <a:t>This work is licensed under a </a:t>
            </a:r>
            <a:r>
              <a:rPr lang="en-US" sz="1600" u="sng" dirty="0">
                <a:solidFill>
                  <a:srgbClr val="0070C0"/>
                </a:solidFill>
                <a:effectLst/>
                <a:latin typeface="Calibri" panose="020F0502020204030204" pitchFamily="34" charset="0"/>
                <a:ea typeface="Calibri" panose="020F0502020204030204" pitchFamily="34" charset="0"/>
                <a:cs typeface="Calibri" panose="020F0502020204030204" pitchFamily="34" charset="0"/>
                <a:hlinkClick r:id="rId2"/>
              </a:rPr>
              <a:t>Creative Commons Attribution-Noncommercial-Share Alike 4.0 International License</a:t>
            </a:r>
            <a:r>
              <a:rPr lang="en-US" sz="1600" dirty="0">
                <a:solidFill>
                  <a:srgbClr val="0070C0"/>
                </a:solidFill>
                <a:effectLst/>
                <a:latin typeface="Calibri" panose="020F0502020204030204" pitchFamily="34" charset="0"/>
                <a:ea typeface="Calibri" panose="020F0502020204030204" pitchFamily="34" charset="0"/>
                <a:cs typeface="Calibri" panose="020F0502020204030204" pitchFamily="34" charset="0"/>
              </a:rPr>
              <a:t>.</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822770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3C58C-DC1D-4BDF-8706-48D86266F7FD}"/>
              </a:ext>
            </a:extLst>
          </p:cNvPr>
          <p:cNvSpPr>
            <a:spLocks noGrp="1"/>
          </p:cNvSpPr>
          <p:nvPr>
            <p:ph type="title"/>
          </p:nvPr>
        </p:nvSpPr>
        <p:spPr/>
        <p:txBody>
          <a:bodyPr/>
          <a:lstStyle/>
          <a:p>
            <a:r>
              <a:rPr lang="en-US" dirty="0"/>
              <a:t>TEKS Standards &amp; Objectives</a:t>
            </a:r>
          </a:p>
        </p:txBody>
      </p:sp>
      <p:sp>
        <p:nvSpPr>
          <p:cNvPr id="3" name="Content Placeholder 2">
            <a:extLst>
              <a:ext uri="{FF2B5EF4-FFF2-40B4-BE49-F238E27FC236}">
                <a16:creationId xmlns:a16="http://schemas.microsoft.com/office/drawing/2014/main" id="{8CE08C7F-0286-423B-92F7-DEB89F31111A}"/>
              </a:ext>
            </a:extLst>
          </p:cNvPr>
          <p:cNvSpPr>
            <a:spLocks noGrp="1"/>
          </p:cNvSpPr>
          <p:nvPr>
            <p:ph idx="1"/>
          </p:nvPr>
        </p:nvSpPr>
        <p:spPr/>
        <p:txBody>
          <a:bodyPr>
            <a:normAutofit lnSpcReduction="10000"/>
          </a:bodyPr>
          <a:lstStyle/>
          <a:p>
            <a:pPr marL="0" indent="0">
              <a:buNone/>
            </a:pPr>
            <a:r>
              <a:rPr lang="en-US" dirty="0"/>
              <a:t>TEKS: 3B, 8A</a:t>
            </a:r>
          </a:p>
          <a:p>
            <a:pPr marL="0" indent="0">
              <a:buNone/>
            </a:pPr>
            <a:endParaRPr lang="en-US" dirty="0"/>
          </a:p>
          <a:p>
            <a:pPr marL="0" indent="0">
              <a:buNone/>
            </a:pPr>
            <a:r>
              <a:rPr lang="en-US" dirty="0"/>
              <a:t>The student will:</a:t>
            </a:r>
          </a:p>
          <a:p>
            <a:pPr marL="342900" marR="0" lvl="0" indent="-342900">
              <a:lnSpc>
                <a:spcPct val="107000"/>
              </a:lnSpc>
              <a:spcBef>
                <a:spcPts val="600"/>
              </a:spcBef>
              <a:spcAft>
                <a:spcPts val="0"/>
              </a:spcAft>
              <a:buFont typeface="Symbol" panose="05050102010706020507" pitchFamily="18" charset="2"/>
              <a:buChar char=""/>
            </a:pPr>
            <a:r>
              <a:rPr lang="en-US" dirty="0">
                <a:effectLst/>
                <a:latin typeface="Calibri" panose="020F0502020204030204" pitchFamily="34" charset="0"/>
                <a:ea typeface="Open Sans" panose="020B0606030504020204" pitchFamily="34" charset="0"/>
                <a:cs typeface="Calibri" panose="020F0502020204030204" pitchFamily="34" charset="0"/>
              </a:rPr>
              <a:t>Describe and explain how to implement strategies for informal formative assessment</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600"/>
              </a:spcAft>
              <a:buFont typeface="Symbol" panose="05050102010706020507" pitchFamily="18" charset="2"/>
              <a:buChar char=""/>
            </a:pPr>
            <a:r>
              <a:rPr lang="en-US" dirty="0">
                <a:effectLst/>
                <a:latin typeface="Calibri" panose="020F0502020204030204" pitchFamily="34" charset="0"/>
                <a:ea typeface="Open Sans" panose="020B0606030504020204" pitchFamily="34" charset="0"/>
                <a:cs typeface="Calibri" panose="020F0502020204030204" pitchFamily="34" charset="0"/>
              </a:rPr>
              <a:t>Compare/contrast strategies for informal formative assessment including benefits and drawbacks of each</a:t>
            </a:r>
            <a:endParaRPr lang="en-US" dirty="0">
              <a:latin typeface="Calibri" panose="020F0502020204030204" pitchFamily="34" charset="0"/>
              <a:ea typeface="Open Sans" panose="020B0606030504020204" pitchFamily="34" charset="0"/>
              <a:cs typeface="Times New Roman" panose="02020603050405020304" pitchFamily="18" charset="0"/>
            </a:endParaRPr>
          </a:p>
          <a:p>
            <a:pPr marL="342900" marR="0" lvl="0" indent="-342900">
              <a:lnSpc>
                <a:spcPct val="107000"/>
              </a:lnSpc>
              <a:spcBef>
                <a:spcPts val="0"/>
              </a:spcBef>
              <a:spcAft>
                <a:spcPts val="600"/>
              </a:spcAft>
              <a:buFont typeface="Symbol" panose="05050102010706020507" pitchFamily="18" charset="2"/>
              <a:buChar char=""/>
            </a:pPr>
            <a:r>
              <a:rPr lang="en-US" dirty="0">
                <a:effectLst/>
                <a:latin typeface="Calibri" panose="020F0502020204030204" pitchFamily="34" charset="0"/>
                <a:ea typeface="Open Sans" panose="020B0606030504020204" pitchFamily="34" charset="0"/>
              </a:rPr>
              <a:t>Analyze scenarios to determine the best informal formative assessment</a:t>
            </a:r>
            <a:endParaRPr lang="en-US" sz="4000" dirty="0">
              <a:highlight>
                <a:srgbClr val="FFFF00"/>
              </a:highlight>
            </a:endParaRPr>
          </a:p>
        </p:txBody>
      </p:sp>
      <p:sp>
        <p:nvSpPr>
          <p:cNvPr id="4" name="Slide Number Placeholder 3">
            <a:extLst>
              <a:ext uri="{FF2B5EF4-FFF2-40B4-BE49-F238E27FC236}">
                <a16:creationId xmlns:a16="http://schemas.microsoft.com/office/drawing/2014/main" id="{FD0EEDDD-3DDC-4909-AF99-60870B25C0CC}"/>
              </a:ext>
            </a:extLst>
          </p:cNvPr>
          <p:cNvSpPr>
            <a:spLocks noGrp="1"/>
          </p:cNvSpPr>
          <p:nvPr>
            <p:ph type="sldNum" sz="quarter" idx="12"/>
          </p:nvPr>
        </p:nvSpPr>
        <p:spPr/>
        <p:txBody>
          <a:bodyPr/>
          <a:lstStyle/>
          <a:p>
            <a:fld id="{E2D56C8B-F564-4051-AFED-A78F1C6A2F0E}" type="slidenum">
              <a:rPr lang="en-US" smtClean="0"/>
              <a:pPr/>
              <a:t>2</a:t>
            </a:fld>
            <a:endParaRPr lang="en-US" dirty="0"/>
          </a:p>
        </p:txBody>
      </p:sp>
    </p:spTree>
    <p:extLst>
      <p:ext uri="{BB962C8B-B14F-4D97-AF65-F5344CB8AC3E}">
        <p14:creationId xmlns:p14="http://schemas.microsoft.com/office/powerpoint/2010/main" val="27725271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3F004-EE4F-44F2-AA0E-56B8CFF11342}"/>
              </a:ext>
            </a:extLst>
          </p:cNvPr>
          <p:cNvSpPr>
            <a:spLocks noGrp="1"/>
          </p:cNvSpPr>
          <p:nvPr>
            <p:ph type="title"/>
          </p:nvPr>
        </p:nvSpPr>
        <p:spPr/>
        <p:txBody>
          <a:bodyPr/>
          <a:lstStyle/>
          <a:p>
            <a:r>
              <a:rPr lang="en-US" dirty="0"/>
              <a:t>Bellringer</a:t>
            </a:r>
          </a:p>
        </p:txBody>
      </p:sp>
      <p:sp>
        <p:nvSpPr>
          <p:cNvPr id="3" name="Content Placeholder 2">
            <a:extLst>
              <a:ext uri="{FF2B5EF4-FFF2-40B4-BE49-F238E27FC236}">
                <a16:creationId xmlns:a16="http://schemas.microsoft.com/office/drawing/2014/main" id="{392BE286-77A6-49DD-B15D-7E4718D52FE7}"/>
              </a:ext>
            </a:extLst>
          </p:cNvPr>
          <p:cNvSpPr>
            <a:spLocks noGrp="1"/>
          </p:cNvSpPr>
          <p:nvPr>
            <p:ph idx="1"/>
          </p:nvPr>
        </p:nvSpPr>
        <p:spPr/>
        <p:txBody>
          <a:bodyPr>
            <a:normAutofit/>
          </a:bodyPr>
          <a:lstStyle/>
          <a:p>
            <a:pPr marL="0" indent="0">
              <a:buNone/>
            </a:pPr>
            <a:r>
              <a:rPr lang="en-US" dirty="0">
                <a:effectLst/>
                <a:latin typeface="Calibri" panose="020F0502020204030204" pitchFamily="34" charset="0"/>
                <a:ea typeface="Calibri" panose="020F0502020204030204" pitchFamily="34" charset="0"/>
              </a:rPr>
              <a:t>Review the scenario in your student guide. Place a carrot (^) in the lesson plan anywhere you think would be a good spot for a formative assessment. Then, use the graphic organizer below to explain your reasoning.</a:t>
            </a:r>
            <a:endParaRPr lang="en-US" sz="4000" dirty="0">
              <a:highlight>
                <a:srgbClr val="FFFF00"/>
              </a:highlight>
            </a:endParaRPr>
          </a:p>
        </p:txBody>
      </p:sp>
      <p:sp>
        <p:nvSpPr>
          <p:cNvPr id="4" name="Slide Number Placeholder 3">
            <a:extLst>
              <a:ext uri="{FF2B5EF4-FFF2-40B4-BE49-F238E27FC236}">
                <a16:creationId xmlns:a16="http://schemas.microsoft.com/office/drawing/2014/main" id="{2DC7D18A-F106-4CA1-A59B-DE4084E585CF}"/>
              </a:ext>
            </a:extLst>
          </p:cNvPr>
          <p:cNvSpPr>
            <a:spLocks noGrp="1"/>
          </p:cNvSpPr>
          <p:nvPr>
            <p:ph type="sldNum" sz="quarter" idx="12"/>
          </p:nvPr>
        </p:nvSpPr>
        <p:spPr/>
        <p:txBody>
          <a:bodyPr/>
          <a:lstStyle/>
          <a:p>
            <a:fld id="{E2D56C8B-F564-4051-AFED-A78F1C6A2F0E}" type="slidenum">
              <a:rPr lang="en-US" smtClean="0"/>
              <a:pPr/>
              <a:t>3</a:t>
            </a:fld>
            <a:endParaRPr lang="en-US" dirty="0"/>
          </a:p>
        </p:txBody>
      </p:sp>
    </p:spTree>
    <p:extLst>
      <p:ext uri="{BB962C8B-B14F-4D97-AF65-F5344CB8AC3E}">
        <p14:creationId xmlns:p14="http://schemas.microsoft.com/office/powerpoint/2010/main" val="40713056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E203D-F288-408D-B325-66954BDD332E}"/>
              </a:ext>
            </a:extLst>
          </p:cNvPr>
          <p:cNvSpPr>
            <a:spLocks noGrp="1"/>
          </p:cNvSpPr>
          <p:nvPr>
            <p:ph type="title"/>
          </p:nvPr>
        </p:nvSpPr>
        <p:spPr/>
        <p:txBody>
          <a:bodyPr/>
          <a:lstStyle/>
          <a:p>
            <a:r>
              <a:rPr lang="en-US" dirty="0"/>
              <a:t>Vocabulary</a:t>
            </a:r>
          </a:p>
        </p:txBody>
      </p:sp>
      <p:graphicFrame>
        <p:nvGraphicFramePr>
          <p:cNvPr id="5" name="Content Placeholder 4">
            <a:extLst>
              <a:ext uri="{FF2B5EF4-FFF2-40B4-BE49-F238E27FC236}">
                <a16:creationId xmlns:a16="http://schemas.microsoft.com/office/drawing/2014/main" id="{3F32326E-1739-4A2A-8477-DED449DBC679}"/>
              </a:ext>
            </a:extLst>
          </p:cNvPr>
          <p:cNvGraphicFramePr>
            <a:graphicFrameLocks noGrp="1"/>
          </p:cNvGraphicFramePr>
          <p:nvPr>
            <p:ph idx="1"/>
            <p:extLst>
              <p:ext uri="{D42A27DB-BD31-4B8C-83A1-F6EECF244321}">
                <p14:modId xmlns:p14="http://schemas.microsoft.com/office/powerpoint/2010/main" val="1346676954"/>
              </p:ext>
            </p:extLst>
          </p:nvPr>
        </p:nvGraphicFramePr>
        <p:xfrm>
          <a:off x="738229" y="2092380"/>
          <a:ext cx="10120620" cy="2873903"/>
        </p:xfrm>
        <a:graphic>
          <a:graphicData uri="http://schemas.openxmlformats.org/drawingml/2006/table">
            <a:tbl>
              <a:tblPr firstRow="1" firstCol="1" bandRow="1">
                <a:tableStyleId>{5940675A-B579-460E-94D1-54222C63F5DA}</a:tableStyleId>
              </a:tblPr>
              <a:tblGrid>
                <a:gridCol w="1985629">
                  <a:extLst>
                    <a:ext uri="{9D8B030D-6E8A-4147-A177-3AD203B41FA5}">
                      <a16:colId xmlns:a16="http://schemas.microsoft.com/office/drawing/2014/main" val="2798710309"/>
                    </a:ext>
                  </a:extLst>
                </a:gridCol>
                <a:gridCol w="8134991">
                  <a:extLst>
                    <a:ext uri="{9D8B030D-6E8A-4147-A177-3AD203B41FA5}">
                      <a16:colId xmlns:a16="http://schemas.microsoft.com/office/drawing/2014/main" val="4035635560"/>
                    </a:ext>
                  </a:extLst>
                </a:gridCol>
              </a:tblGrid>
              <a:tr h="1322302">
                <a:tc>
                  <a:txBody>
                    <a:bodyPr/>
                    <a:lstStyle/>
                    <a:p>
                      <a:pPr marL="0" marR="0" algn="ctr">
                        <a:lnSpc>
                          <a:spcPct val="107000"/>
                        </a:lnSpc>
                        <a:spcBef>
                          <a:spcPts val="600"/>
                        </a:spcBef>
                        <a:spcAft>
                          <a:spcPts val="600"/>
                        </a:spcAft>
                      </a:pPr>
                      <a:r>
                        <a:rPr lang="en-US" sz="2000" b="1" dirty="0">
                          <a:effectLst/>
                        </a:rPr>
                        <a:t>Formal Assessment</a:t>
                      </a:r>
                      <a:endParaRPr lang="en-US" sz="20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600"/>
                        </a:spcBef>
                        <a:spcAft>
                          <a:spcPts val="600"/>
                        </a:spcAft>
                      </a:pPr>
                      <a:r>
                        <a:rPr lang="en-US" sz="2000" dirty="0">
                          <a:effectLst/>
                        </a:rPr>
                        <a:t>Structured instructional activities within the lesson in which students and teachers assess the progress of student’s learning to help in the learning process (practice sets, homework, fluency assessment)</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926316414"/>
                  </a:ext>
                </a:extLst>
              </a:tr>
              <a:tr h="1551601">
                <a:tc>
                  <a:txBody>
                    <a:bodyPr/>
                    <a:lstStyle/>
                    <a:p>
                      <a:pPr marL="0" marR="0" algn="ctr">
                        <a:lnSpc>
                          <a:spcPct val="107000"/>
                        </a:lnSpc>
                        <a:spcBef>
                          <a:spcPts val="600"/>
                        </a:spcBef>
                        <a:spcAft>
                          <a:spcPts val="600"/>
                        </a:spcAft>
                      </a:pPr>
                      <a:r>
                        <a:rPr lang="en-US" sz="2000" b="1" dirty="0">
                          <a:effectLst/>
                        </a:rPr>
                        <a:t>Informal Assessment</a:t>
                      </a:r>
                      <a:endParaRPr lang="en-US" sz="20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600"/>
                        </a:spcBef>
                        <a:spcAft>
                          <a:spcPts val="600"/>
                        </a:spcAft>
                      </a:pPr>
                      <a:r>
                        <a:rPr lang="en-US" sz="2000" dirty="0">
                          <a:effectLst/>
                        </a:rPr>
                        <a:t>Quick conversational or observation-based checks for understanding (thumbs up, white boards, first to 5, feedback on students’ verbal response)</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233516035"/>
                  </a:ext>
                </a:extLst>
              </a:tr>
            </a:tbl>
          </a:graphicData>
        </a:graphic>
      </p:graphicFrame>
      <p:sp>
        <p:nvSpPr>
          <p:cNvPr id="4" name="Slide Number Placeholder 3">
            <a:extLst>
              <a:ext uri="{FF2B5EF4-FFF2-40B4-BE49-F238E27FC236}">
                <a16:creationId xmlns:a16="http://schemas.microsoft.com/office/drawing/2014/main" id="{F8BAFE7B-549A-4E98-93BA-74C837CF231D}"/>
              </a:ext>
            </a:extLst>
          </p:cNvPr>
          <p:cNvSpPr>
            <a:spLocks noGrp="1"/>
          </p:cNvSpPr>
          <p:nvPr>
            <p:ph type="sldNum" sz="quarter" idx="12"/>
          </p:nvPr>
        </p:nvSpPr>
        <p:spPr/>
        <p:txBody>
          <a:bodyPr/>
          <a:lstStyle/>
          <a:p>
            <a:fld id="{E2D56C8B-F564-4051-AFED-A78F1C6A2F0E}" type="slidenum">
              <a:rPr lang="en-US" smtClean="0"/>
              <a:pPr/>
              <a:t>4</a:t>
            </a:fld>
            <a:endParaRPr lang="en-US" dirty="0"/>
          </a:p>
        </p:txBody>
      </p:sp>
    </p:spTree>
    <p:extLst>
      <p:ext uri="{BB962C8B-B14F-4D97-AF65-F5344CB8AC3E}">
        <p14:creationId xmlns:p14="http://schemas.microsoft.com/office/powerpoint/2010/main" val="30542163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36664-70C0-47BA-9BFF-496A04EBBFDE}"/>
              </a:ext>
            </a:extLst>
          </p:cNvPr>
          <p:cNvSpPr>
            <a:spLocks noGrp="1"/>
          </p:cNvSpPr>
          <p:nvPr>
            <p:ph type="title"/>
          </p:nvPr>
        </p:nvSpPr>
        <p:spPr>
          <a:xfrm>
            <a:off x="30759" y="496488"/>
            <a:ext cx="10515600" cy="1325563"/>
          </a:xfrm>
        </p:spPr>
        <p:txBody>
          <a:bodyPr/>
          <a:lstStyle/>
          <a:p>
            <a:r>
              <a:rPr lang="en-US" dirty="0"/>
              <a:t>Informal Assessment Strategies</a:t>
            </a:r>
          </a:p>
        </p:txBody>
      </p:sp>
      <p:graphicFrame>
        <p:nvGraphicFramePr>
          <p:cNvPr id="6" name="Content Placeholder 5">
            <a:extLst>
              <a:ext uri="{FF2B5EF4-FFF2-40B4-BE49-F238E27FC236}">
                <a16:creationId xmlns:a16="http://schemas.microsoft.com/office/drawing/2014/main" id="{AA9E840F-8AF4-4375-ABD3-E1C6A6E90252}"/>
              </a:ext>
            </a:extLst>
          </p:cNvPr>
          <p:cNvGraphicFramePr>
            <a:graphicFrameLocks noGrp="1"/>
          </p:cNvGraphicFramePr>
          <p:nvPr>
            <p:ph idx="1"/>
            <p:extLst>
              <p:ext uri="{D42A27DB-BD31-4B8C-83A1-F6EECF244321}">
                <p14:modId xmlns:p14="http://schemas.microsoft.com/office/powerpoint/2010/main" val="3218541049"/>
              </p:ext>
            </p:extLst>
          </p:nvPr>
        </p:nvGraphicFramePr>
        <p:xfrm>
          <a:off x="130029" y="1709954"/>
          <a:ext cx="11931941" cy="4646396"/>
        </p:xfrm>
        <a:graphic>
          <a:graphicData uri="http://schemas.openxmlformats.org/drawingml/2006/table">
            <a:tbl>
              <a:tblPr firstRow="1" firstCol="1" bandRow="1">
                <a:tableStyleId>{5940675A-B579-460E-94D1-54222C63F5DA}</a:tableStyleId>
              </a:tblPr>
              <a:tblGrid>
                <a:gridCol w="1304359">
                  <a:extLst>
                    <a:ext uri="{9D8B030D-6E8A-4147-A177-3AD203B41FA5}">
                      <a16:colId xmlns:a16="http://schemas.microsoft.com/office/drawing/2014/main" val="3197153294"/>
                    </a:ext>
                  </a:extLst>
                </a:gridCol>
                <a:gridCol w="3281186">
                  <a:extLst>
                    <a:ext uri="{9D8B030D-6E8A-4147-A177-3AD203B41FA5}">
                      <a16:colId xmlns:a16="http://schemas.microsoft.com/office/drawing/2014/main" val="11263998"/>
                    </a:ext>
                  </a:extLst>
                </a:gridCol>
                <a:gridCol w="2608715">
                  <a:extLst>
                    <a:ext uri="{9D8B030D-6E8A-4147-A177-3AD203B41FA5}">
                      <a16:colId xmlns:a16="http://schemas.microsoft.com/office/drawing/2014/main" val="1371822677"/>
                    </a:ext>
                  </a:extLst>
                </a:gridCol>
                <a:gridCol w="4737681">
                  <a:extLst>
                    <a:ext uri="{9D8B030D-6E8A-4147-A177-3AD203B41FA5}">
                      <a16:colId xmlns:a16="http://schemas.microsoft.com/office/drawing/2014/main" val="2585565813"/>
                    </a:ext>
                  </a:extLst>
                </a:gridCol>
              </a:tblGrid>
              <a:tr h="297769">
                <a:tc>
                  <a:txBody>
                    <a:bodyPr/>
                    <a:lstStyle/>
                    <a:p>
                      <a:pPr marL="0" marR="0" algn="ctr">
                        <a:lnSpc>
                          <a:spcPct val="107000"/>
                        </a:lnSpc>
                        <a:spcBef>
                          <a:spcPts val="0"/>
                        </a:spcBef>
                        <a:spcAft>
                          <a:spcPts val="0"/>
                        </a:spcAft>
                      </a:pPr>
                      <a:r>
                        <a:rPr lang="en-US" sz="2000" dirty="0">
                          <a:effectLst/>
                        </a:rPr>
                        <a:t>Strategy</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34741" marR="34741" marT="0" marB="0"/>
                </a:tc>
                <a:tc>
                  <a:txBody>
                    <a:bodyPr/>
                    <a:lstStyle/>
                    <a:p>
                      <a:pPr marL="0" marR="0" algn="ctr">
                        <a:lnSpc>
                          <a:spcPct val="107000"/>
                        </a:lnSpc>
                        <a:spcBef>
                          <a:spcPts val="0"/>
                        </a:spcBef>
                        <a:spcAft>
                          <a:spcPts val="0"/>
                        </a:spcAft>
                      </a:pPr>
                      <a:r>
                        <a:rPr lang="en-US" sz="2000" dirty="0">
                          <a:effectLst/>
                        </a:rPr>
                        <a:t>Description</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34741" marR="34741" marT="0" marB="0"/>
                </a:tc>
                <a:tc>
                  <a:txBody>
                    <a:bodyPr/>
                    <a:lstStyle/>
                    <a:p>
                      <a:pPr marL="0" marR="0" algn="ctr">
                        <a:lnSpc>
                          <a:spcPct val="107000"/>
                        </a:lnSpc>
                        <a:spcBef>
                          <a:spcPts val="0"/>
                        </a:spcBef>
                        <a:spcAft>
                          <a:spcPts val="0"/>
                        </a:spcAft>
                      </a:pPr>
                      <a:r>
                        <a:rPr lang="en-US" sz="2000" dirty="0">
                          <a:effectLst/>
                        </a:rPr>
                        <a:t>When/Why/How</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34741" marR="34741" marT="0" marB="0"/>
                </a:tc>
                <a:tc>
                  <a:txBody>
                    <a:bodyPr/>
                    <a:lstStyle/>
                    <a:p>
                      <a:pPr marL="0" marR="0" algn="ctr">
                        <a:lnSpc>
                          <a:spcPct val="107000"/>
                        </a:lnSpc>
                        <a:spcBef>
                          <a:spcPts val="0"/>
                        </a:spcBef>
                        <a:spcAft>
                          <a:spcPts val="0"/>
                        </a:spcAft>
                      </a:pPr>
                      <a:r>
                        <a:rPr lang="en-US" sz="2000" dirty="0">
                          <a:effectLst/>
                        </a:rPr>
                        <a:t>Benefits / Drawbacks</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34741" marR="34741" marT="0" marB="0"/>
                </a:tc>
                <a:extLst>
                  <a:ext uri="{0D108BD9-81ED-4DB2-BD59-A6C34878D82A}">
                    <a16:rowId xmlns:a16="http://schemas.microsoft.com/office/drawing/2014/main" val="3560546235"/>
                  </a:ext>
                </a:extLst>
              </a:tr>
              <a:tr h="1391836">
                <a:tc>
                  <a:txBody>
                    <a:bodyPr/>
                    <a:lstStyle/>
                    <a:p>
                      <a:pPr marL="0" marR="0">
                        <a:lnSpc>
                          <a:spcPct val="107000"/>
                        </a:lnSpc>
                        <a:spcBef>
                          <a:spcPts val="0"/>
                        </a:spcBef>
                        <a:spcAft>
                          <a:spcPts val="0"/>
                        </a:spcAft>
                      </a:pPr>
                      <a:r>
                        <a:rPr lang="en-US" sz="1500" dirty="0">
                          <a:effectLst/>
                        </a:rPr>
                        <a:t>Thumbs up, down, sideways</a:t>
                      </a:r>
                      <a:endParaRPr lang="en-US"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34741" marR="34741" marT="0" marB="0"/>
                </a:tc>
                <a:tc>
                  <a:txBody>
                    <a:bodyPr/>
                    <a:lstStyle/>
                    <a:p>
                      <a:pPr marL="0" marR="0">
                        <a:lnSpc>
                          <a:spcPct val="107000"/>
                        </a:lnSpc>
                        <a:spcBef>
                          <a:spcPts val="0"/>
                        </a:spcBef>
                        <a:spcAft>
                          <a:spcPts val="0"/>
                        </a:spcAft>
                      </a:pPr>
                      <a:r>
                        <a:rPr lang="en-US" sz="1500" dirty="0">
                          <a:effectLst/>
                        </a:rPr>
                        <a:t>Students use their thumbs to indicate their own self-assessment of understanding. Thumb up means I get it, thumb down means I don’t get it, thumb sideways means I partially understand but still have some questions or confusion.</a:t>
                      </a:r>
                      <a:endParaRPr lang="en-US"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34741" marR="34741" marT="0" marB="0"/>
                </a:tc>
                <a:tc>
                  <a:txBody>
                    <a:bodyPr/>
                    <a:lstStyle/>
                    <a:p>
                      <a:pPr marL="0" marR="0">
                        <a:lnSpc>
                          <a:spcPct val="107000"/>
                        </a:lnSpc>
                        <a:spcBef>
                          <a:spcPts val="0"/>
                        </a:spcBef>
                        <a:spcAft>
                          <a:spcPts val="0"/>
                        </a:spcAft>
                      </a:pPr>
                      <a:r>
                        <a:rPr lang="en-US" sz="1500" dirty="0">
                          <a:effectLst/>
                        </a:rPr>
                        <a:t>Use to get a pulse check of how students are feeling about the lesson. Ask students to indicate their level of understanding with thumbs up, thumbs down, or thumbs sideways.</a:t>
                      </a:r>
                      <a:endParaRPr lang="en-US"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34741" marR="34741" marT="0" marB="0"/>
                </a:tc>
                <a:tc>
                  <a:txBody>
                    <a:bodyPr/>
                    <a:lstStyle/>
                    <a:p>
                      <a:pPr marL="0" marR="0">
                        <a:lnSpc>
                          <a:spcPct val="107000"/>
                        </a:lnSpc>
                        <a:spcBef>
                          <a:spcPts val="0"/>
                        </a:spcBef>
                        <a:spcAft>
                          <a:spcPts val="0"/>
                        </a:spcAft>
                      </a:pPr>
                      <a:r>
                        <a:rPr lang="en-US" sz="1500" dirty="0">
                          <a:effectLst/>
                        </a:rPr>
                        <a:t>Benefits: The teacher can quickly gauge student confidence in the lesson.</a:t>
                      </a:r>
                    </a:p>
                    <a:p>
                      <a:pPr marL="0" marR="0">
                        <a:lnSpc>
                          <a:spcPct val="107000"/>
                        </a:lnSpc>
                        <a:spcBef>
                          <a:spcPts val="0"/>
                        </a:spcBef>
                        <a:spcAft>
                          <a:spcPts val="0"/>
                        </a:spcAft>
                      </a:pPr>
                      <a:r>
                        <a:rPr lang="en-US" sz="1500" dirty="0">
                          <a:effectLst/>
                        </a:rPr>
                        <a:t> </a:t>
                      </a:r>
                    </a:p>
                    <a:p>
                      <a:pPr marL="0" marR="0">
                        <a:lnSpc>
                          <a:spcPct val="107000"/>
                        </a:lnSpc>
                        <a:spcBef>
                          <a:spcPts val="0"/>
                        </a:spcBef>
                        <a:spcAft>
                          <a:spcPts val="0"/>
                        </a:spcAft>
                      </a:pPr>
                      <a:r>
                        <a:rPr lang="en-US" sz="1500" dirty="0">
                          <a:effectLst/>
                        </a:rPr>
                        <a:t>Drawbacks: Because this strategy is a self-assessment, it does not allow a teacher to assess mastery of content.</a:t>
                      </a:r>
                      <a:endParaRPr lang="en-US"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34741" marR="34741" marT="0" marB="0"/>
                </a:tc>
                <a:extLst>
                  <a:ext uri="{0D108BD9-81ED-4DB2-BD59-A6C34878D82A}">
                    <a16:rowId xmlns:a16="http://schemas.microsoft.com/office/drawing/2014/main" val="4103107115"/>
                  </a:ext>
                </a:extLst>
              </a:tr>
              <a:tr h="2633382">
                <a:tc>
                  <a:txBody>
                    <a:bodyPr/>
                    <a:lstStyle/>
                    <a:p>
                      <a:pPr marL="0" marR="0">
                        <a:lnSpc>
                          <a:spcPct val="107000"/>
                        </a:lnSpc>
                        <a:spcBef>
                          <a:spcPts val="0"/>
                        </a:spcBef>
                        <a:spcAft>
                          <a:spcPts val="0"/>
                        </a:spcAft>
                      </a:pPr>
                      <a:r>
                        <a:rPr lang="en-US" sz="1500">
                          <a:effectLst/>
                        </a:rPr>
                        <a:t>Red, yellow, green cards</a:t>
                      </a:r>
                      <a:endParaRPr lang="en-US" sz="1500">
                        <a:effectLst/>
                        <a:latin typeface="Calibri" panose="020F0502020204030204" pitchFamily="34" charset="0"/>
                        <a:ea typeface="Calibri" panose="020F0502020204030204" pitchFamily="34" charset="0"/>
                        <a:cs typeface="Times New Roman" panose="02020603050405020304" pitchFamily="18" charset="0"/>
                      </a:endParaRPr>
                    </a:p>
                  </a:txBody>
                  <a:tcPr marL="34741" marR="34741" marT="0" marB="0"/>
                </a:tc>
                <a:tc>
                  <a:txBody>
                    <a:bodyPr/>
                    <a:lstStyle/>
                    <a:p>
                      <a:pPr marL="0" marR="0">
                        <a:lnSpc>
                          <a:spcPct val="107000"/>
                        </a:lnSpc>
                        <a:spcBef>
                          <a:spcPts val="0"/>
                        </a:spcBef>
                        <a:spcAft>
                          <a:spcPts val="0"/>
                        </a:spcAft>
                      </a:pPr>
                      <a:r>
                        <a:rPr lang="en-US" sz="1500" dirty="0">
                          <a:effectLst/>
                        </a:rPr>
                        <a:t>Like thumbs up, thumbs down, thumbs sideways, these cards are used to assess students’ self-assessment of their understanding. A green card means I’m good to go, a yellow card means I’m a little confused, a red card means I need immediate help. </a:t>
                      </a:r>
                      <a:endParaRPr lang="en-US"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34741" marR="34741" marT="0" marB="0"/>
                </a:tc>
                <a:tc>
                  <a:txBody>
                    <a:bodyPr/>
                    <a:lstStyle/>
                    <a:p>
                      <a:pPr marL="0" marR="0">
                        <a:lnSpc>
                          <a:spcPct val="107000"/>
                        </a:lnSpc>
                        <a:spcBef>
                          <a:spcPts val="0"/>
                        </a:spcBef>
                        <a:spcAft>
                          <a:spcPts val="0"/>
                        </a:spcAft>
                      </a:pPr>
                      <a:r>
                        <a:rPr lang="en-US" sz="1500" dirty="0">
                          <a:effectLst/>
                        </a:rPr>
                        <a:t>Red, yellow, green cards can be used throughout a lesson to monitor student self-assessment. </a:t>
                      </a:r>
                      <a:endParaRPr lang="en-US"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34741" marR="34741" marT="0" marB="0"/>
                </a:tc>
                <a:tc>
                  <a:txBody>
                    <a:bodyPr/>
                    <a:lstStyle/>
                    <a:p>
                      <a:pPr marL="0" marR="0">
                        <a:lnSpc>
                          <a:spcPct val="107000"/>
                        </a:lnSpc>
                        <a:spcBef>
                          <a:spcPts val="0"/>
                        </a:spcBef>
                        <a:spcAft>
                          <a:spcPts val="0"/>
                        </a:spcAft>
                      </a:pPr>
                      <a:r>
                        <a:rPr lang="en-US" sz="1500" dirty="0">
                          <a:effectLst/>
                        </a:rPr>
                        <a:t>Benefits: The teacher can quickly gauge student confidence in the lesson; when students are working independently or in small groups, the teacher can quickly prioritize students who are unable to move forward without support</a:t>
                      </a:r>
                    </a:p>
                    <a:p>
                      <a:pPr marL="0" marR="0">
                        <a:lnSpc>
                          <a:spcPct val="107000"/>
                        </a:lnSpc>
                        <a:spcBef>
                          <a:spcPts val="0"/>
                        </a:spcBef>
                        <a:spcAft>
                          <a:spcPts val="0"/>
                        </a:spcAft>
                      </a:pPr>
                      <a:r>
                        <a:rPr lang="en-US" sz="1500" dirty="0">
                          <a:effectLst/>
                        </a:rPr>
                        <a:t> </a:t>
                      </a:r>
                    </a:p>
                    <a:p>
                      <a:pPr marL="0" marR="0">
                        <a:lnSpc>
                          <a:spcPct val="107000"/>
                        </a:lnSpc>
                        <a:spcBef>
                          <a:spcPts val="0"/>
                        </a:spcBef>
                        <a:spcAft>
                          <a:spcPts val="0"/>
                        </a:spcAft>
                      </a:pPr>
                      <a:r>
                        <a:rPr lang="en-US" sz="1500" dirty="0">
                          <a:effectLst/>
                        </a:rPr>
                        <a:t>Drawbacks: Because this strategy is a self-assessment, it does not allow a teacher to assess mastery of content. Students may overuse the red card to rely on teacher support.</a:t>
                      </a:r>
                      <a:endParaRPr lang="en-US"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34741" marR="34741" marT="0" marB="0"/>
                </a:tc>
                <a:extLst>
                  <a:ext uri="{0D108BD9-81ED-4DB2-BD59-A6C34878D82A}">
                    <a16:rowId xmlns:a16="http://schemas.microsoft.com/office/drawing/2014/main" val="444061794"/>
                  </a:ext>
                </a:extLst>
              </a:tr>
            </a:tbl>
          </a:graphicData>
        </a:graphic>
      </p:graphicFrame>
      <p:sp>
        <p:nvSpPr>
          <p:cNvPr id="4" name="Slide Number Placeholder 3">
            <a:extLst>
              <a:ext uri="{FF2B5EF4-FFF2-40B4-BE49-F238E27FC236}">
                <a16:creationId xmlns:a16="http://schemas.microsoft.com/office/drawing/2014/main" id="{F767700B-954E-42AD-AD69-9CC1C5B510A5}"/>
              </a:ext>
            </a:extLst>
          </p:cNvPr>
          <p:cNvSpPr>
            <a:spLocks noGrp="1"/>
          </p:cNvSpPr>
          <p:nvPr>
            <p:ph type="sldNum" sz="quarter" idx="12"/>
          </p:nvPr>
        </p:nvSpPr>
        <p:spPr/>
        <p:txBody>
          <a:bodyPr/>
          <a:lstStyle/>
          <a:p>
            <a:fld id="{E2D56C8B-F564-4051-AFED-A78F1C6A2F0E}" type="slidenum">
              <a:rPr lang="en-US" smtClean="0"/>
              <a:pPr/>
              <a:t>5</a:t>
            </a:fld>
            <a:endParaRPr lang="en-US" dirty="0"/>
          </a:p>
        </p:txBody>
      </p:sp>
    </p:spTree>
    <p:extLst>
      <p:ext uri="{BB962C8B-B14F-4D97-AF65-F5344CB8AC3E}">
        <p14:creationId xmlns:p14="http://schemas.microsoft.com/office/powerpoint/2010/main" val="34931091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36664-70C0-47BA-9BFF-496A04EBBFDE}"/>
              </a:ext>
            </a:extLst>
          </p:cNvPr>
          <p:cNvSpPr>
            <a:spLocks noGrp="1"/>
          </p:cNvSpPr>
          <p:nvPr>
            <p:ph type="title"/>
          </p:nvPr>
        </p:nvSpPr>
        <p:spPr>
          <a:xfrm>
            <a:off x="30759" y="496488"/>
            <a:ext cx="10515600" cy="1325563"/>
          </a:xfrm>
        </p:spPr>
        <p:txBody>
          <a:bodyPr/>
          <a:lstStyle/>
          <a:p>
            <a:r>
              <a:rPr lang="en-US" dirty="0"/>
              <a:t>Informal Assessment Strategies </a:t>
            </a:r>
          </a:p>
        </p:txBody>
      </p:sp>
      <p:graphicFrame>
        <p:nvGraphicFramePr>
          <p:cNvPr id="6" name="Content Placeholder 5">
            <a:extLst>
              <a:ext uri="{FF2B5EF4-FFF2-40B4-BE49-F238E27FC236}">
                <a16:creationId xmlns:a16="http://schemas.microsoft.com/office/drawing/2014/main" id="{AA9E840F-8AF4-4375-ABD3-E1C6A6E90252}"/>
              </a:ext>
            </a:extLst>
          </p:cNvPr>
          <p:cNvGraphicFramePr>
            <a:graphicFrameLocks noGrp="1"/>
          </p:cNvGraphicFramePr>
          <p:nvPr>
            <p:ph idx="1"/>
            <p:extLst>
              <p:ext uri="{D42A27DB-BD31-4B8C-83A1-F6EECF244321}">
                <p14:modId xmlns:p14="http://schemas.microsoft.com/office/powerpoint/2010/main" val="155670816"/>
              </p:ext>
            </p:extLst>
          </p:nvPr>
        </p:nvGraphicFramePr>
        <p:xfrm>
          <a:off x="206929" y="1620511"/>
          <a:ext cx="11613160" cy="4937380"/>
        </p:xfrm>
        <a:graphic>
          <a:graphicData uri="http://schemas.openxmlformats.org/drawingml/2006/table">
            <a:tbl>
              <a:tblPr firstRow="1" firstCol="1" bandRow="1">
                <a:tableStyleId>{5940675A-B579-460E-94D1-54222C63F5DA}</a:tableStyleId>
              </a:tblPr>
              <a:tblGrid>
                <a:gridCol w="1269511">
                  <a:extLst>
                    <a:ext uri="{9D8B030D-6E8A-4147-A177-3AD203B41FA5}">
                      <a16:colId xmlns:a16="http://schemas.microsoft.com/office/drawing/2014/main" val="3197153294"/>
                    </a:ext>
                  </a:extLst>
                </a:gridCol>
                <a:gridCol w="3193524">
                  <a:extLst>
                    <a:ext uri="{9D8B030D-6E8A-4147-A177-3AD203B41FA5}">
                      <a16:colId xmlns:a16="http://schemas.microsoft.com/office/drawing/2014/main" val="11263998"/>
                    </a:ext>
                  </a:extLst>
                </a:gridCol>
                <a:gridCol w="2539019">
                  <a:extLst>
                    <a:ext uri="{9D8B030D-6E8A-4147-A177-3AD203B41FA5}">
                      <a16:colId xmlns:a16="http://schemas.microsoft.com/office/drawing/2014/main" val="1371822677"/>
                    </a:ext>
                  </a:extLst>
                </a:gridCol>
                <a:gridCol w="4611106">
                  <a:extLst>
                    <a:ext uri="{9D8B030D-6E8A-4147-A177-3AD203B41FA5}">
                      <a16:colId xmlns:a16="http://schemas.microsoft.com/office/drawing/2014/main" val="2585565813"/>
                    </a:ext>
                  </a:extLst>
                </a:gridCol>
              </a:tblGrid>
              <a:tr h="302694">
                <a:tc>
                  <a:txBody>
                    <a:bodyPr/>
                    <a:lstStyle/>
                    <a:p>
                      <a:pPr marL="0" marR="0" algn="ctr">
                        <a:lnSpc>
                          <a:spcPct val="107000"/>
                        </a:lnSpc>
                        <a:spcBef>
                          <a:spcPts val="0"/>
                        </a:spcBef>
                        <a:spcAft>
                          <a:spcPts val="0"/>
                        </a:spcAft>
                      </a:pPr>
                      <a:r>
                        <a:rPr lang="en-US" sz="2000" dirty="0">
                          <a:effectLst/>
                        </a:rPr>
                        <a:t>Strategy</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34741" marR="34741" marT="0" marB="0"/>
                </a:tc>
                <a:tc>
                  <a:txBody>
                    <a:bodyPr/>
                    <a:lstStyle/>
                    <a:p>
                      <a:pPr marL="0" marR="0" algn="ctr">
                        <a:lnSpc>
                          <a:spcPct val="107000"/>
                        </a:lnSpc>
                        <a:spcBef>
                          <a:spcPts val="0"/>
                        </a:spcBef>
                        <a:spcAft>
                          <a:spcPts val="0"/>
                        </a:spcAft>
                      </a:pPr>
                      <a:r>
                        <a:rPr lang="en-US" sz="2000" dirty="0">
                          <a:effectLst/>
                        </a:rPr>
                        <a:t>Description</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34741" marR="34741" marT="0" marB="0"/>
                </a:tc>
                <a:tc>
                  <a:txBody>
                    <a:bodyPr/>
                    <a:lstStyle/>
                    <a:p>
                      <a:pPr marL="0" marR="0" algn="ctr">
                        <a:lnSpc>
                          <a:spcPct val="107000"/>
                        </a:lnSpc>
                        <a:spcBef>
                          <a:spcPts val="0"/>
                        </a:spcBef>
                        <a:spcAft>
                          <a:spcPts val="0"/>
                        </a:spcAft>
                      </a:pPr>
                      <a:r>
                        <a:rPr lang="en-US" sz="2000" dirty="0">
                          <a:effectLst/>
                        </a:rPr>
                        <a:t>When/Why/How</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34741" marR="34741" marT="0" marB="0"/>
                </a:tc>
                <a:tc>
                  <a:txBody>
                    <a:bodyPr/>
                    <a:lstStyle/>
                    <a:p>
                      <a:pPr marL="0" marR="0" algn="ctr">
                        <a:lnSpc>
                          <a:spcPct val="107000"/>
                        </a:lnSpc>
                        <a:spcBef>
                          <a:spcPts val="0"/>
                        </a:spcBef>
                        <a:spcAft>
                          <a:spcPts val="0"/>
                        </a:spcAft>
                      </a:pPr>
                      <a:r>
                        <a:rPr lang="en-US" sz="2000" dirty="0">
                          <a:effectLst/>
                        </a:rPr>
                        <a:t>Benefits / Drawbacks</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34741" marR="34741" marT="0" marB="0"/>
                </a:tc>
                <a:extLst>
                  <a:ext uri="{0D108BD9-81ED-4DB2-BD59-A6C34878D82A}">
                    <a16:rowId xmlns:a16="http://schemas.microsoft.com/office/drawing/2014/main" val="3560546235"/>
                  </a:ext>
                </a:extLst>
              </a:tr>
              <a:tr h="1889990">
                <a:tc>
                  <a:txBody>
                    <a:bodyPr/>
                    <a:lstStyle/>
                    <a:p>
                      <a:pPr marL="0" marR="0">
                        <a:lnSpc>
                          <a:spcPct val="107000"/>
                        </a:lnSpc>
                        <a:spcBef>
                          <a:spcPts val="0"/>
                        </a:spcBef>
                        <a:spcAft>
                          <a:spcPts val="0"/>
                        </a:spcAft>
                      </a:pPr>
                      <a:r>
                        <a:rPr lang="en-US" sz="1500" i="0" dirty="0">
                          <a:effectLst/>
                        </a:rPr>
                        <a:t>Fist to Five</a:t>
                      </a:r>
                      <a:endParaRPr lang="en-US" sz="1500" i="0" dirty="0">
                        <a:effectLst/>
                        <a:latin typeface="Calibri" panose="020F0502020204030204" pitchFamily="34" charset="0"/>
                        <a:ea typeface="Calibri" panose="020F0502020204030204" pitchFamily="34" charset="0"/>
                        <a:cs typeface="Times New Roman" panose="02020603050405020304" pitchFamily="18" charset="0"/>
                      </a:endParaRPr>
                    </a:p>
                  </a:txBody>
                  <a:tcPr marL="34741" marR="34741" marT="0" marB="0"/>
                </a:tc>
                <a:tc>
                  <a:txBody>
                    <a:bodyPr/>
                    <a:lstStyle/>
                    <a:p>
                      <a:pPr marL="0" marR="0">
                        <a:lnSpc>
                          <a:spcPct val="107000"/>
                        </a:lnSpc>
                        <a:spcBef>
                          <a:spcPts val="0"/>
                        </a:spcBef>
                        <a:spcAft>
                          <a:spcPts val="0"/>
                        </a:spcAft>
                      </a:pPr>
                      <a:r>
                        <a:rPr lang="en-US" sz="1500" i="0" kern="1200" dirty="0">
                          <a:solidFill>
                            <a:schemeClr val="tx1"/>
                          </a:solidFill>
                          <a:effectLst/>
                          <a:latin typeface="+mn-lt"/>
                          <a:ea typeface="+mn-ea"/>
                          <a:cs typeface="+mn-cs"/>
                        </a:rPr>
                        <a:t>Like cards and thumbs, fist to five indicates students’ self-assessment of their understanding where holding up a fist (zero) indicates total confusion and holding up five fingers indicates complete comprehension. Students indicate levels between by holding up 1, 2, 3, or 4 fingers. </a:t>
                      </a:r>
                      <a:endParaRPr lang="en-US" sz="1500" i="0" dirty="0">
                        <a:solidFill>
                          <a:schemeClr val="tx1"/>
                        </a:solidFill>
                        <a:effectLst/>
                        <a:latin typeface="+mn-lt"/>
                        <a:ea typeface="Calibri" panose="020F0502020204030204" pitchFamily="34" charset="0"/>
                        <a:cs typeface="Times New Roman" panose="02020603050405020304" pitchFamily="18" charset="0"/>
                      </a:endParaRPr>
                    </a:p>
                  </a:txBody>
                  <a:tcPr marL="34741" marR="34741" marT="0" marB="0"/>
                </a:tc>
                <a:tc>
                  <a:txBody>
                    <a:bodyPr/>
                    <a:lstStyle/>
                    <a:p>
                      <a:r>
                        <a:rPr lang="en-US" sz="1500" i="0" kern="1200" dirty="0">
                          <a:solidFill>
                            <a:schemeClr val="tx1"/>
                          </a:solidFill>
                          <a:effectLst/>
                          <a:latin typeface="+mn-lt"/>
                          <a:ea typeface="+mn-ea"/>
                          <a:cs typeface="+mn-cs"/>
                        </a:rPr>
                        <a:t>Use to get a pulse check of how students are feeling about the lesson. Ask students to indicate their level of understanding by holding up a fist to five. Explain the indicators the first few times until the assessment becomes routine. </a:t>
                      </a:r>
                    </a:p>
                  </a:txBody>
                  <a:tcPr marL="34741" marR="34741" marT="0" marB="0"/>
                </a:tc>
                <a:tc>
                  <a:txBody>
                    <a:bodyPr/>
                    <a:lstStyle/>
                    <a:p>
                      <a:r>
                        <a:rPr lang="en-US" sz="1500" i="0" kern="1200" dirty="0">
                          <a:solidFill>
                            <a:schemeClr val="tx1"/>
                          </a:solidFill>
                          <a:effectLst/>
                          <a:latin typeface="+mn-lt"/>
                          <a:ea typeface="+mn-ea"/>
                          <a:cs typeface="+mn-cs"/>
                        </a:rPr>
                        <a:t>Benefits: The teacher can quickly gauge student confidence in the lesson; provides more nuance than thumbs.</a:t>
                      </a:r>
                    </a:p>
                    <a:p>
                      <a:r>
                        <a:rPr lang="en-US" sz="1500" i="0" kern="1200" dirty="0">
                          <a:solidFill>
                            <a:schemeClr val="tx1"/>
                          </a:solidFill>
                          <a:effectLst/>
                          <a:latin typeface="+mn-lt"/>
                          <a:ea typeface="+mn-ea"/>
                          <a:cs typeface="+mn-cs"/>
                        </a:rPr>
                        <a:t> </a:t>
                      </a:r>
                    </a:p>
                    <a:p>
                      <a:r>
                        <a:rPr lang="en-US" sz="1500" i="0" kern="1200" dirty="0">
                          <a:solidFill>
                            <a:schemeClr val="tx1"/>
                          </a:solidFill>
                          <a:effectLst/>
                          <a:latin typeface="+mn-lt"/>
                          <a:ea typeface="+mn-ea"/>
                          <a:cs typeface="+mn-cs"/>
                        </a:rPr>
                        <a:t>Drawbacks: Because this strategy is a self-assessment, it does not allow a teacher to assess mastery of content.</a:t>
                      </a:r>
                      <a:endParaRPr lang="en-US" sz="1500" i="0" dirty="0">
                        <a:solidFill>
                          <a:schemeClr val="tx1"/>
                        </a:solidFill>
                        <a:effectLst/>
                        <a:latin typeface="+mn-lt"/>
                        <a:ea typeface="Calibri" panose="020F0502020204030204" pitchFamily="34" charset="0"/>
                        <a:cs typeface="Times New Roman" panose="02020603050405020304" pitchFamily="18" charset="0"/>
                      </a:endParaRPr>
                    </a:p>
                  </a:txBody>
                  <a:tcPr marL="34741" marR="34741" marT="0" marB="0"/>
                </a:tc>
                <a:extLst>
                  <a:ext uri="{0D108BD9-81ED-4DB2-BD59-A6C34878D82A}">
                    <a16:rowId xmlns:a16="http://schemas.microsoft.com/office/drawing/2014/main" val="4103107115"/>
                  </a:ext>
                </a:extLst>
              </a:tr>
              <a:tr h="2676937">
                <a:tc>
                  <a:txBody>
                    <a:bodyPr/>
                    <a:lstStyle/>
                    <a:p>
                      <a:pPr marL="0" marR="0">
                        <a:lnSpc>
                          <a:spcPct val="107000"/>
                        </a:lnSpc>
                        <a:spcBef>
                          <a:spcPts val="0"/>
                        </a:spcBef>
                        <a:spcAft>
                          <a:spcPts val="0"/>
                        </a:spcAft>
                      </a:pPr>
                      <a:r>
                        <a:rPr lang="en-US" sz="1500" dirty="0">
                          <a:effectLst/>
                        </a:rPr>
                        <a:t>White Boards</a:t>
                      </a:r>
                      <a:endParaRPr lang="en-US"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34741" marR="34741" marT="0" marB="0"/>
                </a:tc>
                <a:tc>
                  <a:txBody>
                    <a:bodyPr/>
                    <a:lstStyle/>
                    <a:p>
                      <a:pPr marL="0" marR="0">
                        <a:lnSpc>
                          <a:spcPct val="107000"/>
                        </a:lnSpc>
                        <a:spcBef>
                          <a:spcPts val="0"/>
                        </a:spcBef>
                        <a:spcAft>
                          <a:spcPts val="0"/>
                        </a:spcAft>
                      </a:pPr>
                      <a:r>
                        <a:rPr lang="en-US" sz="1500" i="0" dirty="0">
                          <a:solidFill>
                            <a:schemeClr val="tx1"/>
                          </a:solidFill>
                          <a:effectLst/>
                          <a:latin typeface="+mn-lt"/>
                          <a:ea typeface="Calibri" panose="020F0502020204030204" pitchFamily="34" charset="0"/>
                          <a:cs typeface="Calibri" panose="020F0502020204030204" pitchFamily="34" charset="0"/>
                        </a:rPr>
                        <a:t>Provide all students with a small, individual white board, white board marker, and eraser. Students respond to questions using their personal white board</a:t>
                      </a:r>
                      <a:endParaRPr lang="en-US" sz="1500" i="0" dirty="0">
                        <a:solidFill>
                          <a:schemeClr val="tx1"/>
                        </a:solidFill>
                        <a:effectLst/>
                        <a:latin typeface="+mn-lt"/>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500" i="0" dirty="0">
                          <a:solidFill>
                            <a:schemeClr val="tx1"/>
                          </a:solidFill>
                          <a:effectLst/>
                          <a:latin typeface="+mn-lt"/>
                          <a:ea typeface="Calibri" panose="020F0502020204030204" pitchFamily="34" charset="0"/>
                          <a:cs typeface="Calibri" panose="020F0502020204030204" pitchFamily="34" charset="0"/>
                        </a:rPr>
                        <a:t>White boards can be used to assess mastery of content. The teacher poses specific, content-based questions and provides time for all students to write their responses on their individual white boards before asking students to hold up their responses for the teacher to see.</a:t>
                      </a:r>
                      <a:endParaRPr lang="en-US" sz="1500" i="0" dirty="0">
                        <a:solidFill>
                          <a:schemeClr val="tx1"/>
                        </a:solidFill>
                        <a:effectLst/>
                        <a:latin typeface="+mn-lt"/>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500" i="0" dirty="0">
                          <a:solidFill>
                            <a:schemeClr val="tx1"/>
                          </a:solidFill>
                          <a:effectLst/>
                          <a:latin typeface="+mn-lt"/>
                          <a:ea typeface="Calibri" panose="020F0502020204030204" pitchFamily="34" charset="0"/>
                          <a:cs typeface="Calibri" panose="020F0502020204030204" pitchFamily="34" charset="0"/>
                        </a:rPr>
                        <a:t>Benefits: The teacher can quickly scan for correct answers; all students are provided the opportunity to answer the question; assesses content. </a:t>
                      </a:r>
                      <a:endParaRPr lang="en-US" sz="1500" i="0" dirty="0">
                        <a:solidFill>
                          <a:schemeClr val="tx1"/>
                        </a:solidFill>
                        <a:effectLst/>
                        <a:latin typeface="+mn-lt"/>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500" i="0" dirty="0">
                          <a:solidFill>
                            <a:schemeClr val="tx1"/>
                          </a:solidFill>
                          <a:effectLst/>
                          <a:latin typeface="+mn-lt"/>
                          <a:ea typeface="Calibri" panose="020F0502020204030204" pitchFamily="34" charset="0"/>
                          <a:cs typeface="Calibri" panose="020F0502020204030204" pitchFamily="34" charset="0"/>
                        </a:rPr>
                        <a:t> </a:t>
                      </a:r>
                      <a:endParaRPr lang="en-US" sz="1500" i="0" dirty="0">
                        <a:solidFill>
                          <a:schemeClr val="tx1"/>
                        </a:solidFill>
                        <a:effectLst/>
                        <a:latin typeface="+mn-lt"/>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500" i="0" dirty="0">
                          <a:solidFill>
                            <a:schemeClr val="tx1"/>
                          </a:solidFill>
                          <a:effectLst/>
                          <a:latin typeface="+mn-lt"/>
                          <a:ea typeface="Calibri" panose="020F0502020204030204" pitchFamily="34" charset="0"/>
                          <a:cs typeface="Calibri" panose="020F0502020204030204" pitchFamily="34" charset="0"/>
                        </a:rPr>
                        <a:t>Drawbacks: The students quickly erase their answers, so the teacher does not have a record of individual responses. The activity provides an overall perspective of the class as a whole, but doesn’t necessarily provide lasting insight about individual students unless the teacher takes the time to record observations between each question.</a:t>
                      </a:r>
                      <a:endParaRPr lang="en-US" sz="1500" i="0" dirty="0">
                        <a:solidFill>
                          <a:schemeClr val="tx1"/>
                        </a:solidFill>
                        <a:effectLst/>
                        <a:latin typeface="+mn-lt"/>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44061794"/>
                  </a:ext>
                </a:extLst>
              </a:tr>
            </a:tbl>
          </a:graphicData>
        </a:graphic>
      </p:graphicFrame>
      <p:sp>
        <p:nvSpPr>
          <p:cNvPr id="4" name="Slide Number Placeholder 3">
            <a:extLst>
              <a:ext uri="{FF2B5EF4-FFF2-40B4-BE49-F238E27FC236}">
                <a16:creationId xmlns:a16="http://schemas.microsoft.com/office/drawing/2014/main" id="{F767700B-954E-42AD-AD69-9CC1C5B510A5}"/>
              </a:ext>
            </a:extLst>
          </p:cNvPr>
          <p:cNvSpPr>
            <a:spLocks noGrp="1"/>
          </p:cNvSpPr>
          <p:nvPr>
            <p:ph type="sldNum" sz="quarter" idx="12"/>
          </p:nvPr>
        </p:nvSpPr>
        <p:spPr/>
        <p:txBody>
          <a:bodyPr/>
          <a:lstStyle/>
          <a:p>
            <a:fld id="{E2D56C8B-F564-4051-AFED-A78F1C6A2F0E}" type="slidenum">
              <a:rPr lang="en-US" smtClean="0"/>
              <a:pPr/>
              <a:t>6</a:t>
            </a:fld>
            <a:endParaRPr lang="en-US" dirty="0"/>
          </a:p>
        </p:txBody>
      </p:sp>
    </p:spTree>
    <p:extLst>
      <p:ext uri="{BB962C8B-B14F-4D97-AF65-F5344CB8AC3E}">
        <p14:creationId xmlns:p14="http://schemas.microsoft.com/office/powerpoint/2010/main" val="41642854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36664-70C0-47BA-9BFF-496A04EBBFDE}"/>
              </a:ext>
            </a:extLst>
          </p:cNvPr>
          <p:cNvSpPr>
            <a:spLocks noGrp="1"/>
          </p:cNvSpPr>
          <p:nvPr>
            <p:ph type="title"/>
          </p:nvPr>
        </p:nvSpPr>
        <p:spPr>
          <a:xfrm>
            <a:off x="30759" y="496488"/>
            <a:ext cx="10515600" cy="1325563"/>
          </a:xfrm>
        </p:spPr>
        <p:txBody>
          <a:bodyPr/>
          <a:lstStyle/>
          <a:p>
            <a:r>
              <a:rPr lang="en-US" dirty="0"/>
              <a:t>Informal Assessment Strategies  </a:t>
            </a:r>
          </a:p>
        </p:txBody>
      </p:sp>
      <p:graphicFrame>
        <p:nvGraphicFramePr>
          <p:cNvPr id="6" name="Content Placeholder 5">
            <a:extLst>
              <a:ext uri="{FF2B5EF4-FFF2-40B4-BE49-F238E27FC236}">
                <a16:creationId xmlns:a16="http://schemas.microsoft.com/office/drawing/2014/main" id="{AA9E840F-8AF4-4375-ABD3-E1C6A6E90252}"/>
              </a:ext>
            </a:extLst>
          </p:cNvPr>
          <p:cNvGraphicFramePr>
            <a:graphicFrameLocks noGrp="1"/>
          </p:cNvGraphicFramePr>
          <p:nvPr>
            <p:ph idx="1"/>
            <p:extLst>
              <p:ext uri="{D42A27DB-BD31-4B8C-83A1-F6EECF244321}">
                <p14:modId xmlns:p14="http://schemas.microsoft.com/office/powerpoint/2010/main" val="208844885"/>
              </p:ext>
            </p:extLst>
          </p:nvPr>
        </p:nvGraphicFramePr>
        <p:xfrm>
          <a:off x="181762" y="1663572"/>
          <a:ext cx="11697050" cy="4692778"/>
        </p:xfrm>
        <a:graphic>
          <a:graphicData uri="http://schemas.openxmlformats.org/drawingml/2006/table">
            <a:tbl>
              <a:tblPr firstRow="1" firstCol="1" bandRow="1">
                <a:tableStyleId>{5940675A-B579-460E-94D1-54222C63F5DA}</a:tableStyleId>
              </a:tblPr>
              <a:tblGrid>
                <a:gridCol w="1278682">
                  <a:extLst>
                    <a:ext uri="{9D8B030D-6E8A-4147-A177-3AD203B41FA5}">
                      <a16:colId xmlns:a16="http://schemas.microsoft.com/office/drawing/2014/main" val="3197153294"/>
                    </a:ext>
                  </a:extLst>
                </a:gridCol>
                <a:gridCol w="3216593">
                  <a:extLst>
                    <a:ext uri="{9D8B030D-6E8A-4147-A177-3AD203B41FA5}">
                      <a16:colId xmlns:a16="http://schemas.microsoft.com/office/drawing/2014/main" val="11263998"/>
                    </a:ext>
                  </a:extLst>
                </a:gridCol>
                <a:gridCol w="2557360">
                  <a:extLst>
                    <a:ext uri="{9D8B030D-6E8A-4147-A177-3AD203B41FA5}">
                      <a16:colId xmlns:a16="http://schemas.microsoft.com/office/drawing/2014/main" val="1371822677"/>
                    </a:ext>
                  </a:extLst>
                </a:gridCol>
                <a:gridCol w="4644415">
                  <a:extLst>
                    <a:ext uri="{9D8B030D-6E8A-4147-A177-3AD203B41FA5}">
                      <a16:colId xmlns:a16="http://schemas.microsoft.com/office/drawing/2014/main" val="2585565813"/>
                    </a:ext>
                  </a:extLst>
                </a:gridCol>
              </a:tblGrid>
              <a:tr h="295844">
                <a:tc>
                  <a:txBody>
                    <a:bodyPr/>
                    <a:lstStyle/>
                    <a:p>
                      <a:pPr marL="0" marR="0" algn="ctr">
                        <a:lnSpc>
                          <a:spcPct val="107000"/>
                        </a:lnSpc>
                        <a:spcBef>
                          <a:spcPts val="0"/>
                        </a:spcBef>
                        <a:spcAft>
                          <a:spcPts val="0"/>
                        </a:spcAft>
                      </a:pPr>
                      <a:r>
                        <a:rPr lang="en-US" sz="2000" dirty="0">
                          <a:effectLst/>
                        </a:rPr>
                        <a:t>Strategy</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34741" marR="34741" marT="0" marB="0"/>
                </a:tc>
                <a:tc>
                  <a:txBody>
                    <a:bodyPr/>
                    <a:lstStyle/>
                    <a:p>
                      <a:pPr marL="0" marR="0" algn="ctr">
                        <a:lnSpc>
                          <a:spcPct val="107000"/>
                        </a:lnSpc>
                        <a:spcBef>
                          <a:spcPts val="0"/>
                        </a:spcBef>
                        <a:spcAft>
                          <a:spcPts val="0"/>
                        </a:spcAft>
                      </a:pPr>
                      <a:r>
                        <a:rPr lang="en-US" sz="2000" dirty="0">
                          <a:effectLst/>
                        </a:rPr>
                        <a:t>Description</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34741" marR="34741" marT="0" marB="0"/>
                </a:tc>
                <a:tc>
                  <a:txBody>
                    <a:bodyPr/>
                    <a:lstStyle/>
                    <a:p>
                      <a:pPr marL="0" marR="0" algn="ctr">
                        <a:lnSpc>
                          <a:spcPct val="107000"/>
                        </a:lnSpc>
                        <a:spcBef>
                          <a:spcPts val="0"/>
                        </a:spcBef>
                        <a:spcAft>
                          <a:spcPts val="0"/>
                        </a:spcAft>
                      </a:pPr>
                      <a:r>
                        <a:rPr lang="en-US" sz="2000" dirty="0">
                          <a:effectLst/>
                        </a:rPr>
                        <a:t>When/Why/How</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34741" marR="34741" marT="0" marB="0"/>
                </a:tc>
                <a:tc>
                  <a:txBody>
                    <a:bodyPr/>
                    <a:lstStyle/>
                    <a:p>
                      <a:pPr marL="0" marR="0" algn="ctr">
                        <a:lnSpc>
                          <a:spcPct val="107000"/>
                        </a:lnSpc>
                        <a:spcBef>
                          <a:spcPts val="0"/>
                        </a:spcBef>
                        <a:spcAft>
                          <a:spcPts val="0"/>
                        </a:spcAft>
                      </a:pPr>
                      <a:r>
                        <a:rPr lang="en-US" sz="2000" dirty="0">
                          <a:effectLst/>
                        </a:rPr>
                        <a:t>Benefits / Drawbacks</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34741" marR="34741" marT="0" marB="0"/>
                </a:tc>
                <a:extLst>
                  <a:ext uri="{0D108BD9-81ED-4DB2-BD59-A6C34878D82A}">
                    <a16:rowId xmlns:a16="http://schemas.microsoft.com/office/drawing/2014/main" val="3560546235"/>
                  </a:ext>
                </a:extLst>
              </a:tr>
              <a:tr h="1847215">
                <a:tc>
                  <a:txBody>
                    <a:bodyPr/>
                    <a:lstStyle/>
                    <a:p>
                      <a:pPr marL="0" marR="0">
                        <a:lnSpc>
                          <a:spcPct val="107000"/>
                        </a:lnSpc>
                        <a:spcBef>
                          <a:spcPts val="0"/>
                        </a:spcBef>
                        <a:spcAft>
                          <a:spcPts val="0"/>
                        </a:spcAft>
                      </a:pPr>
                      <a:r>
                        <a:rPr lang="en-US" sz="1500" i="0">
                          <a:solidFill>
                            <a:schemeClr val="tx1"/>
                          </a:solidFill>
                          <a:effectLst/>
                          <a:latin typeface="Calibri" panose="020F0502020204030204" pitchFamily="34" charset="0"/>
                          <a:ea typeface="Calibri" panose="020F0502020204030204" pitchFamily="34" charset="0"/>
                          <a:cs typeface="Calibri" panose="020F0502020204030204" pitchFamily="34" charset="0"/>
                        </a:rPr>
                        <a:t>Think-Pair-Share</a:t>
                      </a:r>
                      <a:endParaRPr lang="en-US" sz="1500" i="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500" i="0">
                          <a:solidFill>
                            <a:schemeClr val="tx1"/>
                          </a:solidFill>
                          <a:effectLst/>
                          <a:latin typeface="Calibri" panose="020F0502020204030204" pitchFamily="34" charset="0"/>
                          <a:ea typeface="Calibri" panose="020F0502020204030204" pitchFamily="34" charset="0"/>
                          <a:cs typeface="Calibri" panose="020F0502020204030204" pitchFamily="34" charset="0"/>
                        </a:rPr>
                        <a:t>Students have time to respond individually to a prompt before pairing up to discuss and compare their answers. </a:t>
                      </a:r>
                      <a:endParaRPr lang="en-US" sz="1500" i="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500" i="0">
                          <a:solidFill>
                            <a:schemeClr val="tx1"/>
                          </a:solidFill>
                          <a:effectLst/>
                          <a:latin typeface="Calibri" panose="020F0502020204030204" pitchFamily="34" charset="0"/>
                          <a:ea typeface="Calibri" panose="020F0502020204030204" pitchFamily="34" charset="0"/>
                          <a:cs typeface="Calibri" panose="020F0502020204030204" pitchFamily="34" charset="0"/>
                        </a:rPr>
                        <a:t>Provide a prompt and time for students to respond individually. Then, instruct them to find a partner and provide time to compare and discuss. Teacher circulates and monitors discussions. </a:t>
                      </a:r>
                      <a:endParaRPr lang="en-US" sz="1500" i="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500" i="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Benefits: Provides opportunity for students to learn with and from peers; assesses content. </a:t>
                      </a:r>
                      <a:endParaRPr lang="en-US" sz="1500" i="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500" i="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endParaRPr lang="en-US" sz="1500" i="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500" i="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Drawbacks: Can be time consuming, teacher may or may not have time to hear all student discussions; does not necessarily allow a teacher to gauge individual understanding unless they take time to record observations as they monitor.</a:t>
                      </a:r>
                      <a:endParaRPr lang="en-US" sz="1500" i="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103107115"/>
                  </a:ext>
                </a:extLst>
              </a:tr>
              <a:tr h="2311596">
                <a:tc>
                  <a:txBody>
                    <a:bodyPr/>
                    <a:lstStyle/>
                    <a:p>
                      <a:pPr marL="0" marR="0">
                        <a:lnSpc>
                          <a:spcPct val="107000"/>
                        </a:lnSpc>
                        <a:spcBef>
                          <a:spcPts val="0"/>
                        </a:spcBef>
                        <a:spcAft>
                          <a:spcPts val="0"/>
                        </a:spcAft>
                      </a:pPr>
                      <a:r>
                        <a:rPr lang="en-US" sz="1500" i="0">
                          <a:solidFill>
                            <a:schemeClr val="tx1"/>
                          </a:solidFill>
                          <a:effectLst/>
                          <a:latin typeface="Calibri" panose="020F0502020204030204" pitchFamily="34" charset="0"/>
                          <a:ea typeface="Calibri" panose="020F0502020204030204" pitchFamily="34" charset="0"/>
                          <a:cs typeface="Calibri" panose="020F0502020204030204" pitchFamily="34" charset="0"/>
                        </a:rPr>
                        <a:t>Four Corners</a:t>
                      </a:r>
                      <a:endParaRPr lang="en-US" sz="1500" i="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500" i="0">
                          <a:solidFill>
                            <a:schemeClr val="tx1"/>
                          </a:solidFill>
                          <a:effectLst/>
                          <a:latin typeface="Calibri" panose="020F0502020204030204" pitchFamily="34" charset="0"/>
                          <a:ea typeface="Calibri" panose="020F0502020204030204" pitchFamily="34" charset="0"/>
                          <a:cs typeface="Calibri" panose="020F0502020204030204" pitchFamily="34" charset="0"/>
                        </a:rPr>
                        <a:t>Students respond to a multiple-choice question by moving to the corner of the room that indicates their choice. </a:t>
                      </a:r>
                      <a:endParaRPr lang="en-US" sz="1500" i="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500" i="0">
                          <a:solidFill>
                            <a:schemeClr val="tx1"/>
                          </a:solidFill>
                          <a:effectLst/>
                          <a:latin typeface="Calibri" panose="020F0502020204030204" pitchFamily="34" charset="0"/>
                          <a:ea typeface="Calibri" panose="020F0502020204030204" pitchFamily="34" charset="0"/>
                          <a:cs typeface="Calibri" panose="020F0502020204030204" pitchFamily="34" charset="0"/>
                        </a:rPr>
                        <a:t>Post letters in each corner of the room (A, B, C, D). Pose a multiple-choice question and ask students to move to the corner of the room that indicates their choice. Provide an opportunity for students to share their reasoning and attempt to convince their peers of the correct choice.  </a:t>
                      </a:r>
                      <a:endParaRPr lang="en-US" sz="1500" i="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500" i="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Benefits: Provides opportunity for students to learn with and from their peers; assesses content; allows for movement in the classroom. </a:t>
                      </a:r>
                      <a:endParaRPr lang="en-US" sz="1500" i="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500" i="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endParaRPr lang="en-US" sz="1500" i="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500" i="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Drawbacks: Can be time consuming; students may engage in “group think” by following someone they think has the right answer instead of making their own selection; does not necessarily allow a teacher to gauge individual understanding unless they take time to record observations during the activity.</a:t>
                      </a:r>
                      <a:endParaRPr lang="en-US" sz="1500" i="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44061794"/>
                  </a:ext>
                </a:extLst>
              </a:tr>
            </a:tbl>
          </a:graphicData>
        </a:graphic>
      </p:graphicFrame>
      <p:sp>
        <p:nvSpPr>
          <p:cNvPr id="4" name="Slide Number Placeholder 3">
            <a:extLst>
              <a:ext uri="{FF2B5EF4-FFF2-40B4-BE49-F238E27FC236}">
                <a16:creationId xmlns:a16="http://schemas.microsoft.com/office/drawing/2014/main" id="{F767700B-954E-42AD-AD69-9CC1C5B510A5}"/>
              </a:ext>
            </a:extLst>
          </p:cNvPr>
          <p:cNvSpPr>
            <a:spLocks noGrp="1"/>
          </p:cNvSpPr>
          <p:nvPr>
            <p:ph type="sldNum" sz="quarter" idx="12"/>
          </p:nvPr>
        </p:nvSpPr>
        <p:spPr/>
        <p:txBody>
          <a:bodyPr/>
          <a:lstStyle/>
          <a:p>
            <a:fld id="{E2D56C8B-F564-4051-AFED-A78F1C6A2F0E}" type="slidenum">
              <a:rPr lang="en-US" smtClean="0"/>
              <a:pPr/>
              <a:t>7</a:t>
            </a:fld>
            <a:endParaRPr lang="en-US" dirty="0"/>
          </a:p>
        </p:txBody>
      </p:sp>
    </p:spTree>
    <p:extLst>
      <p:ext uri="{BB962C8B-B14F-4D97-AF65-F5344CB8AC3E}">
        <p14:creationId xmlns:p14="http://schemas.microsoft.com/office/powerpoint/2010/main" val="10602512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36664-70C0-47BA-9BFF-496A04EBBFDE}"/>
              </a:ext>
            </a:extLst>
          </p:cNvPr>
          <p:cNvSpPr>
            <a:spLocks noGrp="1"/>
          </p:cNvSpPr>
          <p:nvPr>
            <p:ph type="title"/>
          </p:nvPr>
        </p:nvSpPr>
        <p:spPr>
          <a:xfrm>
            <a:off x="30759" y="496488"/>
            <a:ext cx="10515600" cy="1325563"/>
          </a:xfrm>
        </p:spPr>
        <p:txBody>
          <a:bodyPr/>
          <a:lstStyle/>
          <a:p>
            <a:r>
              <a:rPr lang="en-US" dirty="0"/>
              <a:t>Informal Assessment Strategies   </a:t>
            </a:r>
          </a:p>
        </p:txBody>
      </p:sp>
      <p:graphicFrame>
        <p:nvGraphicFramePr>
          <p:cNvPr id="6" name="Content Placeholder 5">
            <a:extLst>
              <a:ext uri="{FF2B5EF4-FFF2-40B4-BE49-F238E27FC236}">
                <a16:creationId xmlns:a16="http://schemas.microsoft.com/office/drawing/2014/main" id="{AA9E840F-8AF4-4375-ABD3-E1C6A6E90252}"/>
              </a:ext>
            </a:extLst>
          </p:cNvPr>
          <p:cNvGraphicFramePr>
            <a:graphicFrameLocks noGrp="1"/>
          </p:cNvGraphicFramePr>
          <p:nvPr>
            <p:ph idx="1"/>
            <p:extLst>
              <p:ext uri="{D42A27DB-BD31-4B8C-83A1-F6EECF244321}">
                <p14:modId xmlns:p14="http://schemas.microsoft.com/office/powerpoint/2010/main" val="1411732535"/>
              </p:ext>
            </p:extLst>
          </p:nvPr>
        </p:nvGraphicFramePr>
        <p:xfrm>
          <a:off x="188752" y="2269345"/>
          <a:ext cx="11814496" cy="2013014"/>
        </p:xfrm>
        <a:graphic>
          <a:graphicData uri="http://schemas.openxmlformats.org/drawingml/2006/table">
            <a:tbl>
              <a:tblPr firstRow="1" firstCol="1" bandRow="1">
                <a:tableStyleId>{5940675A-B579-460E-94D1-54222C63F5DA}</a:tableStyleId>
              </a:tblPr>
              <a:tblGrid>
                <a:gridCol w="1291521">
                  <a:extLst>
                    <a:ext uri="{9D8B030D-6E8A-4147-A177-3AD203B41FA5}">
                      <a16:colId xmlns:a16="http://schemas.microsoft.com/office/drawing/2014/main" val="3197153294"/>
                    </a:ext>
                  </a:extLst>
                </a:gridCol>
                <a:gridCol w="3248890">
                  <a:extLst>
                    <a:ext uri="{9D8B030D-6E8A-4147-A177-3AD203B41FA5}">
                      <a16:colId xmlns:a16="http://schemas.microsoft.com/office/drawing/2014/main" val="11263998"/>
                    </a:ext>
                  </a:extLst>
                </a:gridCol>
                <a:gridCol w="2583037">
                  <a:extLst>
                    <a:ext uri="{9D8B030D-6E8A-4147-A177-3AD203B41FA5}">
                      <a16:colId xmlns:a16="http://schemas.microsoft.com/office/drawing/2014/main" val="1371822677"/>
                    </a:ext>
                  </a:extLst>
                </a:gridCol>
                <a:gridCol w="4691048">
                  <a:extLst>
                    <a:ext uri="{9D8B030D-6E8A-4147-A177-3AD203B41FA5}">
                      <a16:colId xmlns:a16="http://schemas.microsoft.com/office/drawing/2014/main" val="2585565813"/>
                    </a:ext>
                  </a:extLst>
                </a:gridCol>
              </a:tblGrid>
              <a:tr h="283753">
                <a:tc>
                  <a:txBody>
                    <a:bodyPr/>
                    <a:lstStyle/>
                    <a:p>
                      <a:pPr marL="0" marR="0" algn="ctr">
                        <a:lnSpc>
                          <a:spcPct val="107000"/>
                        </a:lnSpc>
                        <a:spcBef>
                          <a:spcPts val="0"/>
                        </a:spcBef>
                        <a:spcAft>
                          <a:spcPts val="0"/>
                        </a:spcAft>
                      </a:pPr>
                      <a:r>
                        <a:rPr lang="en-US" sz="2000" dirty="0">
                          <a:effectLst/>
                        </a:rPr>
                        <a:t>Strategy</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34741" marR="34741" marT="0" marB="0"/>
                </a:tc>
                <a:tc>
                  <a:txBody>
                    <a:bodyPr/>
                    <a:lstStyle/>
                    <a:p>
                      <a:pPr marL="0" marR="0" algn="ctr">
                        <a:lnSpc>
                          <a:spcPct val="107000"/>
                        </a:lnSpc>
                        <a:spcBef>
                          <a:spcPts val="0"/>
                        </a:spcBef>
                        <a:spcAft>
                          <a:spcPts val="0"/>
                        </a:spcAft>
                      </a:pPr>
                      <a:r>
                        <a:rPr lang="en-US" sz="2000" dirty="0">
                          <a:effectLst/>
                        </a:rPr>
                        <a:t>Description</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34741" marR="34741" marT="0" marB="0"/>
                </a:tc>
                <a:tc>
                  <a:txBody>
                    <a:bodyPr/>
                    <a:lstStyle/>
                    <a:p>
                      <a:pPr marL="0" marR="0" algn="ctr">
                        <a:lnSpc>
                          <a:spcPct val="107000"/>
                        </a:lnSpc>
                        <a:spcBef>
                          <a:spcPts val="0"/>
                        </a:spcBef>
                        <a:spcAft>
                          <a:spcPts val="0"/>
                        </a:spcAft>
                      </a:pPr>
                      <a:r>
                        <a:rPr lang="en-US" sz="2000" dirty="0">
                          <a:effectLst/>
                        </a:rPr>
                        <a:t>When/Why/How</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34741" marR="34741" marT="0" marB="0"/>
                </a:tc>
                <a:tc>
                  <a:txBody>
                    <a:bodyPr/>
                    <a:lstStyle/>
                    <a:p>
                      <a:pPr marL="0" marR="0" algn="ctr">
                        <a:lnSpc>
                          <a:spcPct val="107000"/>
                        </a:lnSpc>
                        <a:spcBef>
                          <a:spcPts val="0"/>
                        </a:spcBef>
                        <a:spcAft>
                          <a:spcPts val="0"/>
                        </a:spcAft>
                      </a:pPr>
                      <a:r>
                        <a:rPr lang="en-US" sz="2000" dirty="0">
                          <a:effectLst/>
                        </a:rPr>
                        <a:t>Benefits / Drawbacks</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34741" marR="34741" marT="0" marB="0"/>
                </a:tc>
                <a:extLst>
                  <a:ext uri="{0D108BD9-81ED-4DB2-BD59-A6C34878D82A}">
                    <a16:rowId xmlns:a16="http://schemas.microsoft.com/office/drawing/2014/main" val="3560546235"/>
                  </a:ext>
                </a:extLst>
              </a:tr>
              <a:tr h="1549022">
                <a:tc>
                  <a:txBody>
                    <a:bodyPr/>
                    <a:lstStyle/>
                    <a:p>
                      <a:pPr marL="0" marR="0">
                        <a:lnSpc>
                          <a:spcPct val="107000"/>
                        </a:lnSpc>
                        <a:spcBef>
                          <a:spcPts val="0"/>
                        </a:spcBef>
                        <a:spcAft>
                          <a:spcPts val="0"/>
                        </a:spcAft>
                      </a:pPr>
                      <a:r>
                        <a:rPr lang="en-US" sz="1500" i="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Quick Poll</a:t>
                      </a:r>
                      <a:endParaRPr lang="en-US" sz="1500" i="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500" i="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Students respond to poll questions using devices.</a:t>
                      </a:r>
                      <a:endParaRPr lang="en-US" sz="1500" i="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500" i="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Create a poll for students using technology (Poll Everywhere, </a:t>
                      </a:r>
                      <a:r>
                        <a:rPr lang="en-US" sz="1500" i="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Mentimeter</a:t>
                      </a:r>
                      <a:r>
                        <a:rPr lang="en-US" sz="1500" i="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Google Forms, Kahoot, etc.)</a:t>
                      </a:r>
                      <a:endParaRPr lang="en-US" sz="1500" i="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500" i="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Benefits: The poll can be used to assess content and will quickly provide feedback to the teacher about percentage correct. </a:t>
                      </a:r>
                      <a:endParaRPr lang="en-US" sz="1500" i="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500" i="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endParaRPr lang="en-US" sz="1500" i="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500" i="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Drawbacks: The teacher may have no indication of individual student responses; students may not have access to technology; technology may or may not work.</a:t>
                      </a:r>
                      <a:endParaRPr lang="en-US" sz="1500" i="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103107115"/>
                  </a:ext>
                </a:extLst>
              </a:tr>
            </a:tbl>
          </a:graphicData>
        </a:graphic>
      </p:graphicFrame>
      <p:sp>
        <p:nvSpPr>
          <p:cNvPr id="4" name="Slide Number Placeholder 3">
            <a:extLst>
              <a:ext uri="{FF2B5EF4-FFF2-40B4-BE49-F238E27FC236}">
                <a16:creationId xmlns:a16="http://schemas.microsoft.com/office/drawing/2014/main" id="{F767700B-954E-42AD-AD69-9CC1C5B510A5}"/>
              </a:ext>
            </a:extLst>
          </p:cNvPr>
          <p:cNvSpPr>
            <a:spLocks noGrp="1"/>
          </p:cNvSpPr>
          <p:nvPr>
            <p:ph type="sldNum" sz="quarter" idx="12"/>
          </p:nvPr>
        </p:nvSpPr>
        <p:spPr/>
        <p:txBody>
          <a:bodyPr/>
          <a:lstStyle/>
          <a:p>
            <a:fld id="{E2D56C8B-F564-4051-AFED-A78F1C6A2F0E}" type="slidenum">
              <a:rPr lang="en-US" smtClean="0"/>
              <a:pPr/>
              <a:t>8</a:t>
            </a:fld>
            <a:endParaRPr lang="en-US" dirty="0"/>
          </a:p>
        </p:txBody>
      </p:sp>
    </p:spTree>
    <p:extLst>
      <p:ext uri="{BB962C8B-B14F-4D97-AF65-F5344CB8AC3E}">
        <p14:creationId xmlns:p14="http://schemas.microsoft.com/office/powerpoint/2010/main" val="24194305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B837C-3E07-4129-B371-9F5CA97D5605}"/>
              </a:ext>
            </a:extLst>
          </p:cNvPr>
          <p:cNvSpPr>
            <a:spLocks noGrp="1"/>
          </p:cNvSpPr>
          <p:nvPr>
            <p:ph type="title"/>
          </p:nvPr>
        </p:nvSpPr>
        <p:spPr/>
        <p:txBody>
          <a:bodyPr/>
          <a:lstStyle/>
          <a:p>
            <a:r>
              <a:rPr lang="en-US" dirty="0"/>
              <a:t>Exit Ticket</a:t>
            </a:r>
          </a:p>
        </p:txBody>
      </p:sp>
      <p:sp>
        <p:nvSpPr>
          <p:cNvPr id="3" name="Content Placeholder 2">
            <a:extLst>
              <a:ext uri="{FF2B5EF4-FFF2-40B4-BE49-F238E27FC236}">
                <a16:creationId xmlns:a16="http://schemas.microsoft.com/office/drawing/2014/main" id="{49F2A5AF-3C0B-4968-A438-E435325199EA}"/>
              </a:ext>
            </a:extLst>
          </p:cNvPr>
          <p:cNvSpPr>
            <a:spLocks noGrp="1"/>
          </p:cNvSpPr>
          <p:nvPr>
            <p:ph idx="1"/>
          </p:nvPr>
        </p:nvSpPr>
        <p:spPr/>
        <p:txBody>
          <a:bodyPr/>
          <a:lstStyle/>
          <a:p>
            <a:pPr marL="0" indent="0">
              <a:buNone/>
            </a:pPr>
            <a:r>
              <a:rPr lang="en-US" dirty="0"/>
              <a:t>Identify the strategy (or strategies) you think would be the best informal assessment for the scenarios provided. Explain why.</a:t>
            </a:r>
          </a:p>
        </p:txBody>
      </p:sp>
      <p:sp>
        <p:nvSpPr>
          <p:cNvPr id="4" name="Slide Number Placeholder 3">
            <a:extLst>
              <a:ext uri="{FF2B5EF4-FFF2-40B4-BE49-F238E27FC236}">
                <a16:creationId xmlns:a16="http://schemas.microsoft.com/office/drawing/2014/main" id="{00210221-3F4A-4187-A674-5BB2A5218FDE}"/>
              </a:ext>
            </a:extLst>
          </p:cNvPr>
          <p:cNvSpPr>
            <a:spLocks noGrp="1"/>
          </p:cNvSpPr>
          <p:nvPr>
            <p:ph type="sldNum" sz="quarter" idx="12"/>
          </p:nvPr>
        </p:nvSpPr>
        <p:spPr/>
        <p:txBody>
          <a:bodyPr/>
          <a:lstStyle/>
          <a:p>
            <a:fld id="{E2D56C8B-F564-4051-AFED-A78F1C6A2F0E}" type="slidenum">
              <a:rPr lang="en-US" smtClean="0"/>
              <a:pPr/>
              <a:t>9</a:t>
            </a:fld>
            <a:endParaRPr lang="en-US" dirty="0"/>
          </a:p>
        </p:txBody>
      </p:sp>
    </p:spTree>
    <p:extLst>
      <p:ext uri="{BB962C8B-B14F-4D97-AF65-F5344CB8AC3E}">
        <p14:creationId xmlns:p14="http://schemas.microsoft.com/office/powerpoint/2010/main" val="21474087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2FC137D3-1920-4541-BF2F-431628E4368B}" vid="{D2C998E6-2449-491A-B7CD-BA309C05762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C2U5 Template</Template>
  <TotalTime>18</TotalTime>
  <Words>1175</Words>
  <Application>Microsoft Office PowerPoint</Application>
  <PresentationFormat>Widescreen</PresentationFormat>
  <Paragraphs>89</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Calibri Light</vt:lpstr>
      <vt:lpstr>Symbol</vt:lpstr>
      <vt:lpstr>Office Theme</vt:lpstr>
      <vt:lpstr>Instructional Practices| Unit 5: Planning For and With Assessment | Lesson 5.04</vt:lpstr>
      <vt:lpstr>TEKS Standards &amp; Objectives</vt:lpstr>
      <vt:lpstr>Bellringer</vt:lpstr>
      <vt:lpstr>Vocabulary</vt:lpstr>
      <vt:lpstr>Informal Assessment Strategies</vt:lpstr>
      <vt:lpstr>Informal Assessment Strategies </vt:lpstr>
      <vt:lpstr>Informal Assessment Strategies  </vt:lpstr>
      <vt:lpstr>Informal Assessment Strategies   </vt:lpstr>
      <vt:lpstr>Exit Ticket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5.04: Introduction to Informal Formative Assessment Strategies</dc:title>
  <dc:subject>Lesson 5.04: Introduction to Informal Formative Assessment Strategies</dc:subject>
  <dc:creator>Texas Education Agency</dc:creator>
  <cp:lastModifiedBy>London White</cp:lastModifiedBy>
  <cp:revision>3</cp:revision>
  <dcterms:created xsi:type="dcterms:W3CDTF">2022-09-18T22:44:52Z</dcterms:created>
  <dcterms:modified xsi:type="dcterms:W3CDTF">2023-08-31T04:07:26Z</dcterms:modified>
</cp:coreProperties>
</file>
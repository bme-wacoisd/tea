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9" r:id="rId3"/>
    <p:sldId id="258" r:id="rId4"/>
    <p:sldId id="261" r:id="rId5"/>
    <p:sldId id="264" r:id="rId6"/>
    <p:sldId id="263"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EDA260-DBF5-4ABE-B88D-319DC4BF02B7}" v="1" dt="2023-08-31T01:07:40.1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F1EDA260-DBF5-4ABE-B88D-319DC4BF02B7}"/>
    <pc:docChg chg="modSld">
      <pc:chgData name="White (she/her), Whitney" userId="65f39021-2f1d-4d8b-87dc-b123826f65bf" providerId="ADAL" clId="{F1EDA260-DBF5-4ABE-B88D-319DC4BF02B7}" dt="2023-08-31T01:07:43.520" v="2" actId="1076"/>
      <pc:docMkLst>
        <pc:docMk/>
      </pc:docMkLst>
      <pc:sldChg chg="addSp modSp mod">
        <pc:chgData name="White (she/her), Whitney" userId="65f39021-2f1d-4d8b-87dc-b123826f65bf" providerId="ADAL" clId="{F1EDA260-DBF5-4ABE-B88D-319DC4BF02B7}" dt="2023-08-31T01:07:43.520" v="2" actId="1076"/>
        <pc:sldMkLst>
          <pc:docMk/>
          <pc:sldMk cId="1482277026" sldId="256"/>
        </pc:sldMkLst>
        <pc:spChg chg="mod">
          <ac:chgData name="White (she/her), Whitney" userId="65f39021-2f1d-4d8b-87dc-b123826f65bf" providerId="ADAL" clId="{F1EDA260-DBF5-4ABE-B88D-319DC4BF02B7}" dt="2023-08-31T01:07:38.786" v="0" actId="1076"/>
          <ac:spMkLst>
            <pc:docMk/>
            <pc:sldMk cId="1482277026" sldId="256"/>
            <ac:spMk id="2" creationId="{BFFCF5BD-F8FF-4A67-A8B6-EBB21E79279B}"/>
          </ac:spMkLst>
        </pc:spChg>
        <pc:spChg chg="add mod">
          <ac:chgData name="White (she/her), Whitney" userId="65f39021-2f1d-4d8b-87dc-b123826f65bf" providerId="ADAL" clId="{F1EDA260-DBF5-4ABE-B88D-319DC4BF02B7}" dt="2023-08-31T01:07:43.520" v="2" actId="1076"/>
          <ac:spMkLst>
            <pc:docMk/>
            <pc:sldMk cId="1482277026" sldId="256"/>
            <ac:spMk id="4" creationId="{6F13BEA1-613E-176E-93EA-41DAE3637955}"/>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6A531146-25B0-4F02-8BD4-70B760CBD788}"/>
    <pc:docChg chg="custSel modSld">
      <pc:chgData name="White, Whitney" userId="65f39021-2f1d-4d8b-87dc-b123826f65bf" providerId="ADAL" clId="{6A531146-25B0-4F02-8BD4-70B760CBD788}" dt="2022-07-28T02:43:23.884" v="111" actId="20577"/>
      <pc:docMkLst>
        <pc:docMk/>
      </pc:docMkLst>
      <pc:sldChg chg="modSp mod">
        <pc:chgData name="White, Whitney" userId="65f39021-2f1d-4d8b-87dc-b123826f65bf" providerId="ADAL" clId="{6A531146-25B0-4F02-8BD4-70B760CBD788}" dt="2022-07-28T02:43:23.884" v="111" actId="20577"/>
        <pc:sldMkLst>
          <pc:docMk/>
          <pc:sldMk cId="1482277026" sldId="256"/>
        </pc:sldMkLst>
        <pc:spChg chg="mod">
          <ac:chgData name="White, Whitney" userId="65f39021-2f1d-4d8b-87dc-b123826f65bf" providerId="ADAL" clId="{6A531146-25B0-4F02-8BD4-70B760CBD788}" dt="2022-07-28T02:43:23.884" v="111" actId="20577"/>
          <ac:spMkLst>
            <pc:docMk/>
            <pc:sldMk cId="1482277026" sldId="256"/>
            <ac:spMk id="2" creationId="{BFFCF5BD-F8FF-4A67-A8B6-EBB21E79279B}"/>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Whitney" userId="65f39021-2f1d-4d8b-87dc-b123826f65bf" providerId="ADAL" clId="{96332839-48B1-4A7A-B080-27E2093A3DD6}"/>
    <pc:docChg chg="custSel delSld modSld">
      <pc:chgData name="White, Whitney" userId="65f39021-2f1d-4d8b-87dc-b123826f65bf" providerId="ADAL" clId="{96332839-48B1-4A7A-B080-27E2093A3DD6}" dt="2022-07-29T05:25:44.232" v="559" actId="20577"/>
      <pc:docMkLst>
        <pc:docMk/>
      </pc:docMkLst>
      <pc:sldChg chg="modSp mod">
        <pc:chgData name="White, Whitney" userId="65f39021-2f1d-4d8b-87dc-b123826f65bf" providerId="ADAL" clId="{96332839-48B1-4A7A-B080-27E2093A3DD6}" dt="2022-07-29T05:25:44.232" v="559" actId="20577"/>
        <pc:sldMkLst>
          <pc:docMk/>
          <pc:sldMk cId="1482277026" sldId="256"/>
        </pc:sldMkLst>
        <pc:spChg chg="mod">
          <ac:chgData name="White, Whitney" userId="65f39021-2f1d-4d8b-87dc-b123826f65bf" providerId="ADAL" clId="{96332839-48B1-4A7A-B080-27E2093A3DD6}" dt="2022-07-29T05:25:44.232" v="559" actId="20577"/>
          <ac:spMkLst>
            <pc:docMk/>
            <pc:sldMk cId="1482277026" sldId="256"/>
            <ac:spMk id="2" creationId="{BFFCF5BD-F8FF-4A67-A8B6-EBB21E79279B}"/>
          </ac:spMkLst>
        </pc:spChg>
        <pc:spChg chg="mod">
          <ac:chgData name="White, Whitney" userId="65f39021-2f1d-4d8b-87dc-b123826f65bf" providerId="ADAL" clId="{96332839-48B1-4A7A-B080-27E2093A3DD6}" dt="2022-07-29T05:25:40.584" v="553" actId="20577"/>
          <ac:spMkLst>
            <pc:docMk/>
            <pc:sldMk cId="1482277026" sldId="256"/>
            <ac:spMk id="3" creationId="{E0FBD98F-3A67-498E-8174-652040DD7B60}"/>
          </ac:spMkLst>
        </pc:spChg>
      </pc:sldChg>
      <pc:sldChg chg="modSp mod">
        <pc:chgData name="White, Whitney" userId="65f39021-2f1d-4d8b-87dc-b123826f65bf" providerId="ADAL" clId="{96332839-48B1-4A7A-B080-27E2093A3DD6}" dt="2022-07-29T05:11:21.135" v="3" actId="403"/>
        <pc:sldMkLst>
          <pc:docMk/>
          <pc:sldMk cId="4071305681" sldId="258"/>
        </pc:sldMkLst>
        <pc:spChg chg="mod">
          <ac:chgData name="White, Whitney" userId="65f39021-2f1d-4d8b-87dc-b123826f65bf" providerId="ADAL" clId="{96332839-48B1-4A7A-B080-27E2093A3DD6}" dt="2022-07-29T05:11:21.135" v="3" actId="403"/>
          <ac:spMkLst>
            <pc:docMk/>
            <pc:sldMk cId="4071305681" sldId="258"/>
            <ac:spMk id="3" creationId="{392BE286-77A6-49DD-B15D-7E4718D52FE7}"/>
          </ac:spMkLst>
        </pc:spChg>
      </pc:sldChg>
      <pc:sldChg chg="modSp mod">
        <pc:chgData name="White, Whitney" userId="65f39021-2f1d-4d8b-87dc-b123826f65bf" providerId="ADAL" clId="{96332839-48B1-4A7A-B080-27E2093A3DD6}" dt="2022-07-29T05:18:45.173" v="27" actId="20577"/>
        <pc:sldMkLst>
          <pc:docMk/>
          <pc:sldMk cId="2772527113" sldId="259"/>
        </pc:sldMkLst>
        <pc:spChg chg="mod">
          <ac:chgData name="White, Whitney" userId="65f39021-2f1d-4d8b-87dc-b123826f65bf" providerId="ADAL" clId="{96332839-48B1-4A7A-B080-27E2093A3DD6}" dt="2022-07-29T05:18:45.173" v="27" actId="20577"/>
          <ac:spMkLst>
            <pc:docMk/>
            <pc:sldMk cId="2772527113" sldId="259"/>
            <ac:spMk id="3" creationId="{8CE08C7F-0286-423B-92F7-DEB89F31111A}"/>
          </ac:spMkLst>
        </pc:spChg>
      </pc:sldChg>
      <pc:sldChg chg="modSp mod">
        <pc:chgData name="White, Whitney" userId="65f39021-2f1d-4d8b-87dc-b123826f65bf" providerId="ADAL" clId="{96332839-48B1-4A7A-B080-27E2093A3DD6}" dt="2022-07-29T05:25:26.539" v="520" actId="255"/>
        <pc:sldMkLst>
          <pc:docMk/>
          <pc:sldMk cId="2147408764" sldId="260"/>
        </pc:sldMkLst>
        <pc:spChg chg="mod">
          <ac:chgData name="White, Whitney" userId="65f39021-2f1d-4d8b-87dc-b123826f65bf" providerId="ADAL" clId="{96332839-48B1-4A7A-B080-27E2093A3DD6}" dt="2022-07-29T05:25:26.539" v="520" actId="255"/>
          <ac:spMkLst>
            <pc:docMk/>
            <pc:sldMk cId="2147408764" sldId="260"/>
            <ac:spMk id="3" creationId="{49F2A5AF-3C0B-4968-A438-E435325199EA}"/>
          </ac:spMkLst>
        </pc:spChg>
      </pc:sldChg>
      <pc:sldChg chg="modSp mod">
        <pc:chgData name="White, Whitney" userId="65f39021-2f1d-4d8b-87dc-b123826f65bf" providerId="ADAL" clId="{96332839-48B1-4A7A-B080-27E2093A3DD6}" dt="2022-07-29T05:19:29.628" v="248" actId="20577"/>
        <pc:sldMkLst>
          <pc:docMk/>
          <pc:sldMk cId="3054216349" sldId="261"/>
        </pc:sldMkLst>
        <pc:spChg chg="mod">
          <ac:chgData name="White, Whitney" userId="65f39021-2f1d-4d8b-87dc-b123826f65bf" providerId="ADAL" clId="{96332839-48B1-4A7A-B080-27E2093A3DD6}" dt="2022-07-29T05:19:29.628" v="248" actId="20577"/>
          <ac:spMkLst>
            <pc:docMk/>
            <pc:sldMk cId="3054216349" sldId="261"/>
            <ac:spMk id="3" creationId="{AE13FDB6-F093-4D9E-B14E-3D7DB894C34C}"/>
          </ac:spMkLst>
        </pc:spChg>
      </pc:sldChg>
      <pc:sldChg chg="del">
        <pc:chgData name="White, Whitney" userId="65f39021-2f1d-4d8b-87dc-b123826f65bf" providerId="ADAL" clId="{96332839-48B1-4A7A-B080-27E2093A3DD6}" dt="2022-07-29T05:24:00.241" v="431" actId="47"/>
        <pc:sldMkLst>
          <pc:docMk/>
          <pc:sldMk cId="4170921578" sldId="262"/>
        </pc:sldMkLst>
      </pc:sldChg>
      <pc:sldChg chg="modSp mod">
        <pc:chgData name="White, Whitney" userId="65f39021-2f1d-4d8b-87dc-b123826f65bf" providerId="ADAL" clId="{96332839-48B1-4A7A-B080-27E2093A3DD6}" dt="2022-07-29T05:22:57.262" v="430" actId="404"/>
        <pc:sldMkLst>
          <pc:docMk/>
          <pc:sldMk cId="1163931679" sldId="263"/>
        </pc:sldMkLst>
        <pc:spChg chg="mod">
          <ac:chgData name="White, Whitney" userId="65f39021-2f1d-4d8b-87dc-b123826f65bf" providerId="ADAL" clId="{96332839-48B1-4A7A-B080-27E2093A3DD6}" dt="2022-07-29T05:21:12.419" v="312" actId="20577"/>
          <ac:spMkLst>
            <pc:docMk/>
            <pc:sldMk cId="1163931679" sldId="263"/>
            <ac:spMk id="2" creationId="{531ECDB3-7F62-4124-A1E9-E48D699D2427}"/>
          </ac:spMkLst>
        </pc:spChg>
        <pc:spChg chg="mod">
          <ac:chgData name="White, Whitney" userId="65f39021-2f1d-4d8b-87dc-b123826f65bf" providerId="ADAL" clId="{96332839-48B1-4A7A-B080-27E2093A3DD6}" dt="2022-07-29T05:22:57.262" v="430" actId="404"/>
          <ac:spMkLst>
            <pc:docMk/>
            <pc:sldMk cId="1163931679" sldId="263"/>
            <ac:spMk id="3" creationId="{012C84E3-4C09-4253-8964-13B9C34E5E48}"/>
          </ac:spMkLst>
        </pc:spChg>
      </pc:sldChg>
      <pc:sldChg chg="modSp mod">
        <pc:chgData name="White, Whitney" userId="65f39021-2f1d-4d8b-87dc-b123826f65bf" providerId="ADAL" clId="{96332839-48B1-4A7A-B080-27E2093A3DD6}" dt="2022-07-29T05:20:47.463" v="282" actId="403"/>
        <pc:sldMkLst>
          <pc:docMk/>
          <pc:sldMk cId="3493109116" sldId="264"/>
        </pc:sldMkLst>
        <pc:spChg chg="mod">
          <ac:chgData name="White, Whitney" userId="65f39021-2f1d-4d8b-87dc-b123826f65bf" providerId="ADAL" clId="{96332839-48B1-4A7A-B080-27E2093A3DD6}" dt="2022-07-29T05:20:44.314" v="279" actId="20577"/>
          <ac:spMkLst>
            <pc:docMk/>
            <pc:sldMk cId="3493109116" sldId="264"/>
            <ac:spMk id="2" creationId="{D7836664-70C0-47BA-9BFF-496A04EBBFDE}"/>
          </ac:spMkLst>
        </pc:spChg>
        <pc:spChg chg="mod">
          <ac:chgData name="White, Whitney" userId="65f39021-2f1d-4d8b-87dc-b123826f65bf" providerId="ADAL" clId="{96332839-48B1-4A7A-B080-27E2093A3DD6}" dt="2022-07-29T05:20:47.463" v="282" actId="403"/>
          <ac:spMkLst>
            <pc:docMk/>
            <pc:sldMk cId="3493109116" sldId="264"/>
            <ac:spMk id="3" creationId="{F64339F5-2F5D-46B5-A25D-C197D73747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rive.google.com/file/d/1mAXzYWBpMQIEkTDycyvrwBMPSYqtZ2uo/view?usp=shar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26305"/>
            <a:ext cx="9144000" cy="370300"/>
          </a:xfrm>
        </p:spPr>
        <p:txBody>
          <a:bodyPr>
            <a:normAutofit/>
          </a:bodyPr>
          <a:lstStyle/>
          <a:p>
            <a:pPr algn="l"/>
            <a:r>
              <a:rPr lang="en-US" sz="1800" dirty="0"/>
              <a:t>Instructional Practices | Unit 1: Building an Effective Classroom </a:t>
            </a:r>
            <a:r>
              <a:rPr lang="en-US" sz="1800"/>
              <a:t>| Classroom Culture| Lesson 1.11</a:t>
            </a:r>
            <a:endParaRPr lang="en-US" sz="1800" dirty="0"/>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Rolling Out Systems and Routines</a:t>
            </a:r>
          </a:p>
        </p:txBody>
      </p:sp>
      <p:sp>
        <p:nvSpPr>
          <p:cNvPr id="4" name="TextBox 3">
            <a:extLst>
              <a:ext uri="{FF2B5EF4-FFF2-40B4-BE49-F238E27FC236}">
                <a16:creationId xmlns:a16="http://schemas.microsoft.com/office/drawing/2014/main" id="{6F13BEA1-613E-176E-93EA-41DAE3637955}"/>
              </a:ext>
            </a:extLst>
          </p:cNvPr>
          <p:cNvSpPr txBox="1"/>
          <p:nvPr/>
        </p:nvSpPr>
        <p:spPr>
          <a:xfrm>
            <a:off x="0" y="6396605"/>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7A, 7C, 7E</a:t>
            </a:r>
          </a:p>
          <a:p>
            <a:pPr marL="0" indent="0">
              <a:buNone/>
            </a:pPr>
            <a:endParaRPr lang="en-US" dirty="0"/>
          </a:p>
          <a:p>
            <a:pPr marL="0" indent="0">
              <a:buNone/>
            </a:pPr>
            <a:r>
              <a:rPr lang="en-US" dirty="0"/>
              <a:t>The student will:</a:t>
            </a:r>
          </a:p>
          <a:p>
            <a:pPr marL="342900" marR="0" lvl="0" indent="-342900">
              <a:spcBef>
                <a:spcPts val="600"/>
              </a:spcBef>
              <a:spcAft>
                <a:spcPts val="600"/>
              </a:spcAft>
              <a:buFont typeface="Calibri" panose="020F050202020403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d</a:t>
            </a:r>
            <a:r>
              <a:rPr lang="en-US" dirty="0">
                <a:effectLst/>
                <a:latin typeface="Calibri" panose="020F0502020204030204" pitchFamily="34" charset="0"/>
                <a:ea typeface="Calibri" panose="020F0502020204030204" pitchFamily="34" charset="0"/>
                <a:cs typeface="Times New Roman" panose="02020603050405020304" pitchFamily="18" charset="0"/>
              </a:rPr>
              <a:t>efine and describe four keys to effective practice of routines</a:t>
            </a:r>
          </a:p>
          <a:p>
            <a:pPr marL="342900" marR="0" lvl="0" indent="-342900">
              <a:spcBef>
                <a:spcPts val="600"/>
              </a:spcBef>
              <a:spcAft>
                <a:spcPts val="600"/>
              </a:spcAft>
              <a:buFont typeface="Calibri" panose="020F0502020204030204" pitchFamily="34" charset="0"/>
              <a:buChar char="•"/>
            </a:pPr>
            <a:r>
              <a:rPr lang="en-US" dirty="0">
                <a:latin typeface="Calibri" panose="020F0502020204030204" pitchFamily="34" charset="0"/>
                <a:ea typeface="Calibri" panose="020F0502020204030204" pitchFamily="34" charset="0"/>
                <a:cs typeface="Arial" panose="020B0604020202020204" pitchFamily="34" charset="0"/>
              </a:rPr>
              <a:t>e</a:t>
            </a:r>
            <a:r>
              <a:rPr lang="en-US" dirty="0">
                <a:effectLst/>
                <a:latin typeface="Calibri" panose="020F0502020204030204" pitchFamily="34" charset="0"/>
                <a:ea typeface="Calibri" panose="020F0502020204030204" pitchFamily="34" charset="0"/>
                <a:cs typeface="Arial" panose="020B0604020202020204" pitchFamily="34" charset="0"/>
              </a:rPr>
              <a:t>xplain the impact of keys to effective practice on an effective roll-out</a:t>
            </a:r>
            <a:endParaRPr lang="en-US" sz="4000"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dirty="0">
                <a:effectLst/>
                <a:latin typeface="Calibri" panose="020F0502020204030204" pitchFamily="34" charset="0"/>
                <a:ea typeface="Calibri" panose="020F0502020204030204" pitchFamily="34" charset="0"/>
                <a:cs typeface="Times New Roman" panose="02020603050405020304" pitchFamily="18" charset="0"/>
              </a:rPr>
              <a:t>Describe a time you were committed to and planned for something but didn’t follow through. Think, for example, of a New Year’s resolution or another time you set a goal but then didn’t complete it. What might have impacted your lack of follow-through?</a:t>
            </a:r>
          </a:p>
          <a:p>
            <a:pPr marL="0" indent="0">
              <a:buNone/>
            </a:pP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lstStyle/>
          <a:p>
            <a:pPr marL="0" indent="0">
              <a:buNone/>
            </a:pPr>
            <a:r>
              <a:rPr lang="en-US" dirty="0"/>
              <a:t>Scan: Examine the room point-by-point by moving the eyes to observe all students</a:t>
            </a:r>
          </a:p>
          <a:p>
            <a:pPr marL="0" indent="0">
              <a:buNone/>
            </a:pPr>
            <a:endParaRPr lang="en-US" dirty="0"/>
          </a:p>
          <a:p>
            <a:pPr marL="0" indent="0">
              <a:buNone/>
            </a:pPr>
            <a:r>
              <a:rPr lang="en-US" dirty="0"/>
              <a:t>Reinforce: Action taken to strengthen the appropriate response</a:t>
            </a:r>
          </a:p>
          <a:p>
            <a:pPr marL="0" indent="0">
              <a:buNone/>
            </a:pPr>
            <a:endParaRPr lang="en-US" dirty="0"/>
          </a:p>
          <a:p>
            <a:pPr marL="0" indent="0">
              <a:buNone/>
            </a:pPr>
            <a:r>
              <a:rPr lang="en-US" dirty="0"/>
              <a:t>Pre-empt: Action taken to present something from happening</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Video: Deliberate Practice</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0" indent="0">
              <a:buNone/>
            </a:pPr>
            <a:r>
              <a:rPr lang="en-US" i="1" u="sng" dirty="0">
                <a:solidFill>
                  <a:srgbClr val="0D6CB9"/>
                </a:solidFill>
                <a:effectLst/>
                <a:latin typeface="Calibri" panose="020F0502020204030204" pitchFamily="34" charset="0"/>
                <a:ea typeface="Calibri" panose="020F0502020204030204" pitchFamily="34" charset="0"/>
                <a:cs typeface="Arial" panose="020B0604020202020204" pitchFamily="34" charset="0"/>
                <a:hlinkClick r:id="rId2"/>
              </a:rPr>
              <a:t>Deliberate Practice: Nikki Bowen.</a:t>
            </a:r>
            <a:r>
              <a:rPr lang="en-US" dirty="0">
                <a:effectLst/>
                <a:latin typeface="Calibri" panose="020F0502020204030204" pitchFamily="34" charset="0"/>
                <a:ea typeface="Calibri" panose="020F0502020204030204" pitchFamily="34" charset="0"/>
                <a:cs typeface="Arial" panose="020B0604020202020204" pitchFamily="34" charset="0"/>
              </a:rPr>
              <a:t> </a:t>
            </a:r>
            <a:endParaRPr lang="en-US" sz="4000"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Keys to Effective Practice</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a:xfrm>
            <a:off x="838200" y="1590261"/>
            <a:ext cx="10515600" cy="4586702"/>
          </a:xfrm>
        </p:spPr>
        <p:txBody>
          <a:bodyPr>
            <a:noAutofit/>
          </a:bodyPr>
          <a:lstStyle/>
          <a:p>
            <a:r>
              <a:rPr lang="en-US" sz="2000" dirty="0"/>
              <a:t>Model and Describe: </a:t>
            </a:r>
            <a:r>
              <a:rPr lang="en-US" sz="2000" dirty="0">
                <a:effectLst/>
                <a:ea typeface="Calibri" panose="020F0502020204030204" pitchFamily="34" charset="0"/>
                <a:cs typeface="Times New Roman" panose="02020603050405020304" pitchFamily="18" charset="0"/>
              </a:rPr>
              <a:t>The teacher shows the students what to do and describes how to do it.</a:t>
            </a:r>
            <a:endParaRPr lang="en-US" sz="2000" dirty="0"/>
          </a:p>
          <a:p>
            <a:endParaRPr lang="en-US" sz="2000" dirty="0"/>
          </a:p>
          <a:p>
            <a:r>
              <a:rPr lang="en-US" sz="2000" dirty="0"/>
              <a:t>Pre-empt Pitfalls: </a:t>
            </a:r>
            <a:r>
              <a:rPr lang="en-US" sz="2000" dirty="0">
                <a:effectLst/>
                <a:ea typeface="Calibri" panose="020F0502020204030204" pitchFamily="34" charset="0"/>
                <a:cs typeface="Times New Roman" panose="02020603050405020304" pitchFamily="18" charset="0"/>
              </a:rPr>
              <a:t>Pre-empting something means taking action to prevent it from happening. Applied to the classroom, it means a teacher thinks ahead of time about what will be difficult for students and plans for students to practice those parts.</a:t>
            </a:r>
            <a:endParaRPr lang="en-US" sz="2000" dirty="0"/>
          </a:p>
          <a:p>
            <a:endParaRPr lang="en-US" sz="2000" dirty="0"/>
          </a:p>
          <a:p>
            <a:r>
              <a:rPr lang="en-US" sz="2000" dirty="0"/>
              <a:t>Isolate the Step: </a:t>
            </a:r>
            <a:r>
              <a:rPr lang="en-US" sz="2000" dirty="0">
                <a:effectLst/>
                <a:ea typeface="Calibri" panose="020F0502020204030204" pitchFamily="34" charset="0"/>
                <a:cs typeface="Times New Roman" panose="02020603050405020304" pitchFamily="18" charset="0"/>
              </a:rPr>
              <a:t>It’s helpful when students practice the routine in small steps at first instead of trying to practice a multi-step routine all at once.</a:t>
            </a:r>
          </a:p>
          <a:p>
            <a:pPr marL="0" indent="0">
              <a:buNone/>
            </a:pPr>
            <a:endParaRPr lang="en-US" sz="2000" dirty="0"/>
          </a:p>
          <a:p>
            <a:r>
              <a:rPr lang="en-US" sz="2000" dirty="0"/>
              <a:t>Scan and Give Feedback: </a:t>
            </a:r>
            <a:r>
              <a:rPr lang="en-US" sz="2000" dirty="0">
                <a:effectLst/>
                <a:ea typeface="Calibri" panose="020F0502020204030204" pitchFamily="34" charset="0"/>
                <a:cs typeface="Times New Roman" panose="02020603050405020304" pitchFamily="18" charset="0"/>
              </a:rPr>
              <a:t>A teacher is scanning the classroom when they examine the room point-by-point by moving the eyes to observe all students. As they scan, they can give feedback. If they highlight examples of students doing the routine correctly, they can reinforce the routine, which is an action that strengthens the response.</a:t>
            </a:r>
            <a:endParaRPr lang="en-US" sz="2000" dirty="0"/>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6393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0" indent="0">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Fill in the blanks for the statements </a:t>
            </a:r>
            <a:r>
              <a:rPr lang="en-US" dirty="0">
                <a:latin typeface="Calibri" panose="020F0502020204030204" pitchFamily="34" charset="0"/>
                <a:ea typeface="Calibri" panose="020F0502020204030204" pitchFamily="34" charset="0"/>
                <a:cs typeface="Arial" panose="020B0604020202020204" pitchFamily="34" charset="0"/>
              </a:rPr>
              <a:t>on your Exit Ticket </a:t>
            </a:r>
            <a:r>
              <a:rPr lang="en-US" dirty="0">
                <a:effectLst/>
                <a:latin typeface="Calibri" panose="020F0502020204030204" pitchFamily="34" charset="0"/>
                <a:ea typeface="Calibri" panose="020F0502020204030204" pitchFamily="34" charset="0"/>
                <a:cs typeface="Arial" panose="020B0604020202020204" pitchFamily="34" charset="0"/>
              </a:rPr>
              <a:t>about effective practice of roll-out routines:</a:t>
            </a:r>
          </a:p>
          <a:p>
            <a:pPr marL="0" marR="0" lvl="0" indent="0">
              <a:spcBef>
                <a:spcPts val="0"/>
              </a:spcBef>
              <a:spcAft>
                <a:spcPts val="0"/>
              </a:spcAft>
              <a:buNone/>
            </a:pP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marR="0" indent="0">
              <a:spcBef>
                <a:spcPts val="600"/>
              </a:spcBef>
              <a:spcAft>
                <a:spcPts val="600"/>
              </a:spcAft>
              <a:buNone/>
            </a:pPr>
            <a:endParaRPr lang="en-US" dirty="0">
              <a:latin typeface="Calibri" panose="020F0502020204030204" pitchFamily="34" charset="0"/>
              <a:ea typeface="Calibri" panose="020F0502020204030204" pitchFamily="34" charset="0"/>
              <a:cs typeface="Arial" panose="020B0604020202020204" pitchFamily="34" charset="0"/>
            </a:endParaRPr>
          </a:p>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What is the effect of deliberate student practice of routines?</a:t>
            </a: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115</TotalTime>
  <Words>355</Words>
  <Application>Microsoft Office PowerPoint</Application>
  <PresentationFormat>Widescreen</PresentationFormat>
  <Paragraphs>38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Instructional Practices | Unit 1: Building an Effective Classroom | Classroom Culture| Lesson 1.11</vt:lpstr>
      <vt:lpstr>TEKS Standards &amp; Objectives</vt:lpstr>
      <vt:lpstr>Bellringer</vt:lpstr>
      <vt:lpstr>Vocabulary</vt:lpstr>
      <vt:lpstr>Video: Deliberate Practice</vt:lpstr>
      <vt:lpstr>Keys to Effective Practice</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1.11: Rolling Out Systems and Routines</dc:title>
  <dc:subject>Lesson 1.11: Rolling Out Systems and Routines</dc:subject>
  <dc:creator>Texas Education Agency</dc:creator>
  <cp:lastModifiedBy>White (she/her), Whitney</cp:lastModifiedBy>
  <cp:revision>3</cp:revision>
  <dcterms:created xsi:type="dcterms:W3CDTF">2022-05-09T19:40:20Z</dcterms:created>
  <dcterms:modified xsi:type="dcterms:W3CDTF">2023-08-31T01:07:50Z</dcterms:modified>
</cp:coreProperties>
</file>
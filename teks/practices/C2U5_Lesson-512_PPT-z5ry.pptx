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58" r:id="rId4"/>
    <p:sldId id="261" r:id="rId5"/>
    <p:sldId id="264" r:id="rId6"/>
    <p:sldId id="263" r:id="rId7"/>
    <p:sldId id="262"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8308E3-0FCB-4956-A270-4519F5FA29C7}" v="8" dt="2022-10-10T02:45:06.4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27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A78308E3-0FCB-4956-A270-4519F5FA29C7}"/>
    <pc:docChg chg="custSel modSld">
      <pc:chgData name="White (she/her), Whitney" userId="65f39021-2f1d-4d8b-87dc-b123826f65bf" providerId="ADAL" clId="{A78308E3-0FCB-4956-A270-4519F5FA29C7}" dt="2022-10-10T02:45:44.715" v="194" actId="1076"/>
      <pc:docMkLst>
        <pc:docMk/>
      </pc:docMkLst>
      <pc:sldChg chg="modSp mod">
        <pc:chgData name="White (she/her), Whitney" userId="65f39021-2f1d-4d8b-87dc-b123826f65bf" providerId="ADAL" clId="{A78308E3-0FCB-4956-A270-4519F5FA29C7}" dt="2022-10-10T02:37:54.900" v="66" actId="20577"/>
        <pc:sldMkLst>
          <pc:docMk/>
          <pc:sldMk cId="1482277026" sldId="256"/>
        </pc:sldMkLst>
        <pc:spChg chg="mod">
          <ac:chgData name="White (she/her), Whitney" userId="65f39021-2f1d-4d8b-87dc-b123826f65bf" providerId="ADAL" clId="{A78308E3-0FCB-4956-A270-4519F5FA29C7}" dt="2022-10-10T02:37:54.900" v="66" actId="20577"/>
          <ac:spMkLst>
            <pc:docMk/>
            <pc:sldMk cId="1482277026" sldId="256"/>
            <ac:spMk id="3" creationId="{E0FBD98F-3A67-498E-8174-652040DD7B60}"/>
          </ac:spMkLst>
        </pc:spChg>
      </pc:sldChg>
      <pc:sldChg chg="modSp mod">
        <pc:chgData name="White (she/her), Whitney" userId="65f39021-2f1d-4d8b-87dc-b123826f65bf" providerId="ADAL" clId="{A78308E3-0FCB-4956-A270-4519F5FA29C7}" dt="2022-10-10T02:41:16.264" v="95" actId="403"/>
        <pc:sldMkLst>
          <pc:docMk/>
          <pc:sldMk cId="4071305681" sldId="258"/>
        </pc:sldMkLst>
        <pc:spChg chg="mod">
          <ac:chgData name="White (she/her), Whitney" userId="65f39021-2f1d-4d8b-87dc-b123826f65bf" providerId="ADAL" clId="{A78308E3-0FCB-4956-A270-4519F5FA29C7}" dt="2022-10-10T02:41:16.264" v="95" actId="403"/>
          <ac:spMkLst>
            <pc:docMk/>
            <pc:sldMk cId="4071305681" sldId="258"/>
            <ac:spMk id="3" creationId="{392BE286-77A6-49DD-B15D-7E4718D52FE7}"/>
          </ac:spMkLst>
        </pc:spChg>
      </pc:sldChg>
      <pc:sldChg chg="modSp mod">
        <pc:chgData name="White (she/her), Whitney" userId="65f39021-2f1d-4d8b-87dc-b123826f65bf" providerId="ADAL" clId="{A78308E3-0FCB-4956-A270-4519F5FA29C7}" dt="2022-10-10T02:40:56.161" v="89" actId="403"/>
        <pc:sldMkLst>
          <pc:docMk/>
          <pc:sldMk cId="2772527113" sldId="259"/>
        </pc:sldMkLst>
        <pc:spChg chg="mod">
          <ac:chgData name="White (she/her), Whitney" userId="65f39021-2f1d-4d8b-87dc-b123826f65bf" providerId="ADAL" clId="{A78308E3-0FCB-4956-A270-4519F5FA29C7}" dt="2022-10-10T02:40:56.161" v="89" actId="403"/>
          <ac:spMkLst>
            <pc:docMk/>
            <pc:sldMk cId="2772527113" sldId="259"/>
            <ac:spMk id="3" creationId="{8CE08C7F-0286-423B-92F7-DEB89F31111A}"/>
          </ac:spMkLst>
        </pc:spChg>
      </pc:sldChg>
      <pc:sldChg chg="modSp mod">
        <pc:chgData name="White (she/her), Whitney" userId="65f39021-2f1d-4d8b-87dc-b123826f65bf" providerId="ADAL" clId="{A78308E3-0FCB-4956-A270-4519F5FA29C7}" dt="2022-10-10T02:39:12.559" v="71" actId="403"/>
        <pc:sldMkLst>
          <pc:docMk/>
          <pc:sldMk cId="2147408764" sldId="260"/>
        </pc:sldMkLst>
        <pc:spChg chg="mod">
          <ac:chgData name="White (she/her), Whitney" userId="65f39021-2f1d-4d8b-87dc-b123826f65bf" providerId="ADAL" clId="{A78308E3-0FCB-4956-A270-4519F5FA29C7}" dt="2022-10-10T02:39:12.559" v="71" actId="403"/>
          <ac:spMkLst>
            <pc:docMk/>
            <pc:sldMk cId="2147408764" sldId="260"/>
            <ac:spMk id="3" creationId="{49F2A5AF-3C0B-4968-A438-E435325199EA}"/>
          </ac:spMkLst>
        </pc:spChg>
      </pc:sldChg>
      <pc:sldChg chg="addSp delSp modSp mod">
        <pc:chgData name="White (she/her), Whitney" userId="65f39021-2f1d-4d8b-87dc-b123826f65bf" providerId="ADAL" clId="{A78308E3-0FCB-4956-A270-4519F5FA29C7}" dt="2022-10-10T02:41:58.040" v="111" actId="12385"/>
        <pc:sldMkLst>
          <pc:docMk/>
          <pc:sldMk cId="3054216349" sldId="261"/>
        </pc:sldMkLst>
        <pc:spChg chg="del mod">
          <ac:chgData name="White (she/her), Whitney" userId="65f39021-2f1d-4d8b-87dc-b123826f65bf" providerId="ADAL" clId="{A78308E3-0FCB-4956-A270-4519F5FA29C7}" dt="2022-10-10T02:41:28.849" v="97" actId="21"/>
          <ac:spMkLst>
            <pc:docMk/>
            <pc:sldMk cId="3054216349" sldId="261"/>
            <ac:spMk id="3" creationId="{AE13FDB6-F093-4D9E-B14E-3D7DB894C34C}"/>
          </ac:spMkLst>
        </pc:spChg>
        <pc:spChg chg="add del mod">
          <ac:chgData name="White (she/her), Whitney" userId="65f39021-2f1d-4d8b-87dc-b123826f65bf" providerId="ADAL" clId="{A78308E3-0FCB-4956-A270-4519F5FA29C7}" dt="2022-10-10T02:41:32.733" v="99" actId="21"/>
          <ac:spMkLst>
            <pc:docMk/>
            <pc:sldMk cId="3054216349" sldId="261"/>
            <ac:spMk id="5" creationId="{21D02E50-EDD9-4B56-BD05-E85FC0D76E4E}"/>
          </ac:spMkLst>
        </pc:spChg>
        <pc:graphicFrameChg chg="add mod modGraphic">
          <ac:chgData name="White (she/her), Whitney" userId="65f39021-2f1d-4d8b-87dc-b123826f65bf" providerId="ADAL" clId="{A78308E3-0FCB-4956-A270-4519F5FA29C7}" dt="2022-10-10T02:41:58.040" v="111" actId="12385"/>
          <ac:graphicFrameMkLst>
            <pc:docMk/>
            <pc:sldMk cId="3054216349" sldId="261"/>
            <ac:graphicFrameMk id="6" creationId="{4C17DC4D-51A3-4C51-B242-68BA7903263E}"/>
          </ac:graphicFrameMkLst>
        </pc:graphicFrameChg>
      </pc:sldChg>
      <pc:sldChg chg="addSp delSp modSp mod">
        <pc:chgData name="White (she/her), Whitney" userId="65f39021-2f1d-4d8b-87dc-b123826f65bf" providerId="ADAL" clId="{A78308E3-0FCB-4956-A270-4519F5FA29C7}" dt="2022-10-10T02:45:44.715" v="194" actId="1076"/>
        <pc:sldMkLst>
          <pc:docMk/>
          <pc:sldMk cId="4170921578" sldId="262"/>
        </pc:sldMkLst>
        <pc:spChg chg="mod">
          <ac:chgData name="White (she/her), Whitney" userId="65f39021-2f1d-4d8b-87dc-b123826f65bf" providerId="ADAL" clId="{A78308E3-0FCB-4956-A270-4519F5FA29C7}" dt="2022-10-10T02:44:46.135" v="179" actId="20577"/>
          <ac:spMkLst>
            <pc:docMk/>
            <pc:sldMk cId="4170921578" sldId="262"/>
            <ac:spMk id="2" creationId="{A7DAC820-49EE-4F41-8B1F-B9E33FF6BE24}"/>
          </ac:spMkLst>
        </pc:spChg>
        <pc:spChg chg="del">
          <ac:chgData name="White (she/her), Whitney" userId="65f39021-2f1d-4d8b-87dc-b123826f65bf" providerId="ADAL" clId="{A78308E3-0FCB-4956-A270-4519F5FA29C7}" dt="2022-10-10T02:45:05.499" v="180" actId="478"/>
          <ac:spMkLst>
            <pc:docMk/>
            <pc:sldMk cId="4170921578" sldId="262"/>
            <ac:spMk id="3" creationId="{79FFCA46-4155-4484-8350-F1E0B95F6088}"/>
          </ac:spMkLst>
        </pc:spChg>
        <pc:graphicFrameChg chg="add mod modGraphic">
          <ac:chgData name="White (she/her), Whitney" userId="65f39021-2f1d-4d8b-87dc-b123826f65bf" providerId="ADAL" clId="{A78308E3-0FCB-4956-A270-4519F5FA29C7}" dt="2022-10-10T02:45:44.715" v="194" actId="1076"/>
          <ac:graphicFrameMkLst>
            <pc:docMk/>
            <pc:sldMk cId="4170921578" sldId="262"/>
            <ac:graphicFrameMk id="5" creationId="{13EB404A-F52D-449D-B16B-751583843D82}"/>
          </ac:graphicFrameMkLst>
        </pc:graphicFrameChg>
      </pc:sldChg>
      <pc:sldChg chg="addSp delSp modSp mod">
        <pc:chgData name="White (she/her), Whitney" userId="65f39021-2f1d-4d8b-87dc-b123826f65bf" providerId="ADAL" clId="{A78308E3-0FCB-4956-A270-4519F5FA29C7}" dt="2022-10-10T02:44:37.644" v="165" actId="403"/>
        <pc:sldMkLst>
          <pc:docMk/>
          <pc:sldMk cId="1163931679" sldId="263"/>
        </pc:sldMkLst>
        <pc:spChg chg="mod">
          <ac:chgData name="White (she/her), Whitney" userId="65f39021-2f1d-4d8b-87dc-b123826f65bf" providerId="ADAL" clId="{A78308E3-0FCB-4956-A270-4519F5FA29C7}" dt="2022-10-10T02:43:30.074" v="154" actId="20577"/>
          <ac:spMkLst>
            <pc:docMk/>
            <pc:sldMk cId="1163931679" sldId="263"/>
            <ac:spMk id="2" creationId="{531ECDB3-7F62-4124-A1E9-E48D699D2427}"/>
          </ac:spMkLst>
        </pc:spChg>
        <pc:spChg chg="del">
          <ac:chgData name="White (she/her), Whitney" userId="65f39021-2f1d-4d8b-87dc-b123826f65bf" providerId="ADAL" clId="{A78308E3-0FCB-4956-A270-4519F5FA29C7}" dt="2022-10-10T02:43:36.276" v="155"/>
          <ac:spMkLst>
            <pc:docMk/>
            <pc:sldMk cId="1163931679" sldId="263"/>
            <ac:spMk id="3" creationId="{012C84E3-4C09-4253-8964-13B9C34E5E48}"/>
          </ac:spMkLst>
        </pc:spChg>
        <pc:graphicFrameChg chg="add mod modGraphic">
          <ac:chgData name="White (she/her), Whitney" userId="65f39021-2f1d-4d8b-87dc-b123826f65bf" providerId="ADAL" clId="{A78308E3-0FCB-4956-A270-4519F5FA29C7}" dt="2022-10-10T02:44:37.644" v="165" actId="403"/>
          <ac:graphicFrameMkLst>
            <pc:docMk/>
            <pc:sldMk cId="1163931679" sldId="263"/>
            <ac:graphicFrameMk id="5" creationId="{7B460AE8-B826-4158-8FAB-AC401B550CC8}"/>
          </ac:graphicFrameMkLst>
        </pc:graphicFrameChg>
      </pc:sldChg>
      <pc:sldChg chg="addSp delSp modSp mod">
        <pc:chgData name="White (she/her), Whitney" userId="65f39021-2f1d-4d8b-87dc-b123826f65bf" providerId="ADAL" clId="{A78308E3-0FCB-4956-A270-4519F5FA29C7}" dt="2022-10-10T02:43:23.013" v="139" actId="13926"/>
        <pc:sldMkLst>
          <pc:docMk/>
          <pc:sldMk cId="3493109116" sldId="264"/>
        </pc:sldMkLst>
        <pc:spChg chg="mod">
          <ac:chgData name="White (she/her), Whitney" userId="65f39021-2f1d-4d8b-87dc-b123826f65bf" providerId="ADAL" clId="{A78308E3-0FCB-4956-A270-4519F5FA29C7}" dt="2022-10-10T02:43:23.013" v="139" actId="13926"/>
          <ac:spMkLst>
            <pc:docMk/>
            <pc:sldMk cId="3493109116" sldId="264"/>
            <ac:spMk id="2" creationId="{D7836664-70C0-47BA-9BFF-496A04EBBFDE}"/>
          </ac:spMkLst>
        </pc:spChg>
        <pc:spChg chg="del">
          <ac:chgData name="White (she/her), Whitney" userId="65f39021-2f1d-4d8b-87dc-b123826f65bf" providerId="ADAL" clId="{A78308E3-0FCB-4956-A270-4519F5FA29C7}" dt="2022-10-10T02:42:55.673" v="112"/>
          <ac:spMkLst>
            <pc:docMk/>
            <pc:sldMk cId="3493109116" sldId="264"/>
            <ac:spMk id="3" creationId="{F64339F5-2F5D-46B5-A25D-C197D73747BD}"/>
          </ac:spMkLst>
        </pc:spChg>
        <pc:graphicFrameChg chg="add mod modGraphic">
          <ac:chgData name="White (she/her), Whitney" userId="65f39021-2f1d-4d8b-87dc-b123826f65bf" providerId="ADAL" clId="{A78308E3-0FCB-4956-A270-4519F5FA29C7}" dt="2022-10-10T02:43:14.429" v="121" actId="1076"/>
          <ac:graphicFrameMkLst>
            <pc:docMk/>
            <pc:sldMk cId="3493109116" sldId="264"/>
            <ac:graphicFrameMk id="5" creationId="{ECFA925D-E0F2-4E02-8432-75850AC58539}"/>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5: Planning For and With Assessment | Lesson 5.12</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5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Summative Assessments | Paper and Pencil Assessments</a:t>
            </a:r>
            <a:endParaRPr lang="en-US" sz="5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6000" dirty="0"/>
          </a:p>
        </p:txBody>
      </p:sp>
      <p:sp>
        <p:nvSpPr>
          <p:cNvPr id="4" name="TextBox 3">
            <a:extLst>
              <a:ext uri="{FF2B5EF4-FFF2-40B4-BE49-F238E27FC236}">
                <a16:creationId xmlns:a16="http://schemas.microsoft.com/office/drawing/2014/main" id="{3148F9B1-740D-6E97-4A58-E3E489DAE082}"/>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8A, 8C</a:t>
            </a:r>
          </a:p>
          <a:p>
            <a:pPr marL="0" indent="0">
              <a:buNone/>
            </a:pPr>
            <a:endParaRPr lang="en-US" dirty="0"/>
          </a:p>
          <a:p>
            <a:pPr marL="0" indent="0">
              <a:buNone/>
            </a:pPr>
            <a:r>
              <a:rPr lang="en-US" dirty="0"/>
              <a:t>The student will:</a:t>
            </a: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Recognize best practices for developing, administering, and scoring pencil and paper assessments.</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rPr>
              <a:t>Identify examples and non-examples of strategies for effective pencil and paper assessments.</a:t>
            </a:r>
            <a:endParaRPr lang="en-US" sz="4000"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marR="0" indent="0">
              <a:lnSpc>
                <a:spcPct val="107000"/>
              </a:lnSpc>
              <a:spcBef>
                <a:spcPts val="0"/>
              </a:spcBef>
              <a:spcAft>
                <a:spcPts val="800"/>
              </a:spcAft>
              <a:buNone/>
            </a:pPr>
            <a:r>
              <a:rPr lang="en-US" dirty="0">
                <a:effectLst/>
                <a:latin typeface="Calibri" panose="020F0502020204030204" pitchFamily="34" charset="0"/>
                <a:ea typeface="Calibri" panose="020F0502020204030204" pitchFamily="34" charset="0"/>
                <a:cs typeface="Calibri" panose="020F0502020204030204" pitchFamily="34" charset="0"/>
              </a:rPr>
              <a:t>In most of your classes, you take pencil and paper assessments regularly. Perhaps you take Friday quizzes and/or have big tests at the end of units that take all or most of a class period. </a:t>
            </a:r>
          </a:p>
          <a:p>
            <a:pPr marL="0" marR="0" indent="0">
              <a:lnSpc>
                <a:spcPct val="107000"/>
              </a:lnSpc>
              <a:spcBef>
                <a:spcPts val="0"/>
              </a:spcBef>
              <a:spcAft>
                <a:spcPts val="800"/>
              </a:spcAft>
              <a:buNone/>
            </a:pPr>
            <a:r>
              <a:rPr lang="en-US" dirty="0">
                <a:effectLst/>
                <a:latin typeface="Calibri" panose="020F0502020204030204" pitchFamily="34" charset="0"/>
                <a:ea typeface="Calibri" panose="020F0502020204030204" pitchFamily="34" charset="0"/>
                <a:cs typeface="Calibri" panose="020F0502020204030204" pitchFamily="34" charset="0"/>
              </a:rPr>
              <a:t>Take the pre-assessment on your student guide about pencil and paper assessment practices and be ready to talk about your thinking on each of these questions.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graphicFrame>
        <p:nvGraphicFramePr>
          <p:cNvPr id="6" name="Table 5">
            <a:extLst>
              <a:ext uri="{FF2B5EF4-FFF2-40B4-BE49-F238E27FC236}">
                <a16:creationId xmlns:a16="http://schemas.microsoft.com/office/drawing/2014/main" id="{4C17DC4D-51A3-4C51-B242-68BA7903263E}"/>
              </a:ext>
            </a:extLst>
          </p:cNvPr>
          <p:cNvGraphicFramePr>
            <a:graphicFrameLocks noGrp="1"/>
          </p:cNvGraphicFramePr>
          <p:nvPr>
            <p:extLst>
              <p:ext uri="{D42A27DB-BD31-4B8C-83A1-F6EECF244321}">
                <p14:modId xmlns:p14="http://schemas.microsoft.com/office/powerpoint/2010/main" val="1061813098"/>
              </p:ext>
            </p:extLst>
          </p:nvPr>
        </p:nvGraphicFramePr>
        <p:xfrm>
          <a:off x="1133475" y="1559717"/>
          <a:ext cx="9987107" cy="4153808"/>
        </p:xfrm>
        <a:graphic>
          <a:graphicData uri="http://schemas.openxmlformats.org/drawingml/2006/table">
            <a:tbl>
              <a:tblPr firstRow="1" firstCol="1" bandRow="1">
                <a:tableStyleId>{5940675A-B579-460E-94D1-54222C63F5DA}</a:tableStyleId>
              </a:tblPr>
              <a:tblGrid>
                <a:gridCol w="2185278">
                  <a:extLst>
                    <a:ext uri="{9D8B030D-6E8A-4147-A177-3AD203B41FA5}">
                      <a16:colId xmlns:a16="http://schemas.microsoft.com/office/drawing/2014/main" val="2990002178"/>
                    </a:ext>
                  </a:extLst>
                </a:gridCol>
                <a:gridCol w="7801829">
                  <a:extLst>
                    <a:ext uri="{9D8B030D-6E8A-4147-A177-3AD203B41FA5}">
                      <a16:colId xmlns:a16="http://schemas.microsoft.com/office/drawing/2014/main" val="769191012"/>
                    </a:ext>
                  </a:extLst>
                </a:gridCol>
              </a:tblGrid>
              <a:tr h="530213">
                <a:tc>
                  <a:txBody>
                    <a:bodyPr/>
                    <a:lstStyle/>
                    <a:p>
                      <a:pPr marL="0" marR="0">
                        <a:lnSpc>
                          <a:spcPct val="107000"/>
                        </a:lnSpc>
                        <a:spcBef>
                          <a:spcPts val="600"/>
                        </a:spcBef>
                        <a:spcAft>
                          <a:spcPts val="600"/>
                        </a:spcAft>
                      </a:pPr>
                      <a:r>
                        <a:rPr lang="en-US" sz="2000" dirty="0">
                          <a:effectLst/>
                        </a:rPr>
                        <a:t>Item</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000">
                          <a:effectLst/>
                        </a:rPr>
                        <a:t>An assessment item is a numbered question or prompt in an assessment (typically called a question)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173829"/>
                  </a:ext>
                </a:extLst>
              </a:tr>
              <a:tr h="801316">
                <a:tc>
                  <a:txBody>
                    <a:bodyPr/>
                    <a:lstStyle/>
                    <a:p>
                      <a:pPr marL="0" marR="0">
                        <a:lnSpc>
                          <a:spcPct val="107000"/>
                        </a:lnSpc>
                        <a:spcBef>
                          <a:spcPts val="600"/>
                        </a:spcBef>
                        <a:spcAft>
                          <a:spcPts val="600"/>
                        </a:spcAft>
                      </a:pPr>
                      <a:r>
                        <a:rPr lang="en-US" sz="2000" dirty="0">
                          <a:effectLst/>
                        </a:rPr>
                        <a:t>Summative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000">
                          <a:effectLst/>
                        </a:rPr>
                        <a:t>Assessments that are used at the end of a learning sequence to determine to what extent students met the learning objectives; evaluative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07386279"/>
                  </a:ext>
                </a:extLst>
              </a:tr>
              <a:tr h="530213">
                <a:tc>
                  <a:txBody>
                    <a:bodyPr/>
                    <a:lstStyle/>
                    <a:p>
                      <a:pPr marL="0" marR="0">
                        <a:lnSpc>
                          <a:spcPct val="107000"/>
                        </a:lnSpc>
                        <a:spcBef>
                          <a:spcPts val="600"/>
                        </a:spcBef>
                        <a:spcAft>
                          <a:spcPts val="600"/>
                        </a:spcAft>
                      </a:pPr>
                      <a:r>
                        <a:rPr lang="en-US" sz="2000">
                          <a:effectLst/>
                        </a:rPr>
                        <a:t>Assessment Development</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000">
                          <a:effectLst/>
                        </a:rPr>
                        <a:t>Designing and writing a summative pencil and paper assessment to accurately measure learning</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25193707"/>
                  </a:ext>
                </a:extLst>
              </a:tr>
              <a:tr h="259109">
                <a:tc>
                  <a:txBody>
                    <a:bodyPr/>
                    <a:lstStyle/>
                    <a:p>
                      <a:pPr marL="0" marR="0">
                        <a:lnSpc>
                          <a:spcPct val="107000"/>
                        </a:lnSpc>
                        <a:spcBef>
                          <a:spcPts val="600"/>
                        </a:spcBef>
                        <a:spcAft>
                          <a:spcPts val="600"/>
                        </a:spcAft>
                      </a:pPr>
                      <a:r>
                        <a:rPr lang="en-US" sz="2000">
                          <a:effectLst/>
                        </a:rPr>
                        <a:t>Administration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000">
                          <a:effectLst/>
                        </a:rPr>
                        <a:t>Giving the assessment to ensure accurate results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14037738"/>
                  </a:ext>
                </a:extLst>
              </a:tr>
              <a:tr h="801316">
                <a:tc>
                  <a:txBody>
                    <a:bodyPr/>
                    <a:lstStyle/>
                    <a:p>
                      <a:pPr marL="0" marR="0">
                        <a:lnSpc>
                          <a:spcPct val="107000"/>
                        </a:lnSpc>
                        <a:spcBef>
                          <a:spcPts val="600"/>
                        </a:spcBef>
                        <a:spcAft>
                          <a:spcPts val="600"/>
                        </a:spcAft>
                      </a:pPr>
                      <a:r>
                        <a:rPr lang="en-US" sz="2000">
                          <a:effectLst/>
                        </a:rPr>
                        <a:t>Scoring</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000">
                          <a:effectLst/>
                        </a:rPr>
                        <a:t>Determining which questions were answered correctly and which were not and using that to determine an overall grade or assessment score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68489093"/>
                  </a:ext>
                </a:extLst>
              </a:tr>
              <a:tr h="801316">
                <a:tc>
                  <a:txBody>
                    <a:bodyPr/>
                    <a:lstStyle/>
                    <a:p>
                      <a:pPr marL="0" marR="0">
                        <a:lnSpc>
                          <a:spcPct val="107000"/>
                        </a:lnSpc>
                        <a:spcBef>
                          <a:spcPts val="600"/>
                        </a:spcBef>
                        <a:spcAft>
                          <a:spcPts val="600"/>
                        </a:spcAft>
                      </a:pPr>
                      <a:r>
                        <a:rPr lang="en-US" sz="2000">
                          <a:effectLst/>
                        </a:rPr>
                        <a:t>Test Anxiety</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000" dirty="0">
                          <a:effectLst/>
                        </a:rPr>
                        <a:t>Student stress caused by the higher stakes of summative tests that can lead to unpleasant feelings and performance that is not representative of a student’s true understanding and/or ability.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01661691"/>
                  </a:ext>
                </a:extLst>
              </a:tr>
            </a:tbl>
          </a:graphicData>
        </a:graphic>
      </p:graphicFrame>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Development</a:t>
            </a:r>
          </a:p>
        </p:txBody>
      </p:sp>
      <p:graphicFrame>
        <p:nvGraphicFramePr>
          <p:cNvPr id="5" name="Content Placeholder 4">
            <a:extLst>
              <a:ext uri="{FF2B5EF4-FFF2-40B4-BE49-F238E27FC236}">
                <a16:creationId xmlns:a16="http://schemas.microsoft.com/office/drawing/2014/main" id="{ECFA925D-E0F2-4E02-8432-75850AC58539}"/>
              </a:ext>
            </a:extLst>
          </p:cNvPr>
          <p:cNvGraphicFramePr>
            <a:graphicFrameLocks noGrp="1"/>
          </p:cNvGraphicFramePr>
          <p:nvPr>
            <p:ph idx="1"/>
            <p:extLst>
              <p:ext uri="{D42A27DB-BD31-4B8C-83A1-F6EECF244321}">
                <p14:modId xmlns:p14="http://schemas.microsoft.com/office/powerpoint/2010/main" val="1764024400"/>
              </p:ext>
            </p:extLst>
          </p:nvPr>
        </p:nvGraphicFramePr>
        <p:xfrm>
          <a:off x="981512" y="1952554"/>
          <a:ext cx="9773174" cy="4276866"/>
        </p:xfrm>
        <a:graphic>
          <a:graphicData uri="http://schemas.openxmlformats.org/drawingml/2006/table">
            <a:tbl>
              <a:tblPr firstRow="1" firstCol="1" bandRow="1">
                <a:tableStyleId>{5940675A-B579-460E-94D1-54222C63F5DA}</a:tableStyleId>
              </a:tblPr>
              <a:tblGrid>
                <a:gridCol w="1779219">
                  <a:extLst>
                    <a:ext uri="{9D8B030D-6E8A-4147-A177-3AD203B41FA5}">
                      <a16:colId xmlns:a16="http://schemas.microsoft.com/office/drawing/2014/main" val="1447127808"/>
                    </a:ext>
                  </a:extLst>
                </a:gridCol>
                <a:gridCol w="7993955">
                  <a:extLst>
                    <a:ext uri="{9D8B030D-6E8A-4147-A177-3AD203B41FA5}">
                      <a16:colId xmlns:a16="http://schemas.microsoft.com/office/drawing/2014/main" val="2974943320"/>
                    </a:ext>
                  </a:extLst>
                </a:gridCol>
              </a:tblGrid>
              <a:tr h="486227">
                <a:tc gridSpan="2">
                  <a:txBody>
                    <a:bodyPr/>
                    <a:lstStyle/>
                    <a:p>
                      <a:pPr marL="0" marR="0">
                        <a:lnSpc>
                          <a:spcPct val="107000"/>
                        </a:lnSpc>
                        <a:spcBef>
                          <a:spcPts val="0"/>
                        </a:spcBef>
                        <a:spcAft>
                          <a:spcPts val="0"/>
                        </a:spcAft>
                      </a:pPr>
                      <a:r>
                        <a:rPr lang="en-US" sz="2000" dirty="0">
                          <a:effectLst/>
                        </a:rPr>
                        <a:t>Development - Designing and writing a summative pencil and paper assessment to accurately measure learning.</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2071364633"/>
                  </a:ext>
                </a:extLst>
              </a:tr>
              <a:tr h="435624">
                <a:tc>
                  <a:txBody>
                    <a:bodyPr/>
                    <a:lstStyle/>
                    <a:p>
                      <a:pPr marL="0" marR="0">
                        <a:lnSpc>
                          <a:spcPct val="107000"/>
                        </a:lnSpc>
                        <a:spcBef>
                          <a:spcPts val="0"/>
                        </a:spcBef>
                        <a:spcAft>
                          <a:spcPts val="0"/>
                        </a:spcAft>
                      </a:pPr>
                      <a:r>
                        <a:rPr lang="en-US" sz="2000">
                          <a:effectLst/>
                        </a:rPr>
                        <a:t>No Surprises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2000">
                          <a:effectLst/>
                        </a:rPr>
                        <a:t>The questions you ask should align to content you taught.</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969035322"/>
                  </a:ext>
                </a:extLst>
              </a:tr>
              <a:tr h="486227">
                <a:tc>
                  <a:txBody>
                    <a:bodyPr/>
                    <a:lstStyle/>
                    <a:p>
                      <a:pPr marL="0" marR="0">
                        <a:lnSpc>
                          <a:spcPct val="107000"/>
                        </a:lnSpc>
                        <a:spcBef>
                          <a:spcPts val="0"/>
                        </a:spcBef>
                        <a:spcAft>
                          <a:spcPts val="0"/>
                        </a:spcAft>
                      </a:pPr>
                      <a:r>
                        <a:rPr lang="en-US" sz="2000">
                          <a:effectLst/>
                        </a:rPr>
                        <a:t>Take it yourself</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2000">
                          <a:effectLst/>
                        </a:rPr>
                        <a:t>Taking the test yourself can help you make sure you the wording of the questions are clear and determine how long it will take.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71907262"/>
                  </a:ext>
                </a:extLst>
              </a:tr>
              <a:tr h="734839">
                <a:tc>
                  <a:txBody>
                    <a:bodyPr/>
                    <a:lstStyle/>
                    <a:p>
                      <a:pPr marL="0" marR="0">
                        <a:lnSpc>
                          <a:spcPct val="107000"/>
                        </a:lnSpc>
                        <a:spcBef>
                          <a:spcPts val="0"/>
                        </a:spcBef>
                        <a:spcAft>
                          <a:spcPts val="0"/>
                        </a:spcAft>
                      </a:pPr>
                      <a:r>
                        <a:rPr lang="en-US" sz="2000">
                          <a:effectLst/>
                        </a:rPr>
                        <a:t>Vary the question challenge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2000">
                          <a:effectLst/>
                        </a:rPr>
                        <a:t>Some questions can focus on basic facts and recall and some questions should require deeper cognitive engagement.</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983388165"/>
                  </a:ext>
                </a:extLst>
              </a:tr>
              <a:tr h="734839">
                <a:tc>
                  <a:txBody>
                    <a:bodyPr/>
                    <a:lstStyle/>
                    <a:p>
                      <a:pPr marL="0" marR="0">
                        <a:lnSpc>
                          <a:spcPct val="107000"/>
                        </a:lnSpc>
                        <a:spcBef>
                          <a:spcPts val="0"/>
                        </a:spcBef>
                        <a:spcAft>
                          <a:spcPts val="0"/>
                        </a:spcAft>
                      </a:pPr>
                      <a:r>
                        <a:rPr lang="en-US" sz="2000">
                          <a:effectLst/>
                        </a:rPr>
                        <a:t>Format with space and clarity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2000">
                          <a:effectLst/>
                        </a:rPr>
                        <a:t>Anything that makes it harder for students to record their thinking (such as too little space for a written response) can make it hard for students to show what they know.</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0433656"/>
                  </a:ext>
                </a:extLst>
              </a:tr>
              <a:tr h="486227">
                <a:tc>
                  <a:txBody>
                    <a:bodyPr/>
                    <a:lstStyle/>
                    <a:p>
                      <a:pPr marL="0" marR="0">
                        <a:lnSpc>
                          <a:spcPct val="107000"/>
                        </a:lnSpc>
                        <a:spcBef>
                          <a:spcPts val="0"/>
                        </a:spcBef>
                        <a:spcAft>
                          <a:spcPts val="0"/>
                        </a:spcAft>
                      </a:pPr>
                      <a:r>
                        <a:rPr lang="en-US" sz="2000">
                          <a:effectLst/>
                        </a:rPr>
                        <a:t>Clear directions and scoring</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2000" dirty="0">
                          <a:effectLst/>
                        </a:rPr>
                        <a:t>Always make sure it is clear exactly what you want students to do on the test and how many points each section of the test is worth.</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2203464"/>
                  </a:ext>
                </a:extLst>
              </a:tr>
            </a:tbl>
          </a:graphicData>
        </a:graphic>
      </p:graphicFrame>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Administration</a:t>
            </a:r>
          </a:p>
        </p:txBody>
      </p:sp>
      <p:graphicFrame>
        <p:nvGraphicFramePr>
          <p:cNvPr id="5" name="Content Placeholder 4">
            <a:extLst>
              <a:ext uri="{FF2B5EF4-FFF2-40B4-BE49-F238E27FC236}">
                <a16:creationId xmlns:a16="http://schemas.microsoft.com/office/drawing/2014/main" id="{7B460AE8-B826-4158-8FAB-AC401B550CC8}"/>
              </a:ext>
            </a:extLst>
          </p:cNvPr>
          <p:cNvGraphicFramePr>
            <a:graphicFrameLocks noGrp="1"/>
          </p:cNvGraphicFramePr>
          <p:nvPr>
            <p:ph idx="1"/>
            <p:extLst>
              <p:ext uri="{D42A27DB-BD31-4B8C-83A1-F6EECF244321}">
                <p14:modId xmlns:p14="http://schemas.microsoft.com/office/powerpoint/2010/main" val="1888009745"/>
              </p:ext>
            </p:extLst>
          </p:nvPr>
        </p:nvGraphicFramePr>
        <p:xfrm>
          <a:off x="999880" y="1825624"/>
          <a:ext cx="9788362" cy="3914818"/>
        </p:xfrm>
        <a:graphic>
          <a:graphicData uri="http://schemas.openxmlformats.org/drawingml/2006/table">
            <a:tbl>
              <a:tblPr firstRow="1" firstCol="1" bandRow="1">
                <a:tableStyleId>{5940675A-B579-460E-94D1-54222C63F5DA}</a:tableStyleId>
              </a:tblPr>
              <a:tblGrid>
                <a:gridCol w="9788362">
                  <a:extLst>
                    <a:ext uri="{9D8B030D-6E8A-4147-A177-3AD203B41FA5}">
                      <a16:colId xmlns:a16="http://schemas.microsoft.com/office/drawing/2014/main" val="3976899503"/>
                    </a:ext>
                  </a:extLst>
                </a:gridCol>
              </a:tblGrid>
              <a:tr h="452040">
                <a:tc>
                  <a:txBody>
                    <a:bodyPr/>
                    <a:lstStyle/>
                    <a:p>
                      <a:pPr marL="0" marR="0">
                        <a:lnSpc>
                          <a:spcPct val="107000"/>
                        </a:lnSpc>
                        <a:spcBef>
                          <a:spcPts val="0"/>
                        </a:spcBef>
                        <a:spcAft>
                          <a:spcPts val="0"/>
                        </a:spcAft>
                      </a:pPr>
                      <a:r>
                        <a:rPr lang="en-US" sz="2000" dirty="0">
                          <a:effectLst/>
                        </a:rPr>
                        <a:t>Administration - Giving the assessment to ensure accurate results.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87222991"/>
                  </a:ext>
                </a:extLst>
              </a:tr>
              <a:tr h="1086356">
                <a:tc>
                  <a:txBody>
                    <a:bodyPr/>
                    <a:lstStyle/>
                    <a:p>
                      <a:pPr marL="0" marR="0">
                        <a:lnSpc>
                          <a:spcPct val="107000"/>
                        </a:lnSpc>
                        <a:spcBef>
                          <a:spcPts val="0"/>
                        </a:spcBef>
                        <a:spcAft>
                          <a:spcPts val="0"/>
                        </a:spcAft>
                      </a:pPr>
                      <a:r>
                        <a:rPr lang="en-US" sz="2000">
                          <a:effectLst/>
                        </a:rPr>
                        <a:t>Ensure that the classroom has as few distractions as possible. This should mean students themselves should be silent during the assessment, outside noises are minimized, and distracting visual content is avoided (computer screen blanked, white board notes erased)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43229685"/>
                  </a:ext>
                </a:extLst>
              </a:tr>
              <a:tr h="1086356">
                <a:tc>
                  <a:txBody>
                    <a:bodyPr/>
                    <a:lstStyle/>
                    <a:p>
                      <a:pPr marL="0" marR="0">
                        <a:lnSpc>
                          <a:spcPct val="107000"/>
                        </a:lnSpc>
                        <a:spcBef>
                          <a:spcPts val="0"/>
                        </a:spcBef>
                        <a:spcAft>
                          <a:spcPts val="0"/>
                        </a:spcAft>
                      </a:pPr>
                      <a:r>
                        <a:rPr lang="en-US" sz="2000" dirty="0">
                          <a:effectLst/>
                        </a:rPr>
                        <a:t>The purpose of assessment is for both the teacher and student to know how the student is progressing to help learning – it isn’t to make long-term judgements or to compare students.  No single test is an accurate measure of how smart a student is but instead a measure of how well they learned the content taught.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54577622"/>
                  </a:ext>
                </a:extLst>
              </a:tr>
              <a:tr h="1086356">
                <a:tc>
                  <a:txBody>
                    <a:bodyPr/>
                    <a:lstStyle/>
                    <a:p>
                      <a:pPr marL="0" marR="0">
                        <a:lnSpc>
                          <a:spcPct val="107000"/>
                        </a:lnSpc>
                        <a:spcBef>
                          <a:spcPts val="0"/>
                        </a:spcBef>
                        <a:spcAft>
                          <a:spcPts val="0"/>
                        </a:spcAft>
                      </a:pPr>
                      <a:r>
                        <a:rPr lang="en-US" sz="2000" dirty="0">
                          <a:effectLst/>
                        </a:rPr>
                        <a:t>Generally, it can be helpful to provide students opportunities to retake tests so they have another opportunity to show their work.  Some teachers may choose to not allow retakes if they think retakes are causing students to postpone learning.</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05010138"/>
                  </a:ext>
                </a:extLst>
              </a:tr>
            </a:tbl>
          </a:graphicData>
        </a:graphic>
      </p:graphicFrame>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Scoring</a:t>
            </a:r>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7</a:t>
            </a:fld>
            <a:endParaRPr lang="en-US" dirty="0"/>
          </a:p>
        </p:txBody>
      </p:sp>
      <p:graphicFrame>
        <p:nvGraphicFramePr>
          <p:cNvPr id="5" name="Table 4">
            <a:extLst>
              <a:ext uri="{FF2B5EF4-FFF2-40B4-BE49-F238E27FC236}">
                <a16:creationId xmlns:a16="http://schemas.microsoft.com/office/drawing/2014/main" id="{13EB404A-F52D-449D-B16B-751583843D82}"/>
              </a:ext>
            </a:extLst>
          </p:cNvPr>
          <p:cNvGraphicFramePr>
            <a:graphicFrameLocks noGrp="1"/>
          </p:cNvGraphicFramePr>
          <p:nvPr>
            <p:extLst>
              <p:ext uri="{D42A27DB-BD31-4B8C-83A1-F6EECF244321}">
                <p14:modId xmlns:p14="http://schemas.microsoft.com/office/powerpoint/2010/main" val="910168600"/>
              </p:ext>
            </p:extLst>
          </p:nvPr>
        </p:nvGraphicFramePr>
        <p:xfrm>
          <a:off x="838200" y="1698391"/>
          <a:ext cx="10005291" cy="4012035"/>
        </p:xfrm>
        <a:graphic>
          <a:graphicData uri="http://schemas.openxmlformats.org/drawingml/2006/table">
            <a:tbl>
              <a:tblPr firstRow="1" firstCol="1" bandRow="1">
                <a:tableStyleId>{5940675A-B579-460E-94D1-54222C63F5DA}</a:tableStyleId>
              </a:tblPr>
              <a:tblGrid>
                <a:gridCol w="1821476">
                  <a:extLst>
                    <a:ext uri="{9D8B030D-6E8A-4147-A177-3AD203B41FA5}">
                      <a16:colId xmlns:a16="http://schemas.microsoft.com/office/drawing/2014/main" val="558647008"/>
                    </a:ext>
                  </a:extLst>
                </a:gridCol>
                <a:gridCol w="8183815">
                  <a:extLst>
                    <a:ext uri="{9D8B030D-6E8A-4147-A177-3AD203B41FA5}">
                      <a16:colId xmlns:a16="http://schemas.microsoft.com/office/drawing/2014/main" val="3004538825"/>
                    </a:ext>
                  </a:extLst>
                </a:gridCol>
              </a:tblGrid>
              <a:tr h="551817">
                <a:tc gridSpan="2">
                  <a:txBody>
                    <a:bodyPr/>
                    <a:lstStyle/>
                    <a:p>
                      <a:pPr marL="0" marR="0">
                        <a:lnSpc>
                          <a:spcPct val="107000"/>
                        </a:lnSpc>
                        <a:spcBef>
                          <a:spcPts val="0"/>
                        </a:spcBef>
                        <a:spcAft>
                          <a:spcPts val="0"/>
                        </a:spcAft>
                      </a:pPr>
                      <a:r>
                        <a:rPr lang="en-US" sz="1800" dirty="0">
                          <a:effectLst/>
                        </a:rPr>
                        <a:t>Scoring - Determining which questions were answered correctly and which were not and using that to determine an overall grade or assessment score.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785578108"/>
                  </a:ext>
                </a:extLst>
              </a:tr>
              <a:tr h="1398265">
                <a:tc>
                  <a:txBody>
                    <a:bodyPr/>
                    <a:lstStyle/>
                    <a:p>
                      <a:pPr marL="0" marR="0">
                        <a:lnSpc>
                          <a:spcPct val="107000"/>
                        </a:lnSpc>
                        <a:spcBef>
                          <a:spcPts val="0"/>
                        </a:spcBef>
                        <a:spcAft>
                          <a:spcPts val="0"/>
                        </a:spcAft>
                      </a:pPr>
                      <a:r>
                        <a:rPr lang="en-US" sz="1800" dirty="0">
                          <a:effectLst/>
                        </a:rPr>
                        <a:t>Score with feedback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800" dirty="0">
                          <a:effectLst/>
                        </a:rPr>
                        <a:t>Sometimes marking questions right or wrong is feedback enough; other times it can be very helpful to be more specific to tell the student where they could improve their work. Putting a C+ at the top of an essay is best when paired with descriptive feedback (e.g. “This paragraphs cites no evidence for your claim. You could make your writing stronger by adding clear textual evidence.”)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44639863"/>
                  </a:ext>
                </a:extLst>
              </a:tr>
              <a:tr h="1116116">
                <a:tc>
                  <a:txBody>
                    <a:bodyPr/>
                    <a:lstStyle/>
                    <a:p>
                      <a:pPr marL="0" marR="0">
                        <a:lnSpc>
                          <a:spcPct val="107000"/>
                        </a:lnSpc>
                        <a:spcBef>
                          <a:spcPts val="0"/>
                        </a:spcBef>
                        <a:spcAft>
                          <a:spcPts val="0"/>
                        </a:spcAft>
                      </a:pPr>
                      <a:r>
                        <a:rPr lang="en-US" sz="1800">
                          <a:effectLst/>
                        </a:rPr>
                        <a:t>Look whole class patterns to guide instruction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800" dirty="0">
                          <a:effectLst/>
                        </a:rPr>
                        <a:t>Often, on a test, you may see a particular question that many students got wrong.  This can help inform what should be retaught and practiced more in the whole class.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89547197"/>
                  </a:ext>
                </a:extLst>
              </a:tr>
              <a:tr h="833965">
                <a:tc>
                  <a:txBody>
                    <a:bodyPr/>
                    <a:lstStyle/>
                    <a:p>
                      <a:pPr marL="0" marR="0">
                        <a:lnSpc>
                          <a:spcPct val="107000"/>
                        </a:lnSpc>
                        <a:spcBef>
                          <a:spcPts val="0"/>
                        </a:spcBef>
                        <a:spcAft>
                          <a:spcPts val="0"/>
                        </a:spcAft>
                      </a:pPr>
                      <a:r>
                        <a:rPr lang="en-US" sz="1800">
                          <a:effectLst/>
                        </a:rPr>
                        <a:t>Intervene for struggling students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800" dirty="0">
                          <a:effectLst/>
                        </a:rPr>
                        <a:t>When individuals or groups of students struggle, this is your que as a teacher to figure what you can do to help them and to understand why they are struggling and help them take the steps to learn the content.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15129750"/>
                  </a:ext>
                </a:extLst>
              </a:tr>
            </a:tbl>
          </a:graphicData>
        </a:graphic>
      </p:graphicFrame>
    </p:spTree>
    <p:extLst>
      <p:ext uri="{BB962C8B-B14F-4D97-AF65-F5344CB8AC3E}">
        <p14:creationId xmlns:p14="http://schemas.microsoft.com/office/powerpoint/2010/main" val="417092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indent="0">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Given the scenarios and assessment, indicate whether each is a best practice for pencil and paper assessment and indicate why.</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highlight>
                <a:srgbClr val="FFFF00"/>
              </a:highlight>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FC137D3-1920-4541-BF2F-431628E4368B}" vid="{D2C998E6-2449-491A-B7CD-BA309C057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C2U5 Template</Template>
  <TotalTime>9</TotalTime>
  <Words>795</Words>
  <Application>Microsoft Office PowerPoint</Application>
  <PresentationFormat>Widescreen</PresentationFormat>
  <Paragraphs>59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Symbol</vt:lpstr>
      <vt:lpstr>Office Theme</vt:lpstr>
      <vt:lpstr>Instructional Practices| Unit 5: Planning For and With Assessment | Lesson 5.12</vt:lpstr>
      <vt:lpstr>TEKS Standards &amp; Objectives</vt:lpstr>
      <vt:lpstr>Bellringer</vt:lpstr>
      <vt:lpstr>Vocabulary</vt:lpstr>
      <vt:lpstr>Development</vt:lpstr>
      <vt:lpstr>Administration</vt:lpstr>
      <vt:lpstr>Scoring</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5.12: Summative Assessments | Paper and Pencil Assessments</dc:title>
  <dc:subject>Lesson 5.12: Summative Assessments | Paper and Pencil Assessments</dc:subject>
  <dc:creator>Texas Education Agency</dc:creator>
  <cp:lastModifiedBy>London White</cp:lastModifiedBy>
  <cp:revision>2</cp:revision>
  <dcterms:created xsi:type="dcterms:W3CDTF">2022-09-18T22:55:19Z</dcterms:created>
  <dcterms:modified xsi:type="dcterms:W3CDTF">2023-08-31T04:16:42Z</dcterms:modified>
</cp:coreProperties>
</file>
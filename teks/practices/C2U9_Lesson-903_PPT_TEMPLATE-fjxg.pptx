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9" r:id="rId3"/>
    <p:sldId id="258" r:id="rId4"/>
    <p:sldId id="262" r:id="rId5"/>
    <p:sldId id="261" r:id="rId6"/>
    <p:sldId id="263" r:id="rId7"/>
    <p:sldId id="26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006B27-C39F-4F1B-AA9B-408BD18957DE}" v="8" dt="2022-12-31T20:04:14.63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07" autoAdjust="0"/>
  </p:normalViewPr>
  <p:slideViewPr>
    <p:cSldViewPr snapToGrid="0">
      <p:cViewPr varScale="1">
        <p:scale>
          <a:sx n="113" d="100"/>
          <a:sy n="113" d="100"/>
        </p:scale>
        <p:origin x="39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8/30/2023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dirty="0"/>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8/30/2023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8/30/2023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8/30/2023</a:t>
            </a:fld>
            <a:endParaRPr lang="en-US" dirty="0"/>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8/30/2023</a:t>
            </a:fld>
            <a:endParaRPr lang="en-US" dirty="0"/>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8/30/2023</a:t>
            </a:fld>
            <a:endParaRPr lang="en-US" dirty="0"/>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8/30/2023</a:t>
            </a:fld>
            <a:endParaRPr lang="en-US" dirty="0"/>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8/30/2023</a:t>
            </a:fld>
            <a:endParaRPr lang="en-US" dirty="0"/>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dirty="0"/>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118731"/>
            <a:ext cx="9144000" cy="370300"/>
          </a:xfrm>
        </p:spPr>
        <p:txBody>
          <a:bodyPr>
            <a:normAutofit/>
          </a:bodyPr>
          <a:lstStyle/>
          <a:p>
            <a:pPr algn="l"/>
            <a:r>
              <a:rPr lang="en-US" sz="1800" dirty="0"/>
              <a:t>Instructional Practices| Unit 9: Feedback| Lesson 9.03</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vert="horz" lIns="91440" tIns="45720" rIns="91440" bIns="45720" rtlCol="0" anchor="t">
            <a:normAutofit/>
          </a:bodyPr>
          <a:lstStyle/>
          <a:p>
            <a:r>
              <a:rPr lang="en-US" sz="6000" dirty="0">
                <a:cs typeface="Calibri"/>
              </a:rPr>
              <a:t>Practice with Formal, Written Feedback</a:t>
            </a:r>
          </a:p>
        </p:txBody>
      </p:sp>
      <p:sp>
        <p:nvSpPr>
          <p:cNvPr id="4" name="TextBox 4">
            <a:extLst>
              <a:ext uri="{FF2B5EF4-FFF2-40B4-BE49-F238E27FC236}">
                <a16:creationId xmlns:a16="http://schemas.microsoft.com/office/drawing/2014/main" id="{B705C459-A130-8302-9637-4C0AB43D3DDB}"/>
              </a:ext>
            </a:extLst>
          </p:cNvPr>
          <p:cNvSpPr txBox="1"/>
          <p:nvPr/>
        </p:nvSpPr>
        <p:spPr>
          <a:xfrm>
            <a:off x="0" y="6489031"/>
            <a:ext cx="10684043" cy="33855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a:spcBef>
                <a:spcPts val="0"/>
              </a:spcBef>
              <a:spcAft>
                <a:spcPts val="0"/>
              </a:spcAft>
              <a:tabLst>
                <a:tab pos="2971800" algn="ctr"/>
                <a:tab pos="5943600" algn="r"/>
              </a:tabLst>
            </a:pPr>
            <a:r>
              <a:rPr lang="en-US" sz="16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6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6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vert="horz" lIns="91440" tIns="45720" rIns="91440" bIns="45720" rtlCol="0" anchor="t">
            <a:normAutofit/>
          </a:bodyPr>
          <a:lstStyle/>
          <a:p>
            <a:pPr marL="0" indent="0">
              <a:buNone/>
            </a:pPr>
            <a:r>
              <a:rPr lang="en-US" dirty="0"/>
              <a:t>TEKS 4 B-C, 14 A,C,D</a:t>
            </a:r>
            <a:endParaRPr lang="en-US" dirty="0">
              <a:cs typeface="Calibri"/>
            </a:endParaRPr>
          </a:p>
          <a:p>
            <a:pPr marL="0" indent="0">
              <a:buNone/>
            </a:pPr>
            <a:endParaRPr lang="en-US" dirty="0"/>
          </a:p>
          <a:p>
            <a:pPr marL="0" indent="0">
              <a:buNone/>
            </a:pPr>
            <a:r>
              <a:rPr lang="en-US" dirty="0"/>
              <a:t>The student will:</a:t>
            </a:r>
          </a:p>
          <a:p>
            <a:r>
              <a:rPr lang="en-US" dirty="0">
                <a:effectLst/>
                <a:ea typeface="SimSun" panose="02010600030101010101" pitchFamily="2" charset="-122"/>
                <a:cs typeface="Times New Roman" panose="02020603050405020304" pitchFamily="18" charset="0"/>
              </a:rPr>
              <a:t>Practice delivering formal, written feedback</a:t>
            </a:r>
            <a:endParaRPr lang="en-US" dirty="0">
              <a:effectLst/>
              <a:ea typeface="Calibri" panose="020F0502020204030204" pitchFamily="34" charset="0"/>
              <a:cs typeface="Times New Roman" panose="02020603050405020304" pitchFamily="18" charset="0"/>
            </a:endParaRPr>
          </a:p>
          <a:p>
            <a:r>
              <a:rPr lang="en-US" dirty="0">
                <a:effectLst/>
                <a:ea typeface="Calibri" panose="020F0502020204030204" pitchFamily="34" charset="0"/>
              </a:rPr>
              <a:t>Analyze and evaluate formal, written feedback based on the characteristics of effective feedback</a:t>
            </a:r>
            <a:endParaRPr lang="en-US"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a:xfrm>
            <a:off x="838200" y="1493240"/>
            <a:ext cx="10515600" cy="4683723"/>
          </a:xfrm>
        </p:spPr>
        <p:txBody>
          <a:bodyPr vert="horz" lIns="91440" tIns="45720" rIns="91440" bIns="45720" rtlCol="0" anchor="t">
            <a:normAutofit/>
          </a:bodyPr>
          <a:lstStyle/>
          <a:p>
            <a:pPr marL="0" marR="0" indent="0">
              <a:spcBef>
                <a:spcPts val="600"/>
              </a:spcBef>
              <a:spcAft>
                <a:spcPts val="600"/>
              </a:spcAft>
              <a:buNone/>
            </a:pPr>
            <a:r>
              <a:rPr lang="en-US" dirty="0">
                <a:effectLst/>
                <a:latin typeface="Calibri" panose="020F0502020204030204" pitchFamily="34" charset="0"/>
                <a:ea typeface="Calibri" panose="020F0502020204030204" pitchFamily="34" charset="0"/>
                <a:cs typeface="Times New Roman" panose="02020603050405020304" pitchFamily="18" charset="0"/>
              </a:rPr>
              <a:t>How does formal feedback differ from informal feedback?  </a:t>
            </a:r>
          </a:p>
          <a:p>
            <a:pPr marL="0" marR="0" indent="0">
              <a:spcBef>
                <a:spcPts val="600"/>
              </a:spcBef>
              <a:spcAft>
                <a:spcPts val="600"/>
              </a:spcAft>
              <a:buNone/>
            </a:pPr>
            <a:r>
              <a:rPr lang="en-US" dirty="0">
                <a:effectLst/>
                <a:latin typeface="Calibri" panose="020F0502020204030204" pitchFamily="34" charset="0"/>
                <a:ea typeface="Calibri" panose="020F0502020204030204" pitchFamily="34" charset="0"/>
                <a:cs typeface="Times New Roman" panose="02020603050405020304" pitchFamily="18" charset="0"/>
              </a:rPr>
              <a:t>What are the benefits of formal written feedback over informal verbal feedback?</a:t>
            </a: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297DF-6C26-485D-80CA-F09ECAD68AA5}"/>
              </a:ext>
            </a:extLst>
          </p:cNvPr>
          <p:cNvSpPr>
            <a:spLocks noGrp="1"/>
          </p:cNvSpPr>
          <p:nvPr>
            <p:ph type="title"/>
          </p:nvPr>
        </p:nvSpPr>
        <p:spPr/>
        <p:txBody>
          <a:bodyPr/>
          <a:lstStyle/>
          <a:p>
            <a:r>
              <a:rPr lang="en-US" dirty="0"/>
              <a:t>Vocabulary	</a:t>
            </a:r>
          </a:p>
        </p:txBody>
      </p:sp>
      <p:graphicFrame>
        <p:nvGraphicFramePr>
          <p:cNvPr id="5" name="Table 5">
            <a:extLst>
              <a:ext uri="{FF2B5EF4-FFF2-40B4-BE49-F238E27FC236}">
                <a16:creationId xmlns:a16="http://schemas.microsoft.com/office/drawing/2014/main" id="{B401CB91-2139-424B-82D0-09E31AB600F4}"/>
              </a:ext>
            </a:extLst>
          </p:cNvPr>
          <p:cNvGraphicFramePr>
            <a:graphicFrameLocks noGrp="1"/>
          </p:cNvGraphicFramePr>
          <p:nvPr>
            <p:ph idx="1"/>
            <p:extLst>
              <p:ext uri="{D42A27DB-BD31-4B8C-83A1-F6EECF244321}">
                <p14:modId xmlns:p14="http://schemas.microsoft.com/office/powerpoint/2010/main" val="2506352533"/>
              </p:ext>
            </p:extLst>
          </p:nvPr>
        </p:nvGraphicFramePr>
        <p:xfrm>
          <a:off x="838200" y="1825625"/>
          <a:ext cx="10515600" cy="2133600"/>
        </p:xfrm>
        <a:graphic>
          <a:graphicData uri="http://schemas.openxmlformats.org/drawingml/2006/table">
            <a:tbl>
              <a:tblPr firstRow="1" bandRow="1">
                <a:tableStyleId>{5940675A-B579-460E-94D1-54222C63F5DA}</a:tableStyleId>
              </a:tblPr>
              <a:tblGrid>
                <a:gridCol w="1946945">
                  <a:extLst>
                    <a:ext uri="{9D8B030D-6E8A-4147-A177-3AD203B41FA5}">
                      <a16:colId xmlns:a16="http://schemas.microsoft.com/office/drawing/2014/main" val="3207962171"/>
                    </a:ext>
                  </a:extLst>
                </a:gridCol>
                <a:gridCol w="8568655">
                  <a:extLst>
                    <a:ext uri="{9D8B030D-6E8A-4147-A177-3AD203B41FA5}">
                      <a16:colId xmlns:a16="http://schemas.microsoft.com/office/drawing/2014/main" val="3865386169"/>
                    </a:ext>
                  </a:extLst>
                </a:gridCol>
              </a:tblGrid>
              <a:tr h="370840">
                <a:tc>
                  <a:txBody>
                    <a:bodyPr/>
                    <a:lstStyle/>
                    <a:p>
                      <a:pPr marL="0" marR="0">
                        <a:spcBef>
                          <a:spcPts val="600"/>
                        </a:spcBef>
                        <a:spcAft>
                          <a:spcPts val="600"/>
                        </a:spcAft>
                      </a:pPr>
                      <a:r>
                        <a:rPr lang="en-US" sz="2800" dirty="0">
                          <a:effectLst/>
                          <a:latin typeface="Calibri" panose="020F0502020204030204" pitchFamily="34" charset="0"/>
                          <a:ea typeface="Calibri" panose="020F0502020204030204" pitchFamily="34" charset="0"/>
                          <a:cs typeface="Times New Roman" panose="02020603050405020304" pitchFamily="18" charset="0"/>
                        </a:rPr>
                        <a:t>Formal Feedback</a:t>
                      </a:r>
                    </a:p>
                  </a:txBody>
                  <a:tcPr marL="68580" marR="68580" marT="0" marB="0"/>
                </a:tc>
                <a:tc>
                  <a:txBody>
                    <a:bodyPr/>
                    <a:lstStyle/>
                    <a:p>
                      <a:pPr marL="0" marR="0">
                        <a:spcBef>
                          <a:spcPts val="600"/>
                        </a:spcBef>
                        <a:spcAft>
                          <a:spcPts val="600"/>
                        </a:spcAft>
                      </a:pPr>
                      <a:r>
                        <a:rPr lang="en-US" sz="2800" dirty="0">
                          <a:effectLst/>
                          <a:latin typeface="Calibri" panose="020F0502020204030204" pitchFamily="34" charset="0"/>
                          <a:ea typeface="Calibri" panose="020F0502020204030204" pitchFamily="34" charset="0"/>
                          <a:cs typeface="Calibri" panose="020F0502020204030204" pitchFamily="34" charset="0"/>
                        </a:rPr>
                        <a:t>Feedback that is planned and systematically scheduled into the learning process.  It is provided consistently for each student.</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00512972"/>
                  </a:ext>
                </a:extLst>
              </a:tr>
              <a:tr h="370840">
                <a:tc>
                  <a:txBody>
                    <a:bodyPr/>
                    <a:lstStyle/>
                    <a:p>
                      <a:pPr marL="0" marR="0">
                        <a:spcBef>
                          <a:spcPts val="600"/>
                        </a:spcBef>
                        <a:spcAft>
                          <a:spcPts val="600"/>
                        </a:spcAft>
                      </a:pPr>
                      <a:r>
                        <a:rPr lang="en-US" sz="2800" dirty="0">
                          <a:effectLst/>
                          <a:latin typeface="Calibri" panose="020F0502020204030204" pitchFamily="34" charset="0"/>
                          <a:ea typeface="Calibri" panose="020F0502020204030204" pitchFamily="34" charset="0"/>
                          <a:cs typeface="Calibri" panose="020F0502020204030204" pitchFamily="34" charset="0"/>
                        </a:rPr>
                        <a:t>Written Feedback</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600"/>
                        </a:spcBef>
                        <a:spcAft>
                          <a:spcPts val="600"/>
                        </a:spcAft>
                      </a:pPr>
                      <a:r>
                        <a:rPr lang="en-US" sz="2800" dirty="0">
                          <a:effectLst/>
                          <a:latin typeface="Calibri" panose="020F0502020204030204" pitchFamily="34" charset="0"/>
                          <a:ea typeface="Calibri" panose="020F0502020204030204" pitchFamily="34" charset="0"/>
                          <a:cs typeface="Calibri" panose="020F0502020204030204" pitchFamily="34" charset="0"/>
                        </a:rPr>
                        <a:t>Formal feedback that is provided to as student in written form after a task has been completed.  </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55770956"/>
                  </a:ext>
                </a:extLst>
              </a:tr>
            </a:tbl>
          </a:graphicData>
        </a:graphic>
      </p:graphicFrame>
      <p:sp>
        <p:nvSpPr>
          <p:cNvPr id="4" name="Slide Number Placeholder 3">
            <a:extLst>
              <a:ext uri="{FF2B5EF4-FFF2-40B4-BE49-F238E27FC236}">
                <a16:creationId xmlns:a16="http://schemas.microsoft.com/office/drawing/2014/main" id="{7E4DBBF1-3C05-4AAA-AEB4-C3CA3B3DE076}"/>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1207238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Characteristics of Effective Feedback</a:t>
            </a: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
        <p:nvSpPr>
          <p:cNvPr id="6" name="Content Placeholder 5">
            <a:extLst>
              <a:ext uri="{FF2B5EF4-FFF2-40B4-BE49-F238E27FC236}">
                <a16:creationId xmlns:a16="http://schemas.microsoft.com/office/drawing/2014/main" id="{BAF4C85A-86EE-4525-9B56-82CFD03F6DCF}"/>
              </a:ext>
            </a:extLst>
          </p:cNvPr>
          <p:cNvSpPr>
            <a:spLocks noGrp="1"/>
          </p:cNvSpPr>
          <p:nvPr>
            <p:ph idx="1"/>
          </p:nvPr>
        </p:nvSpPr>
        <p:spPr/>
        <p:txBody>
          <a:bodyPr>
            <a:normAutofit/>
          </a:bodyPr>
          <a:lstStyle/>
          <a:p>
            <a:r>
              <a:rPr lang="en-US" sz="3200" dirty="0"/>
              <a:t>Specific and clear</a:t>
            </a:r>
          </a:p>
          <a:p>
            <a:r>
              <a:rPr lang="en-US" sz="3200" dirty="0"/>
              <a:t>Focused on the task, not the student</a:t>
            </a:r>
          </a:p>
          <a:p>
            <a:r>
              <a:rPr lang="en-US" sz="3200" dirty="0"/>
              <a:t>Identifies both strengths and areas of improvement</a:t>
            </a:r>
          </a:p>
          <a:p>
            <a:r>
              <a:rPr lang="en-US" sz="3200" dirty="0"/>
              <a:t>Timely and actionable</a:t>
            </a:r>
          </a:p>
        </p:txBody>
      </p:sp>
    </p:spTree>
    <p:extLst>
      <p:ext uri="{BB962C8B-B14F-4D97-AF65-F5344CB8AC3E}">
        <p14:creationId xmlns:p14="http://schemas.microsoft.com/office/powerpoint/2010/main" val="17009930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4D724-6033-479C-904C-00EB1B4296C6}"/>
              </a:ext>
            </a:extLst>
          </p:cNvPr>
          <p:cNvSpPr>
            <a:spLocks noGrp="1"/>
          </p:cNvSpPr>
          <p:nvPr>
            <p:ph type="title"/>
          </p:nvPr>
        </p:nvSpPr>
        <p:spPr>
          <a:xfrm>
            <a:off x="838200" y="365126"/>
            <a:ext cx="10515600" cy="708666"/>
          </a:xfrm>
        </p:spPr>
        <p:txBody>
          <a:bodyPr/>
          <a:lstStyle/>
          <a:p>
            <a:r>
              <a:rPr lang="en-US" dirty="0"/>
              <a:t>Model: Effective Formal, Written Feedback</a:t>
            </a:r>
          </a:p>
        </p:txBody>
      </p:sp>
      <p:pic>
        <p:nvPicPr>
          <p:cNvPr id="5" name="Content Placeholder 4" descr="A student work sample titled &quot;I bot a little cotton ball&quot; &#10;&#10;Original source: https://www.ode.state.or.us/wma/teachlearn/commoncore/ela-appendix-c.pdf):">
            <a:extLst>
              <a:ext uri="{FF2B5EF4-FFF2-40B4-BE49-F238E27FC236}">
                <a16:creationId xmlns:a16="http://schemas.microsoft.com/office/drawing/2014/main" id="{BBA1C63D-9504-4394-A5AB-33EBE466C5C1}"/>
              </a:ext>
            </a:extLst>
          </p:cNvPr>
          <p:cNvPicPr>
            <a:picLocks noGrp="1" noChangeAspect="1"/>
          </p:cNvPicPr>
          <p:nvPr>
            <p:ph idx="1"/>
          </p:nvPr>
        </p:nvPicPr>
        <p:blipFill>
          <a:blip r:embed="rId2"/>
          <a:stretch>
            <a:fillRect/>
          </a:stretch>
        </p:blipFill>
        <p:spPr>
          <a:xfrm>
            <a:off x="410361" y="1780523"/>
            <a:ext cx="6049219" cy="4058216"/>
          </a:xfrm>
          <a:prstGeom prst="rect">
            <a:avLst/>
          </a:prstGeom>
        </p:spPr>
      </p:pic>
      <p:graphicFrame>
        <p:nvGraphicFramePr>
          <p:cNvPr id="6" name="Table 5">
            <a:extLst>
              <a:ext uri="{FF2B5EF4-FFF2-40B4-BE49-F238E27FC236}">
                <a16:creationId xmlns:a16="http://schemas.microsoft.com/office/drawing/2014/main" id="{145E5053-98A8-4FE1-9D86-32E641E56D5F}"/>
              </a:ext>
            </a:extLst>
          </p:cNvPr>
          <p:cNvGraphicFramePr>
            <a:graphicFrameLocks noGrp="1"/>
          </p:cNvGraphicFramePr>
          <p:nvPr>
            <p:extLst>
              <p:ext uri="{D42A27DB-BD31-4B8C-83A1-F6EECF244321}">
                <p14:modId xmlns:p14="http://schemas.microsoft.com/office/powerpoint/2010/main" val="1458059107"/>
              </p:ext>
            </p:extLst>
          </p:nvPr>
        </p:nvGraphicFramePr>
        <p:xfrm>
          <a:off x="6725975" y="1579973"/>
          <a:ext cx="4971773" cy="3948371"/>
        </p:xfrm>
        <a:graphic>
          <a:graphicData uri="http://schemas.openxmlformats.org/drawingml/2006/table">
            <a:tbl>
              <a:tblPr firstRow="1" firstCol="1" bandRow="1">
                <a:tableStyleId>{5940675A-B579-460E-94D1-54222C63F5DA}</a:tableStyleId>
              </a:tblPr>
              <a:tblGrid>
                <a:gridCol w="1101525">
                  <a:extLst>
                    <a:ext uri="{9D8B030D-6E8A-4147-A177-3AD203B41FA5}">
                      <a16:colId xmlns:a16="http://schemas.microsoft.com/office/drawing/2014/main" val="2088444884"/>
                    </a:ext>
                  </a:extLst>
                </a:gridCol>
                <a:gridCol w="2073666">
                  <a:extLst>
                    <a:ext uri="{9D8B030D-6E8A-4147-A177-3AD203B41FA5}">
                      <a16:colId xmlns:a16="http://schemas.microsoft.com/office/drawing/2014/main" val="1905987464"/>
                    </a:ext>
                  </a:extLst>
                </a:gridCol>
                <a:gridCol w="1796582">
                  <a:extLst>
                    <a:ext uri="{9D8B030D-6E8A-4147-A177-3AD203B41FA5}">
                      <a16:colId xmlns:a16="http://schemas.microsoft.com/office/drawing/2014/main" val="3718253606"/>
                    </a:ext>
                  </a:extLst>
                </a:gridCol>
              </a:tblGrid>
              <a:tr h="388682">
                <a:tc>
                  <a:txBody>
                    <a:bodyPr/>
                    <a:lstStyle/>
                    <a:p>
                      <a:pPr marL="0" marR="0">
                        <a:lnSpc>
                          <a:spcPct val="107000"/>
                        </a:lnSpc>
                        <a:spcBef>
                          <a:spcPts val="0"/>
                        </a:spcBef>
                        <a:spcAft>
                          <a:spcPts val="0"/>
                        </a:spcAft>
                      </a:pPr>
                      <a:r>
                        <a:rPr lang="en-US" sz="11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100" dirty="0">
                          <a:effectLst/>
                        </a:rPr>
                        <a:t>Examples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100" dirty="0">
                          <a:effectLst/>
                        </a:rPr>
                        <a:t>Non-Examples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21396584"/>
                  </a:ext>
                </a:extLst>
              </a:tr>
              <a:tr h="1581107">
                <a:tc>
                  <a:txBody>
                    <a:bodyPr/>
                    <a:lstStyle/>
                    <a:p>
                      <a:pPr marL="0" marR="0">
                        <a:lnSpc>
                          <a:spcPct val="107000"/>
                        </a:lnSpc>
                        <a:spcBef>
                          <a:spcPts val="0"/>
                        </a:spcBef>
                        <a:spcAft>
                          <a:spcPts val="0"/>
                        </a:spcAft>
                      </a:pPr>
                      <a:r>
                        <a:rPr lang="en-US" sz="1100" dirty="0">
                          <a:effectLst/>
                        </a:rPr>
                        <a:t>Strengths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342900" marR="0" lvl="0" indent="-342900">
                        <a:lnSpc>
                          <a:spcPct val="107000"/>
                        </a:lnSpc>
                        <a:spcBef>
                          <a:spcPts val="0"/>
                        </a:spcBef>
                        <a:spcAft>
                          <a:spcPts val="0"/>
                        </a:spcAft>
                        <a:buFont typeface="Symbol" panose="05050102010706020507" pitchFamily="18" charset="2"/>
                        <a:buChar char=""/>
                      </a:pPr>
                      <a:r>
                        <a:rPr lang="en-US" sz="1100" dirty="0">
                          <a:effectLst/>
                        </a:rPr>
                        <a:t>You included 5 complete sentences</a:t>
                      </a:r>
                    </a:p>
                    <a:p>
                      <a:pPr marL="342900" marR="0" lvl="0" indent="-342900">
                        <a:lnSpc>
                          <a:spcPct val="107000"/>
                        </a:lnSpc>
                        <a:spcBef>
                          <a:spcPts val="0"/>
                        </a:spcBef>
                        <a:spcAft>
                          <a:spcPts val="0"/>
                        </a:spcAft>
                        <a:buFont typeface="Symbol" panose="05050102010706020507" pitchFamily="18" charset="2"/>
                        <a:buChar char=""/>
                      </a:pPr>
                      <a:r>
                        <a:rPr lang="en-US" sz="1100" dirty="0">
                          <a:effectLst/>
                        </a:rPr>
                        <a:t>You included at least three details</a:t>
                      </a:r>
                    </a:p>
                    <a:p>
                      <a:pPr marL="342900" marR="0" lvl="0" indent="-342900">
                        <a:lnSpc>
                          <a:spcPct val="107000"/>
                        </a:lnSpc>
                        <a:spcBef>
                          <a:spcPts val="0"/>
                        </a:spcBef>
                        <a:spcAft>
                          <a:spcPts val="0"/>
                        </a:spcAft>
                        <a:buFont typeface="Symbol" panose="05050102010706020507" pitchFamily="18" charset="2"/>
                        <a:buChar char=""/>
                      </a:pPr>
                      <a:r>
                        <a:rPr lang="en-US" sz="1100" dirty="0">
                          <a:effectLst/>
                        </a:rPr>
                        <a:t>Your title is interesting and descriptive</a:t>
                      </a:r>
                    </a:p>
                    <a:p>
                      <a:pPr marL="342900" marR="0" lvl="0" indent="-342900">
                        <a:lnSpc>
                          <a:spcPct val="107000"/>
                        </a:lnSpc>
                        <a:spcBef>
                          <a:spcPts val="0"/>
                        </a:spcBef>
                        <a:spcAft>
                          <a:spcPts val="0"/>
                        </a:spcAft>
                        <a:buFont typeface="Symbol" panose="05050102010706020507" pitchFamily="18" charset="2"/>
                        <a:buChar char=""/>
                      </a:pPr>
                      <a:r>
                        <a:rPr lang="en-US" sz="1100" dirty="0">
                          <a:effectLst/>
                        </a:rPr>
                        <a:t>Your drawing helps to visualize the event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342900" marR="0" lvl="0" indent="-342900">
                        <a:lnSpc>
                          <a:spcPct val="107000"/>
                        </a:lnSpc>
                        <a:spcBef>
                          <a:spcPts val="0"/>
                        </a:spcBef>
                        <a:spcAft>
                          <a:spcPts val="0"/>
                        </a:spcAft>
                        <a:buFont typeface="Symbol" panose="05050102010706020507" pitchFamily="18" charset="2"/>
                        <a:buChar char=""/>
                      </a:pPr>
                      <a:r>
                        <a:rPr lang="en-US" sz="1100" dirty="0">
                          <a:effectLst/>
                        </a:rPr>
                        <a:t>You wrote sentences</a:t>
                      </a:r>
                    </a:p>
                    <a:p>
                      <a:pPr marL="342900" marR="0" lvl="0" indent="-342900">
                        <a:lnSpc>
                          <a:spcPct val="107000"/>
                        </a:lnSpc>
                        <a:spcBef>
                          <a:spcPts val="0"/>
                        </a:spcBef>
                        <a:spcAft>
                          <a:spcPts val="0"/>
                        </a:spcAft>
                        <a:buFont typeface="Symbol" panose="05050102010706020507" pitchFamily="18" charset="2"/>
                        <a:buChar char=""/>
                      </a:pPr>
                      <a:r>
                        <a:rPr lang="en-US" sz="1100" dirty="0">
                          <a:effectLst/>
                        </a:rPr>
                        <a:t>You included some details</a:t>
                      </a:r>
                    </a:p>
                    <a:p>
                      <a:pPr marL="342900" marR="0" lvl="0" indent="-342900">
                        <a:lnSpc>
                          <a:spcPct val="107000"/>
                        </a:lnSpc>
                        <a:spcBef>
                          <a:spcPts val="0"/>
                        </a:spcBef>
                        <a:spcAft>
                          <a:spcPts val="0"/>
                        </a:spcAft>
                        <a:buFont typeface="Symbol" panose="05050102010706020507" pitchFamily="18" charset="2"/>
                        <a:buChar char=""/>
                      </a:pPr>
                      <a:r>
                        <a:rPr lang="en-US" sz="1100" dirty="0">
                          <a:effectLst/>
                        </a:rPr>
                        <a:t>Your title is good.</a:t>
                      </a:r>
                    </a:p>
                    <a:p>
                      <a:pPr marL="342900" marR="0" lvl="0" indent="-342900">
                        <a:lnSpc>
                          <a:spcPct val="107000"/>
                        </a:lnSpc>
                        <a:spcBef>
                          <a:spcPts val="0"/>
                        </a:spcBef>
                        <a:spcAft>
                          <a:spcPts val="0"/>
                        </a:spcAft>
                        <a:buFont typeface="Symbol" panose="05050102010706020507" pitchFamily="18" charset="2"/>
                        <a:buChar char=""/>
                      </a:pPr>
                      <a:r>
                        <a:rPr lang="en-US" sz="1100" dirty="0">
                          <a:effectLst/>
                        </a:rPr>
                        <a:t>You are a good drawer.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35713781"/>
                  </a:ext>
                </a:extLst>
              </a:tr>
              <a:tr h="1978582">
                <a:tc>
                  <a:txBody>
                    <a:bodyPr/>
                    <a:lstStyle/>
                    <a:p>
                      <a:pPr marL="0" marR="0">
                        <a:lnSpc>
                          <a:spcPct val="107000"/>
                        </a:lnSpc>
                        <a:spcBef>
                          <a:spcPts val="0"/>
                        </a:spcBef>
                        <a:spcAft>
                          <a:spcPts val="0"/>
                        </a:spcAft>
                      </a:pPr>
                      <a:r>
                        <a:rPr lang="en-US" sz="1100" dirty="0">
                          <a:effectLst/>
                        </a:rPr>
                        <a:t>Areas of Improvement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342900" marR="0" lvl="0" indent="-342900">
                        <a:lnSpc>
                          <a:spcPct val="107000"/>
                        </a:lnSpc>
                        <a:spcBef>
                          <a:spcPts val="0"/>
                        </a:spcBef>
                        <a:spcAft>
                          <a:spcPts val="0"/>
                        </a:spcAft>
                        <a:buFont typeface="Symbol" panose="05050102010706020507" pitchFamily="18" charset="2"/>
                        <a:buChar char=""/>
                      </a:pPr>
                      <a:r>
                        <a:rPr lang="en-US" sz="1100" dirty="0">
                          <a:effectLst/>
                        </a:rPr>
                        <a:t>You could improve by using periods to end the sentence or thought</a:t>
                      </a:r>
                    </a:p>
                    <a:p>
                      <a:pPr marL="342900" marR="0" lvl="0" indent="-342900">
                        <a:lnSpc>
                          <a:spcPct val="107000"/>
                        </a:lnSpc>
                        <a:spcBef>
                          <a:spcPts val="0"/>
                        </a:spcBef>
                        <a:spcAft>
                          <a:spcPts val="0"/>
                        </a:spcAft>
                        <a:buFont typeface="Symbol" panose="05050102010706020507" pitchFamily="18" charset="2"/>
                        <a:buChar char=""/>
                      </a:pPr>
                      <a:r>
                        <a:rPr lang="en-US" sz="1100" dirty="0">
                          <a:effectLst/>
                        </a:rPr>
                        <a:t>You could improve by capitalizing only proper nouns and the beginning of sentences</a:t>
                      </a:r>
                    </a:p>
                    <a:p>
                      <a:pPr marL="342900" marR="0" lvl="0" indent="-342900">
                        <a:lnSpc>
                          <a:spcPct val="107000"/>
                        </a:lnSpc>
                        <a:spcBef>
                          <a:spcPts val="0"/>
                        </a:spcBef>
                        <a:spcAft>
                          <a:spcPts val="0"/>
                        </a:spcAft>
                        <a:buFont typeface="Symbol" panose="05050102010706020507" pitchFamily="18" charset="2"/>
                        <a:buChar char=""/>
                      </a:pPr>
                      <a:r>
                        <a:rPr lang="en-US" sz="1100" dirty="0">
                          <a:effectLst/>
                        </a:rPr>
                        <a:t>Be sure that all your sentences are complete with a subject and verb.</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342900" marR="0" lvl="0" indent="-342900">
                        <a:lnSpc>
                          <a:spcPct val="107000"/>
                        </a:lnSpc>
                        <a:spcBef>
                          <a:spcPts val="0"/>
                        </a:spcBef>
                        <a:spcAft>
                          <a:spcPts val="0"/>
                        </a:spcAft>
                        <a:buFont typeface="Symbol" panose="05050102010706020507" pitchFamily="18" charset="2"/>
                        <a:buChar char=""/>
                      </a:pPr>
                      <a:r>
                        <a:rPr lang="en-US" sz="1100" dirty="0">
                          <a:effectLst/>
                        </a:rPr>
                        <a:t>You didn’t use appropriate punctuation.</a:t>
                      </a:r>
                    </a:p>
                    <a:p>
                      <a:pPr marL="342900" marR="0" lvl="0" indent="-342900">
                        <a:lnSpc>
                          <a:spcPct val="107000"/>
                        </a:lnSpc>
                        <a:spcBef>
                          <a:spcPts val="0"/>
                        </a:spcBef>
                        <a:spcAft>
                          <a:spcPts val="0"/>
                        </a:spcAft>
                        <a:buFont typeface="Symbol" panose="05050102010706020507" pitchFamily="18" charset="2"/>
                        <a:buChar char=""/>
                      </a:pPr>
                      <a:r>
                        <a:rPr lang="en-US" sz="1100" dirty="0">
                          <a:effectLst/>
                        </a:rPr>
                        <a:t>Use complete sentences.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57769879"/>
                  </a:ext>
                </a:extLst>
              </a:tr>
            </a:tbl>
          </a:graphicData>
        </a:graphic>
      </p:graphicFrame>
      <p:sp>
        <p:nvSpPr>
          <p:cNvPr id="4" name="Slide Number Placeholder 3">
            <a:extLst>
              <a:ext uri="{FF2B5EF4-FFF2-40B4-BE49-F238E27FC236}">
                <a16:creationId xmlns:a16="http://schemas.microsoft.com/office/drawing/2014/main" id="{F3AE7F66-E55D-43C4-9D8B-D249BF3B4B6C}"/>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17014882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838200" y="136525"/>
            <a:ext cx="10515600" cy="800945"/>
          </a:xfrm>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 uri="{C183D7F6-B498-43B3-948B-1728B52AA6E4}">
                <adec:decorative xmlns:adec="http://schemas.microsoft.com/office/drawing/2017/decorative" val="1"/>
              </a:ext>
            </a:extLst>
          </p:cNvPr>
          <p:cNvSpPr>
            <a:spLocks noGrp="1"/>
          </p:cNvSpPr>
          <p:nvPr>
            <p:ph idx="1"/>
          </p:nvPr>
        </p:nvSpPr>
        <p:spPr>
          <a:xfrm>
            <a:off x="931178" y="911226"/>
            <a:ext cx="10657667" cy="5445124"/>
          </a:xfrm>
        </p:spPr>
        <p:txBody>
          <a:bodyPr vert="horz" lIns="91440" tIns="45720" rIns="91440" bIns="45720" rtlCol="0" anchor="t">
            <a:normAutofit/>
          </a:bodyPr>
          <a:lstStyle/>
          <a:p>
            <a:pPr marL="0" indent="0">
              <a:buNone/>
            </a:pPr>
            <a:endParaRPr lang="en-US" dirty="0">
              <a:effectLst/>
              <a:ea typeface="Calibri" panose="020F0502020204030204" pitchFamily="34" charset="0"/>
              <a:cs typeface="Times New Roman" panose="02020603050405020304" pitchFamily="18" charset="0"/>
            </a:endParaRPr>
          </a:p>
          <a:p>
            <a:pPr marL="0" indent="0">
              <a:buNone/>
            </a:pPr>
            <a:endParaRPr lang="en-US" dirty="0">
              <a:cs typeface="Calibri" panose="020F0502020204030204"/>
            </a:endParaRP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dirty="0" smtClean="0"/>
              <a:pPr/>
              <a:t>7</a:t>
            </a:fld>
            <a:endParaRPr lang="en-US" dirty="0"/>
          </a:p>
        </p:txBody>
      </p:sp>
      <p:graphicFrame>
        <p:nvGraphicFramePr>
          <p:cNvPr id="5" name="Table 4">
            <a:extLst>
              <a:ext uri="{FF2B5EF4-FFF2-40B4-BE49-F238E27FC236}">
                <a16:creationId xmlns:a16="http://schemas.microsoft.com/office/drawing/2014/main" id="{99C9A0DA-7AE6-43FE-95EC-FB153C6FFE10}"/>
              </a:ext>
            </a:extLst>
          </p:cNvPr>
          <p:cNvGraphicFramePr>
            <a:graphicFrameLocks noGrp="1"/>
          </p:cNvGraphicFramePr>
          <p:nvPr>
            <p:extLst>
              <p:ext uri="{D42A27DB-BD31-4B8C-83A1-F6EECF244321}">
                <p14:modId xmlns:p14="http://schemas.microsoft.com/office/powerpoint/2010/main" val="2597885308"/>
              </p:ext>
            </p:extLst>
          </p:nvPr>
        </p:nvGraphicFramePr>
        <p:xfrm>
          <a:off x="931178" y="3215342"/>
          <a:ext cx="9982900" cy="2812036"/>
        </p:xfrm>
        <a:graphic>
          <a:graphicData uri="http://schemas.openxmlformats.org/drawingml/2006/table">
            <a:tbl>
              <a:tblPr firstRow="1" firstCol="1" bandRow="1">
                <a:tableStyleId>{5940675A-B579-460E-94D1-54222C63F5DA}</a:tableStyleId>
              </a:tblPr>
              <a:tblGrid>
                <a:gridCol w="3325143">
                  <a:extLst>
                    <a:ext uri="{9D8B030D-6E8A-4147-A177-3AD203B41FA5}">
                      <a16:colId xmlns:a16="http://schemas.microsoft.com/office/drawing/2014/main" val="4219212257"/>
                    </a:ext>
                  </a:extLst>
                </a:gridCol>
                <a:gridCol w="1759679">
                  <a:extLst>
                    <a:ext uri="{9D8B030D-6E8A-4147-A177-3AD203B41FA5}">
                      <a16:colId xmlns:a16="http://schemas.microsoft.com/office/drawing/2014/main" val="753375870"/>
                    </a:ext>
                  </a:extLst>
                </a:gridCol>
                <a:gridCol w="4898078">
                  <a:extLst>
                    <a:ext uri="{9D8B030D-6E8A-4147-A177-3AD203B41FA5}">
                      <a16:colId xmlns:a16="http://schemas.microsoft.com/office/drawing/2014/main" val="734808426"/>
                    </a:ext>
                  </a:extLst>
                </a:gridCol>
              </a:tblGrid>
              <a:tr h="0">
                <a:tc>
                  <a:txBody>
                    <a:bodyPr/>
                    <a:lstStyle/>
                    <a:p>
                      <a:pPr marL="0" marR="0" algn="ctr">
                        <a:lnSpc>
                          <a:spcPct val="107000"/>
                        </a:lnSpc>
                        <a:spcBef>
                          <a:spcPts val="0"/>
                        </a:spcBef>
                        <a:spcAft>
                          <a:spcPts val="0"/>
                        </a:spcAft>
                      </a:pPr>
                      <a:r>
                        <a:rPr lang="en-US" sz="1600" dirty="0">
                          <a:effectLst/>
                        </a:rPr>
                        <a:t>Feedback Statements</a:t>
                      </a:r>
                      <a:endParaRPr lang="en-US" sz="16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600" dirty="0">
                          <a:effectLst/>
                        </a:rPr>
                        <a:t>Effective Feedback   </a:t>
                      </a:r>
                    </a:p>
                    <a:p>
                      <a:pPr marL="0" marR="0" algn="ctr">
                        <a:lnSpc>
                          <a:spcPct val="107000"/>
                        </a:lnSpc>
                        <a:spcBef>
                          <a:spcPts val="0"/>
                        </a:spcBef>
                        <a:spcAft>
                          <a:spcPts val="0"/>
                        </a:spcAft>
                      </a:pPr>
                      <a:r>
                        <a:rPr lang="en-US" sz="1600" dirty="0">
                          <a:effectLst/>
                        </a:rPr>
                        <a:t>(Yes or No)</a:t>
                      </a:r>
                      <a:endParaRPr lang="en-US" sz="16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600" dirty="0">
                          <a:effectLst/>
                        </a:rPr>
                        <a:t>Explain Why /Make Suggestions to Improve</a:t>
                      </a:r>
                      <a:endParaRPr lang="en-US" sz="1600" dirty="0">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74042091"/>
                  </a:ext>
                </a:extLst>
              </a:tr>
              <a:tr h="0">
                <a:tc>
                  <a:txBody>
                    <a:bodyPr/>
                    <a:lstStyle/>
                    <a:p>
                      <a:pPr marL="0" marR="0">
                        <a:lnSpc>
                          <a:spcPct val="107000"/>
                        </a:lnSpc>
                        <a:spcBef>
                          <a:spcPts val="0"/>
                        </a:spcBef>
                        <a:spcAft>
                          <a:spcPts val="0"/>
                        </a:spcAft>
                      </a:pPr>
                      <a:r>
                        <a:rPr lang="en-US" sz="1600" dirty="0">
                          <a:effectLst/>
                        </a:rPr>
                        <a:t>“Great job providing specific sensory details in these sentences.”</a:t>
                      </a:r>
                      <a:endParaRPr lang="en-US" sz="16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endParaRPr lang="en-US" sz="16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endParaRPr lang="en-US" sz="1600" dirty="0">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47215342"/>
                  </a:ext>
                </a:extLst>
              </a:tr>
              <a:tr h="0">
                <a:tc>
                  <a:txBody>
                    <a:bodyPr/>
                    <a:lstStyle/>
                    <a:p>
                      <a:pPr marL="0" marR="0">
                        <a:lnSpc>
                          <a:spcPct val="107000"/>
                        </a:lnSpc>
                        <a:spcBef>
                          <a:spcPts val="0"/>
                        </a:spcBef>
                        <a:spcAft>
                          <a:spcPts val="0"/>
                        </a:spcAft>
                      </a:pPr>
                      <a:r>
                        <a:rPr lang="en-US" sz="1600" dirty="0">
                          <a:effectLst/>
                        </a:rPr>
                        <a:t>“Consider improving your word choice.”</a:t>
                      </a:r>
                      <a:endParaRPr lang="en-US" sz="16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endParaRPr lang="en-US" sz="1600" dirty="0">
                        <a:effectLst/>
                      </a:endParaRPr>
                    </a:p>
                    <a:p>
                      <a:pPr marL="0" marR="0" algn="ctr">
                        <a:lnSpc>
                          <a:spcPct val="107000"/>
                        </a:lnSpc>
                        <a:spcBef>
                          <a:spcPts val="0"/>
                        </a:spcBef>
                        <a:spcAft>
                          <a:spcPts val="0"/>
                        </a:spcAft>
                      </a:pPr>
                      <a:endParaRPr lang="en-US" sz="16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endParaRPr lang="en-US" sz="1600" dirty="0">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12981048"/>
                  </a:ext>
                </a:extLst>
              </a:tr>
              <a:tr h="0">
                <a:tc>
                  <a:txBody>
                    <a:bodyPr/>
                    <a:lstStyle/>
                    <a:p>
                      <a:pPr marL="0" marR="0">
                        <a:lnSpc>
                          <a:spcPct val="107000"/>
                        </a:lnSpc>
                        <a:spcBef>
                          <a:spcPts val="0"/>
                        </a:spcBef>
                        <a:spcAft>
                          <a:spcPts val="0"/>
                        </a:spcAft>
                      </a:pPr>
                      <a:r>
                        <a:rPr lang="en-US" sz="1600" dirty="0">
                          <a:effectLst/>
                        </a:rPr>
                        <a:t>“I love your drawing.  You are a good artist.”</a:t>
                      </a:r>
                      <a:endParaRPr lang="en-US" sz="16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endParaRPr lang="en-US" sz="1600" dirty="0">
                        <a:effectLst/>
                      </a:endParaRPr>
                    </a:p>
                    <a:p>
                      <a:pPr marL="0" marR="0" algn="ctr">
                        <a:lnSpc>
                          <a:spcPct val="107000"/>
                        </a:lnSpc>
                        <a:spcBef>
                          <a:spcPts val="0"/>
                        </a:spcBef>
                        <a:spcAft>
                          <a:spcPts val="0"/>
                        </a:spcAft>
                      </a:pPr>
                      <a:endParaRPr lang="en-US" sz="16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endParaRPr lang="en-US" sz="1600" dirty="0">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08206011"/>
                  </a:ext>
                </a:extLst>
              </a:tr>
              <a:tr h="0">
                <a:tc>
                  <a:txBody>
                    <a:bodyPr/>
                    <a:lstStyle/>
                    <a:p>
                      <a:pPr marL="0" marR="0">
                        <a:lnSpc>
                          <a:spcPct val="107000"/>
                        </a:lnSpc>
                        <a:spcBef>
                          <a:spcPts val="0"/>
                        </a:spcBef>
                        <a:spcAft>
                          <a:spcPts val="0"/>
                        </a:spcAft>
                      </a:pPr>
                      <a:r>
                        <a:rPr lang="en-US" sz="1600" dirty="0">
                          <a:effectLst/>
                        </a:rPr>
                        <a:t>“Be sure to show all the steps of your thinking when working a problem like this.”</a:t>
                      </a:r>
                      <a:endParaRPr lang="en-US" sz="16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endParaRPr lang="en-US" sz="16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endParaRPr lang="en-US" sz="1600" dirty="0">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50190655"/>
                  </a:ext>
                </a:extLst>
              </a:tr>
            </a:tbl>
          </a:graphicData>
        </a:graphic>
      </p:graphicFrame>
      <p:sp>
        <p:nvSpPr>
          <p:cNvPr id="6" name="Rectangle 1">
            <a:extLst>
              <a:ext uri="{FF2B5EF4-FFF2-40B4-BE49-F238E27FC236}">
                <a16:creationId xmlns:a16="http://schemas.microsoft.com/office/drawing/2014/main" id="{9447CA15-9C8F-4789-92B9-371DE21A6BA7}"/>
              </a:ext>
            </a:extLst>
          </p:cNvPr>
          <p:cNvSpPr>
            <a:spLocks noChangeArrowheads="1"/>
          </p:cNvSpPr>
          <p:nvPr/>
        </p:nvSpPr>
        <p:spPr bwMode="auto">
          <a:xfrm>
            <a:off x="838200" y="1142625"/>
            <a:ext cx="10657666"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ea typeface="Calibri" panose="020F0502020204030204" pitchFamily="34" charset="0"/>
                <a:cs typeface="Open Sans" panose="020B0606030504020204" pitchFamily="34" charset="0"/>
              </a:rPr>
              <a:t>Below are some written feedback statements that have been provided to students.  Examine each of the statements below and determine if the feedback statement meets the characteristics of effective feedback.  If so, explain why.  If not, make suggestions on how to revise the statement to better align to the characteristics of effective feedback.</a:t>
            </a:r>
            <a:endParaRPr kumimoji="0" lang="en-US" altLang="en-US" sz="24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158</TotalTime>
  <Words>396</Words>
  <Application>Microsoft Office PowerPoint</Application>
  <PresentationFormat>Widescreen</PresentationFormat>
  <Paragraphs>57</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Symbol</vt:lpstr>
      <vt:lpstr>Office Theme</vt:lpstr>
      <vt:lpstr>Instructional Practices| Unit 9: Feedback| Lesson 9.03</vt:lpstr>
      <vt:lpstr>TEKS Standards &amp; Objectives</vt:lpstr>
      <vt:lpstr>Bellringer</vt:lpstr>
      <vt:lpstr>Vocabulary </vt:lpstr>
      <vt:lpstr>Characteristics of Effective Feedback</vt:lpstr>
      <vt:lpstr>Model: Effective Formal, Written Feedback</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9.02: Practice with Informal Feedback</dc:title>
  <dc:subject>Lesson 9.02: Practice with Informal Feedback</dc:subject>
  <dc:creator>Texas Education Agency</dc:creator>
  <cp:lastModifiedBy>London White</cp:lastModifiedBy>
  <cp:revision>86</cp:revision>
  <dcterms:created xsi:type="dcterms:W3CDTF">2022-05-09T19:40:20Z</dcterms:created>
  <dcterms:modified xsi:type="dcterms:W3CDTF">2023-08-31T03:30:52Z</dcterms:modified>
</cp:coreProperties>
</file>
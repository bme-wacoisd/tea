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9" r:id="rId3"/>
    <p:sldId id="261" r:id="rId4"/>
    <p:sldId id="258" r:id="rId5"/>
    <p:sldId id="264" r:id="rId6"/>
    <p:sldId id="265" r:id="rId7"/>
    <p:sldId id="266"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AD63BF-D8A9-46D0-8398-CDEA980A7B23}" v="1" dt="2023-08-31T01:58:12.7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712" autoAdjust="0"/>
  </p:normalViewPr>
  <p:slideViewPr>
    <p:cSldViewPr snapToGrid="0">
      <p:cViewPr varScale="1">
        <p:scale>
          <a:sx n="108" d="100"/>
          <a:sy n="108" d="100"/>
        </p:scale>
        <p:origin x="60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ACAD63BF-D8A9-46D0-8398-CDEA980A7B23}"/>
    <pc:docChg chg="modSld">
      <pc:chgData name="White (she/her), Whitney" userId="65f39021-2f1d-4d8b-87dc-b123826f65bf" providerId="ADAL" clId="{ACAD63BF-D8A9-46D0-8398-CDEA980A7B23}" dt="2023-08-31T01:58:45.431" v="13" actId="1076"/>
      <pc:docMkLst>
        <pc:docMk/>
      </pc:docMkLst>
      <pc:sldChg chg="addSp modSp mod">
        <pc:chgData name="White (she/her), Whitney" userId="65f39021-2f1d-4d8b-87dc-b123826f65bf" providerId="ADAL" clId="{ACAD63BF-D8A9-46D0-8398-CDEA980A7B23}" dt="2023-08-31T01:58:15.142" v="2" actId="1076"/>
        <pc:sldMkLst>
          <pc:docMk/>
          <pc:sldMk cId="1482277026" sldId="256"/>
        </pc:sldMkLst>
        <pc:spChg chg="mod">
          <ac:chgData name="White (she/her), Whitney" userId="65f39021-2f1d-4d8b-87dc-b123826f65bf" providerId="ADAL" clId="{ACAD63BF-D8A9-46D0-8398-CDEA980A7B23}" dt="2023-08-31T01:58:11.959" v="0" actId="1076"/>
          <ac:spMkLst>
            <pc:docMk/>
            <pc:sldMk cId="1482277026" sldId="256"/>
            <ac:spMk id="2" creationId="{BFFCF5BD-F8FF-4A67-A8B6-EBB21E79279B}"/>
          </ac:spMkLst>
        </pc:spChg>
        <pc:spChg chg="add mod">
          <ac:chgData name="White (she/her), Whitney" userId="65f39021-2f1d-4d8b-87dc-b123826f65bf" providerId="ADAL" clId="{ACAD63BF-D8A9-46D0-8398-CDEA980A7B23}" dt="2023-08-31T01:58:15.142" v="2" actId="1076"/>
          <ac:spMkLst>
            <pc:docMk/>
            <pc:sldMk cId="1482277026" sldId="256"/>
            <ac:spMk id="4" creationId="{489C21DC-0714-D674-D337-DB8648C80612}"/>
          </ac:spMkLst>
        </pc:spChg>
      </pc:sldChg>
      <pc:sldChg chg="modSp mod">
        <pc:chgData name="White (she/her), Whitney" userId="65f39021-2f1d-4d8b-87dc-b123826f65bf" providerId="ADAL" clId="{ACAD63BF-D8A9-46D0-8398-CDEA980A7B23}" dt="2023-08-31T01:58:45.431" v="13" actId="1076"/>
        <pc:sldMkLst>
          <pc:docMk/>
          <pc:sldMk cId="4071305681" sldId="258"/>
        </pc:sldMkLst>
        <pc:spChg chg="mod">
          <ac:chgData name="White (she/her), Whitney" userId="65f39021-2f1d-4d8b-87dc-b123826f65bf" providerId="ADAL" clId="{ACAD63BF-D8A9-46D0-8398-CDEA980A7B23}" dt="2023-08-31T01:58:45.431" v="13" actId="1076"/>
          <ac:spMkLst>
            <pc:docMk/>
            <pc:sldMk cId="4071305681" sldId="258"/>
            <ac:spMk id="2" creationId="{2F03F004-EE4F-44F2-AA0E-56B8CFF1134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dirty="0"/>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dirty="0"/>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dirty="0"/>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dirty="0"/>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dirty="0"/>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dirty="0"/>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dirty="0"/>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93417"/>
            <a:ext cx="9144000" cy="370300"/>
          </a:xfrm>
        </p:spPr>
        <p:txBody>
          <a:bodyPr>
            <a:normAutofit/>
          </a:bodyPr>
          <a:lstStyle/>
          <a:p>
            <a:pPr algn="l"/>
            <a:r>
              <a:rPr lang="en-US" sz="1800" dirty="0"/>
              <a:t>Instructional Practices| Unit 3: Knowledge of Students to Drive Instruction | Lesson 3.01</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The Importance of Learning About Students</a:t>
            </a:r>
          </a:p>
        </p:txBody>
      </p:sp>
      <p:sp>
        <p:nvSpPr>
          <p:cNvPr id="4" name="TextBox 3">
            <a:extLst>
              <a:ext uri="{FF2B5EF4-FFF2-40B4-BE49-F238E27FC236}">
                <a16:creationId xmlns:a16="http://schemas.microsoft.com/office/drawing/2014/main" id="{489C21DC-0714-D674-D337-DB8648C80612}"/>
              </a:ext>
            </a:extLst>
          </p:cNvPr>
          <p:cNvSpPr txBox="1"/>
          <p:nvPr/>
        </p:nvSpPr>
        <p:spPr>
          <a:xfrm>
            <a:off x="0" y="6463717"/>
            <a:ext cx="11110595" cy="494030"/>
          </a:xfrm>
          <a:prstGeom prst="rect">
            <a:avLst/>
          </a:prstGeom>
          <a:noFill/>
        </p:spPr>
        <p:txBody>
          <a:bodyPr wrap="square" rtlCol="0">
            <a:spAutoFit/>
          </a:bodyPr>
          <a:lstStyle/>
          <a:p>
            <a:pPr marL="0" marR="0">
              <a:lnSpc>
                <a:spcPct val="107000"/>
              </a:lnSpc>
              <a:spcBef>
                <a:spcPts val="0"/>
              </a:spcBef>
              <a:spcAft>
                <a:spcPts val="800"/>
              </a:spcAft>
            </a:pPr>
            <a:r>
              <a:rPr lang="en-US" sz="1800" kern="1200">
                <a:solidFill>
                  <a:srgbClr val="464646"/>
                </a:solidFill>
                <a:effectLst/>
                <a:latin typeface="Calibri Light" panose="020F0302020204030204" pitchFamily="34" charset="0"/>
                <a:ea typeface="Calibri" panose="020F0502020204030204" pitchFamily="34" charset="0"/>
                <a:cs typeface="Calibri" panose="020F0502020204030204" pitchFamily="34" charset="0"/>
              </a:rPr>
              <a:t>This work is licensed under a </a:t>
            </a:r>
            <a:r>
              <a:rPr lang="en-US" sz="1800" u="sng"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4A-E</a:t>
            </a:r>
          </a:p>
          <a:p>
            <a:pPr marL="0" indent="0">
              <a:buNone/>
            </a:pPr>
            <a:endParaRPr lang="en-US" dirty="0"/>
          </a:p>
          <a:p>
            <a:pPr marL="0" indent="0">
              <a:buNone/>
            </a:pPr>
            <a:r>
              <a:rPr lang="en-US" dirty="0"/>
              <a:t>The student will:</a:t>
            </a:r>
          </a:p>
          <a:p>
            <a:pPr marL="342900" marR="0" lvl="0" indent="-342900">
              <a:spcBef>
                <a:spcPts val="600"/>
              </a:spcBef>
              <a:spcAft>
                <a:spcPts val="600"/>
              </a:spcAft>
              <a:buFont typeface="Calibri" panose="020F050202020403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i</a:t>
            </a:r>
            <a:r>
              <a:rPr lang="en-US" dirty="0">
                <a:effectLst/>
                <a:latin typeface="Calibri" panose="020F0502020204030204" pitchFamily="34" charset="0"/>
                <a:ea typeface="Calibri" panose="020F0502020204030204" pitchFamily="34" charset="0"/>
                <a:cs typeface="Times New Roman" panose="02020603050405020304" pitchFamily="18" charset="0"/>
              </a:rPr>
              <a:t>dentify how a teacher’s knowledge of students as individuals, as learners, and as members of a community is used to guide instruction</a:t>
            </a:r>
          </a:p>
          <a:p>
            <a:r>
              <a:rPr lang="en-US" dirty="0">
                <a:latin typeface="Calibri" panose="020F0502020204030204" pitchFamily="34" charset="0"/>
                <a:ea typeface="Calibri" panose="020F0502020204030204" pitchFamily="34" charset="0"/>
                <a:cs typeface="Arial" panose="020B0604020202020204" pitchFamily="34" charset="0"/>
              </a:rPr>
              <a:t>d</a:t>
            </a:r>
            <a:r>
              <a:rPr lang="en-US" dirty="0">
                <a:effectLst/>
                <a:latin typeface="Calibri" panose="020F0502020204030204" pitchFamily="34" charset="0"/>
                <a:ea typeface="Calibri" panose="020F0502020204030204" pitchFamily="34" charset="0"/>
                <a:cs typeface="Arial" panose="020B0604020202020204" pitchFamily="34" charset="0"/>
              </a:rPr>
              <a:t>escribe the connection between a teacher’s knowledge of students and effective instruction</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AE13FDB6-F093-4D9E-B14E-3D7DB894C34C}"/>
              </a:ext>
            </a:extLst>
          </p:cNvPr>
          <p:cNvSpPr>
            <a:spLocks noGrp="1"/>
          </p:cNvSpPr>
          <p:nvPr>
            <p:ph idx="1"/>
          </p:nvPr>
        </p:nvSpPr>
        <p:spPr/>
        <p:txBody>
          <a:bodyPr>
            <a:normAutofit/>
          </a:bodyPr>
          <a:lstStyle/>
          <a:p>
            <a:pPr marL="0" indent="0">
              <a:buNone/>
            </a:pPr>
            <a:r>
              <a:rPr lang="en-US" sz="3200" dirty="0">
                <a:effectLst/>
                <a:latin typeface="Calibri" panose="020F0502020204030204" pitchFamily="34" charset="0"/>
                <a:ea typeface="Calibri" panose="020F0502020204030204" pitchFamily="34" charset="0"/>
                <a:cs typeface="Arial" panose="020B0604020202020204" pitchFamily="34" charset="0"/>
              </a:rPr>
              <a:t>What are the three most important things for a teacher to know about you as an individual? Why is it important for a teacher to know these things?</a:t>
            </a:r>
            <a:endParaRPr lang="en-US" sz="4400" dirty="0"/>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a:xfrm>
            <a:off x="674670" y="355889"/>
            <a:ext cx="10515600" cy="1325563"/>
          </a:xfrm>
        </p:spPr>
        <p:txBody>
          <a:bodyPr/>
          <a:lstStyle/>
          <a:p>
            <a:r>
              <a:rPr lang="en-US" dirty="0"/>
              <a:t>Vocabulary</a:t>
            </a:r>
          </a:p>
        </p:txBody>
      </p:sp>
      <p:graphicFrame>
        <p:nvGraphicFramePr>
          <p:cNvPr id="5" name="Content Placeholder 4">
            <a:extLst>
              <a:ext uri="{FF2B5EF4-FFF2-40B4-BE49-F238E27FC236}">
                <a16:creationId xmlns:a16="http://schemas.microsoft.com/office/drawing/2014/main" id="{702C440E-5111-4C33-BE5D-46CD914448D3}"/>
              </a:ext>
            </a:extLst>
          </p:cNvPr>
          <p:cNvGraphicFramePr>
            <a:graphicFrameLocks noGrp="1"/>
          </p:cNvGraphicFramePr>
          <p:nvPr>
            <p:ph idx="1"/>
            <p:extLst>
              <p:ext uri="{D42A27DB-BD31-4B8C-83A1-F6EECF244321}">
                <p14:modId xmlns:p14="http://schemas.microsoft.com/office/powerpoint/2010/main" val="3605268510"/>
              </p:ext>
            </p:extLst>
          </p:nvPr>
        </p:nvGraphicFramePr>
        <p:xfrm>
          <a:off x="674670" y="1873731"/>
          <a:ext cx="10679130" cy="3749040"/>
        </p:xfrm>
        <a:graphic>
          <a:graphicData uri="http://schemas.openxmlformats.org/drawingml/2006/table">
            <a:tbl>
              <a:tblPr firstRow="1" firstCol="1" bandRow="1">
                <a:tableStyleId>{5940675A-B579-460E-94D1-54222C63F5DA}</a:tableStyleId>
              </a:tblPr>
              <a:tblGrid>
                <a:gridCol w="2034390">
                  <a:extLst>
                    <a:ext uri="{9D8B030D-6E8A-4147-A177-3AD203B41FA5}">
                      <a16:colId xmlns:a16="http://schemas.microsoft.com/office/drawing/2014/main" val="2428138964"/>
                    </a:ext>
                  </a:extLst>
                </a:gridCol>
                <a:gridCol w="8644740">
                  <a:extLst>
                    <a:ext uri="{9D8B030D-6E8A-4147-A177-3AD203B41FA5}">
                      <a16:colId xmlns:a16="http://schemas.microsoft.com/office/drawing/2014/main" val="259991841"/>
                    </a:ext>
                  </a:extLst>
                </a:gridCol>
              </a:tblGrid>
              <a:tr h="304733">
                <a:tc>
                  <a:txBody>
                    <a:bodyPr/>
                    <a:lstStyle/>
                    <a:p>
                      <a:pPr marL="0" marR="0">
                        <a:spcBef>
                          <a:spcPts val="600"/>
                        </a:spcBef>
                        <a:spcAft>
                          <a:spcPts val="600"/>
                        </a:spcAft>
                      </a:pPr>
                      <a:r>
                        <a:rPr lang="en-US" sz="2400" dirty="0">
                          <a:effectLst/>
                          <a:latin typeface="+mn-lt"/>
                        </a:rPr>
                        <a:t>Relevant</a:t>
                      </a:r>
                      <a:endParaRPr lang="en-US" sz="2400" dirty="0">
                        <a:effectLst/>
                        <a:latin typeface="+mn-lt"/>
                        <a:ea typeface="Calibri" panose="020F0502020204030204" pitchFamily="34" charset="0"/>
                        <a:cs typeface="Arial" panose="020B0604020202020204" pitchFamily="34" charset="0"/>
                      </a:endParaRPr>
                    </a:p>
                  </a:txBody>
                  <a:tcPr marL="68580" marR="68580" marT="0" marB="0"/>
                </a:tc>
                <a:tc>
                  <a:txBody>
                    <a:bodyPr/>
                    <a:lstStyle/>
                    <a:p>
                      <a:pPr marL="0" marR="0">
                        <a:spcBef>
                          <a:spcPts val="600"/>
                        </a:spcBef>
                        <a:spcAft>
                          <a:spcPts val="600"/>
                        </a:spcAft>
                      </a:pPr>
                      <a:r>
                        <a:rPr lang="en-US" sz="2400" dirty="0">
                          <a:effectLst/>
                          <a:latin typeface="+mn-lt"/>
                        </a:rPr>
                        <a:t>Connecting students’ lives with academic content</a:t>
                      </a:r>
                      <a:endParaRPr lang="en-US" sz="2400" dirty="0">
                        <a:effectLst/>
                        <a:latin typeface="+mn-lt"/>
                        <a:ea typeface="Calibri" panose="020F0502020204030204" pitchFamily="34" charset="0"/>
                        <a:cs typeface="Arial" panose="020B0604020202020204" pitchFamily="34" charset="0"/>
                      </a:endParaRPr>
                    </a:p>
                    <a:p>
                      <a:pPr marL="0" marR="0">
                        <a:spcBef>
                          <a:spcPts val="600"/>
                        </a:spcBef>
                        <a:spcAft>
                          <a:spcPts val="600"/>
                        </a:spcAft>
                      </a:pPr>
                      <a:endParaRPr lang="en-US" sz="2400" dirty="0">
                        <a:effectLst/>
                        <a:latin typeface="+mn-lt"/>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862974434"/>
                  </a:ext>
                </a:extLst>
              </a:tr>
              <a:tr h="378242">
                <a:tc>
                  <a:txBody>
                    <a:bodyPr/>
                    <a:lstStyle/>
                    <a:p>
                      <a:pPr marL="0" marR="0">
                        <a:spcBef>
                          <a:spcPts val="600"/>
                        </a:spcBef>
                        <a:spcAft>
                          <a:spcPts val="600"/>
                        </a:spcAft>
                      </a:pPr>
                      <a:r>
                        <a:rPr lang="en-US" sz="2400" dirty="0">
                          <a:effectLst/>
                          <a:latin typeface="+mn-lt"/>
                        </a:rPr>
                        <a:t>Student Perception Survey</a:t>
                      </a:r>
                      <a:endParaRPr lang="en-US" sz="2400" dirty="0">
                        <a:effectLst/>
                        <a:latin typeface="+mn-lt"/>
                        <a:ea typeface="Calibri" panose="020F0502020204030204" pitchFamily="34" charset="0"/>
                        <a:cs typeface="Arial" panose="020B0604020202020204" pitchFamily="34" charset="0"/>
                      </a:endParaRPr>
                    </a:p>
                  </a:txBody>
                  <a:tcPr marL="68580" marR="68580" marT="0" marB="0"/>
                </a:tc>
                <a:tc>
                  <a:txBody>
                    <a:bodyPr/>
                    <a:lstStyle/>
                    <a:p>
                      <a:pPr marL="0" marR="0">
                        <a:spcBef>
                          <a:spcPts val="600"/>
                        </a:spcBef>
                        <a:spcAft>
                          <a:spcPts val="600"/>
                        </a:spcAft>
                      </a:pPr>
                      <a:r>
                        <a:rPr lang="en-US" sz="2400" dirty="0">
                          <a:effectLst/>
                          <a:latin typeface="+mn-lt"/>
                        </a:rPr>
                        <a:t>A formative survey that can be tailored to capture information and feedback directly from students about the way a classroom works and how students are learning in their given environment</a:t>
                      </a:r>
                    </a:p>
                    <a:p>
                      <a:pPr marL="0" marR="0">
                        <a:spcBef>
                          <a:spcPts val="600"/>
                        </a:spcBef>
                        <a:spcAft>
                          <a:spcPts val="600"/>
                        </a:spcAft>
                      </a:pPr>
                      <a:endParaRPr lang="en-US" sz="2400" dirty="0">
                        <a:effectLst/>
                        <a:latin typeface="+mn-lt"/>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891058789"/>
                  </a:ext>
                </a:extLst>
              </a:tr>
              <a:tr h="642587">
                <a:tc>
                  <a:txBody>
                    <a:bodyPr/>
                    <a:lstStyle/>
                    <a:p>
                      <a:pPr marL="0" marR="0">
                        <a:spcBef>
                          <a:spcPts val="600"/>
                        </a:spcBef>
                        <a:spcAft>
                          <a:spcPts val="600"/>
                        </a:spcAft>
                      </a:pPr>
                      <a:r>
                        <a:rPr lang="en-US" sz="2400" dirty="0">
                          <a:effectLst/>
                          <a:latin typeface="+mn-lt"/>
                        </a:rPr>
                        <a:t>Cultural Capital</a:t>
                      </a:r>
                      <a:endParaRPr lang="en-US" sz="2400" dirty="0">
                        <a:effectLst/>
                        <a:latin typeface="+mn-lt"/>
                        <a:ea typeface="Calibri" panose="020F0502020204030204" pitchFamily="34" charset="0"/>
                        <a:cs typeface="Arial" panose="020B0604020202020204" pitchFamily="34" charset="0"/>
                      </a:endParaRPr>
                    </a:p>
                  </a:txBody>
                  <a:tcPr marL="68580" marR="68580" marT="0" marB="0"/>
                </a:tc>
                <a:tc>
                  <a:txBody>
                    <a:bodyPr/>
                    <a:lstStyle/>
                    <a:p>
                      <a:pPr marL="0" marR="0">
                        <a:spcBef>
                          <a:spcPts val="600"/>
                        </a:spcBef>
                        <a:spcAft>
                          <a:spcPts val="600"/>
                        </a:spcAft>
                      </a:pPr>
                      <a:r>
                        <a:rPr lang="en-US" sz="2400" dirty="0">
                          <a:effectLst/>
                          <a:latin typeface="+mn-lt"/>
                        </a:rPr>
                        <a:t>The accumulation of knowledge, behaviors, and skills a person acquires throughout their lives</a:t>
                      </a:r>
                    </a:p>
                    <a:p>
                      <a:pPr marL="0" marR="0">
                        <a:spcBef>
                          <a:spcPts val="600"/>
                        </a:spcBef>
                        <a:spcAft>
                          <a:spcPts val="600"/>
                        </a:spcAft>
                      </a:pPr>
                      <a:endParaRPr lang="en-US" sz="2400" dirty="0">
                        <a:effectLst/>
                        <a:latin typeface="+mn-lt"/>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730582575"/>
                  </a:ext>
                </a:extLst>
              </a:tr>
            </a:tbl>
          </a:graphicData>
        </a:graphic>
      </p:graphicFrame>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Scenario: Mrs. K</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fontScale="92500" lnSpcReduction="10000"/>
          </a:bodyPr>
          <a:lstStyle/>
          <a:p>
            <a:pPr marL="0" indent="0">
              <a:buNone/>
            </a:pPr>
            <a:r>
              <a:rPr lang="en-US" i="1" dirty="0"/>
              <a:t>It is the first week of a new school year at West Elementary School. Mrs. K, a fifth-grade reading teacher, greets her first period class at the door and instructs them to sit in assigned seats. She introduces herself, goes over the rules and consequences, reviews the expectations for the course, then starts teaching the first full lesson. </a:t>
            </a:r>
            <a:endParaRPr lang="en-US" dirty="0"/>
          </a:p>
          <a:p>
            <a:pPr marL="0" indent="0">
              <a:buNone/>
            </a:pPr>
            <a:endParaRPr lang="en-US" dirty="0"/>
          </a:p>
          <a:p>
            <a:pPr marL="0" indent="0">
              <a:buNone/>
            </a:pPr>
            <a:r>
              <a:rPr lang="en-US" i="1" dirty="0"/>
              <a:t>By the end of the week, Mrs. K notices some behavior problems in the class. Jaden frequently interrupts by making jokes and funny noises. Alex talks to the students next to him and sometimes copies their work. Emma has fallen asleep twice and Jasmine is often out of her seat.  The disruptions make it difficult for Mrs. K. to teach and frustrate the rest of the class. She thinks, “My students this year are such behavior problems.” To be continued…</a:t>
            </a:r>
            <a:endParaRPr lang="en-US" dirty="0"/>
          </a:p>
          <a:p>
            <a:pPr marL="0" indent="0">
              <a:buNone/>
            </a:pPr>
            <a:endParaRPr lang="en-US" sz="3600"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B524F-931F-44E2-A127-C13AD23B8891}"/>
              </a:ext>
            </a:extLst>
          </p:cNvPr>
          <p:cNvSpPr>
            <a:spLocks noGrp="1"/>
          </p:cNvSpPr>
          <p:nvPr>
            <p:ph type="title"/>
          </p:nvPr>
        </p:nvSpPr>
        <p:spPr/>
        <p:txBody>
          <a:bodyPr/>
          <a:lstStyle/>
          <a:p>
            <a:r>
              <a:rPr lang="en-US" dirty="0"/>
              <a:t>Scenario: Mrs. G</a:t>
            </a:r>
          </a:p>
        </p:txBody>
      </p:sp>
      <p:sp>
        <p:nvSpPr>
          <p:cNvPr id="3" name="Content Placeholder 2">
            <a:extLst>
              <a:ext uri="{FF2B5EF4-FFF2-40B4-BE49-F238E27FC236}">
                <a16:creationId xmlns:a16="http://schemas.microsoft.com/office/drawing/2014/main" id="{BBAD445C-0682-40C3-9741-DAA3A3CBE29D}"/>
              </a:ext>
            </a:extLst>
          </p:cNvPr>
          <p:cNvSpPr>
            <a:spLocks noGrp="1"/>
          </p:cNvSpPr>
          <p:nvPr>
            <p:ph idx="1"/>
          </p:nvPr>
        </p:nvSpPr>
        <p:spPr/>
        <p:txBody>
          <a:bodyPr/>
          <a:lstStyle/>
          <a:p>
            <a:pPr marL="0" marR="0" indent="0">
              <a:spcBef>
                <a:spcPts val="600"/>
              </a:spcBef>
              <a:spcAft>
                <a:spcPts val="0"/>
              </a:spcAft>
              <a:buNone/>
            </a:pPr>
            <a:r>
              <a:rPr lang="en-US" sz="2000" i="1" dirty="0">
                <a:effectLst/>
                <a:latin typeface="Calibri" panose="020F0502020204030204" pitchFamily="34" charset="0"/>
                <a:ea typeface="Calibri" panose="020F0502020204030204" pitchFamily="34" charset="0"/>
                <a:cs typeface="Arial" panose="020B0604020202020204" pitchFamily="34" charset="0"/>
              </a:rPr>
              <a:t>It is the first week of school at West Elementary school. Mrs. G, a fifth-grade science teacher greets her second period class at the door. The class includes the same students from Mrs. K’s first period. She directs them to their assigned seats, and asks them to write down the following information:</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spcBef>
                <a:spcPts val="0"/>
              </a:spcBef>
              <a:spcAft>
                <a:spcPts val="0"/>
              </a:spcAft>
              <a:buFont typeface="+mj-lt"/>
              <a:buAutoNum type="arabicPeriod"/>
            </a:pPr>
            <a:r>
              <a:rPr lang="en-US" sz="2000" i="1" dirty="0">
                <a:effectLst/>
                <a:latin typeface="Calibri" panose="020F0502020204030204" pitchFamily="34" charset="0"/>
                <a:ea typeface="Calibri" panose="020F0502020204030204" pitchFamily="34" charset="0"/>
                <a:cs typeface="Arial" panose="020B0604020202020204" pitchFamily="34" charset="0"/>
              </a:rPr>
              <a:t>The name they want to be called and how to pronounce it.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spcBef>
                <a:spcPts val="0"/>
              </a:spcBef>
              <a:spcAft>
                <a:spcPts val="0"/>
              </a:spcAft>
              <a:buFont typeface="+mj-lt"/>
              <a:buAutoNum type="arabicPeriod"/>
            </a:pPr>
            <a:r>
              <a:rPr lang="en-US" sz="2000" i="1" dirty="0">
                <a:effectLst/>
                <a:latin typeface="Calibri" panose="020F0502020204030204" pitchFamily="34" charset="0"/>
                <a:ea typeface="Calibri" panose="020F0502020204030204" pitchFamily="34" charset="0"/>
                <a:cs typeface="Arial" panose="020B0604020202020204" pitchFamily="34" charset="0"/>
              </a:rPr>
              <a:t>How they feel about themselves as a science student.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spcBef>
                <a:spcPts val="0"/>
              </a:spcBef>
              <a:spcAft>
                <a:spcPts val="0"/>
              </a:spcAft>
              <a:buFont typeface="+mj-lt"/>
              <a:buAutoNum type="arabicPeriod"/>
            </a:pPr>
            <a:r>
              <a:rPr lang="en-US" sz="2000" i="1" dirty="0">
                <a:effectLst/>
                <a:latin typeface="Calibri" panose="020F0502020204030204" pitchFamily="34" charset="0"/>
                <a:ea typeface="Calibri" panose="020F0502020204030204" pitchFamily="34" charset="0"/>
                <a:cs typeface="Arial" panose="020B0604020202020204" pitchFamily="34" charset="0"/>
              </a:rPr>
              <a:t>The three most important things that a teacher should know about them.</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indent="0">
              <a:spcBef>
                <a:spcPts val="0"/>
              </a:spcBef>
              <a:spcAft>
                <a:spcPts val="0"/>
              </a:spcAft>
              <a:buNone/>
            </a:pPr>
            <a:endParaRPr lang="en-US" sz="2000" i="1" dirty="0">
              <a:effectLst/>
              <a:latin typeface="Calibri" panose="020F0502020204030204" pitchFamily="34" charset="0"/>
              <a:ea typeface="Calibri" panose="020F0502020204030204" pitchFamily="34" charset="0"/>
              <a:cs typeface="Arial" panose="020B0604020202020204" pitchFamily="34" charset="0"/>
            </a:endParaRPr>
          </a:p>
          <a:p>
            <a:pPr marL="0" marR="0" indent="0">
              <a:spcBef>
                <a:spcPts val="0"/>
              </a:spcBef>
              <a:spcAft>
                <a:spcPts val="0"/>
              </a:spcAft>
              <a:buNone/>
            </a:pPr>
            <a:r>
              <a:rPr lang="en-US" sz="2000" i="1" dirty="0">
                <a:effectLst/>
                <a:latin typeface="Calibri" panose="020F0502020204030204" pitchFamily="34" charset="0"/>
                <a:ea typeface="Calibri" panose="020F0502020204030204" pitchFamily="34" charset="0"/>
                <a:cs typeface="Arial" panose="020B0604020202020204" pitchFamily="34" charset="0"/>
              </a:rPr>
              <a:t>She then introduces herself, goes over the rules and consequences, reviews the expectations for the course, and leads them in a short and engaging science activity. </a:t>
            </a:r>
          </a:p>
          <a:p>
            <a:pPr marL="0" marR="0" indent="0">
              <a:spcBef>
                <a:spcPts val="0"/>
              </a:spcBef>
              <a:spcAft>
                <a:spcPts val="0"/>
              </a:spcAft>
              <a:buNone/>
            </a:pP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indent="0">
              <a:spcBef>
                <a:spcPts val="0"/>
              </a:spcBef>
              <a:spcAft>
                <a:spcPts val="0"/>
              </a:spcAft>
              <a:buNone/>
            </a:pPr>
            <a:r>
              <a:rPr lang="en-US" sz="2000" i="1" dirty="0">
                <a:effectLst/>
                <a:latin typeface="Calibri" panose="020F0502020204030204" pitchFamily="34" charset="0"/>
                <a:ea typeface="Calibri" panose="020F0502020204030204" pitchFamily="34" charset="0"/>
                <a:cs typeface="Arial" panose="020B0604020202020204" pitchFamily="34" charset="0"/>
              </a:rPr>
              <a:t>After reviewing their responses and work from the first day, she learns the following:</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spcBef>
                <a:spcPts val="0"/>
              </a:spcBef>
              <a:spcAft>
                <a:spcPts val="0"/>
              </a:spcAft>
              <a:buFont typeface="Calibri" panose="020F0502020204030204" pitchFamily="34" charset="0"/>
              <a:buChar char="-"/>
            </a:pPr>
            <a:r>
              <a:rPr lang="en-US" sz="2000" i="1" dirty="0">
                <a:effectLst/>
                <a:latin typeface="Calibri" panose="020F0502020204030204" pitchFamily="34" charset="0"/>
                <a:ea typeface="Calibri" panose="020F0502020204030204" pitchFamily="34" charset="0"/>
                <a:cs typeface="Arial" panose="020B0604020202020204" pitchFamily="34" charset="0"/>
              </a:rPr>
              <a:t>Jaden likes to participate in class, but gets bored in school</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spcBef>
                <a:spcPts val="0"/>
              </a:spcBef>
              <a:spcAft>
                <a:spcPts val="0"/>
              </a:spcAft>
              <a:buFont typeface="Calibri" panose="020F0502020204030204" pitchFamily="34" charset="0"/>
              <a:buChar char="-"/>
            </a:pPr>
            <a:r>
              <a:rPr lang="en-US" sz="2000" i="1" dirty="0">
                <a:effectLst/>
                <a:latin typeface="Calibri" panose="020F0502020204030204" pitchFamily="34" charset="0"/>
                <a:ea typeface="Calibri" panose="020F0502020204030204" pitchFamily="34" charset="0"/>
                <a:cs typeface="Arial" panose="020B0604020202020204" pitchFamily="34" charset="0"/>
              </a:rPr>
              <a:t>Alex is learning English as a second language</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spcBef>
                <a:spcPts val="0"/>
              </a:spcBef>
              <a:spcAft>
                <a:spcPts val="0"/>
              </a:spcAft>
              <a:buFont typeface="Calibri" panose="020F0502020204030204" pitchFamily="34" charset="0"/>
              <a:buChar char="-"/>
            </a:pPr>
            <a:r>
              <a:rPr lang="en-US" sz="2000" i="1" dirty="0">
                <a:effectLst/>
                <a:latin typeface="Calibri" panose="020F0502020204030204" pitchFamily="34" charset="0"/>
                <a:ea typeface="Calibri" panose="020F0502020204030204" pitchFamily="34" charset="0"/>
                <a:cs typeface="Arial" panose="020B0604020202020204" pitchFamily="34" charset="0"/>
              </a:rPr>
              <a:t>Emma has a new baby sister at home</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spcBef>
                <a:spcPts val="0"/>
              </a:spcBef>
              <a:spcAft>
                <a:spcPts val="600"/>
              </a:spcAft>
              <a:buFont typeface="Calibri" panose="020F0502020204030204" pitchFamily="34" charset="0"/>
              <a:buChar char="-"/>
            </a:pPr>
            <a:r>
              <a:rPr lang="en-US" sz="2000" i="1" dirty="0">
                <a:effectLst/>
                <a:latin typeface="Calibri" panose="020F0502020204030204" pitchFamily="34" charset="0"/>
                <a:ea typeface="Calibri" panose="020F0502020204030204" pitchFamily="34" charset="0"/>
                <a:cs typeface="Arial" panose="020B0604020202020204" pitchFamily="34" charset="0"/>
              </a:rPr>
              <a:t>Jasmine has trouble seeing the board </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US" dirty="0"/>
          </a:p>
        </p:txBody>
      </p:sp>
      <p:sp>
        <p:nvSpPr>
          <p:cNvPr id="4" name="Slide Number Placeholder 3">
            <a:extLst>
              <a:ext uri="{FF2B5EF4-FFF2-40B4-BE49-F238E27FC236}">
                <a16:creationId xmlns:a16="http://schemas.microsoft.com/office/drawing/2014/main" id="{8246349C-8682-4D9C-9E72-EEC0194A5AB8}"/>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852895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B1E95-7D7C-4DCB-8739-1FE33D41803E}"/>
              </a:ext>
            </a:extLst>
          </p:cNvPr>
          <p:cNvSpPr>
            <a:spLocks noGrp="1"/>
          </p:cNvSpPr>
          <p:nvPr>
            <p:ph type="title"/>
          </p:nvPr>
        </p:nvSpPr>
        <p:spPr/>
        <p:txBody>
          <a:bodyPr/>
          <a:lstStyle/>
          <a:p>
            <a:r>
              <a:rPr lang="en-US" dirty="0"/>
              <a:t> Why Learn About Students?	</a:t>
            </a:r>
          </a:p>
        </p:txBody>
      </p:sp>
      <p:sp>
        <p:nvSpPr>
          <p:cNvPr id="4" name="Slide Number Placeholder 3">
            <a:extLst>
              <a:ext uri="{FF2B5EF4-FFF2-40B4-BE49-F238E27FC236}">
                <a16:creationId xmlns:a16="http://schemas.microsoft.com/office/drawing/2014/main" id="{2A51B689-24EF-4E40-AD35-E09AF78ED7F4}"/>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
        <p:nvSpPr>
          <p:cNvPr id="7" name="Content Placeholder 6">
            <a:extLst>
              <a:ext uri="{FF2B5EF4-FFF2-40B4-BE49-F238E27FC236}">
                <a16:creationId xmlns:a16="http://schemas.microsoft.com/office/drawing/2014/main" id="{28227FB6-1735-43F7-B8DE-CC2B6FE77513}"/>
              </a:ext>
            </a:extLst>
          </p:cNvPr>
          <p:cNvSpPr>
            <a:spLocks noGrp="1"/>
          </p:cNvSpPr>
          <p:nvPr>
            <p:ph idx="1"/>
          </p:nvPr>
        </p:nvSpPr>
        <p:spPr>
          <a:xfrm>
            <a:off x="904875" y="1712912"/>
            <a:ext cx="10515600" cy="4643438"/>
          </a:xfrm>
        </p:spPr>
        <p:txBody>
          <a:bodyPr>
            <a:normAutofit fontScale="77500" lnSpcReduction="20000"/>
          </a:bodyPr>
          <a:lstStyle/>
          <a:p>
            <a:pPr marL="342900" marR="0" lvl="0" indent="-342900">
              <a:spcBef>
                <a:spcPts val="600"/>
              </a:spcBef>
              <a:spcAft>
                <a:spcPts val="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Arial" panose="020B0604020202020204" pitchFamily="34" charset="0"/>
              </a:rPr>
              <a:t>Student Surveys. Teachers may use student surveys to learn more about students informally. A more formal and non-evaluative type of survey is a student perception survey, which can be tailored to capture information and feedback directly from students about the way a classroom works and how students are learning in their given environment. </a:t>
            </a:r>
          </a:p>
          <a:p>
            <a:pPr marL="0" marR="0" lvl="0" indent="0">
              <a:spcBef>
                <a:spcPts val="600"/>
              </a:spcBef>
              <a:spcAft>
                <a:spcPts val="0"/>
              </a:spcAft>
              <a:buNone/>
            </a:pPr>
            <a:endParaRPr lang="en-US"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spcBef>
                <a:spcPts val="0"/>
              </a:spcBef>
              <a:spcAft>
                <a:spcPts val="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Arial" panose="020B0604020202020204" pitchFamily="34" charset="0"/>
              </a:rPr>
              <a:t>Non-Academic Conversations. Taking time to listen to students share about their lives is a simple yet effective way to learn more about students to better meet their needs. Engaging in non-academic conversations during lunch time, breaks, class transitions, or during any other moments of downtime during the school day can provide teachers with more insight about students’ lives outside of school.</a:t>
            </a:r>
          </a:p>
          <a:p>
            <a:pPr marL="0" marR="0" lvl="0" indent="0">
              <a:spcBef>
                <a:spcPts val="0"/>
              </a:spcBef>
              <a:spcAft>
                <a:spcPts val="0"/>
              </a:spcAft>
              <a:buNone/>
            </a:pPr>
            <a:endParaRPr lang="en-US"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spcBef>
                <a:spcPts val="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Arial" panose="020B0604020202020204" pitchFamily="34" charset="0"/>
              </a:rPr>
              <a:t>Family Relationships. As teachers get to know their students, they also must take time to get to know students’ families. Families can provide greater contextual information about their child, such as why a student has been more tired during class lately or how their child’s favorite sport is soccer. All information coming from families is valuable to teachers to learn more about their students.</a:t>
            </a:r>
          </a:p>
          <a:p>
            <a:pPr marL="0" indent="0">
              <a:buNone/>
            </a:pPr>
            <a:endParaRPr lang="en-US" dirty="0"/>
          </a:p>
        </p:txBody>
      </p:sp>
    </p:spTree>
    <p:extLst>
      <p:ext uri="{BB962C8B-B14F-4D97-AF65-F5344CB8AC3E}">
        <p14:creationId xmlns:p14="http://schemas.microsoft.com/office/powerpoint/2010/main" val="1662076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838200" y="1690688"/>
            <a:ext cx="10515600" cy="4351338"/>
          </a:xfrm>
        </p:spPr>
        <p:txBody>
          <a:bodyPr>
            <a:normAutofit/>
          </a:bodyPr>
          <a:lstStyle/>
          <a:p>
            <a:pPr marL="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Arial" panose="020B0604020202020204" pitchFamily="34" charset="0"/>
              </a:rPr>
              <a:t>It is the beginning of the school year and Ms. M has a class full of new students in her third-grade reading class. She asks her students to take a survey so she can get to know what students like and dislike, both in and out of school. She is in the process of conducting home visits to meet families and to get to know what life at home is like for her students. One of her students, Maria, shared in her student survey that she does not read very much  but enjoys being outside. When Ms. M did Maria’s home visit, she noticed that Maria did not have many books at home and the ones she had were all in Spanish. Maria’s parents, who are not fluent English speakers, shared with Ms. M that Maria is an outgoing girl who likes being with her friends</a:t>
            </a:r>
          </a:p>
          <a:p>
            <a:pPr marL="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Arial" panose="020B0604020202020204" pitchFamily="34" charset="0"/>
              </a:rPr>
              <a:t>What did Ms. M. learn about Maria:</a:t>
            </a:r>
            <a:endParaRPr lang="en-US" sz="1800" dirty="0">
              <a:no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spcBef>
                <a:spcPts val="0"/>
              </a:spcBef>
              <a:spcAft>
                <a:spcPts val="6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Arial" panose="020B0604020202020204" pitchFamily="34" charset="0"/>
              </a:rPr>
              <a:t>as an individual? </a:t>
            </a:r>
          </a:p>
          <a:p>
            <a:pPr marL="342900" marR="0" lvl="0" indent="-342900">
              <a:spcBef>
                <a:spcPts val="0"/>
              </a:spcBef>
              <a:spcAft>
                <a:spcPts val="6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Arial" panose="020B0604020202020204" pitchFamily="34" charset="0"/>
              </a:rPr>
              <a:t>as a learner?</a:t>
            </a:r>
          </a:p>
          <a:p>
            <a:pPr marL="342900" marR="0" lvl="0" indent="-342900">
              <a:spcBef>
                <a:spcPts val="0"/>
              </a:spcBef>
              <a:spcAft>
                <a:spcPts val="6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Arial" panose="020B0604020202020204" pitchFamily="34" charset="0"/>
              </a:rPr>
              <a:t>as a member of her family? </a:t>
            </a:r>
          </a:p>
          <a:p>
            <a:pPr marL="0" marR="0" lvl="0" indent="0">
              <a:spcBef>
                <a:spcPts val="0"/>
              </a:spcBef>
              <a:spcAft>
                <a:spcPts val="600"/>
              </a:spcAft>
              <a:buNone/>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indent="0">
              <a:spcBef>
                <a:spcPts val="0"/>
              </a:spcBef>
              <a:spcAft>
                <a:spcPts val="600"/>
              </a:spcAft>
              <a:buNone/>
            </a:pPr>
            <a:r>
              <a:rPr lang="en-US" sz="1800" dirty="0">
                <a:effectLst/>
                <a:latin typeface="Calibri" panose="020F0502020204030204" pitchFamily="34" charset="0"/>
                <a:ea typeface="Calibri" panose="020F0502020204030204" pitchFamily="34" charset="0"/>
                <a:cs typeface="Arial" panose="020B0604020202020204" pitchFamily="34" charset="0"/>
              </a:rPr>
              <a:t>What can Ms. M. do to encourage Maria to read more? </a:t>
            </a: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160</TotalTime>
  <Words>928</Words>
  <Application>Microsoft Office PowerPoint</Application>
  <PresentationFormat>Widescreen</PresentationFormat>
  <Paragraphs>56</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Symbol</vt:lpstr>
      <vt:lpstr>Office Theme</vt:lpstr>
      <vt:lpstr>Instructional Practices| Unit 3: Knowledge of Students to Drive Instruction | Lesson 3.01</vt:lpstr>
      <vt:lpstr>TEKS Standards &amp; Objectives</vt:lpstr>
      <vt:lpstr>Bellringer</vt:lpstr>
      <vt:lpstr>Vocabulary</vt:lpstr>
      <vt:lpstr>Scenario: Mrs. K</vt:lpstr>
      <vt:lpstr>Scenario: Mrs. G</vt:lpstr>
      <vt:lpstr> Why Learn About Students? </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3.01: The Importance of Learning About Students</dc:title>
  <dc:subject>Lesson 3.01: The Importance of Learning About Students</dc:subject>
  <dc:creator>Texas Education Agency</dc:creator>
  <cp:lastModifiedBy>White (she/her), Whitney</cp:lastModifiedBy>
  <cp:revision>8</cp:revision>
  <dcterms:created xsi:type="dcterms:W3CDTF">2022-05-09T19:40:20Z</dcterms:created>
  <dcterms:modified xsi:type="dcterms:W3CDTF">2023-08-31T01:58:50Z</dcterms:modified>
</cp:coreProperties>
</file>
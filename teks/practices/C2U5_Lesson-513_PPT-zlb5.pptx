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043C5-3D3E-425E-9243-B5DE382B2559}" v="8" dt="2022-10-10T02:53:59.1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4" d="100"/>
          <a:sy n="114" d="100"/>
        </p:scale>
        <p:origin x="16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she/her), Whitney" userId="65f39021-2f1d-4d8b-87dc-b123826f65bf" providerId="ADAL" clId="{4F8043C5-3D3E-425E-9243-B5DE382B2559}"/>
    <pc:docChg chg="custSel delSld modSld">
      <pc:chgData name="White (she/her), Whitney" userId="65f39021-2f1d-4d8b-87dc-b123826f65bf" providerId="ADAL" clId="{4F8043C5-3D3E-425E-9243-B5DE382B2559}" dt="2022-10-10T02:54:16.624" v="225" actId="2696"/>
      <pc:docMkLst>
        <pc:docMk/>
      </pc:docMkLst>
      <pc:sldChg chg="modSp mod">
        <pc:chgData name="White (she/her), Whitney" userId="65f39021-2f1d-4d8b-87dc-b123826f65bf" providerId="ADAL" clId="{4F8043C5-3D3E-425E-9243-B5DE382B2559}" dt="2022-10-10T02:50:12.322" v="90" actId="20577"/>
        <pc:sldMkLst>
          <pc:docMk/>
          <pc:sldMk cId="1482277026" sldId="256"/>
        </pc:sldMkLst>
        <pc:spChg chg="mod">
          <ac:chgData name="White (she/her), Whitney" userId="65f39021-2f1d-4d8b-87dc-b123826f65bf" providerId="ADAL" clId="{4F8043C5-3D3E-425E-9243-B5DE382B2559}" dt="2022-10-10T02:50:12.322" v="90" actId="20577"/>
          <ac:spMkLst>
            <pc:docMk/>
            <pc:sldMk cId="1482277026" sldId="256"/>
            <ac:spMk id="2" creationId="{BFFCF5BD-F8FF-4A67-A8B6-EBB21E79279B}"/>
          </ac:spMkLst>
        </pc:spChg>
        <pc:spChg chg="mod">
          <ac:chgData name="White (she/her), Whitney" userId="65f39021-2f1d-4d8b-87dc-b123826f65bf" providerId="ADAL" clId="{4F8043C5-3D3E-425E-9243-B5DE382B2559}" dt="2022-10-10T02:49:29.083" v="30" actId="20577"/>
          <ac:spMkLst>
            <pc:docMk/>
            <pc:sldMk cId="1482277026" sldId="256"/>
            <ac:spMk id="3" creationId="{E0FBD98F-3A67-498E-8174-652040DD7B60}"/>
          </ac:spMkLst>
        </pc:spChg>
      </pc:sldChg>
      <pc:sldChg chg="modSp mod">
        <pc:chgData name="White (she/her), Whitney" userId="65f39021-2f1d-4d8b-87dc-b123826f65bf" providerId="ADAL" clId="{4F8043C5-3D3E-425E-9243-B5DE382B2559}" dt="2022-10-10T02:52:44.789" v="168" actId="404"/>
        <pc:sldMkLst>
          <pc:docMk/>
          <pc:sldMk cId="4071305681" sldId="258"/>
        </pc:sldMkLst>
        <pc:spChg chg="mod">
          <ac:chgData name="White (she/her), Whitney" userId="65f39021-2f1d-4d8b-87dc-b123826f65bf" providerId="ADAL" clId="{4F8043C5-3D3E-425E-9243-B5DE382B2559}" dt="2022-10-10T02:52:44.789" v="168" actId="404"/>
          <ac:spMkLst>
            <pc:docMk/>
            <pc:sldMk cId="4071305681" sldId="258"/>
            <ac:spMk id="3" creationId="{392BE286-77A6-49DD-B15D-7E4718D52FE7}"/>
          </ac:spMkLst>
        </pc:spChg>
      </pc:sldChg>
      <pc:sldChg chg="modSp mod">
        <pc:chgData name="White (she/her), Whitney" userId="65f39021-2f1d-4d8b-87dc-b123826f65bf" providerId="ADAL" clId="{4F8043C5-3D3E-425E-9243-B5DE382B2559}" dt="2022-10-10T02:52:26.933" v="162" actId="255"/>
        <pc:sldMkLst>
          <pc:docMk/>
          <pc:sldMk cId="2772527113" sldId="259"/>
        </pc:sldMkLst>
        <pc:spChg chg="mod">
          <ac:chgData name="White (she/her), Whitney" userId="65f39021-2f1d-4d8b-87dc-b123826f65bf" providerId="ADAL" clId="{4F8043C5-3D3E-425E-9243-B5DE382B2559}" dt="2022-10-10T02:52:26.933" v="162" actId="255"/>
          <ac:spMkLst>
            <pc:docMk/>
            <pc:sldMk cId="2772527113" sldId="259"/>
            <ac:spMk id="3" creationId="{8CE08C7F-0286-423B-92F7-DEB89F31111A}"/>
          </ac:spMkLst>
        </pc:spChg>
      </pc:sldChg>
      <pc:sldChg chg="modSp mod">
        <pc:chgData name="White (she/her), Whitney" userId="65f39021-2f1d-4d8b-87dc-b123826f65bf" providerId="ADAL" clId="{4F8043C5-3D3E-425E-9243-B5DE382B2559}" dt="2022-10-10T02:51:50.363" v="150" actId="20577"/>
        <pc:sldMkLst>
          <pc:docMk/>
          <pc:sldMk cId="2147408764" sldId="260"/>
        </pc:sldMkLst>
        <pc:spChg chg="mod">
          <ac:chgData name="White (she/her), Whitney" userId="65f39021-2f1d-4d8b-87dc-b123826f65bf" providerId="ADAL" clId="{4F8043C5-3D3E-425E-9243-B5DE382B2559}" dt="2022-10-10T02:51:50.363" v="150" actId="20577"/>
          <ac:spMkLst>
            <pc:docMk/>
            <pc:sldMk cId="2147408764" sldId="260"/>
            <ac:spMk id="3" creationId="{49F2A5AF-3C0B-4968-A438-E435325199EA}"/>
          </ac:spMkLst>
        </pc:spChg>
      </pc:sldChg>
      <pc:sldChg chg="addSp delSp modSp mod">
        <pc:chgData name="White (she/her), Whitney" userId="65f39021-2f1d-4d8b-87dc-b123826f65bf" providerId="ADAL" clId="{4F8043C5-3D3E-425E-9243-B5DE382B2559}" dt="2022-10-10T02:53:16.927" v="181" actId="113"/>
        <pc:sldMkLst>
          <pc:docMk/>
          <pc:sldMk cId="3054216349" sldId="261"/>
        </pc:sldMkLst>
        <pc:spChg chg="del">
          <ac:chgData name="White (she/her), Whitney" userId="65f39021-2f1d-4d8b-87dc-b123826f65bf" providerId="ADAL" clId="{4F8043C5-3D3E-425E-9243-B5DE382B2559}" dt="2022-10-10T02:52:50.784" v="169"/>
          <ac:spMkLst>
            <pc:docMk/>
            <pc:sldMk cId="3054216349" sldId="261"/>
            <ac:spMk id="3" creationId="{AE13FDB6-F093-4D9E-B14E-3D7DB894C34C}"/>
          </ac:spMkLst>
        </pc:spChg>
        <pc:graphicFrameChg chg="add mod modGraphic">
          <ac:chgData name="White (she/her), Whitney" userId="65f39021-2f1d-4d8b-87dc-b123826f65bf" providerId="ADAL" clId="{4F8043C5-3D3E-425E-9243-B5DE382B2559}" dt="2022-10-10T02:53:16.927" v="181" actId="113"/>
          <ac:graphicFrameMkLst>
            <pc:docMk/>
            <pc:sldMk cId="3054216349" sldId="261"/>
            <ac:graphicFrameMk id="5" creationId="{7C673EFF-A899-4F1C-B252-48E534D1EE11}"/>
          </ac:graphicFrameMkLst>
        </pc:graphicFrameChg>
      </pc:sldChg>
      <pc:sldChg chg="del">
        <pc:chgData name="White (she/her), Whitney" userId="65f39021-2f1d-4d8b-87dc-b123826f65bf" providerId="ADAL" clId="{4F8043C5-3D3E-425E-9243-B5DE382B2559}" dt="2022-10-10T02:54:16.624" v="225" actId="2696"/>
        <pc:sldMkLst>
          <pc:docMk/>
          <pc:sldMk cId="4170921578" sldId="262"/>
        </pc:sldMkLst>
      </pc:sldChg>
      <pc:sldChg chg="del">
        <pc:chgData name="White (she/her), Whitney" userId="65f39021-2f1d-4d8b-87dc-b123826f65bf" providerId="ADAL" clId="{4F8043C5-3D3E-425E-9243-B5DE382B2559}" dt="2022-10-10T02:54:15.089" v="224" actId="2696"/>
        <pc:sldMkLst>
          <pc:docMk/>
          <pc:sldMk cId="1163931679" sldId="263"/>
        </pc:sldMkLst>
      </pc:sldChg>
      <pc:sldChg chg="modSp mod modAnim">
        <pc:chgData name="White (she/her), Whitney" userId="65f39021-2f1d-4d8b-87dc-b123826f65bf" providerId="ADAL" clId="{4F8043C5-3D3E-425E-9243-B5DE382B2559}" dt="2022-10-10T02:53:59.121" v="223"/>
        <pc:sldMkLst>
          <pc:docMk/>
          <pc:sldMk cId="3493109116" sldId="264"/>
        </pc:sldMkLst>
        <pc:spChg chg="mod">
          <ac:chgData name="White (she/her), Whitney" userId="65f39021-2f1d-4d8b-87dc-b123826f65bf" providerId="ADAL" clId="{4F8043C5-3D3E-425E-9243-B5DE382B2559}" dt="2022-10-10T02:53:36.101" v="215" actId="20577"/>
          <ac:spMkLst>
            <pc:docMk/>
            <pc:sldMk cId="3493109116" sldId="264"/>
            <ac:spMk id="2" creationId="{D7836664-70C0-47BA-9BFF-496A04EBBFDE}"/>
          </ac:spMkLst>
        </pc:spChg>
        <pc:spChg chg="mod">
          <ac:chgData name="White (she/her), Whitney" userId="65f39021-2f1d-4d8b-87dc-b123826f65bf" providerId="ADAL" clId="{4F8043C5-3D3E-425E-9243-B5DE382B2559}" dt="2022-10-10T02:53:47.890" v="219" actId="27636"/>
          <ac:spMkLst>
            <pc:docMk/>
            <pc:sldMk cId="3493109116" sldId="264"/>
            <ac:spMk id="3" creationId="{F64339F5-2F5D-46B5-A25D-C197D73747BD}"/>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4ACD2CB2-91FC-4BB1-AC1A-F29A5752FE24}"/>
    <pc:docChg chg="modSld">
      <pc:chgData name="White, Whitney" userId="65f39021-2f1d-4d8b-87dc-b123826f65bf" providerId="ADAL" clId="{4ACD2CB2-91FC-4BB1-AC1A-F29A5752FE24}" dt="2022-08-03T14:16:49.713" v="46" actId="20577"/>
      <pc:docMkLst>
        <pc:docMk/>
      </pc:docMkLst>
      <pc:sldChg chg="modSp mod">
        <pc:chgData name="White, Whitney" userId="65f39021-2f1d-4d8b-87dc-b123826f65bf" providerId="ADAL" clId="{4ACD2CB2-91FC-4BB1-AC1A-F29A5752FE24}" dt="2022-08-03T14:16:49.713" v="46" actId="20577"/>
        <pc:sldMkLst>
          <pc:docMk/>
          <pc:sldMk cId="1482277026" sldId="256"/>
        </pc:sldMkLst>
        <pc:spChg chg="mod">
          <ac:chgData name="White, Whitney" userId="65f39021-2f1d-4d8b-87dc-b123826f65bf" providerId="ADAL" clId="{4ACD2CB2-91FC-4BB1-AC1A-F29A5752FE24}" dt="2022-08-03T14:16:49.713" v="46" actId="20577"/>
          <ac:spMkLst>
            <pc:docMk/>
            <pc:sldMk cId="1482277026" sldId="256"/>
            <ac:spMk id="2" creationId="{BFFCF5BD-F8FF-4A67-A8B6-EBB21E7927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5: Planning For and With Assessment| Lesson 5.13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Introduction to Rubrics</a:t>
            </a:r>
          </a:p>
        </p:txBody>
      </p:sp>
      <p:sp>
        <p:nvSpPr>
          <p:cNvPr id="4" name="TextBox 3">
            <a:extLst>
              <a:ext uri="{FF2B5EF4-FFF2-40B4-BE49-F238E27FC236}">
                <a16:creationId xmlns:a16="http://schemas.microsoft.com/office/drawing/2014/main" id="{D8CE67D7-5135-8CCA-B5D1-8B86CCA64449}"/>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8A, 8C</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Define rubric and explain the purpose of a rubric for both students and teachers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Identify and analyze the qualities of an effective rubric</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Match each assessment type to the appropriate scenario on your student guide based on the purpose of the scenario.</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7C673EFF-A899-4F1C-B252-48E534D1EE11}"/>
              </a:ext>
            </a:extLst>
          </p:cNvPr>
          <p:cNvGraphicFramePr>
            <a:graphicFrameLocks noGrp="1"/>
          </p:cNvGraphicFramePr>
          <p:nvPr>
            <p:ph idx="1"/>
            <p:extLst>
              <p:ext uri="{D42A27DB-BD31-4B8C-83A1-F6EECF244321}">
                <p14:modId xmlns:p14="http://schemas.microsoft.com/office/powerpoint/2010/main" val="3118871110"/>
              </p:ext>
            </p:extLst>
          </p:nvPr>
        </p:nvGraphicFramePr>
        <p:xfrm>
          <a:off x="1258036" y="2374147"/>
          <a:ext cx="9168009" cy="1509696"/>
        </p:xfrm>
        <a:graphic>
          <a:graphicData uri="http://schemas.openxmlformats.org/drawingml/2006/table">
            <a:tbl>
              <a:tblPr firstRow="1" firstCol="1" bandRow="1">
                <a:tableStyleId>{5940675A-B579-460E-94D1-54222C63F5DA}</a:tableStyleId>
              </a:tblPr>
              <a:tblGrid>
                <a:gridCol w="2006052">
                  <a:extLst>
                    <a:ext uri="{9D8B030D-6E8A-4147-A177-3AD203B41FA5}">
                      <a16:colId xmlns:a16="http://schemas.microsoft.com/office/drawing/2014/main" val="1114596117"/>
                    </a:ext>
                  </a:extLst>
                </a:gridCol>
                <a:gridCol w="7161957">
                  <a:extLst>
                    <a:ext uri="{9D8B030D-6E8A-4147-A177-3AD203B41FA5}">
                      <a16:colId xmlns:a16="http://schemas.microsoft.com/office/drawing/2014/main" val="2916752176"/>
                    </a:ext>
                  </a:extLst>
                </a:gridCol>
              </a:tblGrid>
              <a:tr h="1509696">
                <a:tc>
                  <a:txBody>
                    <a:bodyPr/>
                    <a:lstStyle/>
                    <a:p>
                      <a:pPr marL="0" marR="0" algn="ctr">
                        <a:lnSpc>
                          <a:spcPct val="107000"/>
                        </a:lnSpc>
                        <a:spcBef>
                          <a:spcPts val="600"/>
                        </a:spcBef>
                        <a:spcAft>
                          <a:spcPts val="600"/>
                        </a:spcAft>
                      </a:pPr>
                      <a:r>
                        <a:rPr lang="en-US" sz="2800" b="1" dirty="0">
                          <a:effectLst/>
                        </a:rPr>
                        <a:t>Rubric</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800" dirty="0">
                          <a:effectLst/>
                        </a:rPr>
                        <a:t>Tool used to assess student performance against a set of success criteria for a task</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84268426"/>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Characteristics of Quality Rubrics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fontScale="92500" lnSpcReduction="20000"/>
          </a:bodyPr>
          <a:lstStyle/>
          <a:p>
            <a:pPr marL="342900" marR="0" lvl="0" indent="-342900">
              <a:lnSpc>
                <a:spcPct val="107000"/>
              </a:lnSpc>
              <a:spcBef>
                <a:spcPts val="600"/>
              </a:spcBef>
              <a:spcAft>
                <a:spcPts val="600"/>
              </a:spcAft>
              <a:buFont typeface="Symbol" panose="05050102010706020507" pitchFamily="18" charset="2"/>
              <a:buChar char=""/>
            </a:pPr>
            <a:r>
              <a:rPr lang="en-US" sz="2400" b="1" dirty="0">
                <a:effectLst/>
                <a:latin typeface="Calibri" panose="020F0502020204030204" pitchFamily="34" charset="0"/>
                <a:ea typeface="Calibri" panose="020F0502020204030204" pitchFamily="34" charset="0"/>
                <a:cs typeface="Calibri" panose="020F0502020204030204" pitchFamily="34" charset="0"/>
              </a:rPr>
              <a:t>List of specific criteria:</a:t>
            </a:r>
            <a:r>
              <a:rPr lang="en-US" sz="2400" dirty="0">
                <a:effectLst/>
                <a:latin typeface="Calibri" panose="020F0502020204030204" pitchFamily="34" charset="0"/>
                <a:ea typeface="Calibri" panose="020F0502020204030204" pitchFamily="34" charset="0"/>
                <a:cs typeface="Calibri" panose="020F0502020204030204" pitchFamily="34" charset="0"/>
              </a:rPr>
              <a:t> Students and raters will clearly know the expectations for the task based on the key criteria identified.  These are the standards by which the task will be rated.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400" b="1" dirty="0">
                <a:effectLst/>
                <a:latin typeface="Calibri" panose="020F0502020204030204" pitchFamily="34" charset="0"/>
                <a:ea typeface="Calibri" panose="020F0502020204030204" pitchFamily="34" charset="0"/>
                <a:cs typeface="Calibri" panose="020F0502020204030204" pitchFamily="34" charset="0"/>
              </a:rPr>
              <a:t>Focused on the most important content:</a:t>
            </a:r>
            <a:r>
              <a:rPr lang="en-US" sz="2400" dirty="0">
                <a:effectLst/>
                <a:latin typeface="Calibri" panose="020F0502020204030204" pitchFamily="34" charset="0"/>
                <a:ea typeface="Calibri" panose="020F0502020204030204" pitchFamily="34" charset="0"/>
                <a:cs typeface="Calibri" panose="020F0502020204030204" pitchFamily="34" charset="0"/>
              </a:rPr>
              <a:t> the rubric should measure the key skills and knowledge aligned to the instructional objective.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400" b="1" dirty="0">
                <a:effectLst/>
                <a:latin typeface="Calibri" panose="020F0502020204030204" pitchFamily="34" charset="0"/>
                <a:ea typeface="Calibri" panose="020F0502020204030204" pitchFamily="34" charset="0"/>
                <a:cs typeface="Calibri" panose="020F0502020204030204" pitchFamily="34" charset="0"/>
              </a:rPr>
              <a:t>Clearly defined and measurable levels of performance:</a:t>
            </a:r>
            <a:r>
              <a:rPr lang="en-US" sz="2400" dirty="0">
                <a:effectLst/>
                <a:latin typeface="Calibri" panose="020F0502020204030204" pitchFamily="34" charset="0"/>
                <a:ea typeface="Calibri" panose="020F0502020204030204" pitchFamily="34" charset="0"/>
                <a:cs typeface="Calibri" panose="020F0502020204030204" pitchFamily="34" charset="0"/>
              </a:rPr>
              <a:t> these represent the level to which the task meets expectations.  Typically, a quality rubric will describe 3-5 levels of performance. Each level of performance will be specifically described.  The more specificity used, the easier it will be to rate, it will be rated more consistently, and students will clearly understand the rating.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400" b="1" dirty="0">
                <a:effectLst/>
                <a:latin typeface="Calibri" panose="020F0502020204030204" pitchFamily="34" charset="0"/>
                <a:ea typeface="Calibri" panose="020F0502020204030204" pitchFamily="34" charset="0"/>
                <a:cs typeface="Calibri" panose="020F0502020204030204" pitchFamily="34" charset="0"/>
              </a:rPr>
              <a:t>Reliable:</a:t>
            </a:r>
            <a:r>
              <a:rPr lang="en-US" sz="2400" dirty="0">
                <a:effectLst/>
                <a:latin typeface="Calibri" panose="020F0502020204030204" pitchFamily="34" charset="0"/>
                <a:ea typeface="Calibri" panose="020F0502020204030204" pitchFamily="34" charset="0"/>
                <a:cs typeface="Calibri" panose="020F0502020204030204" pitchFamily="34" charset="0"/>
              </a:rPr>
              <a:t> It must be descriptive enough so that various raters will identify the same or similar score.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600"/>
              </a:spcBef>
              <a:spcAft>
                <a:spcPts val="600"/>
              </a:spcAft>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What is the purpose of a rubric for students? What is the purpose of a rubric for teachers?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600"/>
              </a:spcBef>
              <a:spcAft>
                <a:spcPts val="600"/>
              </a:spcAft>
              <a:buNone/>
            </a:pPr>
            <a:r>
              <a:rPr lang="en-US" sz="1800" dirty="0">
                <a:solidFill>
                  <a:srgbClr val="70AD47"/>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600"/>
              </a:spcBef>
              <a:spcAft>
                <a:spcPts val="600"/>
              </a:spcAft>
              <a:buNone/>
            </a:pPr>
            <a:r>
              <a:rPr lang="en-US" sz="1800" dirty="0">
                <a:solidFill>
                  <a:srgbClr val="70AD47"/>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On your Exit Ticket, you will find</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an example of a rubric to assess a first-grade class on their writing.  </a:t>
            </a:r>
          </a:p>
          <a:p>
            <a:pPr marL="0" marR="0" indent="0">
              <a:lnSpc>
                <a:spcPct val="107000"/>
              </a:lnSpc>
              <a:spcBef>
                <a:spcPts val="600"/>
              </a:spcBef>
              <a:spcAft>
                <a:spcPts val="600"/>
              </a:spcAft>
              <a:buNone/>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600"/>
              </a:spcBef>
              <a:spcAft>
                <a:spcPts val="600"/>
              </a:spcAft>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Is this an example of an effective rubric based on the characteristics of effective rubrics?  Support your answer with at least </a:t>
            </a:r>
            <a:r>
              <a:rPr lang="en-US" sz="1800" b="1" u="sng"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three</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examples or details.  What suggestions can you make to improve this rubric based on the characteristics of quality rubrics?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347</Words>
  <Application>Microsoft Office PowerPoint</Application>
  <PresentationFormat>Widescreen</PresentationFormat>
  <Paragraphs>31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Unit 5: Planning For and With Assessment| Lesson 5.13</vt:lpstr>
      <vt:lpstr>TEKS Standards &amp; Objectives</vt:lpstr>
      <vt:lpstr>Bellringer</vt:lpstr>
      <vt:lpstr>Vocabulary</vt:lpstr>
      <vt:lpstr>Characteristics of Quality Rubrics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5.13: Introduction to Rubrics</dc:title>
  <dc:subject>Lesson 5.13: Introduction to Rubrics</dc:subject>
  <dc:creator>Texas Education Agency</dc:creator>
  <cp:lastModifiedBy>London White</cp:lastModifiedBy>
  <cp:revision>4</cp:revision>
  <dcterms:created xsi:type="dcterms:W3CDTF">2022-05-09T19:40:20Z</dcterms:created>
  <dcterms:modified xsi:type="dcterms:W3CDTF">2023-08-31T04:17:09Z</dcterms:modified>
</cp:coreProperties>
</file>
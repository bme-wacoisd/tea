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5"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14" autoAdjust="0"/>
  </p:normalViewPr>
  <p:slideViewPr>
    <p:cSldViewPr snapToGrid="0">
      <p:cViewPr varScale="1">
        <p:scale>
          <a:sx n="108" d="100"/>
          <a:sy n="108" d="100"/>
        </p:scale>
        <p:origin x="4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1472"/>
            <a:ext cx="9144000" cy="370300"/>
          </a:xfrm>
        </p:spPr>
        <p:txBody>
          <a:bodyPr>
            <a:normAutofit/>
          </a:bodyPr>
          <a:lstStyle/>
          <a:p>
            <a:pPr algn="l"/>
            <a:r>
              <a:rPr lang="en-US" sz="1800" dirty="0"/>
              <a:t>Instructional Practices| Unit 6: Instructional Alignment| Lesson 6.07</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Scaffolding a Lesson | Intro to Gradual Release</a:t>
            </a:r>
          </a:p>
        </p:txBody>
      </p:sp>
      <p:sp>
        <p:nvSpPr>
          <p:cNvPr id="4" name="TextBox 3">
            <a:extLst>
              <a:ext uri="{FF2B5EF4-FFF2-40B4-BE49-F238E27FC236}">
                <a16:creationId xmlns:a16="http://schemas.microsoft.com/office/drawing/2014/main" id="{C3C766C0-B8DB-A116-0B9E-3A4833C4F7F1}"/>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6A, 6C, 6F</a:t>
            </a:r>
          </a:p>
          <a:p>
            <a:pPr marL="0" indent="0">
              <a:buNone/>
            </a:pPr>
            <a:endParaRPr lang="en-US" dirty="0"/>
          </a:p>
          <a:p>
            <a:pPr marL="0" indent="0">
              <a:buNone/>
            </a:pPr>
            <a:r>
              <a:rPr lang="en-US" dirty="0"/>
              <a:t>The student will:</a:t>
            </a:r>
          </a:p>
          <a:p>
            <a:r>
              <a:rPr lang="en-US" dirty="0"/>
              <a:t>Describe and explain how a lesson is intentionally structured to build student understanding within a lesson</a:t>
            </a:r>
          </a:p>
          <a:p>
            <a:r>
              <a:rPr lang="en-US" dirty="0"/>
              <a:t>Define and explain the states of gradual release of responsibility and how each stage scaffolds student learning</a:t>
            </a:r>
          </a:p>
          <a:p>
            <a:r>
              <a:rPr lang="en-US" dirty="0"/>
              <a:t>Identify and evaluate how learning is scaffolded with in a lesson plan</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lnSpcReduction="10000"/>
          </a:bodyPr>
          <a:lstStyle/>
          <a:p>
            <a:pPr marL="0" marR="0" indent="0">
              <a:spcBef>
                <a:spcPts val="600"/>
              </a:spcBef>
              <a:spcAft>
                <a:spcPts val="60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Compare each parent’s approach to teaching their child how to ride a bike. Which approach likely led to more success and why? </a:t>
            </a:r>
          </a:p>
          <a:p>
            <a:pPr marL="0" marR="0" indent="0">
              <a:lnSpc>
                <a:spcPct val="107000"/>
              </a:lnSpc>
              <a:spcBef>
                <a:spcPts val="600"/>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nSpc>
                <a:spcPct val="107000"/>
              </a:lnSpc>
              <a:spcBef>
                <a:spcPts val="600"/>
              </a:spcBef>
              <a:spcAft>
                <a:spcPts val="600"/>
              </a:spcAft>
              <a:buNone/>
            </a:pPr>
            <a:r>
              <a:rPr lang="en-US" sz="2000" i="1" dirty="0">
                <a:effectLst/>
                <a:latin typeface="Calibri" panose="020F0502020204030204" pitchFamily="34" charset="0"/>
                <a:ea typeface="Calibri" panose="020F0502020204030204" pitchFamily="34" charset="0"/>
                <a:cs typeface="Times New Roman" panose="02020603050405020304" pitchFamily="18" charset="0"/>
              </a:rPr>
              <a:t>Parent #1: When teaching her son to ride a bike, the parent sat on the bike to demonstrate how to ride. She provided her son with training wheels to start then gradually raised the training wheels. Once she felt her son was ready, the mom took off the training wheels and instead used her hand to guide her son as she walked beside him. Once the boy felt steady, the mom removed her guiding hand and let her son take off on his own. </a:t>
            </a:r>
          </a:p>
          <a:p>
            <a:pPr marL="0" marR="0" indent="0">
              <a:lnSpc>
                <a:spcPct val="107000"/>
              </a:lnSpc>
              <a:spcBef>
                <a:spcPts val="600"/>
              </a:spcBef>
              <a:spcAft>
                <a:spcPts val="600"/>
              </a:spcAft>
              <a:buNone/>
            </a:pPr>
            <a:r>
              <a:rPr lang="en-US" sz="2000" i="1"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r>
              <a:rPr lang="en-US" sz="2000" i="1" dirty="0">
                <a:effectLst/>
                <a:latin typeface="Calibri" panose="020F0502020204030204" pitchFamily="34" charset="0"/>
                <a:ea typeface="Calibri" panose="020F0502020204030204" pitchFamily="34" charset="0"/>
                <a:cs typeface="Times New Roman" panose="02020603050405020304" pitchFamily="18" charset="0"/>
              </a:rPr>
              <a:t>Parent #2: When teaching his son to ride a bike, the parent explained how to ride the bike. He explained to his son how to sit on the seat, steady himself, and use the peddles. Then, he put his son on the bike and gave him a push. </a:t>
            </a:r>
            <a:endParaRPr lang="en-US" sz="3200" i="1"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Scaffolding: Structured supports offered to students by the teacher to help students attain a strong command of a new skill and/or concept.</a:t>
            </a:r>
          </a:p>
          <a:p>
            <a:pPr marL="0" indent="0">
              <a:buNone/>
            </a:pPr>
            <a:endParaRPr lang="en-US" dirty="0"/>
          </a:p>
          <a:p>
            <a:pPr marL="0" indent="0">
              <a:buNone/>
            </a:pPr>
            <a:r>
              <a:rPr lang="en-US" dirty="0"/>
              <a:t>Gradual Release of Responsibility: An instructional framework that gradually shifts the cognitive load from the teacher to the student.</a:t>
            </a:r>
          </a:p>
          <a:p>
            <a:pPr marL="0" indent="0">
              <a:buNone/>
            </a:pPr>
            <a:endParaRPr lang="en-US" dirty="0"/>
          </a:p>
          <a:p>
            <a:pPr marL="0" indent="0">
              <a:buNone/>
            </a:pPr>
            <a:r>
              <a:rPr lang="en-US" dirty="0"/>
              <a:t>Modeled Instruction: The part of the lesson where the teacher demonstrates how to perform a skill while describing each step with a rationale.</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a:t>Vocabulary </a:t>
            </a:r>
            <a:endParaRPr lang="en-US" dirty="0"/>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Shared Instruction: A form of practice in which the teacher continues to provide explicit instruction but invites students to contribute</a:t>
            </a:r>
          </a:p>
          <a:p>
            <a:pPr marL="0" indent="0">
              <a:buNone/>
            </a:pPr>
            <a:endParaRPr lang="en-US" dirty="0"/>
          </a:p>
          <a:p>
            <a:pPr marL="0" indent="0">
              <a:buNone/>
            </a:pPr>
            <a:r>
              <a:rPr lang="en-US" dirty="0"/>
              <a:t>Guided Practice: A form of practice in which students practice the new skill or concept with support from the teacher or peers</a:t>
            </a:r>
          </a:p>
          <a:p>
            <a:pPr marL="0" indent="0">
              <a:buNone/>
            </a:pPr>
            <a:endParaRPr lang="en-US" dirty="0"/>
          </a:p>
          <a:p>
            <a:pPr marL="0" indent="0">
              <a:buNone/>
            </a:pPr>
            <a:r>
              <a:rPr lang="en-US" dirty="0"/>
              <a:t>Independent Practice: A form of practice in which students independently apply what they have learned without support from the teacher or peers</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039835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numCol="2"/>
          <a:lstStyle/>
          <a:p>
            <a:pPr marL="0" marR="0" indent="0">
              <a:lnSpc>
                <a:spcPct val="107000"/>
              </a:lnSpc>
              <a:spcBef>
                <a:spcPts val="0"/>
              </a:spcBef>
              <a:spcAft>
                <a:spcPts val="800"/>
              </a:spcAft>
              <a:buNone/>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1. Examine the list of activities below and sort them into I do, we do, you do.   </a:t>
            </a:r>
            <a:endParaRPr lang="en-US" sz="1800" i="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create their own fables</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teacher models how to find the moral using simple examples from common fairytales and fables.	</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teacher shares simple fairytales and fables and asks students to share the moral and key details that helped them determine the moral.  </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write the moral or lesson being demonstrated in the story</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teacher reads a fable out loud and ask students questions.</a:t>
            </a:r>
          </a:p>
          <a:p>
            <a:pPr marL="0" marR="0" lvl="0" indent="0">
              <a:lnSpc>
                <a:spcPct val="107000"/>
              </a:lnSpc>
              <a:spcBef>
                <a:spcPts val="0"/>
              </a:spcBef>
              <a:spcAft>
                <a:spcPts val="0"/>
              </a:spcAft>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ask and respond to questions about the fable. </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choose a fable to read.</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teacher provides students with a short history of fables and oral traditions</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Students draw a picture from the fable to show the main character learning the lesson or moral</a:t>
            </a:r>
          </a:p>
          <a:p>
            <a:pPr marL="342900" marR="0" lvl="0" indent="-342900">
              <a:lnSpc>
                <a:spcPct val="107000"/>
              </a:lnSpc>
              <a:spcBef>
                <a:spcPts val="0"/>
              </a:spcBef>
              <a:spcAft>
                <a:spcPts val="800"/>
              </a:spcAft>
              <a:buFont typeface="Symbol" panose="05050102010706020507" pitchFamily="18" charset="2"/>
              <a:buChar char=""/>
            </a:pPr>
            <a:r>
              <a:rPr lang="en-US" sz="1200" dirty="0">
                <a:latin typeface="Calibri" panose="020F0502020204030204" pitchFamily="34" charset="0"/>
                <a:ea typeface="Calibri" panose="020F0502020204030204" pitchFamily="34" charset="0"/>
                <a:cs typeface="Times New Roman" panose="02020603050405020304" pitchFamily="18" charset="0"/>
              </a:rPr>
              <a:t>The teacher lectures on the moral of a story and provides a clear definition of the moral of a story</a:t>
            </a:r>
          </a:p>
          <a:p>
            <a:pPr marL="342900" marR="0" lvl="0" indent="-342900">
              <a:lnSpc>
                <a:spcPct val="107000"/>
              </a:lnSpc>
              <a:spcBef>
                <a:spcPts val="0"/>
              </a:spcBef>
              <a:spcAft>
                <a:spcPts val="800"/>
              </a:spcAft>
              <a:buFont typeface="Symbol" panose="05050102010706020507" pitchFamily="18" charset="2"/>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2. Why is scaffolding important?</a:t>
            </a: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2U6 Template" id="{AF0A3B9D-A4D4-43B9-877C-DC7685DF529F}" vid="{24BCECEA-A865-4364-8D35-4F287E7D5D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C2U6 Template</Template>
  <TotalTime>446</TotalTime>
  <Words>585</Words>
  <Application>Microsoft Office PowerPoint</Application>
  <PresentationFormat>Widescreen</PresentationFormat>
  <Paragraphs>48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Instructional Practices| Unit 6: Instructional Alignment| Lesson 6.07</vt:lpstr>
      <vt:lpstr>TEKS Standards &amp; Objectives</vt:lpstr>
      <vt:lpstr>Bellringer</vt:lpstr>
      <vt:lpstr>Vocabulary</vt:lpstr>
      <vt:lpstr>Vocabulary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6.07: Scaffolding a Lesson | Intro to Gradual Release</dc:title>
  <dc:subject>Lesson 6.07: Scaffolding a Lesson | Intro to Gradual Release</dc:subject>
  <dc:creator>Texas Education Agency</dc:creator>
  <cp:lastModifiedBy>London White</cp:lastModifiedBy>
  <cp:revision>2</cp:revision>
  <dcterms:created xsi:type="dcterms:W3CDTF">2022-09-17T18:06:28Z</dcterms:created>
  <dcterms:modified xsi:type="dcterms:W3CDTF">2023-08-31T04:39:41Z</dcterms:modified>
</cp:coreProperties>
</file>
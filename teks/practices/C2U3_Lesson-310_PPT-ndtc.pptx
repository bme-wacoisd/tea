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8" r:id="rId2"/>
  </p:sldMasterIdLst>
  <p:notesMasterIdLst>
    <p:notesMasterId r:id="rId12"/>
  </p:notesMasterIdLst>
  <p:sldIdLst>
    <p:sldId id="285" r:id="rId3"/>
    <p:sldId id="263" r:id="rId4"/>
    <p:sldId id="258" r:id="rId5"/>
    <p:sldId id="286" r:id="rId6"/>
    <p:sldId id="288" r:id="rId7"/>
    <p:sldId id="287" r:id="rId8"/>
    <p:sldId id="289" r:id="rId9"/>
    <p:sldId id="29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eper, Martha" initials="HM" lastIdx="2" clrIdx="0">
    <p:extLst>
      <p:ext uri="{19B8F6BF-5375-455C-9EA6-DF929625EA0E}">
        <p15:presenceInfo xmlns:p15="http://schemas.microsoft.com/office/powerpoint/2012/main" userId="S::mhoeper@rti.org::ff51605c-305b-4384-af24-13ba70b4092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17171"/>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799155-6B77-42E5-9DD8-39CAF2FD2A00}" v="1" dt="2023-08-31T01:52:51.8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pbell, Todd" userId="43137730-3d15-4f48-aca9-8a1b23a4a048" providerId="ADAL" clId="{20615508-6E48-491C-B421-A9006ED6BE95}"/>
    <pc:docChg chg="custSel modSld">
      <pc:chgData name="Campbell, Todd" userId="43137730-3d15-4f48-aca9-8a1b23a4a048" providerId="ADAL" clId="{20615508-6E48-491C-B421-A9006ED6BE95}" dt="2022-12-30T00:45:16.897" v="14" actId="20577"/>
      <pc:docMkLst>
        <pc:docMk/>
      </pc:docMkLst>
      <pc:sldChg chg="modSp mod">
        <pc:chgData name="Campbell, Todd" userId="43137730-3d15-4f48-aca9-8a1b23a4a048" providerId="ADAL" clId="{20615508-6E48-491C-B421-A9006ED6BE95}" dt="2022-12-30T00:45:16.897" v="14" actId="20577"/>
        <pc:sldMkLst>
          <pc:docMk/>
          <pc:sldMk cId="1333249988" sldId="264"/>
        </pc:sldMkLst>
        <pc:spChg chg="mod">
          <ac:chgData name="Campbell, Todd" userId="43137730-3d15-4f48-aca9-8a1b23a4a048" providerId="ADAL" clId="{20615508-6E48-491C-B421-A9006ED6BE95}" dt="2022-12-30T00:45:16.897" v="14" actId="20577"/>
          <ac:spMkLst>
            <pc:docMk/>
            <pc:sldMk cId="1333249988" sldId="264"/>
            <ac:spMk id="3" creationId="{3472F971-CD4B-4510-ACDB-B53B305ED545}"/>
          </ac:spMkLst>
        </pc:spChg>
      </pc:sldChg>
    </pc:docChg>
  </pc:docChgLst>
  <pc:docChgLst>
    <pc:chgData name="White (she/her), Whitney" userId="65f39021-2f1d-4d8b-87dc-b123826f65bf" providerId="ADAL" clId="{DA799155-6B77-42E5-9DD8-39CAF2FD2A00}"/>
    <pc:docChg chg="modSld">
      <pc:chgData name="White (she/her), Whitney" userId="65f39021-2f1d-4d8b-87dc-b123826f65bf" providerId="ADAL" clId="{DA799155-6B77-42E5-9DD8-39CAF2FD2A00}" dt="2023-08-31T01:53:09.543" v="11" actId="20577"/>
      <pc:docMkLst>
        <pc:docMk/>
      </pc:docMkLst>
      <pc:sldChg chg="modSp mod">
        <pc:chgData name="White (she/her), Whitney" userId="65f39021-2f1d-4d8b-87dc-b123826f65bf" providerId="ADAL" clId="{DA799155-6B77-42E5-9DD8-39CAF2FD2A00}" dt="2023-08-31T01:53:09.543" v="11" actId="20577"/>
        <pc:sldMkLst>
          <pc:docMk/>
          <pc:sldMk cId="1493688635" sldId="263"/>
        </pc:sldMkLst>
        <pc:spChg chg="mod">
          <ac:chgData name="White (she/her), Whitney" userId="65f39021-2f1d-4d8b-87dc-b123826f65bf" providerId="ADAL" clId="{DA799155-6B77-42E5-9DD8-39CAF2FD2A00}" dt="2023-08-31T01:53:09.543" v="11" actId="20577"/>
          <ac:spMkLst>
            <pc:docMk/>
            <pc:sldMk cId="1493688635" sldId="263"/>
            <ac:spMk id="3" creationId="{56C7EF45-93A0-4A4D-A5C4-7D95D33E6706}"/>
          </ac:spMkLst>
        </pc:spChg>
      </pc:sldChg>
      <pc:sldChg chg="addSp modSp mod">
        <pc:chgData name="White (she/her), Whitney" userId="65f39021-2f1d-4d8b-87dc-b123826f65bf" providerId="ADAL" clId="{DA799155-6B77-42E5-9DD8-39CAF2FD2A00}" dt="2023-08-31T01:52:56.378" v="3" actId="1076"/>
        <pc:sldMkLst>
          <pc:docMk/>
          <pc:sldMk cId="3976098008" sldId="285"/>
        </pc:sldMkLst>
        <pc:spChg chg="mod">
          <ac:chgData name="White (she/her), Whitney" userId="65f39021-2f1d-4d8b-87dc-b123826f65bf" providerId="ADAL" clId="{DA799155-6B77-42E5-9DD8-39CAF2FD2A00}" dt="2023-08-31T01:52:56.378" v="3" actId="1076"/>
          <ac:spMkLst>
            <pc:docMk/>
            <pc:sldMk cId="3976098008" sldId="285"/>
            <ac:spMk id="2" creationId="{BFFCF5BD-F8FF-4A67-A8B6-EBB21E79279B}"/>
          </ac:spMkLst>
        </pc:spChg>
        <pc:spChg chg="add mod">
          <ac:chgData name="White (she/her), Whitney" userId="65f39021-2f1d-4d8b-87dc-b123826f65bf" providerId="ADAL" clId="{DA799155-6B77-42E5-9DD8-39CAF2FD2A00}" dt="2023-08-31T01:52:55.036" v="2" actId="1076"/>
          <ac:spMkLst>
            <pc:docMk/>
            <pc:sldMk cId="3976098008" sldId="285"/>
            <ac:spMk id="4" creationId="{7B31F855-588E-114D-7284-BEB8EC452A6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solidFill>
                  <a:srgbClr val="717171"/>
                </a:solidFill>
              </a:defRPr>
            </a:lvl1pPr>
          </a:lstStyle>
          <a:p>
            <a:fld id="{95F45DF0-00B2-468D-ADF1-6351EEFB9CD7}" type="datetime1">
              <a:rPr lang="en-US" smtClean="0"/>
              <a:pPr/>
              <a:t>8/30/2023</a:t>
            </a:fld>
            <a:endParaRPr lang="en-US" dirty="0"/>
          </a:p>
        </p:txBody>
      </p:sp>
      <p:pic>
        <p:nvPicPr>
          <p:cNvPr id="9" name="Picture 8" descr="Logo: Texas Education Agency ">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 for Texas Education Agency (TEA) Education and Training ">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solidFill>
                  <a:srgbClr val="717171"/>
                </a:solidFill>
              </a:defRPr>
            </a:lvl1pPr>
          </a:lstStyle>
          <a:p>
            <a:fld id="{A50A4456-6D77-4237-8218-40872579093E}" type="datetime1">
              <a:rPr lang="en-US" smtClean="0"/>
              <a:pPr/>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lvl1pPr>
              <a:defRPr>
                <a:solidFill>
                  <a:srgbClr val="717171"/>
                </a:solidFill>
              </a:defRPr>
            </a:lvl1p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9FAF0A51-8860-45B4-B3C2-078DBFFE3F11}"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0EC8E0D3-5DEF-4424-A66B-248169F8979E}"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084D87F3-74DF-4702-8D1B-0BA8CE9CA57F}"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6BE42763-A1D0-477C-A610-38D23465485E}"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3293117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3310489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747406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0332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413611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18471711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717171"/>
                </a:solidFill>
              </a:defRPr>
            </a:lvl1pPr>
          </a:lstStyle>
          <a:p>
            <a:fld id="{1B00EFE5-A68C-4E4B-9D40-F26D6ED979C1}" type="datetime1">
              <a:rPr lang="en-US" smtClean="0"/>
              <a:pPr/>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717171"/>
                </a:solidFill>
              </a:defRPr>
            </a:lvl1pPr>
          </a:lstStyle>
          <a:p>
            <a:endParaRPr lang="en-US"/>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717171"/>
                </a:solidFill>
              </a:defRPr>
            </a:lvl1pPr>
          </a:lstStyle>
          <a:p>
            <a:fld id="{E2D56C8B-F564-4051-AFED-A78F1C6A2F0E}" type="slidenum">
              <a:rPr lang="en-US" smtClean="0"/>
              <a:pPr/>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458837231"/>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8224"/>
            <a:ext cx="9144000" cy="370300"/>
          </a:xfrm>
        </p:spPr>
        <p:txBody>
          <a:bodyPr>
            <a:normAutofit/>
          </a:bodyPr>
          <a:lstStyle/>
          <a:p>
            <a:pPr algn="l"/>
            <a:r>
              <a:rPr lang="en-US" sz="1800" dirty="0"/>
              <a:t>Instructional Practices| Unit 3: Knowledge of Students to Drive Instruction | Lesson 3.10</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Using Information About Students from Families to Make Instructional Decisions</a:t>
            </a:r>
          </a:p>
        </p:txBody>
      </p:sp>
      <p:sp>
        <p:nvSpPr>
          <p:cNvPr id="4" name="TextBox 3">
            <a:extLst>
              <a:ext uri="{FF2B5EF4-FFF2-40B4-BE49-F238E27FC236}">
                <a16:creationId xmlns:a16="http://schemas.microsoft.com/office/drawing/2014/main" id="{7B31F855-588E-114D-7284-BEB8EC452A6D}"/>
              </a:ext>
            </a:extLst>
          </p:cNvPr>
          <p:cNvSpPr txBox="1"/>
          <p:nvPr/>
        </p:nvSpPr>
        <p:spPr>
          <a:xfrm>
            <a:off x="0" y="6428524"/>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76098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970F8-564A-4E6A-B0CE-1158FFB9587E}"/>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56C7EF45-93A0-4A4D-A5C4-7D95D33E6706}"/>
              </a:ext>
            </a:extLst>
          </p:cNvPr>
          <p:cNvSpPr>
            <a:spLocks noGrp="1"/>
          </p:cNvSpPr>
          <p:nvPr>
            <p:ph idx="1"/>
          </p:nvPr>
        </p:nvSpPr>
        <p:spPr/>
        <p:txBody>
          <a:bodyPr/>
          <a:lstStyle/>
          <a:p>
            <a:pPr marL="0" indent="0">
              <a:buNone/>
            </a:pPr>
            <a:r>
              <a:rPr lang="en-US"/>
              <a:t>TEKS 4D, 5A-B</a:t>
            </a:r>
            <a:endParaRPr lang="en-US" dirty="0"/>
          </a:p>
          <a:p>
            <a:pPr marL="0" indent="0">
              <a:buNone/>
            </a:pPr>
            <a:endParaRPr lang="en-US" dirty="0"/>
          </a:p>
          <a:p>
            <a:pPr marL="0" indent="0">
              <a:buNone/>
            </a:pPr>
            <a:r>
              <a:rPr lang="en-US" dirty="0"/>
              <a:t>The student will…</a:t>
            </a:r>
          </a:p>
          <a:p>
            <a:r>
              <a:rPr lang="en-US" sz="2800" dirty="0">
                <a:effectLst/>
                <a:latin typeface="Calibri" panose="020F0502020204030204" pitchFamily="34" charset="0"/>
                <a:ea typeface="Calibri" panose="020F0502020204030204" pitchFamily="34" charset="0"/>
                <a:cs typeface="Arial" panose="020B0604020202020204" pitchFamily="34" charset="0"/>
              </a:rPr>
              <a:t>Analyze family communication tracking log and/or family interview to determine funds of knowledge from a family</a:t>
            </a:r>
            <a:r>
              <a:rPr lang="en-US" dirty="0"/>
              <a:t>. </a:t>
            </a:r>
          </a:p>
          <a:p>
            <a:r>
              <a:rPr lang="en-US" sz="2800" dirty="0">
                <a:effectLst/>
                <a:latin typeface="Calibri" panose="020F0502020204030204" pitchFamily="34" charset="0"/>
                <a:ea typeface="Calibri" panose="020F0502020204030204" pitchFamily="34" charset="0"/>
                <a:cs typeface="Arial" panose="020B0604020202020204" pitchFamily="34" charset="0"/>
              </a:rPr>
              <a:t>Use data from tracking log and/or interview to make or select and justify instructional decisions</a:t>
            </a:r>
            <a:r>
              <a:rPr lang="en-US" dirty="0"/>
              <a:t>.</a:t>
            </a:r>
          </a:p>
        </p:txBody>
      </p:sp>
      <p:sp>
        <p:nvSpPr>
          <p:cNvPr id="5" name="Slide Number Placeholder 4">
            <a:extLst>
              <a:ext uri="{FF2B5EF4-FFF2-40B4-BE49-F238E27FC236}">
                <a16:creationId xmlns:a16="http://schemas.microsoft.com/office/drawing/2014/main" id="{ADB867E1-EAB1-41FE-AFBC-C7A8F3C7170D}"/>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1493688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0FBBE-6C0B-4F7B-8E9F-A1BD243C7929}"/>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1DE4002F-1460-4577-9FE8-9FE653C73C23}"/>
              </a:ext>
            </a:extLst>
          </p:cNvPr>
          <p:cNvSpPr>
            <a:spLocks noGrp="1"/>
          </p:cNvSpPr>
          <p:nvPr>
            <p:ph idx="1"/>
          </p:nvPr>
        </p:nvSpPr>
        <p:spPr/>
        <p:txBody>
          <a:bodyPr/>
          <a:lstStyle/>
          <a:p>
            <a:pPr marL="514350" indent="-514350">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What are some ways that teachers can learn more about students’ funds of knowledge?</a:t>
            </a:r>
            <a:r>
              <a:rPr lang="en-US" dirty="0"/>
              <a:t>  </a:t>
            </a:r>
          </a:p>
          <a:p>
            <a:pPr marL="514350" indent="-514350">
              <a:buFont typeface="+mj-lt"/>
              <a:buAutoNum type="arabicPeriod"/>
            </a:pPr>
            <a:endParaRPr lang="en-US" dirty="0"/>
          </a:p>
          <a:p>
            <a:pPr marL="514350" indent="-514350">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Why is it important for teachers to develop their knowledge of students’ funds of knowledge?</a:t>
            </a:r>
          </a:p>
          <a:p>
            <a:pPr marL="514350" indent="-514350">
              <a:buFont typeface="+mj-lt"/>
              <a:buAutoNum type="arabicPeriod"/>
            </a:pP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514350" indent="-514350">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What are some ways that teachers can use their knowledge of students’ funds of knowledge to design instruction?</a:t>
            </a:r>
            <a:r>
              <a:rPr lang="en-US" dirty="0"/>
              <a:t> </a:t>
            </a:r>
          </a:p>
        </p:txBody>
      </p:sp>
      <p:sp>
        <p:nvSpPr>
          <p:cNvPr id="5" name="Slide Number Placeholder 4">
            <a:extLst>
              <a:ext uri="{FF2B5EF4-FFF2-40B4-BE49-F238E27FC236}">
                <a16:creationId xmlns:a16="http://schemas.microsoft.com/office/drawing/2014/main" id="{11E36C73-C163-4034-8F9A-E812F74DAA68}"/>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869051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EE1F3-739C-4CB5-A0DD-95D10876933D}"/>
              </a:ext>
            </a:extLst>
          </p:cNvPr>
          <p:cNvSpPr>
            <a:spLocks noGrp="1"/>
          </p:cNvSpPr>
          <p:nvPr>
            <p:ph type="title"/>
          </p:nvPr>
        </p:nvSpPr>
        <p:spPr/>
        <p:txBody>
          <a:bodyPr>
            <a:normAutofit/>
          </a:bodyPr>
          <a:lstStyle/>
          <a:p>
            <a:r>
              <a:rPr lang="en-US" sz="4000" dirty="0"/>
              <a:t>Teachers can become more familiar with their students’ funds of knowledge through:</a:t>
            </a:r>
          </a:p>
        </p:txBody>
      </p:sp>
      <p:sp>
        <p:nvSpPr>
          <p:cNvPr id="3" name="Content Placeholder 2">
            <a:extLst>
              <a:ext uri="{FF2B5EF4-FFF2-40B4-BE49-F238E27FC236}">
                <a16:creationId xmlns:a16="http://schemas.microsoft.com/office/drawing/2014/main" id="{1D28AF2A-FA7D-410D-8D4A-3C5D885FDF5F}"/>
              </a:ext>
            </a:extLst>
          </p:cNvPr>
          <p:cNvSpPr>
            <a:spLocks noGrp="1"/>
          </p:cNvSpPr>
          <p:nvPr>
            <p:ph idx="1"/>
          </p:nvPr>
        </p:nvSpPr>
        <p:spPr>
          <a:xfrm>
            <a:off x="1619074" y="1825625"/>
            <a:ext cx="9734725" cy="4351338"/>
          </a:xfrm>
        </p:spPr>
        <p:txBody>
          <a:bodyPr/>
          <a:lstStyle/>
          <a:p>
            <a:r>
              <a:rPr lang="en-US" dirty="0"/>
              <a:t>Home visits</a:t>
            </a:r>
          </a:p>
          <a:p>
            <a:r>
              <a:rPr lang="en-US" dirty="0"/>
              <a:t>Family interviews</a:t>
            </a:r>
          </a:p>
          <a:p>
            <a:r>
              <a:rPr lang="en-US" dirty="0"/>
              <a:t>Weekly emails/updates</a:t>
            </a:r>
          </a:p>
          <a:p>
            <a:r>
              <a:rPr lang="en-US" dirty="0"/>
              <a:t>Student-generated photo essays or journals</a:t>
            </a:r>
          </a:p>
          <a:p>
            <a:r>
              <a:rPr lang="en-US" dirty="0"/>
              <a:t>Inviting families on field trips, class events, or student presentations</a:t>
            </a:r>
          </a:p>
          <a:p>
            <a:r>
              <a:rPr lang="en-US" dirty="0"/>
              <a:t>Using communication apps</a:t>
            </a:r>
          </a:p>
          <a:p>
            <a:r>
              <a:rPr lang="en-US" dirty="0"/>
              <a:t>Family communication tracking logs</a:t>
            </a:r>
          </a:p>
          <a:p>
            <a:endParaRPr lang="en-US" dirty="0"/>
          </a:p>
          <a:p>
            <a:endParaRPr lang="en-US" dirty="0"/>
          </a:p>
        </p:txBody>
      </p:sp>
      <p:sp>
        <p:nvSpPr>
          <p:cNvPr id="5" name="Slide Number Placeholder 4">
            <a:extLst>
              <a:ext uri="{FF2B5EF4-FFF2-40B4-BE49-F238E27FC236}">
                <a16:creationId xmlns:a16="http://schemas.microsoft.com/office/drawing/2014/main" id="{114FC235-1B0D-4FF6-BDED-98184AC51E60}"/>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188525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7732A-A93D-467E-9CDB-B4A2E0E7B750}"/>
              </a:ext>
            </a:extLst>
          </p:cNvPr>
          <p:cNvSpPr>
            <a:spLocks noGrp="1"/>
          </p:cNvSpPr>
          <p:nvPr>
            <p:ph type="title"/>
          </p:nvPr>
        </p:nvSpPr>
        <p:spPr/>
        <p:txBody>
          <a:bodyPr/>
          <a:lstStyle/>
          <a:p>
            <a:r>
              <a:rPr lang="en-US" dirty="0"/>
              <a:t>It’s important for teachers to learn about students’ funds of knowledge to:</a:t>
            </a:r>
          </a:p>
        </p:txBody>
      </p:sp>
      <p:sp>
        <p:nvSpPr>
          <p:cNvPr id="3" name="Content Placeholder 2">
            <a:extLst>
              <a:ext uri="{FF2B5EF4-FFF2-40B4-BE49-F238E27FC236}">
                <a16:creationId xmlns:a16="http://schemas.microsoft.com/office/drawing/2014/main" id="{A947116E-BA7D-4A3F-8BDF-5C87CD816DED}"/>
              </a:ext>
            </a:extLst>
          </p:cNvPr>
          <p:cNvSpPr>
            <a:spLocks noGrp="1"/>
          </p:cNvSpPr>
          <p:nvPr>
            <p:ph idx="1"/>
          </p:nvPr>
        </p:nvSpPr>
        <p:spPr/>
        <p:txBody>
          <a:bodyPr>
            <a:normAutofit/>
          </a:bodyPr>
          <a:lstStyle/>
          <a:p>
            <a:r>
              <a:rPr lang="en-US" dirty="0"/>
              <a:t>Make students feel seen</a:t>
            </a:r>
          </a:p>
          <a:p>
            <a:r>
              <a:rPr lang="en-US" dirty="0"/>
              <a:t>Make, select, or justify instructional decisions</a:t>
            </a:r>
          </a:p>
        </p:txBody>
      </p:sp>
      <p:sp>
        <p:nvSpPr>
          <p:cNvPr id="5" name="Slide Number Placeholder 4">
            <a:extLst>
              <a:ext uri="{FF2B5EF4-FFF2-40B4-BE49-F238E27FC236}">
                <a16:creationId xmlns:a16="http://schemas.microsoft.com/office/drawing/2014/main" id="{6117EF73-EF8F-4242-82ED-0E3D2B56634A}"/>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668901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A84D9-C2FE-4944-892F-8242D8968453}"/>
              </a:ext>
            </a:extLst>
          </p:cNvPr>
          <p:cNvSpPr>
            <a:spLocks noGrp="1"/>
          </p:cNvSpPr>
          <p:nvPr>
            <p:ph type="title"/>
          </p:nvPr>
        </p:nvSpPr>
        <p:spPr>
          <a:xfrm>
            <a:off x="595600" y="365125"/>
            <a:ext cx="10515600" cy="1325563"/>
          </a:xfrm>
        </p:spPr>
        <p:txBody>
          <a:bodyPr>
            <a:normAutofit/>
          </a:bodyPr>
          <a:lstStyle/>
          <a:p>
            <a:r>
              <a:rPr lang="en-US" sz="4000" dirty="0"/>
              <a:t>Teachers can use their familiarity with students’ funds of knowledge to design instruction with:</a:t>
            </a:r>
          </a:p>
        </p:txBody>
      </p:sp>
      <p:sp>
        <p:nvSpPr>
          <p:cNvPr id="3" name="Content Placeholder 2">
            <a:extLst>
              <a:ext uri="{FF2B5EF4-FFF2-40B4-BE49-F238E27FC236}">
                <a16:creationId xmlns:a16="http://schemas.microsoft.com/office/drawing/2014/main" id="{5D8AC9ED-33C5-489F-80DC-4582427D952B}"/>
              </a:ext>
            </a:extLst>
          </p:cNvPr>
          <p:cNvSpPr>
            <a:spLocks noGrp="1"/>
          </p:cNvSpPr>
          <p:nvPr>
            <p:ph idx="1"/>
          </p:nvPr>
        </p:nvSpPr>
        <p:spPr>
          <a:xfrm>
            <a:off x="595600" y="1825625"/>
            <a:ext cx="10515600" cy="4351338"/>
          </a:xfrm>
        </p:spPr>
        <p:txBody>
          <a:bodyPr>
            <a:normAutofit/>
          </a:bodyPr>
          <a:lstStyle/>
          <a:p>
            <a:r>
              <a:rPr lang="en-US" dirty="0"/>
              <a:t>Intentional grouping</a:t>
            </a:r>
          </a:p>
          <a:p>
            <a:r>
              <a:rPr lang="en-US" dirty="0"/>
              <a:t>Relevant examples</a:t>
            </a:r>
          </a:p>
          <a:p>
            <a:r>
              <a:rPr lang="en-US" dirty="0"/>
              <a:t>Meaningful activities</a:t>
            </a:r>
          </a:p>
          <a:p>
            <a:r>
              <a:rPr lang="en-US" dirty="0"/>
              <a:t>Pertinent classroom discussions</a:t>
            </a:r>
          </a:p>
          <a:p>
            <a:r>
              <a:rPr lang="en-US" dirty="0"/>
              <a:t>An emphasis on students’ strengths, interests, and curiosities</a:t>
            </a:r>
          </a:p>
        </p:txBody>
      </p:sp>
      <p:sp>
        <p:nvSpPr>
          <p:cNvPr id="5" name="Slide Number Placeholder 4">
            <a:extLst>
              <a:ext uri="{FF2B5EF4-FFF2-40B4-BE49-F238E27FC236}">
                <a16:creationId xmlns:a16="http://schemas.microsoft.com/office/drawing/2014/main" id="{E49176C0-86AA-4A15-A762-08BEF772A54C}"/>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09977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F88A7-5050-437E-9D70-2EB2547E60DD}"/>
              </a:ext>
            </a:extLst>
          </p:cNvPr>
          <p:cNvSpPr>
            <a:spLocks noGrp="1"/>
          </p:cNvSpPr>
          <p:nvPr>
            <p:ph type="title"/>
          </p:nvPr>
        </p:nvSpPr>
        <p:spPr/>
        <p:txBody>
          <a:bodyPr/>
          <a:lstStyle/>
          <a:p>
            <a:r>
              <a:rPr lang="en-US" dirty="0"/>
              <a:t>Family Interview Analysis</a:t>
            </a:r>
          </a:p>
        </p:txBody>
      </p:sp>
      <p:sp>
        <p:nvSpPr>
          <p:cNvPr id="3" name="Content Placeholder 2">
            <a:extLst>
              <a:ext uri="{FF2B5EF4-FFF2-40B4-BE49-F238E27FC236}">
                <a16:creationId xmlns:a16="http://schemas.microsoft.com/office/drawing/2014/main" id="{415BE161-DE55-47D9-9C42-36AC6CD96416}"/>
              </a:ext>
            </a:extLst>
          </p:cNvPr>
          <p:cNvSpPr>
            <a:spLocks noGrp="1"/>
          </p:cNvSpPr>
          <p:nvPr>
            <p:ph idx="1"/>
          </p:nvPr>
        </p:nvSpPr>
        <p:spPr/>
        <p:txBody>
          <a:bodyPr>
            <a:normAutofit/>
          </a:bodyPr>
          <a:lstStyle/>
          <a:p>
            <a:pPr marL="0" indent="0">
              <a:buNone/>
            </a:pPr>
            <a:r>
              <a:rPr lang="en-US" dirty="0"/>
              <a:t>Read the scenario below and consider what Mr. Dale has learned about his student Raul. </a:t>
            </a:r>
          </a:p>
          <a:p>
            <a:pPr marL="0" indent="0">
              <a:buNone/>
            </a:pPr>
            <a:endParaRPr lang="en-US" sz="1600" dirty="0"/>
          </a:p>
          <a:p>
            <a:pPr marL="457200" lvl="1" indent="0">
              <a:buNone/>
            </a:pPr>
            <a:r>
              <a:rPr lang="en-US" sz="2400" i="1" dirty="0">
                <a:effectLst/>
                <a:latin typeface="Calibri" panose="020F0502020204030204" pitchFamily="34" charset="0"/>
                <a:ea typeface="Calibri" panose="020F0502020204030204" pitchFamily="34" charset="0"/>
                <a:cs typeface="Arial" panose="020B0604020202020204" pitchFamily="34" charset="0"/>
              </a:rPr>
              <a:t>The school year has just begun, and Mr. Dale has all new students in his third-grade class.  He is in the process of conducting both in-person and virtual family interviews to meet families and to learn more about life at home for his students.  The parents of one his students, Raul, shared during their interview that while Raul likes to read, he prefers graphic novels and comic books.  Raul’s parents shared with Mr. Dale that Raul is a quiet boy who likes being with friends and family.  At home and at family gatherings, Spanish is the exclusive language used, but Raul speaks in both English and Spanish when he plays with his close friends.</a:t>
            </a:r>
            <a:r>
              <a:rPr lang="en-US" i="1" dirty="0"/>
              <a:t> </a:t>
            </a:r>
          </a:p>
        </p:txBody>
      </p:sp>
      <p:sp>
        <p:nvSpPr>
          <p:cNvPr id="5" name="Slide Number Placeholder 4">
            <a:extLst>
              <a:ext uri="{FF2B5EF4-FFF2-40B4-BE49-F238E27FC236}">
                <a16:creationId xmlns:a16="http://schemas.microsoft.com/office/drawing/2014/main" id="{D37AC89B-6937-43B2-9D4B-7E4C5A67E690}"/>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263261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7732A-A93D-467E-9CDB-B4A2E0E7B750}"/>
              </a:ext>
            </a:extLst>
          </p:cNvPr>
          <p:cNvSpPr>
            <a:spLocks noGrp="1"/>
          </p:cNvSpPr>
          <p:nvPr>
            <p:ph type="title"/>
          </p:nvPr>
        </p:nvSpPr>
        <p:spPr/>
        <p:txBody>
          <a:bodyPr/>
          <a:lstStyle/>
          <a:p>
            <a:r>
              <a:rPr lang="en-US" dirty="0"/>
              <a:t>Parent Communication Success Criteria</a:t>
            </a:r>
          </a:p>
        </p:txBody>
      </p:sp>
      <p:sp>
        <p:nvSpPr>
          <p:cNvPr id="3" name="Content Placeholder 2">
            <a:extLst>
              <a:ext uri="{FF2B5EF4-FFF2-40B4-BE49-F238E27FC236}">
                <a16:creationId xmlns:a16="http://schemas.microsoft.com/office/drawing/2014/main" id="{A947116E-BA7D-4A3F-8BDF-5C87CD816DED}"/>
              </a:ext>
            </a:extLst>
          </p:cNvPr>
          <p:cNvSpPr>
            <a:spLocks noGrp="1"/>
          </p:cNvSpPr>
          <p:nvPr>
            <p:ph idx="1"/>
          </p:nvPr>
        </p:nvSpPr>
        <p:spPr/>
        <p:txBody>
          <a:bodyPr>
            <a:normAutofit/>
          </a:bodyPr>
          <a:lstStyle/>
          <a:p>
            <a:pPr marL="571500" indent="-571500">
              <a:buFont typeface="+mj-lt"/>
              <a:buAutoNum type="romanUcPeriod"/>
            </a:pPr>
            <a:r>
              <a:rPr lang="en-US" b="1" dirty="0"/>
              <a:t>Respect time and preferred method of contact: </a:t>
            </a:r>
            <a:r>
              <a:rPr lang="en-US" dirty="0"/>
              <a:t>Consider what requires a meeting, call, email, or text.</a:t>
            </a:r>
          </a:p>
          <a:p>
            <a:pPr marL="571500" indent="-571500">
              <a:buFont typeface="+mj-lt"/>
              <a:buAutoNum type="romanUcPeriod"/>
            </a:pPr>
            <a:r>
              <a:rPr lang="en-US" b="1" dirty="0"/>
              <a:t>Plan ahead: </a:t>
            </a:r>
            <a:r>
              <a:rPr lang="en-US" dirty="0"/>
              <a:t>Ensure you have everything in place to have a productive meeting. This can include planning questions, preparing student work examples, arranging an interpreter, as needed.</a:t>
            </a:r>
          </a:p>
          <a:p>
            <a:pPr marL="571500" indent="-571500">
              <a:buFont typeface="+mj-lt"/>
              <a:buAutoNum type="romanUcPeriod"/>
            </a:pPr>
            <a:r>
              <a:rPr lang="en-US" b="1" dirty="0"/>
              <a:t>Develop a relationship with the parent/caregiver</a:t>
            </a:r>
          </a:p>
          <a:p>
            <a:pPr lvl="2"/>
            <a:r>
              <a:rPr lang="en-US" dirty="0"/>
              <a:t>Acknowledge that you both want the best for the student and seek out ways to collaborate to support their success.</a:t>
            </a:r>
          </a:p>
          <a:p>
            <a:pPr lvl="2"/>
            <a:r>
              <a:rPr lang="en-US" dirty="0"/>
              <a:t>Demonstrate professional behavior and language.</a:t>
            </a:r>
          </a:p>
          <a:p>
            <a:pPr lvl="2"/>
            <a:r>
              <a:rPr lang="en-US" dirty="0"/>
              <a:t>Listen actively and empathetically; avoid judgement.</a:t>
            </a:r>
          </a:p>
          <a:p>
            <a:endParaRPr lang="en-US" dirty="0"/>
          </a:p>
        </p:txBody>
      </p:sp>
      <p:sp>
        <p:nvSpPr>
          <p:cNvPr id="5" name="Slide Number Placeholder 4">
            <a:extLst>
              <a:ext uri="{FF2B5EF4-FFF2-40B4-BE49-F238E27FC236}">
                <a16:creationId xmlns:a16="http://schemas.microsoft.com/office/drawing/2014/main" id="{6117EF73-EF8F-4242-82ED-0E3D2B56634A}"/>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3327012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EA4D3-33A7-4D8F-AE5A-B006383DD21B}"/>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3472F971-CD4B-4510-ACDB-B53B305ED545}"/>
              </a:ext>
            </a:extLst>
          </p:cNvPr>
          <p:cNvSpPr>
            <a:spLocks noGrp="1"/>
          </p:cNvSpPr>
          <p:nvPr>
            <p:ph idx="1"/>
          </p:nvPr>
        </p:nvSpPr>
        <p:spPr>
          <a:xfrm>
            <a:off x="838200" y="1535185"/>
            <a:ext cx="10515600" cy="4641778"/>
          </a:xfrm>
        </p:spPr>
        <p:txBody>
          <a:bodyPr>
            <a:normAutofit fontScale="77500" lnSpcReduction="20000"/>
          </a:bodyPr>
          <a:lstStyle/>
          <a:p>
            <a:pPr marL="0" marR="0"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Use the following scenario to complete questions 1 and 2. </a:t>
            </a:r>
          </a:p>
          <a:p>
            <a:pPr marL="0" marR="0" indent="0">
              <a:lnSpc>
                <a:spcPct val="107000"/>
              </a:lnSpc>
              <a:spcBef>
                <a:spcPts val="0"/>
              </a:spcBef>
              <a:spcAft>
                <a:spcPts val="800"/>
              </a:spcAft>
              <a:buNone/>
            </a:pP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2000" i="1" dirty="0">
                <a:effectLst/>
                <a:latin typeface="Calibri" panose="020F0502020204030204" pitchFamily="34" charset="0"/>
                <a:ea typeface="Calibri" panose="020F0502020204030204" pitchFamily="34" charset="0"/>
                <a:cs typeface="Calibri" panose="020F0502020204030204" pitchFamily="34" charset="0"/>
              </a:rPr>
              <a:t>	During a round of family interviews conducted at the beginning of the school year, Mr. Taylor learned that Denise has a strong preference for working with a partner.  Her parents also shared that she is a hard worker but struggles in math.  Her mother is in the military and is often away from home for long stretches.  Her father is a nurse at the local hospital.  They’ve only lived in town for two years, but really enjoy the area and spend a lot of time exploring all of the family friend options offered within the community.  Outside of school, she loves Disney movies and butterflies.  One day, when Mr. Taylor noticed that Denise seemed very sleepy during class, he called and spoke with her father.  In his family communication tracking log, Mr. Taylor noted that Denise’s father told him that Denise did not get much sleep the previous night because his usual childcare had fallen through, and he had to take Denise to work with him for several hours.  He did, however, share that Denise also wants to be a nurse when she grows up, already knows and understands a lot about the profession, and plays nurse with the family pets.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mj-lt"/>
              <a:buAutoNum type="arabicPeriod"/>
            </a:pP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800"/>
              </a:spcAft>
              <a:buFont typeface="+mj-lt"/>
              <a:buAutoNum type="arabicPeriod"/>
            </a:pPr>
            <a:r>
              <a:rPr lang="en-US" sz="2000" dirty="0">
                <a:effectLst/>
                <a:latin typeface="Calibri" panose="020F0502020204030204" pitchFamily="34" charset="0"/>
                <a:ea typeface="Calibri" panose="020F0502020204030204" pitchFamily="34" charset="0"/>
                <a:cs typeface="Calibri" panose="020F0502020204030204" pitchFamily="34" charset="0"/>
              </a:rPr>
              <a:t>Analyze the data from the family interview and family communication tracking log to determine what you know about Denise and her funds of knowledge.</a:t>
            </a:r>
          </a:p>
          <a:p>
            <a:pPr marL="342900" marR="0" lvl="0" indent="-342900">
              <a:lnSpc>
                <a:spcPct val="107000"/>
              </a:lnSpc>
              <a:spcBef>
                <a:spcPts val="0"/>
              </a:spcBef>
              <a:spcAft>
                <a:spcPts val="800"/>
              </a:spcAft>
              <a:buFont typeface="+mj-lt"/>
              <a:buAutoNum type="arabicPeriod"/>
            </a:pP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nSpc>
                <a:spcPct val="107000"/>
              </a:lnSpc>
              <a:spcBef>
                <a:spcPts val="0"/>
              </a:spcBef>
              <a:spcAft>
                <a:spcPts val="800"/>
              </a:spcAft>
              <a:buFont typeface="+mj-lt"/>
              <a:buAutoNum type="arabicPeriod"/>
            </a:pPr>
            <a:r>
              <a:rPr lang="en-US" sz="2000" dirty="0">
                <a:effectLst/>
                <a:latin typeface="Calibri" panose="020F0502020204030204" pitchFamily="34" charset="0"/>
                <a:ea typeface="Calibri" panose="020F0502020204030204" pitchFamily="34" charset="0"/>
                <a:cs typeface="Calibri" panose="020F0502020204030204" pitchFamily="34" charset="0"/>
              </a:rPr>
              <a:t>Using data from the family interview and family communication tracking log to learn more about Denise and </a:t>
            </a:r>
            <a:r>
              <a:rPr lang="en-US" sz="2000">
                <a:effectLst/>
                <a:latin typeface="Calibri" panose="020F0502020204030204" pitchFamily="34" charset="0"/>
                <a:ea typeface="Calibri" panose="020F0502020204030204" pitchFamily="34" charset="0"/>
                <a:cs typeface="Calibri" panose="020F0502020204030204" pitchFamily="34" charset="0"/>
              </a:rPr>
              <a:t>the             funds </a:t>
            </a:r>
            <a:r>
              <a:rPr lang="en-US" sz="2000" dirty="0">
                <a:effectLst/>
                <a:latin typeface="Calibri" panose="020F0502020204030204" pitchFamily="34" charset="0"/>
                <a:ea typeface="Calibri" panose="020F0502020204030204" pitchFamily="34" charset="0"/>
                <a:cs typeface="Calibri" panose="020F0502020204030204" pitchFamily="34" charset="0"/>
              </a:rPr>
              <a:t>of knowledge she brings to the classroom, select and justify an instructional decision.</a:t>
            </a:r>
            <a:endParaRPr lang="en-US" dirty="0"/>
          </a:p>
        </p:txBody>
      </p:sp>
      <p:sp>
        <p:nvSpPr>
          <p:cNvPr id="5" name="Slide Number Placeholder 4">
            <a:extLst>
              <a:ext uri="{FF2B5EF4-FFF2-40B4-BE49-F238E27FC236}">
                <a16:creationId xmlns:a16="http://schemas.microsoft.com/office/drawing/2014/main" id="{1A42D33A-ACB1-4B18-A2F3-DBD50339526B}"/>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1333249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1804</TotalTime>
  <Words>803</Words>
  <Application>Microsoft Office PowerPoint</Application>
  <PresentationFormat>Widescreen</PresentationFormat>
  <Paragraphs>59</Paragraphs>
  <Slides>9</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9</vt:i4>
      </vt:variant>
    </vt:vector>
  </HeadingPairs>
  <TitlesOfParts>
    <vt:vector size="14" baseType="lpstr">
      <vt:lpstr>Arial</vt:lpstr>
      <vt:lpstr>Calibri</vt:lpstr>
      <vt:lpstr>Calibri Light</vt:lpstr>
      <vt:lpstr>Office Theme</vt:lpstr>
      <vt:lpstr>1_Office Theme</vt:lpstr>
      <vt:lpstr>Instructional Practices| Unit 3: Knowledge of Students to Drive Instruction | Lesson 3.10</vt:lpstr>
      <vt:lpstr>TEKS Standards &amp; Objectives</vt:lpstr>
      <vt:lpstr>Bellringer</vt:lpstr>
      <vt:lpstr>Teachers can become more familiar with their students’ funds of knowledge through:</vt:lpstr>
      <vt:lpstr>It’s important for teachers to learn about students’ funds of knowledge to:</vt:lpstr>
      <vt:lpstr>Teachers can use their familiarity with students’ funds of knowledge to design instruction with:</vt:lpstr>
      <vt:lpstr>Family Interview Analysis</vt:lpstr>
      <vt:lpstr>Parent Communication Success Criteria</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3.10: Using Information About Students from Families to Make Instructional Decisions</dc:title>
  <dc:subject>Lesson 3.10: Using Information About Students from Families to Make Instructional Decisions</dc:subject>
  <dc:creator>Texas Education Agency</dc:creator>
  <cp:lastModifiedBy>White (she/her), Whitney</cp:lastModifiedBy>
  <cp:revision>11</cp:revision>
  <dcterms:created xsi:type="dcterms:W3CDTF">2022-05-09T19:40:20Z</dcterms:created>
  <dcterms:modified xsi:type="dcterms:W3CDTF">2023-08-31T01:53:14Z</dcterms:modified>
</cp:coreProperties>
</file>
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6" r:id="rId6"/>
    <p:sldId id="264"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15800-6EC9-43C2-A6C0-63404CCD09CC}" v="13" dt="2023-01-31T17:02:32.5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14" autoAdjust="0"/>
  </p:normalViewPr>
  <p:slideViewPr>
    <p:cSldViewPr snapToGrid="0">
      <p:cViewPr varScale="1">
        <p:scale>
          <a:sx n="108" d="100"/>
          <a:sy n="108" d="100"/>
        </p:scale>
        <p:origin x="4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uette, W. Kyle" userId="c82f62dc-52dc-4188-bd8e-647bc9b55d9e" providerId="ADAL" clId="{C9915800-6EC9-43C2-A6C0-63404CCD09CC}"/>
    <pc:docChg chg="undo custSel addSld delSld modSld">
      <pc:chgData name="Canuette, W. Kyle" userId="c82f62dc-52dc-4188-bd8e-647bc9b55d9e" providerId="ADAL" clId="{C9915800-6EC9-43C2-A6C0-63404CCD09CC}" dt="2023-01-31T17:03:47.694" v="297" actId="27636"/>
      <pc:docMkLst>
        <pc:docMk/>
      </pc:docMkLst>
      <pc:sldChg chg="modSp mod">
        <pc:chgData name="Canuette, W. Kyle" userId="c82f62dc-52dc-4188-bd8e-647bc9b55d9e" providerId="ADAL" clId="{C9915800-6EC9-43C2-A6C0-63404CCD09CC}" dt="2023-01-31T16:42:00.322" v="9" actId="20577"/>
        <pc:sldMkLst>
          <pc:docMk/>
          <pc:sldMk cId="1482277026" sldId="256"/>
        </pc:sldMkLst>
        <pc:spChg chg="mod">
          <ac:chgData name="Canuette, W. Kyle" userId="c82f62dc-52dc-4188-bd8e-647bc9b55d9e" providerId="ADAL" clId="{C9915800-6EC9-43C2-A6C0-63404CCD09CC}" dt="2023-01-31T16:42:00.322" v="9" actId="20577"/>
          <ac:spMkLst>
            <pc:docMk/>
            <pc:sldMk cId="1482277026" sldId="256"/>
            <ac:spMk id="2" creationId="{BFFCF5BD-F8FF-4A67-A8B6-EBB21E79279B}"/>
          </ac:spMkLst>
        </pc:spChg>
        <pc:spChg chg="mod">
          <ac:chgData name="Canuette, W. Kyle" userId="c82f62dc-52dc-4188-bd8e-647bc9b55d9e" providerId="ADAL" clId="{C9915800-6EC9-43C2-A6C0-63404CCD09CC}" dt="2023-01-31T16:41:55.369" v="5" actId="20577"/>
          <ac:spMkLst>
            <pc:docMk/>
            <pc:sldMk cId="1482277026" sldId="256"/>
            <ac:spMk id="3" creationId="{E0FBD98F-3A67-498E-8174-652040DD7B60}"/>
          </ac:spMkLst>
        </pc:spChg>
      </pc:sldChg>
      <pc:sldChg chg="modSp mod">
        <pc:chgData name="Canuette, W. Kyle" userId="c82f62dc-52dc-4188-bd8e-647bc9b55d9e" providerId="ADAL" clId="{C9915800-6EC9-43C2-A6C0-63404CCD09CC}" dt="2023-01-31T16:43:51.361" v="41" actId="20577"/>
        <pc:sldMkLst>
          <pc:docMk/>
          <pc:sldMk cId="4071305681" sldId="258"/>
        </pc:sldMkLst>
        <pc:spChg chg="mod">
          <ac:chgData name="Canuette, W. Kyle" userId="c82f62dc-52dc-4188-bd8e-647bc9b55d9e" providerId="ADAL" clId="{C9915800-6EC9-43C2-A6C0-63404CCD09CC}" dt="2023-01-31T16:43:51.361" v="41" actId="20577"/>
          <ac:spMkLst>
            <pc:docMk/>
            <pc:sldMk cId="4071305681" sldId="258"/>
            <ac:spMk id="3" creationId="{392BE286-77A6-49DD-B15D-7E4718D52FE7}"/>
          </ac:spMkLst>
        </pc:spChg>
      </pc:sldChg>
      <pc:sldChg chg="modSp mod">
        <pc:chgData name="Canuette, W. Kyle" userId="c82f62dc-52dc-4188-bd8e-647bc9b55d9e" providerId="ADAL" clId="{C9915800-6EC9-43C2-A6C0-63404CCD09CC}" dt="2023-01-31T16:42:49.009" v="18" actId="20577"/>
        <pc:sldMkLst>
          <pc:docMk/>
          <pc:sldMk cId="2772527113" sldId="259"/>
        </pc:sldMkLst>
        <pc:spChg chg="mod">
          <ac:chgData name="Canuette, W. Kyle" userId="c82f62dc-52dc-4188-bd8e-647bc9b55d9e" providerId="ADAL" clId="{C9915800-6EC9-43C2-A6C0-63404CCD09CC}" dt="2023-01-31T16:42:49.009" v="18" actId="20577"/>
          <ac:spMkLst>
            <pc:docMk/>
            <pc:sldMk cId="2772527113" sldId="259"/>
            <ac:spMk id="3" creationId="{8CE08C7F-0286-423B-92F7-DEB89F31111A}"/>
          </ac:spMkLst>
        </pc:spChg>
      </pc:sldChg>
      <pc:sldChg chg="modSp mod">
        <pc:chgData name="Canuette, W. Kyle" userId="c82f62dc-52dc-4188-bd8e-647bc9b55d9e" providerId="ADAL" clId="{C9915800-6EC9-43C2-A6C0-63404CCD09CC}" dt="2023-01-31T17:03:47.694" v="297" actId="27636"/>
        <pc:sldMkLst>
          <pc:docMk/>
          <pc:sldMk cId="2147408764" sldId="260"/>
        </pc:sldMkLst>
        <pc:spChg chg="mod">
          <ac:chgData name="Canuette, W. Kyle" userId="c82f62dc-52dc-4188-bd8e-647bc9b55d9e" providerId="ADAL" clId="{C9915800-6EC9-43C2-A6C0-63404CCD09CC}" dt="2023-01-31T17:03:47.694" v="297" actId="27636"/>
          <ac:spMkLst>
            <pc:docMk/>
            <pc:sldMk cId="2147408764" sldId="260"/>
            <ac:spMk id="3" creationId="{49F2A5AF-3C0B-4968-A438-E435325199EA}"/>
          </ac:spMkLst>
        </pc:spChg>
      </pc:sldChg>
      <pc:sldChg chg="addSp modSp add mod">
        <pc:chgData name="Canuette, W. Kyle" userId="c82f62dc-52dc-4188-bd8e-647bc9b55d9e" providerId="ADAL" clId="{C9915800-6EC9-43C2-A6C0-63404CCD09CC}" dt="2023-01-31T16:46:46.374" v="66" actId="403"/>
        <pc:sldMkLst>
          <pc:docMk/>
          <pc:sldMk cId="3054216349" sldId="261"/>
        </pc:sldMkLst>
        <pc:graphicFrameChg chg="mod modGraphic">
          <ac:chgData name="Canuette, W. Kyle" userId="c82f62dc-52dc-4188-bd8e-647bc9b55d9e" providerId="ADAL" clId="{C9915800-6EC9-43C2-A6C0-63404CCD09CC}" dt="2023-01-31T16:46:46.374" v="66" actId="403"/>
          <ac:graphicFrameMkLst>
            <pc:docMk/>
            <pc:sldMk cId="3054216349" sldId="261"/>
            <ac:graphicFrameMk id="6" creationId="{4D7AD552-194E-43A8-B343-2596176B6C10}"/>
          </ac:graphicFrameMkLst>
        </pc:graphicFrameChg>
        <pc:picChg chg="add mod">
          <ac:chgData name="Canuette, W. Kyle" userId="c82f62dc-52dc-4188-bd8e-647bc9b55d9e" providerId="ADAL" clId="{C9915800-6EC9-43C2-A6C0-63404CCD09CC}" dt="2023-01-31T16:46:29.135" v="62" actId="1076"/>
          <ac:picMkLst>
            <pc:docMk/>
            <pc:sldMk cId="3054216349" sldId="261"/>
            <ac:picMk id="1026" creationId="{8DDB6E7A-0E8E-4D5B-A797-4E175FB79A2B}"/>
          </ac:picMkLst>
        </pc:picChg>
      </pc:sldChg>
      <pc:sldChg chg="addSp modSp mod">
        <pc:chgData name="Canuette, W. Kyle" userId="c82f62dc-52dc-4188-bd8e-647bc9b55d9e" providerId="ADAL" clId="{C9915800-6EC9-43C2-A6C0-63404CCD09CC}" dt="2023-01-31T17:03:02.403" v="281" actId="20577"/>
        <pc:sldMkLst>
          <pc:docMk/>
          <pc:sldMk cId="3493109116" sldId="264"/>
        </pc:sldMkLst>
        <pc:spChg chg="mod">
          <ac:chgData name="Canuette, W. Kyle" userId="c82f62dc-52dc-4188-bd8e-647bc9b55d9e" providerId="ADAL" clId="{C9915800-6EC9-43C2-A6C0-63404CCD09CC}" dt="2023-01-31T16:59:42.799" v="93"/>
          <ac:spMkLst>
            <pc:docMk/>
            <pc:sldMk cId="3493109116" sldId="264"/>
            <ac:spMk id="2" creationId="{D7836664-70C0-47BA-9BFF-496A04EBBFDE}"/>
          </ac:spMkLst>
        </pc:spChg>
        <pc:spChg chg="mod">
          <ac:chgData name="Canuette, W. Kyle" userId="c82f62dc-52dc-4188-bd8e-647bc9b55d9e" providerId="ADAL" clId="{C9915800-6EC9-43C2-A6C0-63404CCD09CC}" dt="2023-01-31T17:03:02.403" v="281" actId="20577"/>
          <ac:spMkLst>
            <pc:docMk/>
            <pc:sldMk cId="3493109116" sldId="264"/>
            <ac:spMk id="6" creationId="{19C5131E-1EAA-47E0-B568-992AB23A8362}"/>
          </ac:spMkLst>
        </pc:spChg>
        <pc:picChg chg="add mod">
          <ac:chgData name="Canuette, W. Kyle" userId="c82f62dc-52dc-4188-bd8e-647bc9b55d9e" providerId="ADAL" clId="{C9915800-6EC9-43C2-A6C0-63404CCD09CC}" dt="2023-01-31T17:02:32.521" v="256" actId="1076"/>
          <ac:picMkLst>
            <pc:docMk/>
            <pc:sldMk cId="3493109116" sldId="264"/>
            <ac:picMk id="5" creationId="{C12E4006-2589-40A7-9046-2ACF5657B78E}"/>
          </ac:picMkLst>
        </pc:picChg>
      </pc:sldChg>
      <pc:sldChg chg="del">
        <pc:chgData name="Canuette, W. Kyle" userId="c82f62dc-52dc-4188-bd8e-647bc9b55d9e" providerId="ADAL" clId="{C9915800-6EC9-43C2-A6C0-63404CCD09CC}" dt="2023-01-31T17:03:11.834" v="282" actId="47"/>
        <pc:sldMkLst>
          <pc:docMk/>
          <pc:sldMk cId="1250448534" sldId="265"/>
        </pc:sldMkLst>
      </pc:sldChg>
      <pc:sldChg chg="addSp delSp modSp new mod">
        <pc:chgData name="Canuette, W. Kyle" userId="c82f62dc-52dc-4188-bd8e-647bc9b55d9e" providerId="ADAL" clId="{C9915800-6EC9-43C2-A6C0-63404CCD09CC}" dt="2023-01-31T16:59:08.171" v="90" actId="2062"/>
        <pc:sldMkLst>
          <pc:docMk/>
          <pc:sldMk cId="3929238715" sldId="266"/>
        </pc:sldMkLst>
        <pc:spChg chg="mod">
          <ac:chgData name="Canuette, W. Kyle" userId="c82f62dc-52dc-4188-bd8e-647bc9b55d9e" providerId="ADAL" clId="{C9915800-6EC9-43C2-A6C0-63404CCD09CC}" dt="2023-01-31T16:58:10.121" v="74"/>
          <ac:spMkLst>
            <pc:docMk/>
            <pc:sldMk cId="3929238715" sldId="266"/>
            <ac:spMk id="2" creationId="{103116E0-29E8-4C44-AAE9-36FDBB2F75E0}"/>
          </ac:spMkLst>
        </pc:spChg>
        <pc:spChg chg="del mod">
          <ac:chgData name="Canuette, W. Kyle" userId="c82f62dc-52dc-4188-bd8e-647bc9b55d9e" providerId="ADAL" clId="{C9915800-6EC9-43C2-A6C0-63404CCD09CC}" dt="2023-01-31T16:58:19.788" v="76" actId="478"/>
          <ac:spMkLst>
            <pc:docMk/>
            <pc:sldMk cId="3929238715" sldId="266"/>
            <ac:spMk id="3" creationId="{FB4403E2-4139-4998-9774-9CA11CE365D5}"/>
          </ac:spMkLst>
        </pc:spChg>
        <pc:graphicFrameChg chg="add mod modGraphic">
          <ac:chgData name="Canuette, W. Kyle" userId="c82f62dc-52dc-4188-bd8e-647bc9b55d9e" providerId="ADAL" clId="{C9915800-6EC9-43C2-A6C0-63404CCD09CC}" dt="2023-01-31T16:59:08.171" v="90" actId="2062"/>
          <ac:graphicFrameMkLst>
            <pc:docMk/>
            <pc:sldMk cId="3929238715" sldId="266"/>
            <ac:graphicFrameMk id="5" creationId="{6124D48C-016F-4F52-8C3D-DE87AD59DEB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10: Putting It All Together| Lesson 10.03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The Qualities of Effective Schools I: What makes an effective school?</a:t>
            </a:r>
          </a:p>
        </p:txBody>
      </p:sp>
      <p:sp>
        <p:nvSpPr>
          <p:cNvPr id="4" name="TextBox 3">
            <a:extLst>
              <a:ext uri="{FF2B5EF4-FFF2-40B4-BE49-F238E27FC236}">
                <a16:creationId xmlns:a16="http://schemas.microsoft.com/office/drawing/2014/main" id="{731AF37D-4885-4D2D-3437-E95030525FEC}"/>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(3C) </a:t>
            </a:r>
          </a:p>
          <a:p>
            <a:pPr marL="0" indent="0">
              <a:buNone/>
            </a:pPr>
            <a:endParaRPr lang="en-US" dirty="0"/>
          </a:p>
          <a:p>
            <a:pPr marL="0" indent="0">
              <a:buNone/>
            </a:pPr>
            <a:r>
              <a:rPr lang="en-US" dirty="0"/>
              <a:t>The student will:</a:t>
            </a:r>
          </a:p>
          <a:p>
            <a:pPr lvl="1"/>
            <a:r>
              <a:rPr lang="en-US" sz="2800" dirty="0"/>
              <a:t>Identify the components of an effective school.</a:t>
            </a:r>
          </a:p>
          <a:p>
            <a:pPr lvl="1"/>
            <a:r>
              <a:rPr lang="en-US" sz="2800" dirty="0"/>
              <a:t>Apply the Effective Schools Framework to determine areas of strength and weakness in a given school.</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Schools provide the environment in which teachers and students operate, and each school has certain characteristics that can help us determine if they are effective in helping students and teachers find success. For example, effective schools provide teachers and students with high-quality instructional materials. </a:t>
            </a:r>
          </a:p>
          <a:p>
            <a:pPr marL="514350" indent="-514350">
              <a:buFont typeface="+mj-lt"/>
              <a:buAutoNum type="arabicPeriod"/>
            </a:pPr>
            <a:endParaRPr lang="en-US" dirty="0"/>
          </a:p>
          <a:p>
            <a:pPr marL="0" indent="0">
              <a:buNone/>
            </a:pPr>
            <a:r>
              <a:rPr lang="en-US" dirty="0"/>
              <a:t>Use the chart to brainstorm qualities of effective schools based on the categories provided. </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6" name="Table 6">
            <a:extLst>
              <a:ext uri="{FF2B5EF4-FFF2-40B4-BE49-F238E27FC236}">
                <a16:creationId xmlns:a16="http://schemas.microsoft.com/office/drawing/2014/main" id="{4D7AD552-194E-43A8-B343-2596176B6C10}"/>
              </a:ext>
            </a:extLst>
          </p:cNvPr>
          <p:cNvGraphicFramePr>
            <a:graphicFrameLocks noGrp="1"/>
          </p:cNvGraphicFramePr>
          <p:nvPr>
            <p:ph idx="1"/>
            <p:extLst>
              <p:ext uri="{D42A27DB-BD31-4B8C-83A1-F6EECF244321}">
                <p14:modId xmlns:p14="http://schemas.microsoft.com/office/powerpoint/2010/main" val="2396102449"/>
              </p:ext>
            </p:extLst>
          </p:nvPr>
        </p:nvGraphicFramePr>
        <p:xfrm>
          <a:off x="838200" y="1690688"/>
          <a:ext cx="7244443" cy="4220255"/>
        </p:xfrm>
        <a:graphic>
          <a:graphicData uri="http://schemas.openxmlformats.org/drawingml/2006/table">
            <a:tbl>
              <a:tblPr firstRow="1" bandRow="1">
                <a:tableStyleId>{5940675A-B579-460E-94D1-54222C63F5DA}</a:tableStyleId>
              </a:tblPr>
              <a:tblGrid>
                <a:gridCol w="2139211">
                  <a:extLst>
                    <a:ext uri="{9D8B030D-6E8A-4147-A177-3AD203B41FA5}">
                      <a16:colId xmlns:a16="http://schemas.microsoft.com/office/drawing/2014/main" val="1799054179"/>
                    </a:ext>
                  </a:extLst>
                </a:gridCol>
                <a:gridCol w="5105232">
                  <a:extLst>
                    <a:ext uri="{9D8B030D-6E8A-4147-A177-3AD203B41FA5}">
                      <a16:colId xmlns:a16="http://schemas.microsoft.com/office/drawing/2014/main" val="201547494"/>
                    </a:ext>
                  </a:extLst>
                </a:gridCol>
              </a:tblGrid>
              <a:tr h="4220255">
                <a:tc>
                  <a:txBody>
                    <a:bodyPr/>
                    <a:lstStyle/>
                    <a:p>
                      <a:pPr marL="0" marR="0">
                        <a:spcBef>
                          <a:spcPts val="600"/>
                        </a:spcBef>
                        <a:spcAft>
                          <a:spcPts val="600"/>
                        </a:spcAft>
                      </a:pPr>
                      <a:r>
                        <a:rPr lang="en-US" sz="3200" b="1">
                          <a:solidFill>
                            <a:schemeClr val="tx1"/>
                          </a:solidFill>
                          <a:effectLst/>
                          <a:latin typeface="Calibri" panose="020F0502020204030204" pitchFamily="34" charset="0"/>
                          <a:ea typeface="Calibri" panose="020F0502020204030204" pitchFamily="34" charset="0"/>
                          <a:cs typeface="Arial" panose="020B0604020202020204" pitchFamily="34" charset="0"/>
                        </a:rPr>
                        <a:t>Texas Effective Schools Framework (ESF)</a:t>
                      </a:r>
                      <a:endParaRPr lang="en-US" sz="32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spcBef>
                          <a:spcPts val="600"/>
                        </a:spcBef>
                        <a:spcAft>
                          <a:spcPts val="600"/>
                        </a:spcAft>
                      </a:pPr>
                      <a:r>
                        <a:rPr lang="en-US" sz="3200" i="1" dirty="0">
                          <a:solidFill>
                            <a:schemeClr val="tx1"/>
                          </a:solidFill>
                          <a:effectLst/>
                          <a:latin typeface="Calibri" panose="020F0502020204030204" pitchFamily="34" charset="0"/>
                          <a:ea typeface="Calibri" panose="020F0502020204030204" pitchFamily="34" charset="0"/>
                          <a:cs typeface="Arial" panose="020B0604020202020204" pitchFamily="34" charset="0"/>
                        </a:rPr>
                        <a:t>A research-based tool that schools and districts can use to ensure they are leveraging best practices to guarantee an excellent education for all Texas students.</a:t>
                      </a:r>
                      <a:endParaRPr lang="en-US" sz="3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0767449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pic>
        <p:nvPicPr>
          <p:cNvPr id="1026" name="Picture 2" descr="ESF framework graphic, described in subsequent text">
            <a:extLst>
              <a:ext uri="{FF2B5EF4-FFF2-40B4-BE49-F238E27FC236}">
                <a16:creationId xmlns:a16="http://schemas.microsoft.com/office/drawing/2014/main" id="{8DDB6E7A-0E8E-4D5B-A797-4E175FB79A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7700" y="1825625"/>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116E0-29E8-4C44-AAE9-36FDBB2F75E0}"/>
              </a:ext>
            </a:extLst>
          </p:cNvPr>
          <p:cNvSpPr>
            <a:spLocks noGrp="1"/>
          </p:cNvSpPr>
          <p:nvPr>
            <p:ph type="title"/>
          </p:nvPr>
        </p:nvSpPr>
        <p:spPr/>
        <p:txBody>
          <a:bodyPr/>
          <a:lstStyle/>
          <a:p>
            <a:r>
              <a:rPr lang="en-US" dirty="0"/>
              <a:t>ESF Framework: Levers of Effective Schools</a:t>
            </a:r>
          </a:p>
        </p:txBody>
      </p:sp>
      <p:sp>
        <p:nvSpPr>
          <p:cNvPr id="4" name="Slide Number Placeholder 3">
            <a:extLst>
              <a:ext uri="{FF2B5EF4-FFF2-40B4-BE49-F238E27FC236}">
                <a16:creationId xmlns:a16="http://schemas.microsoft.com/office/drawing/2014/main" id="{11A8FF24-1E20-4C37-88E1-A726EF735BEB}"/>
              </a:ext>
            </a:extLst>
          </p:cNvPr>
          <p:cNvSpPr>
            <a:spLocks noGrp="1"/>
          </p:cNvSpPr>
          <p:nvPr>
            <p:ph type="sldNum" sz="quarter" idx="12"/>
          </p:nvPr>
        </p:nvSpPr>
        <p:spPr/>
        <p:txBody>
          <a:bodyPr/>
          <a:lstStyle/>
          <a:p>
            <a:fld id="{E2D56C8B-F564-4051-AFED-A78F1C6A2F0E}" type="slidenum">
              <a:rPr lang="en-US" smtClean="0"/>
              <a:pPr/>
              <a:t>5</a:t>
            </a:fld>
            <a:endParaRPr lang="en-US" dirty="0"/>
          </a:p>
        </p:txBody>
      </p:sp>
      <p:graphicFrame>
        <p:nvGraphicFramePr>
          <p:cNvPr id="5" name="Table 4">
            <a:extLst>
              <a:ext uri="{FF2B5EF4-FFF2-40B4-BE49-F238E27FC236}">
                <a16:creationId xmlns:a16="http://schemas.microsoft.com/office/drawing/2014/main" id="{6124D48C-016F-4F52-8C3D-DE87AD59DEB3}"/>
              </a:ext>
            </a:extLst>
          </p:cNvPr>
          <p:cNvGraphicFramePr>
            <a:graphicFrameLocks noGrp="1"/>
          </p:cNvGraphicFramePr>
          <p:nvPr>
            <p:extLst>
              <p:ext uri="{D42A27DB-BD31-4B8C-83A1-F6EECF244321}">
                <p14:modId xmlns:p14="http://schemas.microsoft.com/office/powerpoint/2010/main" val="1655027397"/>
              </p:ext>
            </p:extLst>
          </p:nvPr>
        </p:nvGraphicFramePr>
        <p:xfrm>
          <a:off x="620487" y="1502229"/>
          <a:ext cx="11070770" cy="4854121"/>
        </p:xfrm>
        <a:graphic>
          <a:graphicData uri="http://schemas.openxmlformats.org/drawingml/2006/table">
            <a:tbl>
              <a:tblPr firstRow="1" firstCol="1" bandRow="1">
                <a:tableStyleId>{5C22544A-7EE6-4342-B048-85BDC9FD1C3A}</a:tableStyleId>
              </a:tblPr>
              <a:tblGrid>
                <a:gridCol w="494230">
                  <a:extLst>
                    <a:ext uri="{9D8B030D-6E8A-4147-A177-3AD203B41FA5}">
                      <a16:colId xmlns:a16="http://schemas.microsoft.com/office/drawing/2014/main" val="2905640604"/>
                    </a:ext>
                  </a:extLst>
                </a:gridCol>
                <a:gridCol w="2866539">
                  <a:extLst>
                    <a:ext uri="{9D8B030D-6E8A-4147-A177-3AD203B41FA5}">
                      <a16:colId xmlns:a16="http://schemas.microsoft.com/office/drawing/2014/main" val="3489537688"/>
                    </a:ext>
                  </a:extLst>
                </a:gridCol>
                <a:gridCol w="7710001">
                  <a:extLst>
                    <a:ext uri="{9D8B030D-6E8A-4147-A177-3AD203B41FA5}">
                      <a16:colId xmlns:a16="http://schemas.microsoft.com/office/drawing/2014/main" val="4178974223"/>
                    </a:ext>
                  </a:extLst>
                </a:gridCol>
              </a:tblGrid>
              <a:tr h="294851">
                <a:tc gridSpan="2">
                  <a:txBody>
                    <a:bodyPr/>
                    <a:lstStyle/>
                    <a:p>
                      <a:pPr marL="0" marR="0" algn="ctr">
                        <a:lnSpc>
                          <a:spcPct val="107000"/>
                        </a:lnSpc>
                        <a:spcBef>
                          <a:spcPts val="0"/>
                        </a:spcBef>
                        <a:spcAft>
                          <a:spcPts val="0"/>
                        </a:spcAft>
                      </a:pPr>
                      <a:r>
                        <a:rPr lang="en-US" sz="1800" dirty="0">
                          <a:effectLst/>
                        </a:rPr>
                        <a:t>Lever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tc>
                  <a:txBody>
                    <a:bodyPr/>
                    <a:lstStyle/>
                    <a:p>
                      <a:pPr marL="0" marR="0" algn="ctr">
                        <a:lnSpc>
                          <a:spcPct val="107000"/>
                        </a:lnSpc>
                        <a:spcBef>
                          <a:spcPts val="0"/>
                        </a:spcBef>
                        <a:spcAft>
                          <a:spcPts val="0"/>
                        </a:spcAft>
                      </a:pPr>
                      <a:r>
                        <a:rPr lang="en-US" sz="1800">
                          <a:effectLst/>
                        </a:rPr>
                        <a:t>Description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18173308"/>
                  </a:ext>
                </a:extLst>
              </a:tr>
              <a:tr h="911854">
                <a:tc>
                  <a:txBody>
                    <a:bodyPr/>
                    <a:lstStyle/>
                    <a:p>
                      <a:pPr marL="0" marR="0" algn="ctr">
                        <a:lnSpc>
                          <a:spcPct val="107000"/>
                        </a:lnSpc>
                        <a:spcBef>
                          <a:spcPts val="0"/>
                        </a:spcBef>
                        <a:spcAft>
                          <a:spcPts val="0"/>
                        </a:spcAft>
                      </a:pPr>
                      <a:r>
                        <a:rPr lang="en-US" sz="1600">
                          <a:effectLst/>
                        </a:rPr>
                        <a:t>1-</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800" dirty="0">
                          <a:effectLst/>
                        </a:rPr>
                        <a:t>Strong School Leadership and Planning</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800"/>
                        </a:spcAft>
                      </a:pPr>
                      <a:r>
                        <a:rPr lang="en-US" sz="1800">
                          <a:effectLst/>
                        </a:rPr>
                        <a:t>Effective school instructional leaders with clear roles and responsibilities develop and implement improvement plans that address the causes of low performance.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25664648"/>
                  </a:ext>
                </a:extLst>
              </a:tr>
              <a:tr h="911854">
                <a:tc>
                  <a:txBody>
                    <a:bodyPr/>
                    <a:lstStyle/>
                    <a:p>
                      <a:pPr marL="0" marR="0" algn="ctr">
                        <a:lnSpc>
                          <a:spcPct val="107000"/>
                        </a:lnSpc>
                        <a:spcBef>
                          <a:spcPts val="0"/>
                        </a:spcBef>
                        <a:spcAft>
                          <a:spcPts val="0"/>
                        </a:spcAft>
                      </a:pPr>
                      <a:r>
                        <a:rPr lang="en-US" sz="1600">
                          <a:effectLst/>
                        </a:rPr>
                        <a:t>2-</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800">
                          <a:effectLst/>
                        </a:rPr>
                        <a:t>Strategic Staffing</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800"/>
                        </a:spcAft>
                      </a:pPr>
                      <a:r>
                        <a:rPr lang="en-US" sz="1800" dirty="0">
                          <a:effectLst/>
                        </a:rPr>
                        <a:t>Campus leadership ensured that all students have access to high-quality educators by retaining effective, well-supported teachers through strategic hiring, placement, training, and onboarding</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86810965"/>
                  </a:ext>
                </a:extLst>
              </a:tr>
              <a:tr h="911854">
                <a:tc>
                  <a:txBody>
                    <a:bodyPr/>
                    <a:lstStyle/>
                    <a:p>
                      <a:pPr marL="0" marR="0" algn="ctr">
                        <a:lnSpc>
                          <a:spcPct val="107000"/>
                        </a:lnSpc>
                        <a:spcBef>
                          <a:spcPts val="0"/>
                        </a:spcBef>
                        <a:spcAft>
                          <a:spcPts val="0"/>
                        </a:spcAft>
                      </a:pPr>
                      <a:r>
                        <a:rPr lang="en-US" sz="1600">
                          <a:effectLst/>
                        </a:rPr>
                        <a:t>3-</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800">
                          <a:effectLst/>
                        </a:rPr>
                        <a:t>Positive School Culture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800"/>
                        </a:spcAft>
                      </a:pPr>
                      <a:r>
                        <a:rPr lang="en-US" sz="1800" dirty="0">
                          <a:effectLst/>
                        </a:rPr>
                        <a:t>Positive school culture requires aligned vision, mission, goals and values, explicit behavioral expectations and management systems, proactive and responsive student support services, and involved families and community.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39439766"/>
                  </a:ext>
                </a:extLst>
              </a:tr>
              <a:tr h="911854">
                <a:tc>
                  <a:txBody>
                    <a:bodyPr/>
                    <a:lstStyle/>
                    <a:p>
                      <a:pPr marL="0" marR="0" algn="ctr">
                        <a:lnSpc>
                          <a:spcPct val="107000"/>
                        </a:lnSpc>
                        <a:spcBef>
                          <a:spcPts val="0"/>
                        </a:spcBef>
                        <a:spcAft>
                          <a:spcPts val="0"/>
                        </a:spcAft>
                      </a:pPr>
                      <a:r>
                        <a:rPr lang="en-US" sz="1600">
                          <a:effectLst/>
                        </a:rPr>
                        <a:t>4-</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800">
                          <a:effectLst/>
                        </a:rPr>
                        <a:t>High-Quality Instructional Materials and Assessments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800"/>
                        </a:spcAft>
                      </a:pPr>
                      <a:r>
                        <a:rPr lang="en-US" sz="1800" dirty="0">
                          <a:effectLst/>
                        </a:rPr>
                        <a:t>All students engage daily with TEKS-aligned, high-quality instructional materials, and assessments that support learning at appropriate levels of rigor.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23557144"/>
                  </a:ext>
                </a:extLst>
              </a:tr>
              <a:tr h="911854">
                <a:tc>
                  <a:txBody>
                    <a:bodyPr/>
                    <a:lstStyle/>
                    <a:p>
                      <a:pPr marL="0" marR="0" algn="ctr">
                        <a:lnSpc>
                          <a:spcPct val="107000"/>
                        </a:lnSpc>
                        <a:spcBef>
                          <a:spcPts val="0"/>
                        </a:spcBef>
                        <a:spcAft>
                          <a:spcPts val="0"/>
                        </a:spcAft>
                      </a:pPr>
                      <a:r>
                        <a:rPr lang="en-US" sz="1600">
                          <a:effectLst/>
                        </a:rPr>
                        <a:t>5-</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800">
                          <a:effectLst/>
                        </a:rPr>
                        <a:t>Effective Instruction</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800"/>
                        </a:spcAft>
                      </a:pPr>
                      <a:r>
                        <a:rPr lang="en-US" sz="1800" dirty="0">
                          <a:effectLst/>
                        </a:rPr>
                        <a:t>Campus leaders provide teachers with job-embedded professional development and access to time and data needed to reflect, adjust, and deliver instruction that meets the needs of all students.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35265567"/>
                  </a:ext>
                </a:extLst>
              </a:tr>
            </a:tbl>
          </a:graphicData>
        </a:graphic>
      </p:graphicFrame>
    </p:spTree>
    <p:extLst>
      <p:ext uri="{BB962C8B-B14F-4D97-AF65-F5344CB8AC3E}">
        <p14:creationId xmlns:p14="http://schemas.microsoft.com/office/powerpoint/2010/main" val="392923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136525"/>
            <a:ext cx="10515600" cy="1325563"/>
          </a:xfrm>
        </p:spPr>
        <p:txBody>
          <a:bodyPr/>
          <a:lstStyle/>
          <a:p>
            <a:r>
              <a:rPr lang="en-US" dirty="0"/>
              <a:t>Practice: ESF Essential Actions Stations</a:t>
            </a:r>
          </a:p>
        </p:txBody>
      </p:sp>
      <p:pic>
        <p:nvPicPr>
          <p:cNvPr id="5" name="Picture 2" descr="ESF framework graphic, described in subsequent text">
            <a:extLst>
              <a:ext uri="{FF2B5EF4-FFF2-40B4-BE49-F238E27FC236}">
                <a16:creationId xmlns:a16="http://schemas.microsoft.com/office/drawing/2014/main" id="{C12E4006-2589-40A7-9046-2ACF5657B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284" y="1803400"/>
            <a:ext cx="3795033" cy="3795033"/>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19C5131E-1EAA-47E0-B568-992AB23A8362}"/>
              </a:ext>
            </a:extLst>
          </p:cNvPr>
          <p:cNvSpPr>
            <a:spLocks noGrp="1"/>
          </p:cNvSpPr>
          <p:nvPr>
            <p:ph idx="1"/>
          </p:nvPr>
        </p:nvSpPr>
        <p:spPr>
          <a:xfrm>
            <a:off x="4518932" y="1462088"/>
            <a:ext cx="6834868" cy="4894262"/>
          </a:xfrm>
        </p:spPr>
        <p:txBody>
          <a:bodyPr>
            <a:normAutofit fontScale="77500" lnSpcReduction="20000"/>
          </a:bodyPr>
          <a:lstStyle/>
          <a:p>
            <a:pPr marL="0" indent="0">
              <a:spcAft>
                <a:spcPts val="600"/>
              </a:spcAft>
              <a:buNone/>
            </a:pPr>
            <a:r>
              <a:rPr lang="en-US" sz="3200" dirty="0"/>
              <a:t>Use the stations to complete each table in your student guide. Each station includes the </a:t>
            </a:r>
            <a:r>
              <a:rPr lang="en-US" sz="3200" b="1" dirty="0"/>
              <a:t>essential actions </a:t>
            </a:r>
            <a:r>
              <a:rPr lang="en-US" sz="3200" dirty="0"/>
              <a:t>taken by schools to ensure they are achieving each lever, and a </a:t>
            </a:r>
            <a:r>
              <a:rPr lang="en-US" sz="3200" b="1" dirty="0"/>
              <a:t>scenario</a:t>
            </a:r>
            <a:r>
              <a:rPr lang="en-US" sz="3200" dirty="0"/>
              <a:t> to determine the effectiveness of an example school, based on the framework. </a:t>
            </a:r>
          </a:p>
          <a:p>
            <a:pPr marL="0" indent="0">
              <a:spcAft>
                <a:spcPts val="600"/>
              </a:spcAft>
              <a:buNone/>
            </a:pPr>
            <a:endParaRPr lang="en-US" sz="3200" dirty="0"/>
          </a:p>
          <a:p>
            <a:pPr marL="0" indent="0">
              <a:spcAft>
                <a:spcPts val="600"/>
              </a:spcAft>
              <a:buNone/>
            </a:pPr>
            <a:r>
              <a:rPr lang="en-US" sz="3200" dirty="0"/>
              <a:t>Each scenario has the same two questions:</a:t>
            </a:r>
          </a:p>
          <a:p>
            <a:pPr marL="971550" lvl="1" indent="-514350">
              <a:spcAft>
                <a:spcPts val="600"/>
              </a:spcAft>
              <a:buFont typeface="+mj-lt"/>
              <a:buAutoNum type="arabicPeriod"/>
            </a:pPr>
            <a:r>
              <a:rPr lang="en-US" sz="2800" dirty="0"/>
              <a:t>What are the strengths of this school, based on this lever of the Effective Schools Framework?</a:t>
            </a:r>
          </a:p>
          <a:p>
            <a:pPr marL="971550" lvl="1" indent="-514350">
              <a:spcAft>
                <a:spcPts val="600"/>
              </a:spcAft>
              <a:buFont typeface="+mj-lt"/>
              <a:buAutoNum type="arabicPeriod"/>
            </a:pPr>
            <a:r>
              <a:rPr lang="en-US" sz="2800" dirty="0"/>
              <a:t>What might the school leader want to improve to ensure that their school is highly effective?</a:t>
            </a:r>
          </a:p>
          <a:p>
            <a:pPr marL="0" indent="0">
              <a:spcAft>
                <a:spcPts val="600"/>
              </a:spcAft>
              <a:buNone/>
            </a:pPr>
            <a:endParaRPr lang="en-US" sz="3200" dirty="0"/>
          </a:p>
          <a:p>
            <a:pPr marL="0" indent="0">
              <a:spcAft>
                <a:spcPts val="600"/>
              </a:spcAft>
              <a:buNone/>
            </a:pPr>
            <a:r>
              <a:rPr lang="en-US" sz="3200" dirty="0"/>
              <a:t>You will have 5 minutes at each station.</a:t>
            </a: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lnSpcReduction="10000"/>
          </a:bodyPr>
          <a:lstStyle/>
          <a:p>
            <a:pPr marL="514350" marR="0" indent="-514350">
              <a:lnSpc>
                <a:spcPct val="107000"/>
              </a:lnSpc>
              <a:spcBef>
                <a:spcPts val="0"/>
              </a:spcBef>
              <a:spcAft>
                <a:spcPts val="800"/>
              </a:spcAft>
              <a:buFont typeface="+mj-lt"/>
              <a:buAutoNum type="arabicPeriod"/>
            </a:pPr>
            <a:r>
              <a:rPr lang="en-US" sz="3200" dirty="0">
                <a:effectLst/>
                <a:latin typeface="Calibri" panose="020F0502020204030204" pitchFamily="34" charset="0"/>
                <a:ea typeface="Calibri" panose="020F0502020204030204" pitchFamily="34" charset="0"/>
                <a:cs typeface="Arial" panose="020B0604020202020204" pitchFamily="34" charset="0"/>
              </a:rPr>
              <a:t>Name the five levers of an effective school. </a:t>
            </a:r>
          </a:p>
          <a:p>
            <a:pPr marL="514350" marR="0" indent="-514350">
              <a:lnSpc>
                <a:spcPct val="107000"/>
              </a:lnSpc>
              <a:spcBef>
                <a:spcPts val="0"/>
              </a:spcBef>
              <a:spcAft>
                <a:spcPts val="800"/>
              </a:spcAft>
              <a:buFont typeface="+mj-lt"/>
              <a:buAutoNum type="arabicPeriod"/>
            </a:pP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514350" marR="0" indent="-514350">
              <a:lnSpc>
                <a:spcPct val="107000"/>
              </a:lnSpc>
              <a:spcBef>
                <a:spcPts val="0"/>
              </a:spcBef>
              <a:spcAft>
                <a:spcPts val="800"/>
              </a:spcAft>
              <a:buFont typeface="+mj-lt"/>
              <a:buAutoNum type="arabicPeriod"/>
            </a:pPr>
            <a:r>
              <a:rPr lang="en-US" sz="3200" dirty="0">
                <a:effectLst/>
                <a:latin typeface="Calibri" panose="020F0502020204030204" pitchFamily="34" charset="0"/>
                <a:ea typeface="Calibri" panose="020F0502020204030204" pitchFamily="34" charset="0"/>
                <a:cs typeface="Arial" panose="020B0604020202020204" pitchFamily="34" charset="0"/>
              </a:rPr>
              <a:t>Examine teacher and student responses on this year’s Effective Schools Framework Survey. School leaders use this survey to identify areas of growth on the framework. Based on the responses to the survey, which levers should the principal prioritize in the next school year? How do you know?</a:t>
            </a:r>
          </a:p>
          <a:p>
            <a:pPr marL="0" marR="0" indent="0">
              <a:lnSpc>
                <a:spcPct val="107000"/>
              </a:lnSpc>
              <a:spcBef>
                <a:spcPts val="0"/>
              </a:spcBef>
              <a:spcAft>
                <a:spcPts val="800"/>
              </a:spcAft>
              <a:buNone/>
            </a:pP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264</TotalTime>
  <Words>514</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Instructional Practices| Unit 10: Putting It All Together| Lesson 10.03</vt:lpstr>
      <vt:lpstr>TEKS Standards &amp; Objectives</vt:lpstr>
      <vt:lpstr>Bellringer</vt:lpstr>
      <vt:lpstr>Vocabulary</vt:lpstr>
      <vt:lpstr>ESF Framework: Levers of Effective Schools</vt:lpstr>
      <vt:lpstr>Practice: ESF Essential Actions Stations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10.03: The Qualities of Effective Schools I: What makes an effective school?</dc:title>
  <dc:subject>Lesson 10.03: The Qualities of Effective Schools I: What makes an effective school?</dc:subject>
  <dc:creator>Texas Education Agency</dc:creator>
  <cp:lastModifiedBy>London White</cp:lastModifiedBy>
  <cp:revision>6</cp:revision>
  <dcterms:created xsi:type="dcterms:W3CDTF">2022-05-09T19:40:20Z</dcterms:created>
  <dcterms:modified xsi:type="dcterms:W3CDTF">2023-08-31T06:10:09Z</dcterms:modified>
</cp:coreProperties>
</file>
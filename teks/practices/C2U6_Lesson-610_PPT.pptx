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8" r:id="rId2"/>
  </p:sldMasterIdLst>
  <p:notesMasterIdLst>
    <p:notesMasterId r:id="rId11"/>
  </p:notesMasterIdLst>
  <p:sldIdLst>
    <p:sldId id="256" r:id="rId3"/>
    <p:sldId id="259" r:id="rId4"/>
    <p:sldId id="258" r:id="rId5"/>
    <p:sldId id="261" r:id="rId6"/>
    <p:sldId id="264" r:id="rId7"/>
    <p:sldId id="294" r:id="rId8"/>
    <p:sldId id="263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E6E8F8-4BC8-4710-B2F3-575FAE3556D0}" v="7" dt="2022-09-18T03:18:21.7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2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B1E6E8F8-4BC8-4710-B2F3-575FAE3556D0}"/>
    <pc:docChg chg="custSel addSld delSld modSld sldOrd">
      <pc:chgData name="White (she/her), Whitney" userId="65f39021-2f1d-4d8b-87dc-b123826f65bf" providerId="ADAL" clId="{B1E6E8F8-4BC8-4710-B2F3-575FAE3556D0}" dt="2022-09-18T03:18:04.820" v="402" actId="20577"/>
      <pc:docMkLst>
        <pc:docMk/>
      </pc:docMkLst>
      <pc:sldChg chg="modSp mod">
        <pc:chgData name="White (she/her), Whitney" userId="65f39021-2f1d-4d8b-87dc-b123826f65bf" providerId="ADAL" clId="{B1E6E8F8-4BC8-4710-B2F3-575FAE3556D0}" dt="2022-09-18T03:05:03.199" v="49" actId="13926"/>
        <pc:sldMkLst>
          <pc:docMk/>
          <pc:sldMk cId="1482277026" sldId="256"/>
        </pc:sldMkLst>
        <pc:spChg chg="mod">
          <ac:chgData name="White (she/her), Whitney" userId="65f39021-2f1d-4d8b-87dc-b123826f65bf" providerId="ADAL" clId="{B1E6E8F8-4BC8-4710-B2F3-575FAE3556D0}" dt="2022-09-18T03:05:03.199" v="49" actId="1392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B1E6E8F8-4BC8-4710-B2F3-575FAE3556D0}" dt="2022-09-18T03:04:57.766" v="44" actId="13926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B1E6E8F8-4BC8-4710-B2F3-575FAE3556D0}" dt="2022-09-18T03:06:55.050" v="91" actId="404"/>
        <pc:sldMkLst>
          <pc:docMk/>
          <pc:sldMk cId="4071305681" sldId="258"/>
        </pc:sldMkLst>
        <pc:spChg chg="mod">
          <ac:chgData name="White (she/her), Whitney" userId="65f39021-2f1d-4d8b-87dc-b123826f65bf" providerId="ADAL" clId="{B1E6E8F8-4BC8-4710-B2F3-575FAE3556D0}" dt="2022-09-18T03:06:55.050" v="91" actId="404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B1E6E8F8-4BC8-4710-B2F3-575FAE3556D0}" dt="2022-09-18T03:06:06.420" v="77" actId="403"/>
        <pc:sldMkLst>
          <pc:docMk/>
          <pc:sldMk cId="2772527113" sldId="259"/>
        </pc:sldMkLst>
        <pc:spChg chg="mod">
          <ac:chgData name="White (she/her), Whitney" userId="65f39021-2f1d-4d8b-87dc-b123826f65bf" providerId="ADAL" clId="{B1E6E8F8-4BC8-4710-B2F3-575FAE3556D0}" dt="2022-09-18T03:06:06.420" v="77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B1E6E8F8-4BC8-4710-B2F3-575FAE3556D0}" dt="2022-09-18T03:18:04.820" v="402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B1E6E8F8-4BC8-4710-B2F3-575FAE3556D0}" dt="2022-09-18T03:18:04.820" v="402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 (she/her), Whitney" userId="65f39021-2f1d-4d8b-87dc-b123826f65bf" providerId="ADAL" clId="{B1E6E8F8-4BC8-4710-B2F3-575FAE3556D0}" dt="2022-09-18T03:10:31.454" v="104" actId="1076"/>
        <pc:sldMkLst>
          <pc:docMk/>
          <pc:sldMk cId="3054216349" sldId="261"/>
        </pc:sldMkLst>
        <pc:spChg chg="del mod">
          <ac:chgData name="White (she/her), Whitney" userId="65f39021-2f1d-4d8b-87dc-b123826f65bf" providerId="ADAL" clId="{B1E6E8F8-4BC8-4710-B2F3-575FAE3556D0}" dt="2022-09-18T03:10:07.208" v="93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 (she/her), Whitney" userId="65f39021-2f1d-4d8b-87dc-b123826f65bf" providerId="ADAL" clId="{B1E6E8F8-4BC8-4710-B2F3-575FAE3556D0}" dt="2022-09-18T03:10:31.454" v="104" actId="1076"/>
          <ac:graphicFrameMkLst>
            <pc:docMk/>
            <pc:sldMk cId="3054216349" sldId="261"/>
            <ac:graphicFrameMk id="5" creationId="{0FA7CAF9-C52E-4AF2-93BB-A7714F53880D}"/>
          </ac:graphicFrameMkLst>
        </pc:graphicFrameChg>
      </pc:sldChg>
      <pc:sldChg chg="del">
        <pc:chgData name="White (she/her), Whitney" userId="65f39021-2f1d-4d8b-87dc-b123826f65bf" providerId="ADAL" clId="{B1E6E8F8-4BC8-4710-B2F3-575FAE3556D0}" dt="2022-09-18T03:17:49.727" v="373" actId="2696"/>
        <pc:sldMkLst>
          <pc:docMk/>
          <pc:sldMk cId="4170921578" sldId="262"/>
        </pc:sldMkLst>
      </pc:sldChg>
      <pc:sldChg chg="addSp modSp mod modClrScheme chgLayout">
        <pc:chgData name="White (she/her), Whitney" userId="65f39021-2f1d-4d8b-87dc-b123826f65bf" providerId="ADAL" clId="{B1E6E8F8-4BC8-4710-B2F3-575FAE3556D0}" dt="2022-09-18T03:15:06.771" v="366" actId="403"/>
        <pc:sldMkLst>
          <pc:docMk/>
          <pc:sldMk cId="1163931679" sldId="263"/>
        </pc:sldMkLst>
        <pc:spChg chg="mod ord">
          <ac:chgData name="White (she/her), Whitney" userId="65f39021-2f1d-4d8b-87dc-b123826f65bf" providerId="ADAL" clId="{B1E6E8F8-4BC8-4710-B2F3-575FAE3556D0}" dt="2022-09-18T03:13:52.906" v="314" actId="255"/>
          <ac:spMkLst>
            <pc:docMk/>
            <pc:sldMk cId="1163931679" sldId="263"/>
            <ac:spMk id="2" creationId="{531ECDB3-7F62-4124-A1E9-E48D699D2427}"/>
          </ac:spMkLst>
        </pc:spChg>
        <pc:spChg chg="mod ord">
          <ac:chgData name="White (she/her), Whitney" userId="65f39021-2f1d-4d8b-87dc-b123826f65bf" providerId="ADAL" clId="{B1E6E8F8-4BC8-4710-B2F3-575FAE3556D0}" dt="2022-09-18T03:14:41.817" v="359" actId="27636"/>
          <ac:spMkLst>
            <pc:docMk/>
            <pc:sldMk cId="1163931679" sldId="263"/>
            <ac:spMk id="3" creationId="{012C84E3-4C09-4253-8964-13B9C34E5E48}"/>
          </ac:spMkLst>
        </pc:spChg>
        <pc:spChg chg="mod ord">
          <ac:chgData name="White (she/her), Whitney" userId="65f39021-2f1d-4d8b-87dc-b123826f65bf" providerId="ADAL" clId="{B1E6E8F8-4BC8-4710-B2F3-575FAE3556D0}" dt="2022-09-18T03:13:16.984" v="299" actId="700"/>
          <ac:spMkLst>
            <pc:docMk/>
            <pc:sldMk cId="1163931679" sldId="263"/>
            <ac:spMk id="4" creationId="{497159D5-CAC3-47F8-8492-7D28C15A3A58}"/>
          </ac:spMkLst>
        </pc:spChg>
        <pc:spChg chg="add mod ord">
          <ac:chgData name="White (she/her), Whitney" userId="65f39021-2f1d-4d8b-87dc-b123826f65bf" providerId="ADAL" clId="{B1E6E8F8-4BC8-4710-B2F3-575FAE3556D0}" dt="2022-09-18T03:15:06.771" v="366" actId="403"/>
          <ac:spMkLst>
            <pc:docMk/>
            <pc:sldMk cId="1163931679" sldId="263"/>
            <ac:spMk id="5" creationId="{50E13DDA-93C4-45BA-B209-D5212074D845}"/>
          </ac:spMkLst>
        </pc:spChg>
      </pc:sldChg>
      <pc:sldChg chg="modSp mod">
        <pc:chgData name="White (she/her), Whitney" userId="65f39021-2f1d-4d8b-87dc-b123826f65bf" providerId="ADAL" clId="{B1E6E8F8-4BC8-4710-B2F3-575FAE3556D0}" dt="2022-09-18T03:11:09.786" v="143" actId="13926"/>
        <pc:sldMkLst>
          <pc:docMk/>
          <pc:sldMk cId="3493109116" sldId="264"/>
        </pc:sldMkLst>
        <pc:spChg chg="mod">
          <ac:chgData name="White (she/her), Whitney" userId="65f39021-2f1d-4d8b-87dc-b123826f65bf" providerId="ADAL" clId="{B1E6E8F8-4BC8-4710-B2F3-575FAE3556D0}" dt="2022-09-18T03:11:09.786" v="143" actId="13926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 (she/her), Whitney" userId="65f39021-2f1d-4d8b-87dc-b123826f65bf" providerId="ADAL" clId="{B1E6E8F8-4BC8-4710-B2F3-575FAE3556D0}" dt="2022-09-18T03:11:06.546" v="142" actId="403"/>
          <ac:spMkLst>
            <pc:docMk/>
            <pc:sldMk cId="3493109116" sldId="264"/>
            <ac:spMk id="3" creationId="{F64339F5-2F5D-46B5-A25D-C197D73747BD}"/>
          </ac:spMkLst>
        </pc:spChg>
      </pc:sldChg>
      <pc:sldChg chg="addSp delSp modSp new del mod ord modClrScheme chgLayout">
        <pc:chgData name="White (she/her), Whitney" userId="65f39021-2f1d-4d8b-87dc-b123826f65bf" providerId="ADAL" clId="{B1E6E8F8-4BC8-4710-B2F3-575FAE3556D0}" dt="2022-09-18T03:16:48.185" v="372" actId="2696"/>
        <pc:sldMkLst>
          <pc:docMk/>
          <pc:sldMk cId="1704105160" sldId="265"/>
        </pc:sldMkLst>
        <pc:spChg chg="del mod ord">
          <ac:chgData name="White (she/her), Whitney" userId="65f39021-2f1d-4d8b-87dc-b123826f65bf" providerId="ADAL" clId="{B1E6E8F8-4BC8-4710-B2F3-575FAE3556D0}" dt="2022-09-18T03:16:41.050" v="370" actId="700"/>
          <ac:spMkLst>
            <pc:docMk/>
            <pc:sldMk cId="1704105160" sldId="265"/>
            <ac:spMk id="2" creationId="{FB7B3078-4370-415D-8E77-0742344382FB}"/>
          </ac:spMkLst>
        </pc:spChg>
        <pc:spChg chg="del">
          <ac:chgData name="White (she/her), Whitney" userId="65f39021-2f1d-4d8b-87dc-b123826f65bf" providerId="ADAL" clId="{B1E6E8F8-4BC8-4710-B2F3-575FAE3556D0}" dt="2022-09-18T03:16:41.050" v="370" actId="700"/>
          <ac:spMkLst>
            <pc:docMk/>
            <pc:sldMk cId="1704105160" sldId="265"/>
            <ac:spMk id="3" creationId="{C0A9FFC6-84C6-4A42-82F6-2BC249705A58}"/>
          </ac:spMkLst>
        </pc:spChg>
        <pc:spChg chg="del">
          <ac:chgData name="White (she/her), Whitney" userId="65f39021-2f1d-4d8b-87dc-b123826f65bf" providerId="ADAL" clId="{B1E6E8F8-4BC8-4710-B2F3-575FAE3556D0}" dt="2022-09-18T03:16:41.050" v="370" actId="700"/>
          <ac:spMkLst>
            <pc:docMk/>
            <pc:sldMk cId="1704105160" sldId="265"/>
            <ac:spMk id="4" creationId="{E72E2E84-023A-4A59-B020-B7360261E9BB}"/>
          </ac:spMkLst>
        </pc:spChg>
        <pc:spChg chg="mod ord">
          <ac:chgData name="White (she/her), Whitney" userId="65f39021-2f1d-4d8b-87dc-b123826f65bf" providerId="ADAL" clId="{B1E6E8F8-4BC8-4710-B2F3-575FAE3556D0}" dt="2022-09-18T03:16:41.050" v="370" actId="700"/>
          <ac:spMkLst>
            <pc:docMk/>
            <pc:sldMk cId="1704105160" sldId="265"/>
            <ac:spMk id="5" creationId="{709B3DD2-C547-4FB8-A57B-9C42A5617833}"/>
          </ac:spMkLst>
        </pc:spChg>
        <pc:spChg chg="add mod ord">
          <ac:chgData name="White (she/her), Whitney" userId="65f39021-2f1d-4d8b-87dc-b123826f65bf" providerId="ADAL" clId="{B1E6E8F8-4BC8-4710-B2F3-575FAE3556D0}" dt="2022-09-18T03:16:41.050" v="370" actId="700"/>
          <ac:spMkLst>
            <pc:docMk/>
            <pc:sldMk cId="1704105160" sldId="265"/>
            <ac:spMk id="6" creationId="{192ED3BD-75FF-4A4D-9B12-1BF2E97ADA16}"/>
          </ac:spMkLst>
        </pc:spChg>
      </pc:sldChg>
      <pc:sldChg chg="add">
        <pc:chgData name="White (she/her), Whitney" userId="65f39021-2f1d-4d8b-87dc-b123826f65bf" providerId="ADAL" clId="{B1E6E8F8-4BC8-4710-B2F3-575FAE3556D0}" dt="2022-09-18T03:16:45.717" v="371"/>
        <pc:sldMkLst>
          <pc:docMk/>
          <pc:sldMk cId="230325457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9/17/2022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9/17/2022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95F45DF0-00B2-468D-ADF1-6351EEFB9CD7}" type="datetime1">
              <a:rPr lang="en-US" smtClean="0"/>
              <a:pPr/>
              <a:t>9/17/2022</a:t>
            </a:fld>
            <a:endParaRPr lang="en-US" dirty="0"/>
          </a:p>
        </p:txBody>
      </p:sp>
      <p:pic>
        <p:nvPicPr>
          <p:cNvPr id="9" name="Picture 8" descr="Logo: Texas Education Agency 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 for Texas Education Agency (TEA) Education and Training 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9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A50A4456-6D77-4237-8218-40872579093E}" type="datetime1">
              <a:rPr lang="en-US" smtClean="0"/>
              <a:pPr/>
              <a:t>9/17/2022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529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34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235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66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4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717171"/>
                </a:solidFill>
              </a:defRPr>
            </a:lvl1pPr>
          </a:lstStyle>
          <a:p>
            <a:fld id="{1B00EFE5-A68C-4E4B-9D40-F26D6ED979C1}" type="datetime1">
              <a:rPr lang="en-US" smtClean="0"/>
              <a:pPr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71717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1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lHi5hQwbWuIhCER7G3hNn8DHZkA-zwGO/view?usp=shar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Scaffolding a Lesson | Practice </a:t>
            </a: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examples of practice within a lesson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Evaluate how the student practice within a lesson is aligned with the objectives and assessments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and evaluate how practice is sequenced to scaffold student understanding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 the anticipation guide to review the criteria for deliberate practice.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 on the anticipation guide, what are the criteria for deliberate practice that you explored in the Science of Learning Unit?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FA7CAF9-C52E-4AF2-93BB-A7714F5388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4788237"/>
              </p:ext>
            </p:extLst>
          </p:nvPr>
        </p:nvGraphicFramePr>
        <p:xfrm>
          <a:off x="838200" y="1690688"/>
          <a:ext cx="10515600" cy="443325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97978">
                  <a:extLst>
                    <a:ext uri="{9D8B030D-6E8A-4147-A177-3AD203B41FA5}">
                      <a16:colId xmlns:a16="http://schemas.microsoft.com/office/drawing/2014/main" val="3621475384"/>
                    </a:ext>
                  </a:extLst>
                </a:gridCol>
                <a:gridCol w="8217622">
                  <a:extLst>
                    <a:ext uri="{9D8B030D-6E8A-4147-A177-3AD203B41FA5}">
                      <a16:colId xmlns:a16="http://schemas.microsoft.com/office/drawing/2014/main" val="3638769636"/>
                    </a:ext>
                  </a:extLst>
                </a:gridCol>
              </a:tblGrid>
              <a:tr h="5402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Guided Practice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A form of practice in which students practice the new skill or concept with support from the teacher and/or peers.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5925684"/>
                  </a:ext>
                </a:extLst>
              </a:tr>
              <a:tr h="5402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dirty="0">
                          <a:effectLst/>
                        </a:rPr>
                        <a:t>Independent Practice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A form of practice in which students independently apply what they have learned without support from the teacher or peers.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5636398"/>
                  </a:ext>
                </a:extLst>
              </a:tr>
              <a:tr h="5402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Deliberate Practice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Practice that performs the learning goal (authentic), is spaced over time, is low-stakes and is paired with feedback for improvement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0085458"/>
                  </a:ext>
                </a:extLst>
              </a:tr>
              <a:tr h="5402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Authentic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dirty="0">
                          <a:effectLst/>
                        </a:rPr>
                        <a:t>The practice requires the student to perform the actual learning goal.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4125414"/>
                  </a:ext>
                </a:extLst>
              </a:tr>
              <a:tr h="5402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Low stakes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An activity has little or no impact on the student’s grade.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4730435"/>
                  </a:ext>
                </a:extLst>
              </a:tr>
              <a:tr h="5402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Feedback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Practice of giving students information about their performance against a standard with the purpose of improving student performance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5940285"/>
                  </a:ext>
                </a:extLst>
              </a:tr>
              <a:tr h="5402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Debrief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dirty="0">
                          <a:effectLst/>
                        </a:rPr>
                        <a:t>The teacher facilitates a conversation after an activity has taken place that outlines key questions to drive the group’s learning.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878317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 Example: (21:40-26:40)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https://drive.google.com/file/d/1lHi5hQwbWuIhCER7G3hNn8DHZkA-zwGO/view?usp=sharing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A330DF-1BCC-4430-B0B0-A887633FD9CC}"/>
              </a:ext>
            </a:extLst>
          </p:cNvPr>
          <p:cNvSpPr txBox="1"/>
          <p:nvPr/>
        </p:nvSpPr>
        <p:spPr>
          <a:xfrm>
            <a:off x="359425" y="688286"/>
            <a:ext cx="11941767" cy="11387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rPr>
              <a:t>Five Principles for Teaching based on the Science of Learning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885A39-507A-45EE-9196-F8F61826FB9C}"/>
              </a:ext>
            </a:extLst>
          </p:cNvPr>
          <p:cNvSpPr/>
          <p:nvPr/>
        </p:nvSpPr>
        <p:spPr>
          <a:xfrm>
            <a:off x="681682" y="2095178"/>
            <a:ext cx="2809341" cy="56716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Attending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34B0B-CB57-4F4B-98FF-B76DA4F1326F}"/>
              </a:ext>
            </a:extLst>
          </p:cNvPr>
          <p:cNvSpPr txBox="1"/>
          <p:nvPr/>
        </p:nvSpPr>
        <p:spPr>
          <a:xfrm>
            <a:off x="681682" y="1737314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1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8594BF-215F-4968-BE88-0831802F07B5}"/>
              </a:ext>
            </a:extLst>
          </p:cNvPr>
          <p:cNvSpPr txBox="1"/>
          <p:nvPr/>
        </p:nvSpPr>
        <p:spPr>
          <a:xfrm>
            <a:off x="681682" y="2766369"/>
            <a:ext cx="300273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requires attending to the most important content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0AE0D8-3369-446D-8619-05D71A300E5D}"/>
              </a:ext>
            </a:extLst>
          </p:cNvPr>
          <p:cNvSpPr/>
          <p:nvPr/>
        </p:nvSpPr>
        <p:spPr>
          <a:xfrm>
            <a:off x="2558558" y="4229389"/>
            <a:ext cx="2809341" cy="56716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Cognitive Engagement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0A430C-81BB-481D-81D2-2D5CA5063D67}"/>
              </a:ext>
            </a:extLst>
          </p:cNvPr>
          <p:cNvSpPr txBox="1"/>
          <p:nvPr/>
        </p:nvSpPr>
        <p:spPr>
          <a:xfrm>
            <a:off x="4400644" y="1707527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2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4DBDCB-3A3C-4F9F-BE48-C8B10F45BE83}"/>
              </a:ext>
            </a:extLst>
          </p:cNvPr>
          <p:cNvSpPr txBox="1"/>
          <p:nvPr/>
        </p:nvSpPr>
        <p:spPr>
          <a:xfrm>
            <a:off x="2558558" y="4900580"/>
            <a:ext cx="300273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requires cognitive engagement and should be effortful.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4369FC-BE26-42ED-BF07-FCDED6C6E5DB}"/>
              </a:ext>
            </a:extLst>
          </p:cNvPr>
          <p:cNvSpPr/>
          <p:nvPr/>
        </p:nvSpPr>
        <p:spPr>
          <a:xfrm>
            <a:off x="4474837" y="2089404"/>
            <a:ext cx="2809341" cy="5671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Prior Knowledge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5F8674-35C6-4E0D-B4E1-BC91DEFDE9EE}"/>
              </a:ext>
            </a:extLst>
          </p:cNvPr>
          <p:cNvSpPr txBox="1"/>
          <p:nvPr/>
        </p:nvSpPr>
        <p:spPr>
          <a:xfrm>
            <a:off x="8175429" y="1719841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3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8A83E4-6B1C-4802-A847-9A43E7EF3575}"/>
              </a:ext>
            </a:extLst>
          </p:cNvPr>
          <p:cNvSpPr txBox="1"/>
          <p:nvPr/>
        </p:nvSpPr>
        <p:spPr>
          <a:xfrm>
            <a:off x="4474837" y="2760595"/>
            <a:ext cx="300273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builds on prior knowledge.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2A3E8E6-1F7C-4312-A94D-33E5D8E775AF}"/>
              </a:ext>
            </a:extLst>
          </p:cNvPr>
          <p:cNvSpPr/>
          <p:nvPr/>
        </p:nvSpPr>
        <p:spPr>
          <a:xfrm>
            <a:off x="6711128" y="4260683"/>
            <a:ext cx="2809341" cy="56716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Practice with Feedback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CA7FF1-C83B-462B-B19D-BC77285B711A}"/>
              </a:ext>
            </a:extLst>
          </p:cNvPr>
          <p:cNvSpPr txBox="1"/>
          <p:nvPr/>
        </p:nvSpPr>
        <p:spPr>
          <a:xfrm>
            <a:off x="2482554" y="3639841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4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597D05-3955-40B3-AF4E-99CFBA7C4623}"/>
              </a:ext>
            </a:extLst>
          </p:cNvPr>
          <p:cNvSpPr txBox="1"/>
          <p:nvPr/>
        </p:nvSpPr>
        <p:spPr>
          <a:xfrm>
            <a:off x="6711128" y="4931874"/>
            <a:ext cx="3002736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Practice and feedback are essential to move ideas permanently into long-term memory.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043B92-E3FD-472C-8091-673A2CC07D07}"/>
              </a:ext>
            </a:extLst>
          </p:cNvPr>
          <p:cNvSpPr/>
          <p:nvPr/>
        </p:nvSpPr>
        <p:spPr>
          <a:xfrm>
            <a:off x="8205622" y="2098139"/>
            <a:ext cx="2809341" cy="5671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Avoiding Overload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E6F118-C533-423F-821E-C74599E7B5BD}"/>
              </a:ext>
            </a:extLst>
          </p:cNvPr>
          <p:cNvSpPr txBox="1"/>
          <p:nvPr/>
        </p:nvSpPr>
        <p:spPr>
          <a:xfrm>
            <a:off x="8205622" y="2769330"/>
            <a:ext cx="300273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 much information at once can interfere with learning.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Times New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5F9617-20C4-4ECD-AD0A-793BE7FFD026}"/>
              </a:ext>
            </a:extLst>
          </p:cNvPr>
          <p:cNvSpPr txBox="1"/>
          <p:nvPr/>
        </p:nvSpPr>
        <p:spPr>
          <a:xfrm>
            <a:off x="6680935" y="3784477"/>
            <a:ext cx="19180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Calibri" panose="020F0502020204030204" pitchFamily="34" charset="0"/>
                <a:cs typeface="Times New Roman"/>
              </a:rPr>
              <a:t>Principle 5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325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sz="2700" dirty="0"/>
            </a:br>
            <a:br>
              <a:rPr lang="en-US" sz="3300" dirty="0"/>
            </a:br>
            <a:r>
              <a:rPr lang="en-US" sz="3300" dirty="0"/>
              <a:t>Deliberate Practice: Practice can be guided (with teacher support) or independent (without teacher support)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599" cy="47117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Examples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Skip count as a class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counters to make equal groups. Add the groups and write a number sentence.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repeated addition sentences to represent situations (4+4+4=12)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 to a partner about how 3x4 =12 is related to 4+4+4 =12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multiplication sentences from equal groups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 a set of practice problems with a partner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 a set of practice problems independently</a:t>
            </a:r>
            <a:r>
              <a:rPr lang="en-US" sz="2000" dirty="0"/>
              <a:t>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E13DDA-93C4-45BA-B209-D5212074D8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Non-Examples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and color a foldable to remember the lesson’s vocabulary. Cut and glue it into a math notebook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a poem or rap about multiplication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Talk to a partner about where you see multiplication in real life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Watch a video to learn a multiplication song and dance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lesson objective and assessment on your Exit Ticket. Sort the practice activities into examples and nonexamples. 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C2U6 Template</Template>
  <TotalTime>30</TotalTime>
  <Words>514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Avenir Next LT Pro</vt:lpstr>
      <vt:lpstr>Calibri</vt:lpstr>
      <vt:lpstr>Calibri Light</vt:lpstr>
      <vt:lpstr>Office Theme</vt:lpstr>
      <vt:lpstr>1_Office Theme</vt:lpstr>
      <vt:lpstr>Instructional Practices| Unit 6: Instructional Alignment| Lesson 6.10</vt:lpstr>
      <vt:lpstr>TEKS Standards &amp; Objectives</vt:lpstr>
      <vt:lpstr>Bellringer</vt:lpstr>
      <vt:lpstr>Vocabulary</vt:lpstr>
      <vt:lpstr>Video Example: (21:40-26:40)</vt:lpstr>
      <vt:lpstr>PowerPoint Presentation</vt:lpstr>
      <vt:lpstr>  Deliberate Practice: Practice can be guided (with teacher support) or independent (without teacher support)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6.10: Scaffolding a Lesson | Practice </dc:title>
  <dc:subject>Lesson 6.10: Scaffolding a Lesson | Practice </dc:subject>
  <dc:creator>Texas Education Agency</dc:creator>
  <cp:lastModifiedBy>White (she/her), Whitney</cp:lastModifiedBy>
  <cp:revision>1</cp:revision>
  <dcterms:created xsi:type="dcterms:W3CDTF">2022-09-18T02:05:04Z</dcterms:created>
  <dcterms:modified xsi:type="dcterms:W3CDTF">2022-09-18T03:18:32Z</dcterms:modified>
</cp:coreProperties>
</file>
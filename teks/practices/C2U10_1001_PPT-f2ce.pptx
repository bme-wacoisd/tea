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9"/>
  </p:notesMasterIdLst>
  <p:sldIdLst>
    <p:sldId id="256" r:id="rId5"/>
    <p:sldId id="259" r:id="rId6"/>
    <p:sldId id="258"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14" autoAdjust="0"/>
  </p:normalViewPr>
  <p:slideViewPr>
    <p:cSldViewPr snapToGrid="0">
      <p:cViewPr varScale="1">
        <p:scale>
          <a:sx n="108" d="100"/>
          <a:sy n="108" d="100"/>
        </p:scale>
        <p:origin x="40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6/16/2025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6/16/2025</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6/16/2025</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6/16/2025</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6/16/2025</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6/16/2025</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6/16/2025</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6/16/2025</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68250"/>
            <a:ext cx="9144000" cy="370300"/>
          </a:xfrm>
        </p:spPr>
        <p:txBody>
          <a:bodyPr>
            <a:normAutofit/>
          </a:bodyPr>
          <a:lstStyle/>
          <a:p>
            <a:pPr algn="l"/>
            <a:r>
              <a:rPr lang="en-US" sz="1800" dirty="0"/>
              <a:t>Instructional Practices| Unit 10: Putting It All Together| Lesson 10.01</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fontScale="92500" lnSpcReduction="10000"/>
          </a:bodyPr>
          <a:lstStyle/>
          <a:p>
            <a:r>
              <a:rPr lang="en-US" sz="6000" dirty="0"/>
              <a:t>Education in the United States | The Value of Teachers in a Changing World</a:t>
            </a:r>
          </a:p>
        </p:txBody>
      </p:sp>
      <p:sp>
        <p:nvSpPr>
          <p:cNvPr id="4" name="TextBox 3">
            <a:extLst>
              <a:ext uri="{FF2B5EF4-FFF2-40B4-BE49-F238E27FC236}">
                <a16:creationId xmlns:a16="http://schemas.microsoft.com/office/drawing/2014/main" id="{731AF37D-4885-4D2D-3437-E95030525FEC}"/>
              </a:ext>
            </a:extLst>
          </p:cNvPr>
          <p:cNvSpPr txBox="1"/>
          <p:nvPr/>
        </p:nvSpPr>
        <p:spPr>
          <a:xfrm>
            <a:off x="0" y="6438550"/>
            <a:ext cx="11814494" cy="338554"/>
          </a:xfrm>
          <a:prstGeom prst="rect">
            <a:avLst/>
          </a:prstGeom>
          <a:noFill/>
        </p:spPr>
        <p:txBody>
          <a:bodyPr wrap="square">
            <a:spAutoFit/>
          </a:bodyPr>
          <a:lstStyle/>
          <a:p>
            <a:pPr marL="0" marR="0">
              <a:spcBef>
                <a:spcPts val="0"/>
              </a:spcBef>
              <a:spcAft>
                <a:spcPts val="0"/>
              </a:spcAft>
              <a:tabLst>
                <a:tab pos="2971800" algn="ctr"/>
                <a:tab pos="5943600" algn="r"/>
              </a:tabLst>
            </a:pPr>
            <a:r>
              <a:rPr lang="en-US" sz="16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3A</a:t>
            </a:r>
          </a:p>
          <a:p>
            <a:pPr marL="0" indent="0">
              <a:buNone/>
            </a:pPr>
            <a:endParaRPr lang="en-US" dirty="0"/>
          </a:p>
          <a:p>
            <a:pPr marL="0" indent="0">
              <a:buNone/>
            </a:pPr>
            <a:r>
              <a:rPr lang="en-US" dirty="0"/>
              <a:t>The student will:</a:t>
            </a:r>
          </a:p>
          <a:p>
            <a:pPr lvl="1"/>
            <a:r>
              <a:rPr lang="en-US" sz="2800" dirty="0"/>
              <a:t>Identify how the aims of education and the role of teachers has evolved over time due to the changing nature of what is needed in the workforce.</a:t>
            </a:r>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marR="0">
              <a:spcBef>
                <a:spcPts val="600"/>
              </a:spcBef>
              <a:spcAft>
                <a:spcPts val="600"/>
              </a:spcAft>
            </a:pPr>
            <a:r>
              <a:rPr lang="en-US" dirty="0">
                <a:effectLst/>
                <a:latin typeface="Calibri" panose="020F0502020204030204" pitchFamily="34" charset="0"/>
                <a:ea typeface="Calibri" panose="020F0502020204030204" pitchFamily="34" charset="0"/>
                <a:cs typeface="Arial" panose="020B0604020202020204" pitchFamily="34" charset="0"/>
              </a:rPr>
              <a:t>What is different about being a teenager or young adult now than when your parents or grandparents were teenagers? </a:t>
            </a:r>
          </a:p>
          <a:p>
            <a:pPr marL="0" marR="0">
              <a:lnSpc>
                <a:spcPct val="107000"/>
              </a:lnSpc>
              <a:spcBef>
                <a:spcPts val="0"/>
              </a:spcBef>
              <a:spcAft>
                <a:spcPts val="800"/>
              </a:spcAft>
            </a:pPr>
            <a:r>
              <a:rPr lang="en-US" dirty="0">
                <a:effectLst/>
                <a:latin typeface="Calibri" panose="020F0502020204030204" pitchFamily="34" charset="0"/>
                <a:ea typeface="Calibri" panose="020F0502020204030204" pitchFamily="34" charset="0"/>
                <a:cs typeface="Arial" panose="020B0604020202020204" pitchFamily="34" charset="0"/>
              </a:rPr>
              <a:t>How can schools to help prepare students to be successful in this changing world?</a:t>
            </a: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normAutofit/>
          </a:bodyPr>
          <a:lstStyle/>
          <a:p>
            <a:pPr marL="342900" marR="0" lvl="0" indent="-342900">
              <a:lnSpc>
                <a:spcPct val="107000"/>
              </a:lnSpc>
              <a:spcBef>
                <a:spcPts val="0"/>
              </a:spcBef>
              <a:spcAft>
                <a:spcPts val="800"/>
              </a:spcAft>
              <a:buFont typeface="+mj-lt"/>
              <a:buAutoNum type="arabicPeriod"/>
            </a:pPr>
            <a:r>
              <a:rPr lang="en-US" dirty="0">
                <a:effectLst/>
                <a:latin typeface="Calibri" panose="020F0502020204030204" pitchFamily="34" charset="0"/>
                <a:ea typeface="Calibri" panose="020F0502020204030204" pitchFamily="34" charset="0"/>
                <a:cs typeface="Arial" panose="020B0604020202020204" pitchFamily="34" charset="0"/>
              </a:rPr>
              <a:t>In your own words, why are teachers valuable in a changing world? </a:t>
            </a:r>
          </a:p>
          <a:p>
            <a:pPr marL="342900" marR="0" indent="-342900">
              <a:lnSpc>
                <a:spcPct val="107000"/>
              </a:lnSpc>
              <a:spcBef>
                <a:spcPts val="0"/>
              </a:spcBef>
              <a:spcAft>
                <a:spcPts val="800"/>
              </a:spcAft>
              <a:buFont typeface="+mj-lt"/>
              <a:buAutoNum type="arabicPeriod"/>
            </a:pPr>
            <a:endParaRPr lang="en-US"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mj-lt"/>
              <a:buAutoNum type="arabicPeriod"/>
            </a:pPr>
            <a:r>
              <a:rPr lang="en-US" dirty="0">
                <a:effectLst/>
                <a:latin typeface="Calibri" panose="020F0502020204030204" pitchFamily="34" charset="0"/>
                <a:ea typeface="Calibri" panose="020F0502020204030204" pitchFamily="34" charset="0"/>
                <a:cs typeface="Arial" panose="020B0604020202020204" pitchFamily="34" charset="0"/>
              </a:rPr>
              <a:t>Reflect on your bellringer and the class discussion. Do you believe that the role of teachers is the same now as it was when your parents or grandparents were children? Why or why not.</a:t>
            </a:r>
          </a:p>
          <a:p>
            <a:pPr marL="0" marR="0" indent="0">
              <a:lnSpc>
                <a:spcPct val="107000"/>
              </a:lnSpc>
              <a:spcBef>
                <a:spcPts val="0"/>
              </a:spcBef>
              <a:spcAft>
                <a:spcPts val="800"/>
              </a:spcAft>
              <a:buNone/>
            </a:pPr>
            <a:endParaRPr lang="en-US" sz="32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7AD57B0C54CC24F934F6B5B683E9FF3" ma:contentTypeVersion="17" ma:contentTypeDescription="Create a new document." ma:contentTypeScope="" ma:versionID="74c475a7f88c09ad26452b08dcff0b32">
  <xsd:schema xmlns:xsd="http://www.w3.org/2001/XMLSchema" xmlns:xs="http://www.w3.org/2001/XMLSchema" xmlns:p="http://schemas.microsoft.com/office/2006/metadata/properties" xmlns:ns2="1a31ff91-fdef-444f-97ac-59e8c717c665" xmlns:ns3="c846d8e3-a298-4df9-941d-031d5a654278" targetNamespace="http://schemas.microsoft.com/office/2006/metadata/properties" ma:root="true" ma:fieldsID="927c3c6b4a17e24bf610af3d477f503d" ns2:_="" ns3:_="">
    <xsd:import namespace="1a31ff91-fdef-444f-97ac-59e8c717c665"/>
    <xsd:import namespace="c846d8e3-a298-4df9-941d-031d5a654278"/>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LengthInSeconds" minOccurs="0"/>
                <xsd:element ref="ns2:MediaServiceGenerationTime" minOccurs="0"/>
                <xsd:element ref="ns2:MediaServiceEventHashCode" minOccurs="0"/>
                <xsd:element ref="ns2:MediaServiceOCR"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31ff91-fdef-444f-97ac-59e8c717c66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3b7a77b5-e59d-49f3-97a2-3dde868dbe2d"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846d8e3-a298-4df9-941d-031d5a654278"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dbacdb30-d662-427e-8aeb-ae7c33e06b0f}" ma:internalName="TaxCatchAll" ma:showField="CatchAllData" ma:web="c846d8e3-a298-4df9-941d-031d5a65427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c846d8e3-a298-4df9-941d-031d5a654278" xsi:nil="true"/>
    <lcf76f155ced4ddcb4097134ff3c332f xmlns="1a31ff91-fdef-444f-97ac-59e8c717c66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36B64359-572F-4886-AFAE-573C2CC1DCA5}">
  <ds:schemaRefs>
    <ds:schemaRef ds:uri="http://schemas.microsoft.com/sharepoint/v3/contenttype/forms"/>
  </ds:schemaRefs>
</ds:datastoreItem>
</file>

<file path=customXml/itemProps2.xml><?xml version="1.0" encoding="utf-8"?>
<ds:datastoreItem xmlns:ds="http://schemas.openxmlformats.org/officeDocument/2006/customXml" ds:itemID="{EF4633F3-2570-4E4E-B5FD-99E2EEA195D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31ff91-fdef-444f-97ac-59e8c717c665"/>
    <ds:schemaRef ds:uri="c846d8e3-a298-4df9-941d-031d5a65427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155894C-F80D-4D9E-96FB-2CAF777B6302}">
  <ds:schemaRefs>
    <ds:schemaRef ds:uri="http://schemas.microsoft.com/office/2006/metadata/properties"/>
    <ds:schemaRef ds:uri="http://schemas.microsoft.com/office/infopath/2007/PartnerControls"/>
    <ds:schemaRef ds:uri="c846d8e3-a298-4df9-941d-031d5a654278"/>
    <ds:schemaRef ds:uri="1a31ff91-fdef-444f-97ac-59e8c717c665"/>
  </ds:schemaRefs>
</ds:datastoreItem>
</file>

<file path=docProps/app.xml><?xml version="1.0" encoding="utf-8"?>
<Properties xmlns="http://schemas.openxmlformats.org/officeDocument/2006/extended-properties" xmlns:vt="http://schemas.openxmlformats.org/officeDocument/2006/docPropsVTypes">
  <Template/>
  <TotalTime>271</TotalTime>
  <Words>172</Words>
  <Application>Microsoft Office PowerPoint</Application>
  <PresentationFormat>Widescreen</PresentationFormat>
  <Paragraphs>18</Paragraphs>
  <Slides>4</Slides>
  <Notes>0</Notes>
  <HiddenSlides>0</HiddenSlides>
  <MMClips>0</MMClip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Office Theme</vt:lpstr>
      <vt:lpstr>Instructional Practices| Unit 10: Putting It All Together| Lesson 10.01</vt:lpstr>
      <vt:lpstr>TEKS Standards &amp; Objectives</vt:lpstr>
      <vt:lpstr>Bellringer</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10.03: The Qualities of Effective Schools I: What makes an effective school?</dc:title>
  <dc:subject>Lesson 10.03: The Qualities of Effective Schools I: What makes an effective school?</dc:subject>
  <dc:creator>Texas Education Agency</dc:creator>
  <cp:lastModifiedBy>London White</cp:lastModifiedBy>
  <cp:revision>10</cp:revision>
  <dcterms:created xsi:type="dcterms:W3CDTF">2022-05-09T19:40:20Z</dcterms:created>
  <dcterms:modified xsi:type="dcterms:W3CDTF">2025-06-17T02:23:44Z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0x01010037AD57B0C54CC24F934F6B5B683E9FF3</vt:lpwstr>
  </property>
</Properties>
</file>
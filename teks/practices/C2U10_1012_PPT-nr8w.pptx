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1" r:id="rId5"/>
    <p:sldId id="264" r:id="rId6"/>
    <p:sldId id="269"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4" d="100"/>
          <a:sy n="114" d="100"/>
        </p:scale>
        <p:origin x="16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10: Putting It All Together| Lesson 10.12</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Professional Portfolio | Introduction and Components</a:t>
            </a:r>
          </a:p>
        </p:txBody>
      </p:sp>
      <p:sp>
        <p:nvSpPr>
          <p:cNvPr id="4" name="TextBox 3">
            <a:extLst>
              <a:ext uri="{FF2B5EF4-FFF2-40B4-BE49-F238E27FC236}">
                <a16:creationId xmlns:a16="http://schemas.microsoft.com/office/drawing/2014/main" id="{550471AE-D7BC-59D1-C038-81F930DA3B9C}"/>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13A, 13B</a:t>
            </a:r>
          </a:p>
          <a:p>
            <a:pPr marL="0" indent="0">
              <a:buNone/>
            </a:pPr>
            <a:endParaRPr lang="en-US" dirty="0"/>
          </a:p>
          <a:p>
            <a:pPr marL="0" indent="0">
              <a:buNone/>
            </a:pPr>
            <a:r>
              <a:rPr lang="en-US" dirty="0"/>
              <a:t>The student will:</a:t>
            </a:r>
          </a:p>
          <a:p>
            <a:r>
              <a:rPr lang="en-US" dirty="0"/>
              <a:t>Identify and plan for the elements of the professional portfolio</a:t>
            </a:r>
          </a:p>
          <a:p>
            <a:r>
              <a:rPr lang="en-US" dirty="0"/>
              <a:t>Articulate the purpose of a professional portfolio</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Consider what you have learned in this course. What has been most impactful for you? How would you like to showcase that for yourself, your classmates, and others who may see your portfolio?</a:t>
            </a: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Portfolio Requirements	</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
        <p:nvSpPr>
          <p:cNvPr id="5" name="Content Placeholder 4">
            <a:extLst>
              <a:ext uri="{FF2B5EF4-FFF2-40B4-BE49-F238E27FC236}">
                <a16:creationId xmlns:a16="http://schemas.microsoft.com/office/drawing/2014/main" id="{A3F472E8-1D19-4E56-F67E-DE6945ADAF25}"/>
              </a:ext>
            </a:extLst>
          </p:cNvPr>
          <p:cNvSpPr>
            <a:spLocks noGrp="1"/>
          </p:cNvSpPr>
          <p:nvPr>
            <p:ph idx="1"/>
          </p:nvPr>
        </p:nvSpPr>
        <p:spPr/>
        <p:txBody>
          <a:bodyPr/>
          <a:lstStyle/>
          <a:p>
            <a:r>
              <a:rPr lang="en-US" dirty="0"/>
              <a:t>Evidence of skills that you have learned and practiced.</a:t>
            </a:r>
          </a:p>
          <a:p>
            <a:r>
              <a:rPr lang="en-US" dirty="0"/>
              <a:t>Artifacts that you have produced while in Instructional Practices.</a:t>
            </a:r>
          </a:p>
          <a:p>
            <a:r>
              <a:rPr lang="en-US" dirty="0"/>
              <a:t>Reflections on what you have learned this year.</a:t>
            </a:r>
          </a:p>
          <a:p>
            <a:r>
              <a:rPr lang="en-US" dirty="0"/>
              <a:t>Your Personal Philosophy of Education.</a:t>
            </a:r>
          </a:p>
          <a:p>
            <a:r>
              <a:rPr lang="en-US" dirty="0"/>
              <a:t>Future Goals.</a:t>
            </a:r>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Portfolio Components</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
        <p:nvSpPr>
          <p:cNvPr id="6" name="Content Placeholder 5">
            <a:extLst>
              <a:ext uri="{FF2B5EF4-FFF2-40B4-BE49-F238E27FC236}">
                <a16:creationId xmlns:a16="http://schemas.microsoft.com/office/drawing/2014/main" id="{19C5131E-1EAA-47E0-B568-992AB23A8362}"/>
              </a:ext>
            </a:extLst>
          </p:cNvPr>
          <p:cNvSpPr>
            <a:spLocks noGrp="1"/>
          </p:cNvSpPr>
          <p:nvPr>
            <p:ph idx="1"/>
          </p:nvPr>
        </p:nvSpPr>
        <p:spPr/>
        <p:txBody>
          <a:bodyPr/>
          <a:lstStyle/>
          <a:p>
            <a:pPr marL="514350" indent="-514350">
              <a:buFont typeface="+mj-lt"/>
              <a:buAutoNum type="arabicPeriod"/>
            </a:pPr>
            <a:r>
              <a:rPr lang="en-US" dirty="0"/>
              <a:t>Table of Contents</a:t>
            </a:r>
          </a:p>
          <a:p>
            <a:pPr marL="514350" indent="-514350">
              <a:buFont typeface="+mj-lt"/>
              <a:buAutoNum type="arabicPeriod"/>
            </a:pPr>
            <a:r>
              <a:rPr lang="en-US" dirty="0"/>
              <a:t>Personal Philosophy of Education</a:t>
            </a:r>
          </a:p>
          <a:p>
            <a:pPr marL="971550" lvl="1" indent="-514350">
              <a:buFont typeface="+mj-lt"/>
              <a:buAutoNum type="alphaLcParenR"/>
            </a:pPr>
            <a:r>
              <a:rPr lang="en-US" dirty="0"/>
              <a:t>What strengths do I bring that will help me become a teacher?</a:t>
            </a:r>
          </a:p>
          <a:p>
            <a:pPr marL="971550" lvl="1" indent="-514350">
              <a:buFont typeface="+mj-lt"/>
              <a:buAutoNum type="alphaLcParenR"/>
            </a:pPr>
            <a:r>
              <a:rPr lang="en-US" dirty="0"/>
              <a:t>What are my areas of growth?</a:t>
            </a:r>
          </a:p>
          <a:p>
            <a:pPr marL="971550" lvl="1" indent="-514350">
              <a:buFont typeface="+mj-lt"/>
              <a:buAutoNum type="alphaLcParenR"/>
            </a:pPr>
            <a:r>
              <a:rPr lang="en-US" dirty="0"/>
              <a:t>Why does being a teacher matter?</a:t>
            </a:r>
          </a:p>
          <a:p>
            <a:pPr marL="971550" lvl="1" indent="-514350">
              <a:buFont typeface="+mj-lt"/>
              <a:buAutoNum type="alphaLcParenR"/>
            </a:pPr>
            <a:r>
              <a:rPr lang="en-US" dirty="0"/>
              <a:t>What do I believe are the central tenants of good teaching? What do good teachers do?</a:t>
            </a:r>
          </a:p>
          <a:p>
            <a:pPr marL="971550" lvl="1" indent="-514350">
              <a:buFont typeface="+mj-lt"/>
              <a:buAutoNum type="alphaLcParenR"/>
            </a:pPr>
            <a:r>
              <a:rPr lang="en-US" dirty="0"/>
              <a:t>What subjects and/or grade levels do I want to consider teaching?</a:t>
            </a:r>
          </a:p>
          <a:p>
            <a:pPr marL="514350" indent="-514350">
              <a:buFont typeface="+mj-lt"/>
              <a:buAutoNum type="arabicPeriod"/>
            </a:pPr>
            <a:r>
              <a:rPr lang="en-US" dirty="0"/>
              <a:t>Video evidence from at least two sample teaching experiences within the class</a:t>
            </a:r>
          </a:p>
          <a:p>
            <a:pPr marL="0" indent="0">
              <a:buNone/>
            </a:pPr>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Portfolio Components Cont.</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
        <p:nvSpPr>
          <p:cNvPr id="6" name="Content Placeholder 5">
            <a:extLst>
              <a:ext uri="{FF2B5EF4-FFF2-40B4-BE49-F238E27FC236}">
                <a16:creationId xmlns:a16="http://schemas.microsoft.com/office/drawing/2014/main" id="{19C5131E-1EAA-47E0-B568-992AB23A8362}"/>
              </a:ext>
            </a:extLst>
          </p:cNvPr>
          <p:cNvSpPr>
            <a:spLocks noGrp="1"/>
          </p:cNvSpPr>
          <p:nvPr>
            <p:ph idx="1"/>
          </p:nvPr>
        </p:nvSpPr>
        <p:spPr/>
        <p:txBody>
          <a:bodyPr>
            <a:normAutofit fontScale="92500" lnSpcReduction="20000"/>
          </a:bodyPr>
          <a:lstStyle/>
          <a:p>
            <a:pPr marL="0" indent="0">
              <a:buNone/>
            </a:pPr>
            <a:r>
              <a:rPr lang="en-US" dirty="0"/>
              <a:t>4. Written reflection on the practice teaching experiences (Component 3)</a:t>
            </a:r>
          </a:p>
          <a:p>
            <a:pPr marL="0" indent="0">
              <a:buNone/>
            </a:pPr>
            <a:endParaRPr lang="en-US" dirty="0"/>
          </a:p>
          <a:p>
            <a:pPr marL="0" indent="0">
              <a:buNone/>
            </a:pPr>
            <a:r>
              <a:rPr lang="en-US" dirty="0"/>
              <a:t>5. Behavior Management Plan (from Unit 2)</a:t>
            </a:r>
          </a:p>
          <a:p>
            <a:pPr marL="0" indent="0">
              <a:buNone/>
            </a:pPr>
            <a:endParaRPr lang="en-US" dirty="0"/>
          </a:p>
          <a:p>
            <a:pPr marL="0" indent="0">
              <a:buNone/>
            </a:pPr>
            <a:r>
              <a:rPr lang="en-US" dirty="0"/>
              <a:t>6. Written Reflections including: </a:t>
            </a:r>
          </a:p>
          <a:p>
            <a:pPr marL="0" indent="0">
              <a:buNone/>
            </a:pPr>
            <a:r>
              <a:rPr lang="en-US" dirty="0"/>
              <a:t>	a)Mentee Questions</a:t>
            </a:r>
          </a:p>
          <a:p>
            <a:pPr marL="0" indent="0">
              <a:buNone/>
            </a:pPr>
            <a:r>
              <a:rPr lang="en-US" dirty="0"/>
              <a:t>	b) Steps to Becoming a Teacher chart and potential plan</a:t>
            </a:r>
          </a:p>
          <a:p>
            <a:pPr marL="0" indent="0">
              <a:buNone/>
            </a:pPr>
            <a:r>
              <a:rPr lang="en-US" dirty="0"/>
              <a:t>7) Three classroom artifacts (from Instructional Practices) that represent your best work.</a:t>
            </a:r>
          </a:p>
          <a:p>
            <a:pPr marL="0" indent="0">
              <a:buNone/>
            </a:pPr>
            <a:endParaRPr lang="en-US" dirty="0"/>
          </a:p>
          <a:p>
            <a:pPr marL="0" indent="0">
              <a:buNone/>
            </a:pPr>
            <a:r>
              <a:rPr lang="en-US" dirty="0"/>
              <a:t>8) Your goals for considering and pursuing an education career.</a:t>
            </a:r>
          </a:p>
        </p:txBody>
      </p:sp>
    </p:spTree>
    <p:extLst>
      <p:ext uri="{BB962C8B-B14F-4D97-AF65-F5344CB8AC3E}">
        <p14:creationId xmlns:p14="http://schemas.microsoft.com/office/powerpoint/2010/main" val="488613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342900" marR="0" lvl="0" indent="-342900">
              <a:lnSpc>
                <a:spcPct val="107000"/>
              </a:lnSpc>
              <a:spcBef>
                <a:spcPts val="0"/>
              </a:spcBef>
              <a:spcAft>
                <a:spcPts val="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What are the elements you will include in your professional portfolio?</a:t>
            </a:r>
          </a:p>
          <a:p>
            <a:pPr marL="342900" marR="0" lvl="0" indent="-342900">
              <a:lnSpc>
                <a:spcPct val="107000"/>
              </a:lnSpc>
              <a:spcBef>
                <a:spcPts val="0"/>
              </a:spcBef>
              <a:spcAft>
                <a:spcPts val="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How will the portfolio help you as a prospective educator?</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11581002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134</TotalTime>
  <Words>332</Words>
  <Application>Microsoft Office PowerPoint</Application>
  <PresentationFormat>Widescreen</PresentationFormat>
  <Paragraphs>46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Instructional Practices| Unit 10: Putting It All Together| Lesson 10.12</vt:lpstr>
      <vt:lpstr>TEKS Standards &amp; Objectives</vt:lpstr>
      <vt:lpstr>Bellringer</vt:lpstr>
      <vt:lpstr>Portfolio Requirements </vt:lpstr>
      <vt:lpstr>Portfolio Components</vt:lpstr>
      <vt:lpstr>Portfolio Components Cont.</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Professionalism, Presentation, and Conduct</dc:title>
  <dc:subject>Professionalism, Presentation, and Conduct</dc:subject>
  <dc:creator>Texas Education Agency</dc:creator>
  <cp:lastModifiedBy>London White</cp:lastModifiedBy>
  <cp:revision>6</cp:revision>
  <dcterms:created xsi:type="dcterms:W3CDTF">2022-05-09T19:40:20Z</dcterms:created>
  <dcterms:modified xsi:type="dcterms:W3CDTF">2023-08-31T06:57:44Z</dcterms:modified>
</cp:coreProperties>
</file>
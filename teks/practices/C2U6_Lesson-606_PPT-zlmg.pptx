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70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20" y="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8/31/2023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8/31/2023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8/31/2023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6825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Sequencing the Content of a Lesson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1D0F63-AC90-CF15-C75A-E6184B7D7E5C}"/>
              </a:ext>
            </a:extLst>
          </p:cNvPr>
          <p:cNvSpPr txBox="1"/>
          <p:nvPr/>
        </p:nvSpPr>
        <p:spPr>
          <a:xfrm>
            <a:off x="0" y="6438550"/>
            <a:ext cx="1181449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971800" algn="ctr"/>
                <a:tab pos="5943600" algn="r"/>
              </a:tabLst>
            </a:pPr>
            <a:r>
              <a:rPr lang="en-US" sz="1600" dirty="0">
                <a:solidFill>
                  <a:srgbClr val="464646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600" u="sng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600" dirty="0">
                <a:solidFill>
                  <a:srgbClr val="0070C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Describe and explain how a lesson is intentionally structured to build student understanding</a:t>
            </a:r>
          </a:p>
          <a:p>
            <a:r>
              <a:rPr lang="en-US" dirty="0"/>
              <a:t>Identify and evaluate how learning is sequenced within a single lesson to build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list of skills below and place them in order from the skill that is taught first to the skill that is taught last.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an essay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Drawing a line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complete sentence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Drawing a circle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the letter C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simple word</a:t>
            </a:r>
          </a:p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paragraph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Sequencing: Organizing concepts in an order that starts simply and build in complexity.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Example of Sequencing in a Lesson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4BD214-C2B8-4F08-86CE-1AB1312E6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597122"/>
              </p:ext>
            </p:extLst>
          </p:nvPr>
        </p:nvGraphicFramePr>
        <p:xfrm>
          <a:off x="1678983" y="2123268"/>
          <a:ext cx="8834033" cy="38435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8181">
                  <a:extLst>
                    <a:ext uri="{9D8B030D-6E8A-4147-A177-3AD203B41FA5}">
                      <a16:colId xmlns:a16="http://schemas.microsoft.com/office/drawing/2014/main" val="2924339352"/>
                    </a:ext>
                  </a:extLst>
                </a:gridCol>
                <a:gridCol w="6625852">
                  <a:extLst>
                    <a:ext uri="{9D8B030D-6E8A-4147-A177-3AD203B41FA5}">
                      <a16:colId xmlns:a16="http://schemas.microsoft.com/office/drawing/2014/main" val="1620160735"/>
                    </a:ext>
                  </a:extLst>
                </a:gridCol>
              </a:tblGrid>
              <a:tr h="34941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Activity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Skills/Concepts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044229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Warm-up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Producing short vowel sounds for i, a, and o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4247762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Sound Riddles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Repeat, identify, and produce words with /b/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999462"/>
                  </a:ext>
                </a:extLst>
              </a:tr>
              <a:tr h="698833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Minimal Pairs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Recognizing the difference between the /b/ sound and /p/ sound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3136382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Rhyming Words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Identifying rhyming words with /b/ and /p/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3026104"/>
                  </a:ext>
                </a:extLst>
              </a:tr>
              <a:tr h="698833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Spelling /b/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Teacher models how to write B, students practice writing 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2037572"/>
                  </a:ext>
                </a:extLst>
              </a:tr>
              <a:tr h="104825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Student Chaining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Students make new words from old words by chaining one letter in the word. All the words use the short vowels o, a, and </a:t>
                      </a:r>
                      <a:r>
                        <a:rPr lang="en-US" sz="2000" dirty="0" err="1">
                          <a:effectLst/>
                        </a:rPr>
                        <a:t>i</a:t>
                      </a:r>
                      <a:r>
                        <a:rPr lang="en-US" sz="2000" dirty="0">
                          <a:effectLst/>
                        </a:rPr>
                        <a:t> and the /b/ and /p/ sounds.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2942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1ACB-EEEE-4E3E-AC1C-1C92404B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Activities Students will Engage With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04EF9DD-83B8-54EF-21DC-EA2BA40B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3039605"/>
            <a:ext cx="3932237" cy="778790"/>
          </a:xfrm>
        </p:spPr>
        <p:txBody>
          <a:bodyPr/>
          <a:lstStyle/>
          <a:p>
            <a:r>
              <a:rPr lang="en-US" dirty="0"/>
              <a:t>Read through the activities the students will engage in during the lesson.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Content Placeholder 4" descr="An excerpt from Amplify Texas Elementary curriculum for Kindergarten. This unit is accessible with a login at https://elementaryliteracyprogram.amplify.com/assets/m/87ef0cd9d1e71ce/original/GK_U05_TG_TXED21.pdf?1D33A20B-98F2-46D0-A7FAD5D2D155B017&amp;client_id=elementary-ela-core&amp;redirect_uri=https%3A%2F%2Felementaryliteracyprogram.amplify.com%2F&amp;state=a0a5b825-a38e-448d-8065-051a4b6be348&amp;response_mode=fragment&amp;response_type=code&amp;scope=openid&amp;nonce=744a792e-4607-442a-8736-636356645a1b">
            <a:extLst>
              <a:ext uri="{FF2B5EF4-FFF2-40B4-BE49-F238E27FC236}">
                <a16:creationId xmlns:a16="http://schemas.microsoft.com/office/drawing/2014/main" id="{3285D98D-C903-4615-A654-8B6435DF70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tretch/>
        </p:blipFill>
        <p:spPr>
          <a:xfrm>
            <a:off x="6096000" y="1257300"/>
            <a:ext cx="3996372" cy="4873625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CD3DC-D0F1-4C47-8CF7-DB4E958F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3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Non-Example of Sequencing in a Lesson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C682A9-ED4C-4C4F-B426-DD8874C2C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019091"/>
              </p:ext>
            </p:extLst>
          </p:nvPr>
        </p:nvGraphicFramePr>
        <p:xfrm>
          <a:off x="1121690" y="2318690"/>
          <a:ext cx="9948620" cy="35767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25520">
                  <a:extLst>
                    <a:ext uri="{9D8B030D-6E8A-4147-A177-3AD203B41FA5}">
                      <a16:colId xmlns:a16="http://schemas.microsoft.com/office/drawing/2014/main" val="2924815910"/>
                    </a:ext>
                  </a:extLst>
                </a:gridCol>
                <a:gridCol w="8223100">
                  <a:extLst>
                    <a:ext uri="{9D8B030D-6E8A-4147-A177-3AD203B41FA5}">
                      <a16:colId xmlns:a16="http://schemas.microsoft.com/office/drawing/2014/main" val="3424344006"/>
                    </a:ext>
                  </a:extLst>
                </a:gridCol>
              </a:tblGrid>
              <a:tr h="423877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Activity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Skills/Concepts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741415"/>
                  </a:ext>
                </a:extLst>
              </a:tr>
              <a:tr h="423877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Story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Listen for words that begin with ‘b’ and clap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634383"/>
                  </a:ext>
                </a:extLst>
              </a:tr>
              <a:tr h="847754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Circle Map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Students name items from the story that started with letter ‘b’ – teacher adds to the circle map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1654118"/>
                  </a:ext>
                </a:extLst>
              </a:tr>
              <a:tr h="1271629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Letter ‘b’ with string cheese and pretzels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Students make upper- and lowercase ‘b’ with string cheese and pretzels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6451916"/>
                  </a:ext>
                </a:extLst>
              </a:tr>
              <a:tr h="603528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CVC Worksheet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Students write CVC words with initial and final ‘b’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57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662D42C-3F61-4F45-B354-573AE0313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2" y="1546395"/>
            <a:ext cx="1201277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following lesson sequence and determine if the learning is structured to build student understanding.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not, make suggestions for how the teacher could better sequence the instruction.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084D8B-9C63-4129-934A-F0884921D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259739"/>
              </p:ext>
            </p:extLst>
          </p:nvPr>
        </p:nvGraphicFramePr>
        <p:xfrm>
          <a:off x="838200" y="2871958"/>
          <a:ext cx="5826125" cy="59848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val="2653577652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3411638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Standard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2.5A - determine the value of a collection of coins up to one dollar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36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Objectives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</a:rPr>
                        <a:t>Demonstrate understanding of coin values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</a:rPr>
                        <a:t>Create coin combinations that are equal to one dollar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79524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F78F49-263A-4FA0-9A4F-703F5C9A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58651"/>
              </p:ext>
            </p:extLst>
          </p:nvPr>
        </p:nvGraphicFramePr>
        <p:xfrm>
          <a:off x="838199" y="3935832"/>
          <a:ext cx="5826125" cy="1188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82725">
                  <a:extLst>
                    <a:ext uri="{9D8B030D-6E8A-4147-A177-3AD203B41FA5}">
                      <a16:colId xmlns:a16="http://schemas.microsoft.com/office/drawing/2014/main" val="2126263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574918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Activity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Skills/Concepts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594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The Coin Counting Book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</a:rPr>
                        <a:t>The teacher introduces counting money by reading the Coin Counting Book by Rozanne </a:t>
                      </a:r>
                      <a:r>
                        <a:rPr lang="en-US" sz="1100" dirty="0" err="1">
                          <a:effectLst/>
                        </a:rPr>
                        <a:t>Lanczak</a:t>
                      </a:r>
                      <a:r>
                        <a:rPr lang="en-US" sz="1100" dirty="0">
                          <a:effectLst/>
                        </a:rPr>
                        <a:t> Williams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4849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Review of Coin Values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Teacher holds up a picture of a coin and students tell the 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213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Guided Practice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Each student is assigned a specific coin to represent. Students stand up and group with other students to make a dollar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334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Independent Practice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</a:rPr>
                        <a:t>Students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draw and label four different coin combinations to make a dollar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93312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F4B19C2-9815-45A0-8FBB-237B5DBEF8D2}"/>
              </a:ext>
            </a:extLst>
          </p:cNvPr>
          <p:cNvSpPr txBox="1"/>
          <p:nvPr/>
        </p:nvSpPr>
        <p:spPr>
          <a:xfrm>
            <a:off x="7071919" y="2648890"/>
            <a:ext cx="4402325" cy="355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you notice about how the learning is sequenced? What could the teacher do to better sequence the instruction and build student understanding?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 to the following questions: 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intentionally sequencing the concepts and skills in a lesson support student learning?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the sequencing of a lesson relate to the Science of Learning?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might be the impact of a lesson where the learning is not sequenced?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66</TotalTime>
  <Words>586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Instructional Practices| Unit 6: Instructional Alignment| Lesson 6.06</vt:lpstr>
      <vt:lpstr>TEKS Standards &amp; Objectives</vt:lpstr>
      <vt:lpstr>Bellringer</vt:lpstr>
      <vt:lpstr>Vocabulary</vt:lpstr>
      <vt:lpstr>Example of Sequencing in a Lesson</vt:lpstr>
      <vt:lpstr>Activities Students will Engage With</vt:lpstr>
      <vt:lpstr>Non-Example of Sequencing in a Lesson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6.06: Sequencing the Content of a Lesson</dc:title>
  <dc:subject>Lesson 6.06: Sequencing the Content of a Lesson</dc:subject>
  <dc:creator>Texas Education Agency</dc:creator>
  <cp:lastModifiedBy>London White</cp:lastModifiedBy>
  <cp:revision>2</cp:revision>
  <dcterms:created xsi:type="dcterms:W3CDTF">2022-09-17T16:58:57Z</dcterms:created>
  <dcterms:modified xsi:type="dcterms:W3CDTF">2023-08-31T04:38:58Z</dcterms:modified>
</cp:coreProperties>
</file>
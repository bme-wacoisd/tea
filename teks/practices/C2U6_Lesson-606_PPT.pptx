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8" r:id="rId4"/>
    <p:sldId id="261" r:id="rId5"/>
    <p:sldId id="264" r:id="rId6"/>
    <p:sldId id="265" r:id="rId7"/>
    <p:sldId id="263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70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9/17/2022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9/17/2022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9/17/2022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9/17/2022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9/17/2022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487700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6: Instructional Alignment| Lesson 6.06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Sequencing the Content of a Lesson</a:t>
            </a: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TEKS 3B, 6A, 6C, 6F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r>
              <a:rPr lang="en-US" dirty="0"/>
              <a:t>Describe and explain how a lesson is intentionally structured to build student understanding</a:t>
            </a:r>
          </a:p>
          <a:p>
            <a:r>
              <a:rPr lang="en-US" dirty="0"/>
              <a:t>Identify and evaluate how learning is sequenced within a single lesson to build understanding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3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list of skills below and place them in order from the skill that is taught first to the skill that is taught last. </a:t>
            </a: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an essay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Drawing a line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 complete sentence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Drawing a circle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the letter C</a:t>
            </a:r>
          </a:p>
          <a:p>
            <a:pPr algn="ctr">
              <a:lnSpc>
                <a:spcPct val="107000"/>
              </a:lnSpc>
              <a:spcBef>
                <a:spcPts val="0"/>
              </a:spcBef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 simple word</a:t>
            </a:r>
          </a:p>
          <a:p>
            <a:pPr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Writing a paragraph</a:t>
            </a:r>
          </a:p>
          <a:p>
            <a:pPr marL="0" indent="0">
              <a:buNone/>
            </a:pPr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3FDB6-F093-4D9E-B14E-3D7DB894C3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Sequencing: Organizing concepts in an order that starts simply and build in complexity.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Example of Sequencing in a Lesson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94BD214-C2B8-4F08-86CE-1AB1312E60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4597122"/>
              </p:ext>
            </p:extLst>
          </p:nvPr>
        </p:nvGraphicFramePr>
        <p:xfrm>
          <a:off x="1678983" y="2123268"/>
          <a:ext cx="8834033" cy="384358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208181">
                  <a:extLst>
                    <a:ext uri="{9D8B030D-6E8A-4147-A177-3AD203B41FA5}">
                      <a16:colId xmlns:a16="http://schemas.microsoft.com/office/drawing/2014/main" val="2924339352"/>
                    </a:ext>
                  </a:extLst>
                </a:gridCol>
                <a:gridCol w="6625852">
                  <a:extLst>
                    <a:ext uri="{9D8B030D-6E8A-4147-A177-3AD203B41FA5}">
                      <a16:colId xmlns:a16="http://schemas.microsoft.com/office/drawing/2014/main" val="1620160735"/>
                    </a:ext>
                  </a:extLst>
                </a:gridCol>
              </a:tblGrid>
              <a:tr h="349416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Activity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Skills/Concepts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0044229"/>
                  </a:ext>
                </a:extLst>
              </a:tr>
              <a:tr h="349416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Warm-up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Producing short vowel sounds for i, a, and o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4247762"/>
                  </a:ext>
                </a:extLst>
              </a:tr>
              <a:tr h="349416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Sound Riddles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Repeat, identify, and produce words with /b/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5999462"/>
                  </a:ext>
                </a:extLst>
              </a:tr>
              <a:tr h="698833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Minimal Pairs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Recognizing the difference between the /b/ sound and /p/ sound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83136382"/>
                  </a:ext>
                </a:extLst>
              </a:tr>
              <a:tr h="349416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Rhyming Words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Identifying rhyming words with /b/ and /p/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3026104"/>
                  </a:ext>
                </a:extLst>
              </a:tr>
              <a:tr h="698833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Spelling /b/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Teacher models how to write B, students practice writing B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2037572"/>
                  </a:ext>
                </a:extLst>
              </a:tr>
              <a:tr h="1048250"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Student Chaining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l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Students make new words from old words by chaining one letter in the word. All the words use the short vowels o, a, and </a:t>
                      </a:r>
                      <a:r>
                        <a:rPr lang="en-US" sz="2000" dirty="0" err="1">
                          <a:effectLst/>
                        </a:rPr>
                        <a:t>i</a:t>
                      </a:r>
                      <a:r>
                        <a:rPr lang="en-US" sz="2000" dirty="0">
                          <a:effectLst/>
                        </a:rPr>
                        <a:t> and the /b/ and /p/ sounds.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1729420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1ACB-EEEE-4E3E-AC1C-1C92404BE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dirty="0"/>
              <a:t>Activities Students will Engage With</a:t>
            </a:r>
          </a:p>
        </p:txBody>
      </p:sp>
      <p:pic>
        <p:nvPicPr>
          <p:cNvPr id="5" name="Content Placeholder 4" descr="Text&#10;&#10;Description automatically generated with low confidence">
            <a:extLst>
              <a:ext uri="{FF2B5EF4-FFF2-40B4-BE49-F238E27FC236}">
                <a16:creationId xmlns:a16="http://schemas.microsoft.com/office/drawing/2014/main" id="{3285D98D-C903-4615-A654-8B6435DF705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tretch/>
        </p:blipFill>
        <p:spPr>
          <a:xfrm>
            <a:off x="6096000" y="1257300"/>
            <a:ext cx="3996372" cy="4873625"/>
          </a:xfrm>
          <a:prstGeom prst="rect">
            <a:avLst/>
          </a:prstGeom>
          <a:noFill/>
        </p:spPr>
      </p:pic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004EF9DD-83B8-54EF-21DC-EA2BA40B0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7" y="3039605"/>
            <a:ext cx="3932237" cy="778790"/>
          </a:xfrm>
        </p:spPr>
        <p:txBody>
          <a:bodyPr/>
          <a:lstStyle/>
          <a:p>
            <a:r>
              <a:rPr lang="en-US" dirty="0"/>
              <a:t>Read through the activities the students will engage in during the lesson.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CD3DC-D0F1-4C47-8CF7-DB4E958F5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2D56C8B-F564-4051-AFED-A78F1C6A2F0E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4321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ECDB3-7F62-4124-A1E9-E48D699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Non-Example of Sequencing in a Lesson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6C682A9-ED4C-4C4F-B426-DD8874C2C0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8019091"/>
              </p:ext>
            </p:extLst>
          </p:nvPr>
        </p:nvGraphicFramePr>
        <p:xfrm>
          <a:off x="1121690" y="2318690"/>
          <a:ext cx="9948620" cy="3576737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725520">
                  <a:extLst>
                    <a:ext uri="{9D8B030D-6E8A-4147-A177-3AD203B41FA5}">
                      <a16:colId xmlns:a16="http://schemas.microsoft.com/office/drawing/2014/main" val="2924815910"/>
                    </a:ext>
                  </a:extLst>
                </a:gridCol>
                <a:gridCol w="8223100">
                  <a:extLst>
                    <a:ext uri="{9D8B030D-6E8A-4147-A177-3AD203B41FA5}">
                      <a16:colId xmlns:a16="http://schemas.microsoft.com/office/drawing/2014/main" val="3424344006"/>
                    </a:ext>
                  </a:extLst>
                </a:gridCol>
              </a:tblGrid>
              <a:tr h="423877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Activity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Skills/Concepts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0741415"/>
                  </a:ext>
                </a:extLst>
              </a:tr>
              <a:tr h="423877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Story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Listen for words that begin with ‘b’ and clap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6634383"/>
                  </a:ext>
                </a:extLst>
              </a:tr>
              <a:tr h="847754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Circle Map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Students name items from the story that started with letter ‘b’ – teacher adds to the circle map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1654118"/>
                  </a:ext>
                </a:extLst>
              </a:tr>
              <a:tr h="1271629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Letter ‘b’ with string cheese and pretzels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>
                          <a:effectLst/>
                        </a:rPr>
                        <a:t>Students make upper- and lowercase ‘b’ with string cheese and pretzels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6451916"/>
                  </a:ext>
                </a:extLst>
              </a:tr>
              <a:tr h="603528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CVC Worksheet</a:t>
                      </a:r>
                      <a:endParaRPr lang="en-US" sz="20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2000" dirty="0">
                          <a:effectLst/>
                        </a:rPr>
                        <a:t>Students write CVC words with initial and final ‘b’</a:t>
                      </a:r>
                      <a:endParaRPr lang="en-US" sz="2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65754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7159D5-CAC3-47F8-8492-7D28C15A3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931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084D8B-9C63-4129-934A-F0884921D8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5259739"/>
              </p:ext>
            </p:extLst>
          </p:nvPr>
        </p:nvGraphicFramePr>
        <p:xfrm>
          <a:off x="838200" y="2871958"/>
          <a:ext cx="5826125" cy="59848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911225">
                  <a:extLst>
                    <a:ext uri="{9D8B030D-6E8A-4147-A177-3AD203B41FA5}">
                      <a16:colId xmlns:a16="http://schemas.microsoft.com/office/drawing/2014/main" val="2653577652"/>
                    </a:ext>
                  </a:extLst>
                </a:gridCol>
                <a:gridCol w="4914900">
                  <a:extLst>
                    <a:ext uri="{9D8B030D-6E8A-4147-A177-3AD203B41FA5}">
                      <a16:colId xmlns:a16="http://schemas.microsoft.com/office/drawing/2014/main" val="341163864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Standard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2.5A - determine the value of a collection of coins up to one dollar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369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Objectives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100" dirty="0">
                          <a:effectLst/>
                        </a:rPr>
                        <a:t>Demonstrate understanding of coin values</a:t>
                      </a:r>
                    </a:p>
                    <a:p>
                      <a:pPr marL="342900" marR="0" lvl="0" indent="-342900">
                        <a:lnSpc>
                          <a:spcPct val="107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n-US" sz="1100" dirty="0">
                          <a:effectLst/>
                        </a:rPr>
                        <a:t>Create coin combinations that are equal to one dollar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795246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F78F49-263A-4FA0-9A4F-703F5C9A52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9758651"/>
              </p:ext>
            </p:extLst>
          </p:nvPr>
        </p:nvGraphicFramePr>
        <p:xfrm>
          <a:off x="838199" y="3935832"/>
          <a:ext cx="5826125" cy="118872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482725">
                  <a:extLst>
                    <a:ext uri="{9D8B030D-6E8A-4147-A177-3AD203B41FA5}">
                      <a16:colId xmlns:a16="http://schemas.microsoft.com/office/drawing/2014/main" val="2126263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574918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Activity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 algn="ctr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Skills/Concepts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159416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The Coin Counting Book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 dirty="0">
                          <a:effectLst/>
                        </a:rPr>
                        <a:t>The teacher introduces counting money by reading the Coin Counting Book by Rozanne </a:t>
                      </a:r>
                      <a:r>
                        <a:rPr lang="en-US" sz="1100" dirty="0" err="1">
                          <a:effectLst/>
                        </a:rPr>
                        <a:t>Lanczak</a:t>
                      </a:r>
                      <a:r>
                        <a:rPr lang="en-US" sz="1100" dirty="0">
                          <a:effectLst/>
                        </a:rPr>
                        <a:t> Williams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74849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Review of Coin Values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Teacher holds up a picture of a coin and students tell the value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92138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Guided Practice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>
                          <a:effectLst/>
                        </a:rPr>
                        <a:t>Each student is assigned a specific coin to represent. Students stand up and group with other students to make a dollar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933440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Independent Practice</a:t>
                      </a:r>
                      <a:endParaRPr lang="en-U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indent="0"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US" sz="1100" dirty="0">
                          <a:effectLst/>
                        </a:rPr>
                        <a:t>Students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draw and label four different coin combinations to make a dollar</a:t>
                      </a:r>
                      <a:endParaRPr lang="en-U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1933122"/>
                  </a:ext>
                </a:extLst>
              </a:tr>
            </a:tbl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E662D42C-3F61-4F45-B354-573AE03132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612" y="1546395"/>
            <a:ext cx="12012776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Look at the following lesson sequence and determine if the learning is structured to build student understanding.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If not, make suggestions for how the teacher could better sequence the instruction. 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4B19C2-9815-45A0-8FBB-237B5DBEF8D2}"/>
              </a:ext>
            </a:extLst>
          </p:cNvPr>
          <p:cNvSpPr txBox="1"/>
          <p:nvPr/>
        </p:nvSpPr>
        <p:spPr>
          <a:xfrm>
            <a:off x="7071919" y="2648890"/>
            <a:ext cx="4402325" cy="3550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do you notice about how the learning is sequenced? What could the teacher do to better sequence the instruction and build student understanding?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Respond to the following questions: </a:t>
            </a:r>
          </a:p>
          <a:p>
            <a:pPr marL="228600" marR="0" lvl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intentionally sequencing the concepts and skills in a lesson support student learning?</a:t>
            </a:r>
          </a:p>
          <a:p>
            <a:pPr marL="228600" marR="0" lvl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does the sequencing of a lesson relate to the Science of Learning?</a:t>
            </a:r>
          </a:p>
          <a:p>
            <a:pPr marL="228600" marR="0" lvl="0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What might be the impact of a lesson where the learning is not sequenced?</a:t>
            </a:r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2U6 Template" id="{AF0A3B9D-A4D4-43B9-877C-DC7685DF529F}" vid="{24BCECEA-A865-4364-8D35-4F287E7D5DE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C2U6 Template</Template>
  <TotalTime>65</TotalTime>
  <Words>572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Symbol</vt:lpstr>
      <vt:lpstr>Office Theme</vt:lpstr>
      <vt:lpstr>Instructional Practices| Unit 6: Instructional Alignment| Lesson 6.06</vt:lpstr>
      <vt:lpstr>TEKS Standards &amp; Objectives</vt:lpstr>
      <vt:lpstr>Bellringer</vt:lpstr>
      <vt:lpstr>Vocabulary</vt:lpstr>
      <vt:lpstr>Example of Sequencing in a Lesson</vt:lpstr>
      <vt:lpstr>Activities Students will Engage With</vt:lpstr>
      <vt:lpstr>Non-Example of Sequencing in a Lesson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6.06: Sequencing the Content of a Lesson</dc:title>
  <dc:subject>Lesson 6.06: Sequencing the Content of a Lesson</dc:subject>
  <dc:creator>Texas Education Agency</dc:creator>
  <cp:lastModifiedBy>White (she/her), Whitney</cp:lastModifiedBy>
  <cp:revision>1</cp:revision>
  <dcterms:created xsi:type="dcterms:W3CDTF">2022-09-17T16:58:57Z</dcterms:created>
  <dcterms:modified xsi:type="dcterms:W3CDTF">2022-09-17T18:04:19Z</dcterms:modified>
</cp:coreProperties>
</file>
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  <p:sldMasterId id="2147483658" r:id="rId2"/>
  </p:sldMasterIdLst>
  <p:notesMasterIdLst>
    <p:notesMasterId r:id="rId11"/>
  </p:notesMasterIdLst>
  <p:sldIdLst>
    <p:sldId id="256" r:id="rId3"/>
    <p:sldId id="259" r:id="rId4"/>
    <p:sldId id="258" r:id="rId5"/>
    <p:sldId id="261" r:id="rId6"/>
    <p:sldId id="264" r:id="rId7"/>
    <p:sldId id="294" r:id="rId8"/>
    <p:sldId id="263" r:id="rId9"/>
    <p:sldId id="260" r:id="rId1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0000"/>
    <a:srgbClr val="780000"/>
    <a:srgbClr val="000000"/>
    <a:srgbClr val="007800"/>
    <a:srgbClr val="FF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B1E6E8F8-4BC8-4710-B2F3-575FAE3556D0}" v="7" dt="2022-09-18T03:18:21.707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063" autoAdjust="0"/>
    <p:restoredTop sz="96370" autoAdjust="0"/>
  </p:normalViewPr>
  <p:slideViewPr>
    <p:cSldViewPr snapToGrid="0">
      <p:cViewPr varScale="1">
        <p:scale>
          <a:sx n="110" d="100"/>
          <a:sy n="110" d="100"/>
        </p:scale>
        <p:origin x="426" y="108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viewProps" Target="viewProps.xml"/><Relationship Id="rId3" Type="http://schemas.openxmlformats.org/officeDocument/2006/relationships/slide" Target="slides/slide1.xml"/><Relationship Id="rId7" Type="http://schemas.openxmlformats.org/officeDocument/2006/relationships/slide" Target="slides/slide5.xml"/><Relationship Id="rId12" Type="http://schemas.openxmlformats.org/officeDocument/2006/relationships/presProps" Target="presProps.xml"/><Relationship Id="rId17" Type="http://schemas.microsoft.com/office/2015/10/relationships/revisionInfo" Target="revisionInfo.xml"/><Relationship Id="rId2" Type="http://schemas.openxmlformats.org/officeDocument/2006/relationships/slideMaster" Target="slideMasters/slideMaster2.xml"/><Relationship Id="rId16" Type="http://schemas.microsoft.com/office/2016/11/relationships/changesInfo" Target="changesInfos/changesInfo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3.xml"/><Relationship Id="rId15" Type="http://schemas.openxmlformats.org/officeDocument/2006/relationships/tableStyles" Target="tableStyles.xml"/><Relationship Id="rId10" Type="http://schemas.openxmlformats.org/officeDocument/2006/relationships/slide" Target="slides/slide8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White (she/her), Whitney" userId="65f39021-2f1d-4d8b-87dc-b123826f65bf" providerId="ADAL" clId="{B1E6E8F8-4BC8-4710-B2F3-575FAE3556D0}"/>
    <pc:docChg chg="custSel addSld delSld modSld sldOrd">
      <pc:chgData name="White (she/her), Whitney" userId="65f39021-2f1d-4d8b-87dc-b123826f65bf" providerId="ADAL" clId="{B1E6E8F8-4BC8-4710-B2F3-575FAE3556D0}" dt="2022-09-18T03:18:04.820" v="402" actId="20577"/>
      <pc:docMkLst>
        <pc:docMk/>
      </pc:docMkLst>
      <pc:sldChg chg="modSp mod">
        <pc:chgData name="White (she/her), Whitney" userId="65f39021-2f1d-4d8b-87dc-b123826f65bf" providerId="ADAL" clId="{B1E6E8F8-4BC8-4710-B2F3-575FAE3556D0}" dt="2022-09-18T03:05:03.199" v="49" actId="13926"/>
        <pc:sldMkLst>
          <pc:docMk/>
          <pc:sldMk cId="1482277026" sldId="256"/>
        </pc:sldMkLst>
        <pc:spChg chg="mod">
          <ac:chgData name="White (she/her), Whitney" userId="65f39021-2f1d-4d8b-87dc-b123826f65bf" providerId="ADAL" clId="{B1E6E8F8-4BC8-4710-B2F3-575FAE3556D0}" dt="2022-09-18T03:05:03.199" v="49" actId="13926"/>
          <ac:spMkLst>
            <pc:docMk/>
            <pc:sldMk cId="1482277026" sldId="256"/>
            <ac:spMk id="2" creationId="{BFFCF5BD-F8FF-4A67-A8B6-EBB21E79279B}"/>
          </ac:spMkLst>
        </pc:spChg>
        <pc:spChg chg="mod">
          <ac:chgData name="White (she/her), Whitney" userId="65f39021-2f1d-4d8b-87dc-b123826f65bf" providerId="ADAL" clId="{B1E6E8F8-4BC8-4710-B2F3-575FAE3556D0}" dt="2022-09-18T03:04:57.766" v="44" actId="13926"/>
          <ac:spMkLst>
            <pc:docMk/>
            <pc:sldMk cId="1482277026" sldId="256"/>
            <ac:spMk id="3" creationId="{E0FBD98F-3A67-498E-8174-652040DD7B60}"/>
          </ac:spMkLst>
        </pc:spChg>
      </pc:sldChg>
      <pc:sldChg chg="modSp mod">
        <pc:chgData name="White (she/her), Whitney" userId="65f39021-2f1d-4d8b-87dc-b123826f65bf" providerId="ADAL" clId="{B1E6E8F8-4BC8-4710-B2F3-575FAE3556D0}" dt="2022-09-18T03:06:55.050" v="91" actId="404"/>
        <pc:sldMkLst>
          <pc:docMk/>
          <pc:sldMk cId="4071305681" sldId="258"/>
        </pc:sldMkLst>
        <pc:spChg chg="mod">
          <ac:chgData name="White (she/her), Whitney" userId="65f39021-2f1d-4d8b-87dc-b123826f65bf" providerId="ADAL" clId="{B1E6E8F8-4BC8-4710-B2F3-575FAE3556D0}" dt="2022-09-18T03:06:55.050" v="91" actId="404"/>
          <ac:spMkLst>
            <pc:docMk/>
            <pc:sldMk cId="4071305681" sldId="258"/>
            <ac:spMk id="3" creationId="{392BE286-77A6-49DD-B15D-7E4718D52FE7}"/>
          </ac:spMkLst>
        </pc:spChg>
      </pc:sldChg>
      <pc:sldChg chg="modSp mod">
        <pc:chgData name="White (she/her), Whitney" userId="65f39021-2f1d-4d8b-87dc-b123826f65bf" providerId="ADAL" clId="{B1E6E8F8-4BC8-4710-B2F3-575FAE3556D0}" dt="2022-09-18T03:06:06.420" v="77" actId="403"/>
        <pc:sldMkLst>
          <pc:docMk/>
          <pc:sldMk cId="2772527113" sldId="259"/>
        </pc:sldMkLst>
        <pc:spChg chg="mod">
          <ac:chgData name="White (she/her), Whitney" userId="65f39021-2f1d-4d8b-87dc-b123826f65bf" providerId="ADAL" clId="{B1E6E8F8-4BC8-4710-B2F3-575FAE3556D0}" dt="2022-09-18T03:06:06.420" v="77" actId="403"/>
          <ac:spMkLst>
            <pc:docMk/>
            <pc:sldMk cId="2772527113" sldId="259"/>
            <ac:spMk id="3" creationId="{8CE08C7F-0286-423B-92F7-DEB89F31111A}"/>
          </ac:spMkLst>
        </pc:spChg>
      </pc:sldChg>
      <pc:sldChg chg="modSp mod">
        <pc:chgData name="White (she/her), Whitney" userId="65f39021-2f1d-4d8b-87dc-b123826f65bf" providerId="ADAL" clId="{B1E6E8F8-4BC8-4710-B2F3-575FAE3556D0}" dt="2022-09-18T03:18:04.820" v="402" actId="20577"/>
        <pc:sldMkLst>
          <pc:docMk/>
          <pc:sldMk cId="2147408764" sldId="260"/>
        </pc:sldMkLst>
        <pc:spChg chg="mod">
          <ac:chgData name="White (she/her), Whitney" userId="65f39021-2f1d-4d8b-87dc-b123826f65bf" providerId="ADAL" clId="{B1E6E8F8-4BC8-4710-B2F3-575FAE3556D0}" dt="2022-09-18T03:18:04.820" v="402" actId="20577"/>
          <ac:spMkLst>
            <pc:docMk/>
            <pc:sldMk cId="2147408764" sldId="260"/>
            <ac:spMk id="3" creationId="{49F2A5AF-3C0B-4968-A438-E435325199EA}"/>
          </ac:spMkLst>
        </pc:spChg>
      </pc:sldChg>
      <pc:sldChg chg="addSp delSp modSp mod">
        <pc:chgData name="White (she/her), Whitney" userId="65f39021-2f1d-4d8b-87dc-b123826f65bf" providerId="ADAL" clId="{B1E6E8F8-4BC8-4710-B2F3-575FAE3556D0}" dt="2022-09-18T03:10:31.454" v="104" actId="1076"/>
        <pc:sldMkLst>
          <pc:docMk/>
          <pc:sldMk cId="3054216349" sldId="261"/>
        </pc:sldMkLst>
        <pc:spChg chg="del mod">
          <ac:chgData name="White (she/her), Whitney" userId="65f39021-2f1d-4d8b-87dc-b123826f65bf" providerId="ADAL" clId="{B1E6E8F8-4BC8-4710-B2F3-575FAE3556D0}" dt="2022-09-18T03:10:07.208" v="93"/>
          <ac:spMkLst>
            <pc:docMk/>
            <pc:sldMk cId="3054216349" sldId="261"/>
            <ac:spMk id="3" creationId="{AE13FDB6-F093-4D9E-B14E-3D7DB894C34C}"/>
          </ac:spMkLst>
        </pc:spChg>
        <pc:graphicFrameChg chg="add mod modGraphic">
          <ac:chgData name="White (she/her), Whitney" userId="65f39021-2f1d-4d8b-87dc-b123826f65bf" providerId="ADAL" clId="{B1E6E8F8-4BC8-4710-B2F3-575FAE3556D0}" dt="2022-09-18T03:10:31.454" v="104" actId="1076"/>
          <ac:graphicFrameMkLst>
            <pc:docMk/>
            <pc:sldMk cId="3054216349" sldId="261"/>
            <ac:graphicFrameMk id="5" creationId="{0FA7CAF9-C52E-4AF2-93BB-A7714F53880D}"/>
          </ac:graphicFrameMkLst>
        </pc:graphicFrameChg>
      </pc:sldChg>
      <pc:sldChg chg="del">
        <pc:chgData name="White (she/her), Whitney" userId="65f39021-2f1d-4d8b-87dc-b123826f65bf" providerId="ADAL" clId="{B1E6E8F8-4BC8-4710-B2F3-575FAE3556D0}" dt="2022-09-18T03:17:49.727" v="373" actId="2696"/>
        <pc:sldMkLst>
          <pc:docMk/>
          <pc:sldMk cId="4170921578" sldId="262"/>
        </pc:sldMkLst>
      </pc:sldChg>
      <pc:sldChg chg="addSp modSp mod modClrScheme chgLayout">
        <pc:chgData name="White (she/her), Whitney" userId="65f39021-2f1d-4d8b-87dc-b123826f65bf" providerId="ADAL" clId="{B1E6E8F8-4BC8-4710-B2F3-575FAE3556D0}" dt="2022-09-18T03:15:06.771" v="366" actId="403"/>
        <pc:sldMkLst>
          <pc:docMk/>
          <pc:sldMk cId="1163931679" sldId="263"/>
        </pc:sldMkLst>
        <pc:spChg chg="mod ord">
          <ac:chgData name="White (she/her), Whitney" userId="65f39021-2f1d-4d8b-87dc-b123826f65bf" providerId="ADAL" clId="{B1E6E8F8-4BC8-4710-B2F3-575FAE3556D0}" dt="2022-09-18T03:13:52.906" v="314" actId="255"/>
          <ac:spMkLst>
            <pc:docMk/>
            <pc:sldMk cId="1163931679" sldId="263"/>
            <ac:spMk id="2" creationId="{531ECDB3-7F62-4124-A1E9-E48D699D2427}"/>
          </ac:spMkLst>
        </pc:spChg>
        <pc:spChg chg="mod ord">
          <ac:chgData name="White (she/her), Whitney" userId="65f39021-2f1d-4d8b-87dc-b123826f65bf" providerId="ADAL" clId="{B1E6E8F8-4BC8-4710-B2F3-575FAE3556D0}" dt="2022-09-18T03:14:41.817" v="359" actId="27636"/>
          <ac:spMkLst>
            <pc:docMk/>
            <pc:sldMk cId="1163931679" sldId="263"/>
            <ac:spMk id="3" creationId="{012C84E3-4C09-4253-8964-13B9C34E5E48}"/>
          </ac:spMkLst>
        </pc:spChg>
        <pc:spChg chg="mod ord">
          <ac:chgData name="White (she/her), Whitney" userId="65f39021-2f1d-4d8b-87dc-b123826f65bf" providerId="ADAL" clId="{B1E6E8F8-4BC8-4710-B2F3-575FAE3556D0}" dt="2022-09-18T03:13:16.984" v="299" actId="700"/>
          <ac:spMkLst>
            <pc:docMk/>
            <pc:sldMk cId="1163931679" sldId="263"/>
            <ac:spMk id="4" creationId="{497159D5-CAC3-47F8-8492-7D28C15A3A58}"/>
          </ac:spMkLst>
        </pc:spChg>
        <pc:spChg chg="add mod ord">
          <ac:chgData name="White (she/her), Whitney" userId="65f39021-2f1d-4d8b-87dc-b123826f65bf" providerId="ADAL" clId="{B1E6E8F8-4BC8-4710-B2F3-575FAE3556D0}" dt="2022-09-18T03:15:06.771" v="366" actId="403"/>
          <ac:spMkLst>
            <pc:docMk/>
            <pc:sldMk cId="1163931679" sldId="263"/>
            <ac:spMk id="5" creationId="{50E13DDA-93C4-45BA-B209-D5212074D845}"/>
          </ac:spMkLst>
        </pc:spChg>
      </pc:sldChg>
      <pc:sldChg chg="modSp mod">
        <pc:chgData name="White (she/her), Whitney" userId="65f39021-2f1d-4d8b-87dc-b123826f65bf" providerId="ADAL" clId="{B1E6E8F8-4BC8-4710-B2F3-575FAE3556D0}" dt="2022-09-18T03:11:09.786" v="143" actId="13926"/>
        <pc:sldMkLst>
          <pc:docMk/>
          <pc:sldMk cId="3493109116" sldId="264"/>
        </pc:sldMkLst>
        <pc:spChg chg="mod">
          <ac:chgData name="White (she/her), Whitney" userId="65f39021-2f1d-4d8b-87dc-b123826f65bf" providerId="ADAL" clId="{B1E6E8F8-4BC8-4710-B2F3-575FAE3556D0}" dt="2022-09-18T03:11:09.786" v="143" actId="13926"/>
          <ac:spMkLst>
            <pc:docMk/>
            <pc:sldMk cId="3493109116" sldId="264"/>
            <ac:spMk id="2" creationId="{D7836664-70C0-47BA-9BFF-496A04EBBFDE}"/>
          </ac:spMkLst>
        </pc:spChg>
        <pc:spChg chg="mod">
          <ac:chgData name="White (she/her), Whitney" userId="65f39021-2f1d-4d8b-87dc-b123826f65bf" providerId="ADAL" clId="{B1E6E8F8-4BC8-4710-B2F3-575FAE3556D0}" dt="2022-09-18T03:11:06.546" v="142" actId="403"/>
          <ac:spMkLst>
            <pc:docMk/>
            <pc:sldMk cId="3493109116" sldId="264"/>
            <ac:spMk id="3" creationId="{F64339F5-2F5D-46B5-A25D-C197D73747BD}"/>
          </ac:spMkLst>
        </pc:spChg>
      </pc:sldChg>
      <pc:sldChg chg="addSp delSp modSp new del mod ord modClrScheme chgLayout">
        <pc:chgData name="White (she/her), Whitney" userId="65f39021-2f1d-4d8b-87dc-b123826f65bf" providerId="ADAL" clId="{B1E6E8F8-4BC8-4710-B2F3-575FAE3556D0}" dt="2022-09-18T03:16:48.185" v="372" actId="2696"/>
        <pc:sldMkLst>
          <pc:docMk/>
          <pc:sldMk cId="1704105160" sldId="265"/>
        </pc:sldMkLst>
        <pc:spChg chg="del mod ord">
          <ac:chgData name="White (she/her), Whitney" userId="65f39021-2f1d-4d8b-87dc-b123826f65bf" providerId="ADAL" clId="{B1E6E8F8-4BC8-4710-B2F3-575FAE3556D0}" dt="2022-09-18T03:16:41.050" v="370" actId="700"/>
          <ac:spMkLst>
            <pc:docMk/>
            <pc:sldMk cId="1704105160" sldId="265"/>
            <ac:spMk id="2" creationId="{FB7B3078-4370-415D-8E77-0742344382FB}"/>
          </ac:spMkLst>
        </pc:spChg>
        <pc:spChg chg="del">
          <ac:chgData name="White (she/her), Whitney" userId="65f39021-2f1d-4d8b-87dc-b123826f65bf" providerId="ADAL" clId="{B1E6E8F8-4BC8-4710-B2F3-575FAE3556D0}" dt="2022-09-18T03:16:41.050" v="370" actId="700"/>
          <ac:spMkLst>
            <pc:docMk/>
            <pc:sldMk cId="1704105160" sldId="265"/>
            <ac:spMk id="3" creationId="{C0A9FFC6-84C6-4A42-82F6-2BC249705A58}"/>
          </ac:spMkLst>
        </pc:spChg>
        <pc:spChg chg="del">
          <ac:chgData name="White (she/her), Whitney" userId="65f39021-2f1d-4d8b-87dc-b123826f65bf" providerId="ADAL" clId="{B1E6E8F8-4BC8-4710-B2F3-575FAE3556D0}" dt="2022-09-18T03:16:41.050" v="370" actId="700"/>
          <ac:spMkLst>
            <pc:docMk/>
            <pc:sldMk cId="1704105160" sldId="265"/>
            <ac:spMk id="4" creationId="{E72E2E84-023A-4A59-B020-B7360261E9BB}"/>
          </ac:spMkLst>
        </pc:spChg>
        <pc:spChg chg="mod ord">
          <ac:chgData name="White (she/her), Whitney" userId="65f39021-2f1d-4d8b-87dc-b123826f65bf" providerId="ADAL" clId="{B1E6E8F8-4BC8-4710-B2F3-575FAE3556D0}" dt="2022-09-18T03:16:41.050" v="370" actId="700"/>
          <ac:spMkLst>
            <pc:docMk/>
            <pc:sldMk cId="1704105160" sldId="265"/>
            <ac:spMk id="5" creationId="{709B3DD2-C547-4FB8-A57B-9C42A5617833}"/>
          </ac:spMkLst>
        </pc:spChg>
        <pc:spChg chg="add mod ord">
          <ac:chgData name="White (she/her), Whitney" userId="65f39021-2f1d-4d8b-87dc-b123826f65bf" providerId="ADAL" clId="{B1E6E8F8-4BC8-4710-B2F3-575FAE3556D0}" dt="2022-09-18T03:16:41.050" v="370" actId="700"/>
          <ac:spMkLst>
            <pc:docMk/>
            <pc:sldMk cId="1704105160" sldId="265"/>
            <ac:spMk id="6" creationId="{192ED3BD-75FF-4A4D-9B12-1BF2E97ADA16}"/>
          </ac:spMkLst>
        </pc:spChg>
      </pc:sldChg>
      <pc:sldChg chg="add">
        <pc:chgData name="White (she/her), Whitney" userId="65f39021-2f1d-4d8b-87dc-b123826f65bf" providerId="ADAL" clId="{B1E6E8F8-4BC8-4710-B2F3-575FAE3556D0}" dt="2022-09-18T03:16:45.717" v="371"/>
        <pc:sldMkLst>
          <pc:docMk/>
          <pc:sldMk cId="230325457" sldId="294"/>
        </pc:sldMkLst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F5DDE70-9ADB-4C9A-B58D-9BDED1E4A627}" type="datetimeFigureOut">
              <a:rPr lang="en-US" smtClean="0"/>
              <a:t>8/31/2023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8949DE8-90B8-4B66-9B76-C7482BDD03B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288296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0E4FD1-C863-4F6C-BC67-9529A3DF2F5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F02A33A-B5BD-43C3-902B-F6F09D5D238A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insert Lesson Plan Title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D677D06-A159-4AA2-93DA-1C52F18ECB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D4C3A9F1-823B-4DED-8A9C-F71E6CE5796E}" type="datetime1">
              <a:rPr lang="en-US" smtClean="0"/>
              <a:t>8/31/2023</a:t>
            </a:fld>
            <a:endParaRPr lang="en-US" dirty="0"/>
          </a:p>
        </p:txBody>
      </p:sp>
      <p:pic>
        <p:nvPicPr>
          <p:cNvPr id="9" name="Picture 8" descr="Icon. This is TEA's logo.">
            <a:extLst>
              <a:ext uri="{FF2B5EF4-FFF2-40B4-BE49-F238E27FC236}">
                <a16:creationId xmlns:a16="http://schemas.microsoft.com/office/drawing/2014/main" id="{659EBB25-66A1-4A3B-BD33-7EA229672757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668000" y="306635"/>
            <a:ext cx="1085126" cy="532906"/>
          </a:xfrm>
          <a:prstGeom prst="rect">
            <a:avLst/>
          </a:prstGeom>
          <a:noFill/>
          <a:ln>
            <a:noFill/>
          </a:ln>
        </p:spPr>
      </p:pic>
      <p:pic>
        <p:nvPicPr>
          <p:cNvPr id="8" name="Picture 7" descr="Icon&#10;&#10;This is TEA's Education and Training logo.">
            <a:extLst>
              <a:ext uri="{FF2B5EF4-FFF2-40B4-BE49-F238E27FC236}">
                <a16:creationId xmlns:a16="http://schemas.microsoft.com/office/drawing/2014/main" id="{253E1ECF-C55D-47F6-BD1B-E5CFD8AC6DC2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150018" y="5619940"/>
            <a:ext cx="548640" cy="9189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6056372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Icon&#10;&#10;This is TEA's E&amp;T logo.">
            <a:extLst>
              <a:ext uri="{FF2B5EF4-FFF2-40B4-BE49-F238E27FC236}">
                <a16:creationId xmlns:a16="http://schemas.microsoft.com/office/drawing/2014/main" id="{3952EC27-F26B-4322-BE1D-79E86DF93672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alphaModFix amt="3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053548" y="5545525"/>
            <a:ext cx="600503" cy="1005840"/>
          </a:xfrm>
          <a:prstGeom prst="rect">
            <a:avLst/>
          </a:prstGeom>
        </p:spPr>
      </p:pic>
      <p:pic>
        <p:nvPicPr>
          <p:cNvPr id="7" name="Picture 6" descr="Icon.&#10;&#10;This is TEA's logo.">
            <a:extLst>
              <a:ext uri="{FF2B5EF4-FFF2-40B4-BE49-F238E27FC236}">
                <a16:creationId xmlns:a16="http://schemas.microsoft.com/office/drawing/2014/main" id="{5E0CFE64-7D39-43D0-AAFE-02B4F49538FD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alphaModFix amt="3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668000" y="306635"/>
            <a:ext cx="1085126" cy="532906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26C9151B-2AB9-45C2-83BD-E5F2A13853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5CF151C-FCEC-402E-946E-FFBB138CCC8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D2676C1-1BAD-4C95-93B1-0521C60967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BFA63772-DBA2-4AC7-80D7-5D423EA9FA3C}" type="datetime1">
              <a:rPr lang="en-US" smtClean="0"/>
              <a:t>8/31/2023</a:t>
            </a:fld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6950A59-130A-44A5-9168-67E5241BD6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D56C8B-F564-4051-AFED-A78F1C6A2F0E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6639568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Icon&#10;&#10;This is TEA's E&amp;T logo.">
            <a:extLst>
              <a:ext uri="{FF2B5EF4-FFF2-40B4-BE49-F238E27FC236}">
                <a16:creationId xmlns:a16="http://schemas.microsoft.com/office/drawing/2014/main" id="{EB2BA44D-5463-4739-92DD-A12DF6D39EE3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alphaModFix amt="3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053548" y="5545525"/>
            <a:ext cx="600503" cy="1005840"/>
          </a:xfrm>
          <a:prstGeom prst="rect">
            <a:avLst/>
          </a:prstGeom>
        </p:spPr>
      </p:pic>
      <p:pic>
        <p:nvPicPr>
          <p:cNvPr id="8" name="Picture 7" descr="Icon.&#10;&#10;This is TEA's logo.">
            <a:extLst>
              <a:ext uri="{FF2B5EF4-FFF2-40B4-BE49-F238E27FC236}">
                <a16:creationId xmlns:a16="http://schemas.microsoft.com/office/drawing/2014/main" id="{007F5972-B8BD-4624-B605-5D7E30461D9B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alphaModFix amt="3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668000" y="306635"/>
            <a:ext cx="1085126" cy="532906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D2B8D024-2002-4D1F-B2F4-818A3AE1C64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B81A1FD-4443-45CB-9625-00873E1F371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497D6C9-834D-47FE-A0C7-DB3B2E40CB9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C3995EF-AAAA-4FB8-8BC8-3C5C9D7667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D0AFF5-B04B-402F-A66D-73FFE55B90A5}" type="datetime1">
              <a:rPr lang="en-US" smtClean="0"/>
              <a:t>8/31/2023</a:t>
            </a:fld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1949A45-2D3F-45E0-9651-F2BB980730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D56C8B-F564-4051-AFED-A78F1C6A2F0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40404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Icon&#10;&#10;This is TEA's E&amp;T logo.">
            <a:extLst>
              <a:ext uri="{FF2B5EF4-FFF2-40B4-BE49-F238E27FC236}">
                <a16:creationId xmlns:a16="http://schemas.microsoft.com/office/drawing/2014/main" id="{ED6DCFE0-29AE-4AD0-BD08-B81AC0B7E71B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alphaModFix amt="3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053548" y="5545525"/>
            <a:ext cx="600503" cy="1005840"/>
          </a:xfrm>
          <a:prstGeom prst="rect">
            <a:avLst/>
          </a:prstGeom>
        </p:spPr>
      </p:pic>
      <p:pic>
        <p:nvPicPr>
          <p:cNvPr id="6" name="Picture 5" descr="Icon.&#10;&#10;This is TEA's logo.">
            <a:extLst>
              <a:ext uri="{FF2B5EF4-FFF2-40B4-BE49-F238E27FC236}">
                <a16:creationId xmlns:a16="http://schemas.microsoft.com/office/drawing/2014/main" id="{AFD2FB0B-28F4-4754-AC40-6EB57E165198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alphaModFix amt="3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668000" y="306635"/>
            <a:ext cx="1085126" cy="532906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4CCA1F59-10A0-43F6-9ED7-DE8CB1637F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1E26DD3-E445-481B-9E2A-838E7F52AB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64A506-6889-4F7C-A35D-9173F655B112}" type="datetime1">
              <a:rPr lang="en-US" smtClean="0"/>
              <a:t>8/31/2023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41E09D6-CB72-40FF-9BBA-2E736CEC53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D56C8B-F564-4051-AFED-A78F1C6A2F0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7976036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Icon&#10;&#10;This is TEA's E&amp;T logo.">
            <a:extLst>
              <a:ext uri="{FF2B5EF4-FFF2-40B4-BE49-F238E27FC236}">
                <a16:creationId xmlns:a16="http://schemas.microsoft.com/office/drawing/2014/main" id="{B5FAF1F7-69D1-48B7-B507-F3B679B89092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alphaModFix amt="3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053548" y="5545525"/>
            <a:ext cx="600503" cy="1005840"/>
          </a:xfrm>
          <a:prstGeom prst="rect">
            <a:avLst/>
          </a:prstGeom>
        </p:spPr>
      </p:pic>
      <p:pic>
        <p:nvPicPr>
          <p:cNvPr id="8" name="Picture 7" descr="Icon.&#10;&#10;This is TEA's logo.">
            <a:extLst>
              <a:ext uri="{FF2B5EF4-FFF2-40B4-BE49-F238E27FC236}">
                <a16:creationId xmlns:a16="http://schemas.microsoft.com/office/drawing/2014/main" id="{D54A681B-39F8-4AF9-B518-FCFAA5D3B4FA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alphaModFix amt="3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668000" y="306635"/>
            <a:ext cx="1085126" cy="532906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4F93258C-A373-4A72-8D76-37BF36B7DA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EFB9538-CE15-4C63-AC84-5352E688E0D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803CD23-0AA9-4649-BC6F-AF45EB68A46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4ECAFE6-DED3-4180-88B3-AB1AF2AE9E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40BC81-90C7-4034-841A-62432A0701C4}" type="datetime1">
              <a:rPr lang="en-US" smtClean="0"/>
              <a:t>8/31/2023</a:t>
            </a:fld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EAEF087-6D43-4EAE-9B1B-CEB9C3AC5C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D56C8B-F564-4051-AFED-A78F1C6A2F0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914904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Icon&#10;&#10;This is TEA's E&amp;T logo.">
            <a:extLst>
              <a:ext uri="{FF2B5EF4-FFF2-40B4-BE49-F238E27FC236}">
                <a16:creationId xmlns:a16="http://schemas.microsoft.com/office/drawing/2014/main" id="{E0EEECB2-4807-41E3-B2D3-991EE641007B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alphaModFix amt="3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053548" y="5545525"/>
            <a:ext cx="600503" cy="1005840"/>
          </a:xfrm>
          <a:prstGeom prst="rect">
            <a:avLst/>
          </a:prstGeom>
        </p:spPr>
      </p:pic>
      <p:pic>
        <p:nvPicPr>
          <p:cNvPr id="8" name="Picture 7" descr="Icon.&#10;&#10;This is TEA's logo.">
            <a:extLst>
              <a:ext uri="{FF2B5EF4-FFF2-40B4-BE49-F238E27FC236}">
                <a16:creationId xmlns:a16="http://schemas.microsoft.com/office/drawing/2014/main" id="{25C4FCAD-219B-4F99-A83E-DA5126B57DE5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alphaModFix amt="3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668000" y="306635"/>
            <a:ext cx="1085126" cy="532906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5AAB400A-C810-4485-886B-EBBC5DD6CC7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61684E1D-A07E-43A4-9566-78EC65CF04B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DBF354A-AAF6-40F3-97E9-EACCAB858EB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D092308-4B6B-4A76-A68F-BE16B13E121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94B010-5EDA-416E-B5AB-AEBD814FEF92}" type="datetime1">
              <a:rPr lang="en-US" smtClean="0"/>
              <a:t>8/31/2023</a:t>
            </a:fld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07AFB43-88EB-4A6C-AB03-405A03ABEC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D56C8B-F564-4051-AFED-A78F1C6A2F0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1919770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0E4FD1-C863-4F6C-BC67-9529A3DF2F5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dirty="0"/>
              <a:t>Click to edit Master title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F02A33A-B5BD-43C3-902B-F6F09D5D238A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insert Lesson Plan Title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D677D06-A159-4AA2-93DA-1C52F18ECB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rgbClr val="717171"/>
                </a:solidFill>
              </a:defRPr>
            </a:lvl1pPr>
          </a:lstStyle>
          <a:p>
            <a:fld id="{95F45DF0-00B2-468D-ADF1-6351EEFB9CD7}" type="datetime1">
              <a:rPr lang="en-US" smtClean="0"/>
              <a:pPr/>
              <a:t>8/31/2023</a:t>
            </a:fld>
            <a:endParaRPr lang="en-US" dirty="0"/>
          </a:p>
        </p:txBody>
      </p:sp>
      <p:pic>
        <p:nvPicPr>
          <p:cNvPr id="9" name="Picture 8" descr="Logo: Texas Education Agency ">
            <a:extLst>
              <a:ext uri="{FF2B5EF4-FFF2-40B4-BE49-F238E27FC236}">
                <a16:creationId xmlns:a16="http://schemas.microsoft.com/office/drawing/2014/main" id="{659EBB25-66A1-4A3B-BD33-7EA229672757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668000" y="306635"/>
            <a:ext cx="1085126" cy="532906"/>
          </a:xfrm>
          <a:prstGeom prst="rect">
            <a:avLst/>
          </a:prstGeom>
          <a:noFill/>
          <a:ln>
            <a:noFill/>
          </a:ln>
        </p:spPr>
      </p:pic>
      <p:pic>
        <p:nvPicPr>
          <p:cNvPr id="8" name="Picture 7" descr="Icon for Texas Education Agency (TEA) Education and Training ">
            <a:extLst>
              <a:ext uri="{FF2B5EF4-FFF2-40B4-BE49-F238E27FC236}">
                <a16:creationId xmlns:a16="http://schemas.microsoft.com/office/drawing/2014/main" id="{253E1ECF-C55D-47F6-BD1B-E5CFD8AC6DC2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150018" y="5619940"/>
            <a:ext cx="548640" cy="9189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1499076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Icon&#10;&#10;This is TEA's E&amp;T logo.">
            <a:extLst>
              <a:ext uri="{FF2B5EF4-FFF2-40B4-BE49-F238E27FC236}">
                <a16:creationId xmlns:a16="http://schemas.microsoft.com/office/drawing/2014/main" id="{3952EC27-F26B-4322-BE1D-79E86DF93672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alphaModFix amt="3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053548" y="5545525"/>
            <a:ext cx="600503" cy="1005840"/>
          </a:xfrm>
          <a:prstGeom prst="rect">
            <a:avLst/>
          </a:prstGeom>
        </p:spPr>
      </p:pic>
      <p:pic>
        <p:nvPicPr>
          <p:cNvPr id="7" name="Picture 6" descr="Icon.&#10;&#10;This is TEA's logo.">
            <a:extLst>
              <a:ext uri="{FF2B5EF4-FFF2-40B4-BE49-F238E27FC236}">
                <a16:creationId xmlns:a16="http://schemas.microsoft.com/office/drawing/2014/main" id="{5E0CFE64-7D39-43D0-AAFE-02B4F49538FD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alphaModFix amt="3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668000" y="306635"/>
            <a:ext cx="1085126" cy="532906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26C9151B-2AB9-45C2-83BD-E5F2A13853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5CF151C-FCEC-402E-946E-FFBB138CCC8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D2676C1-1BAD-4C95-93B1-0521C60967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rgbClr val="717171"/>
                </a:solidFill>
              </a:defRPr>
            </a:lvl1pPr>
          </a:lstStyle>
          <a:p>
            <a:fld id="{A50A4456-6D77-4237-8218-40872579093E}" type="datetime1">
              <a:rPr lang="en-US" smtClean="0"/>
              <a:pPr/>
              <a:t>8/31/2023</a:t>
            </a:fld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6950A59-130A-44A5-9168-67E5241BD6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rgbClr val="717171"/>
                </a:solidFill>
              </a:defRPr>
            </a:lvl1pPr>
          </a:lstStyle>
          <a:p>
            <a:fld id="{E2D56C8B-F564-4051-AFED-A78F1C6A2F0E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8352921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Icon&#10;&#10;This is TEA's E&amp;T logo.">
            <a:extLst>
              <a:ext uri="{FF2B5EF4-FFF2-40B4-BE49-F238E27FC236}">
                <a16:creationId xmlns:a16="http://schemas.microsoft.com/office/drawing/2014/main" id="{EB2BA44D-5463-4739-92DD-A12DF6D39EE3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alphaModFix amt="3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053548" y="5545525"/>
            <a:ext cx="600503" cy="1005840"/>
          </a:xfrm>
          <a:prstGeom prst="rect">
            <a:avLst/>
          </a:prstGeom>
        </p:spPr>
      </p:pic>
      <p:pic>
        <p:nvPicPr>
          <p:cNvPr id="8" name="Picture 7" descr="Icon.&#10;&#10;This is TEA's logo.">
            <a:extLst>
              <a:ext uri="{FF2B5EF4-FFF2-40B4-BE49-F238E27FC236}">
                <a16:creationId xmlns:a16="http://schemas.microsoft.com/office/drawing/2014/main" id="{007F5972-B8BD-4624-B605-5D7E30461D9B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alphaModFix amt="3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668000" y="306635"/>
            <a:ext cx="1085126" cy="532906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D2B8D024-2002-4D1F-B2F4-818A3AE1C64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B81A1FD-4443-45CB-9625-00873E1F371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497D6C9-834D-47FE-A0C7-DB3B2E40CB9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C3995EF-AAAA-4FB8-8BC8-3C5C9D7667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AF0A51-8860-45B4-B3C2-078DBFFE3F11}" type="datetime1">
              <a:rPr lang="en-US" smtClean="0"/>
              <a:t>8/31/2023</a:t>
            </a:fld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1949A45-2D3F-45E0-9651-F2BB980730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D56C8B-F564-4051-AFED-A78F1C6A2F0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3213444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Icon&#10;&#10;This is TEA's E&amp;T logo.">
            <a:extLst>
              <a:ext uri="{FF2B5EF4-FFF2-40B4-BE49-F238E27FC236}">
                <a16:creationId xmlns:a16="http://schemas.microsoft.com/office/drawing/2014/main" id="{ED6DCFE0-29AE-4AD0-BD08-B81AC0B7E71B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alphaModFix amt="3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053548" y="5545525"/>
            <a:ext cx="600503" cy="1005840"/>
          </a:xfrm>
          <a:prstGeom prst="rect">
            <a:avLst/>
          </a:prstGeom>
        </p:spPr>
      </p:pic>
      <p:pic>
        <p:nvPicPr>
          <p:cNvPr id="6" name="Picture 5" descr="Icon.&#10;&#10;This is TEA's logo.">
            <a:extLst>
              <a:ext uri="{FF2B5EF4-FFF2-40B4-BE49-F238E27FC236}">
                <a16:creationId xmlns:a16="http://schemas.microsoft.com/office/drawing/2014/main" id="{AFD2FB0B-28F4-4754-AC40-6EB57E165198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alphaModFix amt="3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668000" y="306635"/>
            <a:ext cx="1085126" cy="532906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4CCA1F59-10A0-43F6-9ED7-DE8CB1637F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1E26DD3-E445-481B-9E2A-838E7F52AB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C8E0D3-5DEF-4424-A66B-248169F8979E}" type="datetime1">
              <a:rPr lang="en-US" smtClean="0"/>
              <a:t>8/31/2023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41E09D6-CB72-40FF-9BBA-2E736CEC53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D56C8B-F564-4051-AFED-A78F1C6A2F0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4423506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Icon&#10;&#10;This is TEA's E&amp;T logo.">
            <a:extLst>
              <a:ext uri="{FF2B5EF4-FFF2-40B4-BE49-F238E27FC236}">
                <a16:creationId xmlns:a16="http://schemas.microsoft.com/office/drawing/2014/main" id="{B5FAF1F7-69D1-48B7-B507-F3B679B89092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alphaModFix amt="3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053548" y="5545525"/>
            <a:ext cx="600503" cy="1005840"/>
          </a:xfrm>
          <a:prstGeom prst="rect">
            <a:avLst/>
          </a:prstGeom>
        </p:spPr>
      </p:pic>
      <p:pic>
        <p:nvPicPr>
          <p:cNvPr id="8" name="Picture 7" descr="Icon.&#10;&#10;This is TEA's logo.">
            <a:extLst>
              <a:ext uri="{FF2B5EF4-FFF2-40B4-BE49-F238E27FC236}">
                <a16:creationId xmlns:a16="http://schemas.microsoft.com/office/drawing/2014/main" id="{D54A681B-39F8-4AF9-B518-FCFAA5D3B4FA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alphaModFix amt="3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668000" y="306635"/>
            <a:ext cx="1085126" cy="532906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4F93258C-A373-4A72-8D76-37BF36B7DA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EFB9538-CE15-4C63-AC84-5352E688E0D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803CD23-0AA9-4649-BC6F-AF45EB68A46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4ECAFE6-DED3-4180-88B3-AB1AF2AE9E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4D87F3-74DF-4702-8D1B-0BA8CE9CA57F}" type="datetime1">
              <a:rPr lang="en-US" smtClean="0"/>
              <a:t>8/31/2023</a:t>
            </a:fld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EAEF087-6D43-4EAE-9B1B-CEB9C3AC5C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D56C8B-F564-4051-AFED-A78F1C6A2F0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7336619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Icon&#10;&#10;This is TEA's E&amp;T logo.">
            <a:extLst>
              <a:ext uri="{FF2B5EF4-FFF2-40B4-BE49-F238E27FC236}">
                <a16:creationId xmlns:a16="http://schemas.microsoft.com/office/drawing/2014/main" id="{E0EEECB2-4807-41E3-B2D3-991EE641007B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alphaModFix amt="3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053548" y="5545525"/>
            <a:ext cx="600503" cy="1005840"/>
          </a:xfrm>
          <a:prstGeom prst="rect">
            <a:avLst/>
          </a:prstGeom>
        </p:spPr>
      </p:pic>
      <p:pic>
        <p:nvPicPr>
          <p:cNvPr id="8" name="Picture 7" descr="Icon.&#10;&#10;This is TEA's logo.">
            <a:extLst>
              <a:ext uri="{FF2B5EF4-FFF2-40B4-BE49-F238E27FC236}">
                <a16:creationId xmlns:a16="http://schemas.microsoft.com/office/drawing/2014/main" id="{25C4FCAD-219B-4F99-A83E-DA5126B57DE5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alphaModFix amt="3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668000" y="306635"/>
            <a:ext cx="1085126" cy="532906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5AAB400A-C810-4485-886B-EBBC5DD6CC7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61684E1D-A07E-43A4-9566-78EC65CF04B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DBF354A-AAF6-40F3-97E9-EACCAB858EB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D092308-4B6B-4A76-A68F-BE16B13E121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E42763-A1D0-477C-A610-38D23465485E}" type="datetime1">
              <a:rPr lang="en-US" smtClean="0"/>
              <a:t>8/31/2023</a:t>
            </a:fld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07AFB43-88EB-4A6C-AB03-405A03ABEC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D56C8B-F564-4051-AFED-A78F1C6A2F0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335491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9.xml"/><Relationship Id="rId7" Type="http://schemas.openxmlformats.org/officeDocument/2006/relationships/theme" Target="../theme/theme2.xml"/><Relationship Id="rId2" Type="http://schemas.openxmlformats.org/officeDocument/2006/relationships/slideLayout" Target="../slideLayouts/slideLayout8.xml"/><Relationship Id="rId1" Type="http://schemas.openxmlformats.org/officeDocument/2006/relationships/slideLayout" Target="../slideLayouts/slideLayout7.xml"/><Relationship Id="rId6" Type="http://schemas.openxmlformats.org/officeDocument/2006/relationships/slideLayout" Target="../slideLayouts/slideLayout12.xml"/><Relationship Id="rId5" Type="http://schemas.openxmlformats.org/officeDocument/2006/relationships/slideLayout" Target="../slideLayouts/slideLayout11.xml"/><Relationship Id="rId4" Type="http://schemas.openxmlformats.org/officeDocument/2006/relationships/slideLayout" Target="../slideLayouts/slideLayout1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E9192C8-5397-4FC4-85A7-05CFC35328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2EC8621-C852-47CD-A118-D24B6AC3DDC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61DE9C7-0406-4194-A53C-344BADD62F8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D86C95F-23BA-4339-9C8C-C90EF96A4C91}" type="datetime1">
              <a:rPr lang="en-US" smtClean="0"/>
              <a:t>8/31/2023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80D1EDA-3944-4DA5-A7A2-1ACE2385338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/>
              <a:t>1.02: Exploring the Impact of Teachers on Student Lives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5111E65-8042-49F9-8B63-5DF8961B324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2D56C8B-F564-4051-AFED-A78F1C6A2F0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5507745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2" r:id="rId3"/>
    <p:sldLayoutId id="2147483654" r:id="rId4"/>
    <p:sldLayoutId id="2147483656" r:id="rId5"/>
    <p:sldLayoutId id="2147483657" r:id="rId6"/>
  </p:sldLayoutIdLst>
  <p:hf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E9192C8-5397-4FC4-85A7-05CFC35328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2EC8621-C852-47CD-A118-D24B6AC3DDC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61DE9C7-0406-4194-A53C-344BADD62F8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rgbClr val="717171"/>
                </a:solidFill>
              </a:defRPr>
            </a:lvl1pPr>
          </a:lstStyle>
          <a:p>
            <a:fld id="{1B00EFE5-A68C-4E4B-9D40-F26D6ED979C1}" type="datetime1">
              <a:rPr lang="en-US" smtClean="0"/>
              <a:pPr/>
              <a:t>8/31/2023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80D1EDA-3944-4DA5-A7A2-1ACE2385338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rgbClr val="717171"/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5111E65-8042-49F9-8B63-5DF8961B324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rgbClr val="717171"/>
                </a:solidFill>
              </a:defRPr>
            </a:lvl1pPr>
          </a:lstStyle>
          <a:p>
            <a:fld id="{E2D56C8B-F564-4051-AFED-A78F1C6A2F0E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0211860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9" r:id="rId1"/>
    <p:sldLayoutId id="2147483660" r:id="rId2"/>
    <p:sldLayoutId id="2147483661" r:id="rId3"/>
    <p:sldLayoutId id="2147483662" r:id="rId4"/>
    <p:sldLayoutId id="2147483663" r:id="rId5"/>
    <p:sldLayoutId id="2147483664" r:id="rId6"/>
  </p:sldLayoutIdLst>
  <p:hf hdr="0" ft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hyperlink" Target="https://creativecommons.org/licenses/by-nc-sa/4.0/" TargetMode="Externa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hyperlink" Target="https://drive.google.com/file/d/1lHi5hQwbWuIhCER7G3hNn8DHZkA-zwGO/view?usp=sharing" TargetMode="Externa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FCF5BD-F8FF-4A67-A8B6-EBB21E79279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6093417"/>
            <a:ext cx="9144000" cy="370300"/>
          </a:xfrm>
        </p:spPr>
        <p:txBody>
          <a:bodyPr>
            <a:normAutofit/>
          </a:bodyPr>
          <a:lstStyle/>
          <a:p>
            <a:pPr algn="l"/>
            <a:r>
              <a:rPr lang="en-US" sz="1800" dirty="0"/>
              <a:t>Instructional Practices| Unit 6: Instructional Alignment| Lesson 6.10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0FBD98F-3A67-498E-8174-652040DD7B6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338469" y="2321719"/>
            <a:ext cx="9515061" cy="2214561"/>
          </a:xfrm>
        </p:spPr>
        <p:txBody>
          <a:bodyPr>
            <a:normAutofit/>
          </a:bodyPr>
          <a:lstStyle/>
          <a:p>
            <a:r>
              <a:rPr lang="en-US" sz="6000" dirty="0"/>
              <a:t>Scaffolding a Lesson | Practice 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94E7DC2-43BC-541D-81F1-250C04E7FB2C}"/>
              </a:ext>
            </a:extLst>
          </p:cNvPr>
          <p:cNvSpPr txBox="1"/>
          <p:nvPr/>
        </p:nvSpPr>
        <p:spPr>
          <a:xfrm>
            <a:off x="0" y="6438550"/>
            <a:ext cx="11814494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>
              <a:spcBef>
                <a:spcPts val="0"/>
              </a:spcBef>
              <a:spcAft>
                <a:spcPts val="0"/>
              </a:spcAft>
              <a:tabLst>
                <a:tab pos="2971800" algn="ctr"/>
                <a:tab pos="5943600" algn="r"/>
              </a:tabLst>
            </a:pPr>
            <a:r>
              <a:rPr lang="en-US" sz="1600" dirty="0">
                <a:solidFill>
                  <a:srgbClr val="464646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This work is licensed under a </a:t>
            </a:r>
            <a:r>
              <a:rPr lang="en-US" sz="1600" u="sng" dirty="0">
                <a:solidFill>
                  <a:srgbClr val="0070C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hlinkClick r:id="rId2"/>
              </a:rPr>
              <a:t>Creative Commons Attribution-Noncommercial-Share Alike 4.0 International License</a:t>
            </a:r>
            <a:r>
              <a:rPr lang="en-US" sz="1600" dirty="0">
                <a:solidFill>
                  <a:srgbClr val="0070C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.</a:t>
            </a:r>
            <a:endParaRPr lang="en-US" sz="16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8227702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A3C58C-DC1D-4BDF-8706-48D86266F7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TEKS Standards &amp; Objectives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CE08C7F-0286-423B-92F7-DEB89F31111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TEKS 3B, 6A, 6C, 6F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The student will:</a:t>
            </a:r>
          </a:p>
          <a:p>
            <a:pPr marL="342900" marR="0" lvl="0" indent="-342900">
              <a:spcBef>
                <a:spcPts val="600"/>
              </a:spcBef>
              <a:spcAft>
                <a:spcPts val="0"/>
              </a:spcAft>
              <a:buFont typeface="Calibri" panose="020F0502020204030204" pitchFamily="34" charset="0"/>
              <a:buChar char="•"/>
            </a:pPr>
            <a:r>
              <a:rPr lang="en-US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Identify examples of practice within a lesson</a:t>
            </a:r>
          </a:p>
          <a:p>
            <a:pPr marL="342900" marR="0" lvl="0" indent="-342900">
              <a:spcBef>
                <a:spcPts val="0"/>
              </a:spcBef>
              <a:spcAft>
                <a:spcPts val="600"/>
              </a:spcAft>
              <a:buFont typeface="Calibri" panose="020F0502020204030204" pitchFamily="34" charset="0"/>
              <a:buChar char="•"/>
            </a:pPr>
            <a:r>
              <a:rPr lang="en-US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Evaluate how the student practice within a lesson is aligned with the objectives and assessments</a:t>
            </a:r>
          </a:p>
          <a:p>
            <a:pPr marL="342900" marR="0" lvl="0" indent="-342900">
              <a:spcBef>
                <a:spcPts val="0"/>
              </a:spcBef>
              <a:spcAft>
                <a:spcPts val="600"/>
              </a:spcAft>
              <a:buFont typeface="Calibri" panose="020F0502020204030204" pitchFamily="34" charset="0"/>
              <a:buChar char="•"/>
            </a:pPr>
            <a:r>
              <a:rPr lang="en-US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Identify and evaluate how practice is sequenced to scaffold student understanding</a:t>
            </a:r>
            <a:endParaRPr lang="en-US" sz="40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D0EEDDD-3DDC-4909-AF99-60870B25C0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D56C8B-F564-4051-AFED-A78F1C6A2F0E}" type="slidenum">
              <a:rPr lang="en-US" smtClean="0"/>
              <a:pPr/>
              <a:t>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7252711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03F004-EE4F-44F2-AA0E-56B8CFF113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Bellringer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92BE286-77A6-49DD-B15D-7E4718D52FE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342900" marR="0" lvl="0" indent="-34290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Font typeface="+mj-lt"/>
              <a:buAutoNum type="arabicPeriod"/>
            </a:pPr>
            <a:r>
              <a:rPr lang="en-US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Complete the anticipation guide to review the criteria for deliberate practice. </a:t>
            </a:r>
          </a:p>
          <a:p>
            <a:pPr marL="342900" marR="0" lvl="0" indent="-34290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Font typeface="+mj-lt"/>
              <a:buAutoNum type="arabicPeriod"/>
            </a:pPr>
            <a:endParaRPr lang="en-US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marR="0" lvl="0" indent="-34290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Font typeface="+mj-lt"/>
              <a:buAutoNum type="arabicPeriod"/>
            </a:pPr>
            <a:r>
              <a:rPr lang="en-US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Based on the anticipation guide, what are the criteria for deliberate practice that you explored in the Science of Learning Unit?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DC7D18A-F106-4CA1-A59B-DE4084E585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D56C8B-F564-4051-AFED-A78F1C6A2F0E}" type="slidenum">
              <a:rPr lang="en-US" smtClean="0"/>
              <a:pPr/>
              <a:t>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7130568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50E203D-F288-408D-B325-66954BDD33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Vocabulary</a:t>
            </a:r>
          </a:p>
        </p:txBody>
      </p:sp>
      <p:graphicFrame>
        <p:nvGraphicFramePr>
          <p:cNvPr id="5" name="Content Placeholder 4">
            <a:extLst>
              <a:ext uri="{FF2B5EF4-FFF2-40B4-BE49-F238E27FC236}">
                <a16:creationId xmlns:a16="http://schemas.microsoft.com/office/drawing/2014/main" id="{0FA7CAF9-C52E-4AF2-93BB-A7714F53880D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844788237"/>
              </p:ext>
            </p:extLst>
          </p:nvPr>
        </p:nvGraphicFramePr>
        <p:xfrm>
          <a:off x="838200" y="1690688"/>
          <a:ext cx="10515600" cy="4433254"/>
        </p:xfrm>
        <a:graphic>
          <a:graphicData uri="http://schemas.openxmlformats.org/drawingml/2006/table">
            <a:tbl>
              <a:tblPr firstRow="1" firstCol="1" bandRow="1">
                <a:tableStyleId>{5940675A-B579-460E-94D1-54222C63F5DA}</a:tableStyleId>
              </a:tblPr>
              <a:tblGrid>
                <a:gridCol w="2297978">
                  <a:extLst>
                    <a:ext uri="{9D8B030D-6E8A-4147-A177-3AD203B41FA5}">
                      <a16:colId xmlns:a16="http://schemas.microsoft.com/office/drawing/2014/main" val="3621475384"/>
                    </a:ext>
                  </a:extLst>
                </a:gridCol>
                <a:gridCol w="8217622">
                  <a:extLst>
                    <a:ext uri="{9D8B030D-6E8A-4147-A177-3AD203B41FA5}">
                      <a16:colId xmlns:a16="http://schemas.microsoft.com/office/drawing/2014/main" val="3638769636"/>
                    </a:ext>
                  </a:extLst>
                </a:gridCol>
              </a:tblGrid>
              <a:tr h="540227"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US" sz="2200">
                          <a:effectLst/>
                        </a:rPr>
                        <a:t>Guided Practice</a:t>
                      </a:r>
                      <a:endParaRPr lang="en-US" sz="22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US" sz="2200">
                          <a:effectLst/>
                        </a:rPr>
                        <a:t>A form of practice in which students practice the new skill or concept with support from the teacher and/or peers.</a:t>
                      </a:r>
                      <a:endParaRPr lang="en-US" sz="22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3135925684"/>
                  </a:ext>
                </a:extLst>
              </a:tr>
              <a:tr h="540227"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US" sz="2200" dirty="0">
                          <a:effectLst/>
                        </a:rPr>
                        <a:t>Independent Practice</a:t>
                      </a:r>
                      <a:endParaRPr lang="en-US" sz="22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US" sz="2200">
                          <a:effectLst/>
                        </a:rPr>
                        <a:t>A form of practice in which students independently apply what they have learned without support from the teacher or peers.</a:t>
                      </a:r>
                      <a:endParaRPr lang="en-US" sz="22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315636398"/>
                  </a:ext>
                </a:extLst>
              </a:tr>
              <a:tr h="540227"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US" sz="2200">
                          <a:effectLst/>
                        </a:rPr>
                        <a:t>Deliberate Practice</a:t>
                      </a:r>
                      <a:endParaRPr lang="en-US" sz="22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US" sz="2200">
                          <a:effectLst/>
                        </a:rPr>
                        <a:t>Practice that performs the learning goal (authentic), is spaced over time, is low-stakes and is paired with feedback for improvement</a:t>
                      </a:r>
                      <a:endParaRPr lang="en-US" sz="22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2890085458"/>
                  </a:ext>
                </a:extLst>
              </a:tr>
              <a:tr h="540227"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US" sz="2200">
                          <a:effectLst/>
                        </a:rPr>
                        <a:t>Authentic</a:t>
                      </a:r>
                      <a:endParaRPr lang="en-US" sz="22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US" sz="2200" dirty="0">
                          <a:effectLst/>
                        </a:rPr>
                        <a:t>The practice requires the student to perform the actual learning goal.</a:t>
                      </a:r>
                      <a:endParaRPr lang="en-US" sz="22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2244125414"/>
                  </a:ext>
                </a:extLst>
              </a:tr>
              <a:tr h="540227"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US" sz="2200">
                          <a:effectLst/>
                        </a:rPr>
                        <a:t>Low stakes</a:t>
                      </a:r>
                      <a:endParaRPr lang="en-US" sz="22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US" sz="2200">
                          <a:effectLst/>
                        </a:rPr>
                        <a:t>An activity has little or no impact on the student’s grade.</a:t>
                      </a:r>
                      <a:endParaRPr lang="en-US" sz="22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3964730435"/>
                  </a:ext>
                </a:extLst>
              </a:tr>
              <a:tr h="540227"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US" sz="2200">
                          <a:effectLst/>
                        </a:rPr>
                        <a:t>Feedback</a:t>
                      </a:r>
                      <a:endParaRPr lang="en-US" sz="22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US" sz="2200">
                          <a:effectLst/>
                        </a:rPr>
                        <a:t>Practice of giving students information about their performance against a standard with the purpose of improving student performance</a:t>
                      </a:r>
                      <a:endParaRPr lang="en-US" sz="22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625940285"/>
                  </a:ext>
                </a:extLst>
              </a:tr>
              <a:tr h="540227"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US" sz="2200">
                          <a:effectLst/>
                        </a:rPr>
                        <a:t>Debrief</a:t>
                      </a:r>
                      <a:endParaRPr lang="en-US" sz="22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US" sz="2200" dirty="0">
                          <a:effectLst/>
                        </a:rPr>
                        <a:t>The teacher facilitates a conversation after an activity has taken place that outlines key questions to drive the group’s learning.</a:t>
                      </a:r>
                      <a:endParaRPr lang="en-US" sz="22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3358783171"/>
                  </a:ext>
                </a:extLst>
              </a:tr>
            </a:tbl>
          </a:graphicData>
        </a:graphic>
      </p:graphicFrame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8BAFE7B-549A-4E98-93BA-74C837CF23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D56C8B-F564-4051-AFED-A78F1C6A2F0E}" type="slidenum">
              <a:rPr lang="en-US" smtClean="0"/>
              <a:pPr/>
              <a:t>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5421634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7836664-70C0-47BA-9BFF-496A04EBBFD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500062"/>
            <a:ext cx="10515600" cy="1325563"/>
          </a:xfrm>
        </p:spPr>
        <p:txBody>
          <a:bodyPr/>
          <a:lstStyle/>
          <a:p>
            <a:r>
              <a:rPr lang="en-US" dirty="0"/>
              <a:t>Video Example: (21:40-26:40)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64339F5-2F5D-46B5-A25D-C197D73747B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u="sng" dirty="0">
                <a:solidFill>
                  <a:srgbClr val="0D6CB9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  <a:hlinkClick r:id="rId2"/>
              </a:rPr>
              <a:t>https://drive.google.com/file/d/1lHi5hQwbWuIhCER7G3hNn8DHZkA-zwGO/view?usp=sharing</a:t>
            </a:r>
            <a:r>
              <a:rPr lang="en-US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endParaRPr lang="en-US" sz="40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767700B-954E-42AD-AD69-9CC1C5B510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D56C8B-F564-4051-AFED-A78F1C6A2F0E}" type="slidenum">
              <a:rPr lang="en-US" smtClean="0"/>
              <a:pPr/>
              <a:t>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9310911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15A330DF-1BCC-4430-B0B0-A887633FD9CC}"/>
              </a:ext>
            </a:extLst>
          </p:cNvPr>
          <p:cNvSpPr txBox="1">
            <a:spLocks noGrp="1"/>
          </p:cNvSpPr>
          <p:nvPr>
            <p:ph type="title" idx="4294967295"/>
          </p:nvPr>
        </p:nvSpPr>
        <p:spPr>
          <a:xfrm>
            <a:off x="359425" y="688286"/>
            <a:ext cx="11941767" cy="1138773"/>
          </a:xfrm>
          <a:prstGeom prst="rect">
            <a:avLst/>
          </a:prstGeom>
          <a:noFill/>
          <a:ln>
            <a:noFill/>
            <a:prstDash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5B9BD5">
                    <a:lumMod val="50000"/>
                  </a:srgbClr>
                </a:solidFill>
                <a:effectLst/>
                <a:uLnTx/>
                <a:uFillTx/>
                <a:latin typeface="Avenir Next LT Pro"/>
                <a:ea typeface="+mn-ea"/>
                <a:cs typeface="Times New Roman"/>
              </a:rPr>
              <a:t>Five Principles for Teaching based on the Science of Learning</a:t>
            </a:r>
            <a:endParaRPr kumimoji="0" lang="en-US" sz="2000" b="0" i="0" u="none" strike="noStrike" kern="1200" cap="none" spc="0" normalizeH="0" baseline="0" noProof="0" dirty="0">
              <a:ln>
                <a:noFill/>
              </a:ln>
              <a:solidFill>
                <a:srgbClr val="5B9BD5">
                  <a:lumMod val="50000"/>
                </a:srgbClr>
              </a:solidFill>
              <a:effectLst/>
              <a:uLnTx/>
              <a:uFillTx/>
              <a:latin typeface="Avenir Next LT Pro"/>
              <a:ea typeface="+mn-ea"/>
              <a:cs typeface="Times New Roman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000" b="0" i="0" u="none" strike="noStrike" kern="1200" cap="none" spc="0" normalizeH="0" baseline="0" noProof="0" dirty="0">
              <a:ln>
                <a:noFill/>
              </a:ln>
              <a:solidFill>
                <a:srgbClr val="5B9BD5">
                  <a:lumMod val="50000"/>
                </a:srgbClr>
              </a:solidFill>
              <a:effectLst/>
              <a:uLnTx/>
              <a:uFillTx/>
              <a:latin typeface="Avenir Next LT Pro"/>
              <a:ea typeface="+mn-ea"/>
              <a:cs typeface="Times New Roman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000" b="0" i="0" u="none" strike="noStrike" kern="1200" cap="none" spc="0" normalizeH="0" baseline="0" noProof="0" dirty="0">
              <a:ln>
                <a:noFill/>
              </a:ln>
              <a:solidFill>
                <a:srgbClr val="5B9BD5">
                  <a:lumMod val="50000"/>
                </a:srgbClr>
              </a:solidFill>
              <a:effectLst/>
              <a:uLnTx/>
              <a:uFillTx/>
              <a:latin typeface="Avenir Next LT Pro"/>
              <a:ea typeface="+mn-ea"/>
              <a:cs typeface="Times New Roman"/>
            </a:endParaRPr>
          </a:p>
        </p:txBody>
      </p:sp>
      <p:grpSp>
        <p:nvGrpSpPr>
          <p:cNvPr id="3" name="Group 2" descr="The Five Science of Learning Principles. &#10;&#10;Top row: Three boxes (Orange: Attending; Green: Prior Knowledge; Red: Avoiding Overload)&#10;&#10;Bottom Row: Two boxes (Blue: Cognitive Engagement; Gray: Practice with Feedback)&#10;&#10;Text:&#10;Attending: Learning requires attending to the most important content.&#10;&#10;Prior Knowledge: Learning builds on prior knowledge.&#10;&#10;Avoiding Overload: Too much information at once can interfere with learning.&#10;&#10;Cognitive Engagement: Learning requires cognitive engagement and should be effortful.&#10;&#10;Practice with Feedback:&#10;Practice and feedback are essential to move ideas permanently into long-term memory.">
            <a:extLst>
              <a:ext uri="{FF2B5EF4-FFF2-40B4-BE49-F238E27FC236}">
                <a16:creationId xmlns:a16="http://schemas.microsoft.com/office/drawing/2014/main" id="{330C22EE-639E-EA4B-73DE-979B2E6D04F8}"/>
              </a:ext>
            </a:extLst>
          </p:cNvPr>
          <p:cNvGrpSpPr/>
          <p:nvPr/>
        </p:nvGrpSpPr>
        <p:grpSpPr>
          <a:xfrm>
            <a:off x="681682" y="1707527"/>
            <a:ext cx="10526676" cy="4301565"/>
            <a:chOff x="681682" y="1707527"/>
            <a:chExt cx="10526676" cy="4301565"/>
          </a:xfrm>
        </p:grpSpPr>
        <p:sp>
          <p:nvSpPr>
            <p:cNvPr id="2" name="Rectangle: Rounded Corners 1">
              <a:extLst>
                <a:ext uri="{FF2B5EF4-FFF2-40B4-BE49-F238E27FC236}">
                  <a16:creationId xmlns:a16="http://schemas.microsoft.com/office/drawing/2014/main" id="{BB885A39-507A-45EE-9196-F8F61826FB9C}"/>
                </a:ext>
              </a:extLst>
            </p:cNvPr>
            <p:cNvSpPr/>
            <p:nvPr/>
          </p:nvSpPr>
          <p:spPr>
            <a:xfrm>
              <a:off x="681682" y="2095178"/>
              <a:ext cx="2809341" cy="567160"/>
            </a:xfrm>
            <a:prstGeom prst="roundRect">
              <a:avLst/>
            </a:prstGeom>
            <a:solidFill>
              <a:schemeClr val="accent2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venir Next LT Pro" panose="020B0504020202020204" pitchFamily="34" charset="0"/>
                  <a:ea typeface="+mn-ea"/>
                  <a:cs typeface="+mn-cs"/>
                </a:rPr>
                <a:t>Attending</a:t>
              </a:r>
            </a:p>
          </p:txBody>
        </p:sp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C0A34B0B-CB57-4F4B-98FF-B76DA4F1326F}"/>
                </a:ext>
              </a:extLst>
            </p:cNvPr>
            <p:cNvSpPr txBox="1"/>
            <p:nvPr/>
          </p:nvSpPr>
          <p:spPr>
            <a:xfrm>
              <a:off x="681682" y="1737314"/>
              <a:ext cx="1918090" cy="646331"/>
            </a:xfrm>
            <a:prstGeom prst="rect">
              <a:avLst/>
            </a:prstGeom>
            <a:noFill/>
          </p:spPr>
          <p:txBody>
            <a:bodyPr wrap="square" lIns="91440" tIns="45720" rIns="91440" bIns="45720" rtlCol="0" anchor="t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400" b="1" i="0" u="none" strike="noStrike" kern="1200" cap="none" spc="0" normalizeH="0" baseline="0" noProof="0" dirty="0">
                  <a:ln>
                    <a:noFill/>
                  </a:ln>
                  <a:solidFill>
                    <a:srgbClr val="5B9BD5">
                      <a:lumMod val="50000"/>
                    </a:srgbClr>
                  </a:solidFill>
                  <a:effectLst/>
                  <a:uLnTx/>
                  <a:uFillTx/>
                  <a:latin typeface="Avenir Next LT Pro"/>
                  <a:ea typeface="Calibri" panose="020F0502020204030204" pitchFamily="34" charset="0"/>
                  <a:cs typeface="Times New Roman"/>
                </a:rPr>
                <a:t>Principle 1</a:t>
              </a:r>
              <a:endParaRPr kumimoji="0" lang="en-US" sz="1100" b="1" i="0" u="none" strike="noStrike" kern="1200" cap="none" spc="0" normalizeH="0" baseline="0" noProof="0" dirty="0">
                <a:ln>
                  <a:noFill/>
                </a:ln>
                <a:solidFill>
                  <a:srgbClr val="5B9BD5">
                    <a:lumMod val="50000"/>
                  </a:srgbClr>
                </a:solidFill>
                <a:effectLst/>
                <a:uLnTx/>
                <a:uFillTx/>
                <a:latin typeface="Avenir Next LT Pro"/>
                <a:ea typeface="+mn-ea"/>
                <a:cs typeface="Times New Roman"/>
              </a:endParaRPr>
            </a:p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100" b="1" i="0" u="none" strike="noStrike" kern="1200" cap="none" spc="0" normalizeH="0" baseline="0" noProof="0" dirty="0">
                <a:ln>
                  <a:noFill/>
                </a:ln>
                <a:solidFill>
                  <a:srgbClr val="5B9BD5">
                    <a:lumMod val="50000"/>
                  </a:srgbClr>
                </a:solidFill>
                <a:effectLst/>
                <a:uLnTx/>
                <a:uFillTx/>
                <a:latin typeface="Avenir Next LT Pro"/>
                <a:ea typeface="+mn-ea"/>
                <a:cs typeface="Times New Roman"/>
              </a:endParaRPr>
            </a:p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100" b="1" i="0" u="none" strike="noStrike" kern="1200" cap="none" spc="0" normalizeH="0" baseline="0" noProof="0" dirty="0">
                <a:ln>
                  <a:noFill/>
                </a:ln>
                <a:solidFill>
                  <a:srgbClr val="5B9BD5">
                    <a:lumMod val="50000"/>
                  </a:srgbClr>
                </a:solidFill>
                <a:effectLst/>
                <a:uLnTx/>
                <a:uFillTx/>
                <a:latin typeface="Avenir Next LT Pro"/>
                <a:ea typeface="+mn-ea"/>
                <a:cs typeface="Times New Roman"/>
              </a:endParaRPr>
            </a:p>
          </p:txBody>
        </p:sp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0C8594BF-215F-4968-BE88-0831802F07B5}"/>
                </a:ext>
              </a:extLst>
            </p:cNvPr>
            <p:cNvSpPr txBox="1"/>
            <p:nvPr/>
          </p:nvSpPr>
          <p:spPr>
            <a:xfrm>
              <a:off x="681682" y="2766369"/>
              <a:ext cx="3002736" cy="769441"/>
            </a:xfrm>
            <a:prstGeom prst="rect">
              <a:avLst/>
            </a:prstGeom>
            <a:noFill/>
          </p:spPr>
          <p:txBody>
            <a:bodyPr wrap="square" lIns="91440" tIns="45720" rIns="91440" bIns="45720" rtlCol="0" anchor="t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600" b="0" i="0" u="none" strike="noStrike" kern="1200" cap="none" spc="0" normalizeH="0" baseline="0" noProof="0" dirty="0">
                  <a:ln>
                    <a:noFill/>
                  </a:ln>
                  <a:solidFill>
                    <a:srgbClr val="002060"/>
                  </a:solidFill>
                  <a:effectLst/>
                  <a:uLnTx/>
                  <a:uFillTx/>
                  <a:latin typeface="Avenir Next LT Pro" panose="020B0504020202020204" pitchFamily="34" charset="0"/>
                  <a:ea typeface="Calibri" panose="020F0502020204030204" pitchFamily="34" charset="0"/>
                  <a:cs typeface="Times New Roman" panose="02020603050405020304" pitchFamily="18" charset="0"/>
                </a:rPr>
                <a:t>Learning requires attending to the most important content</a:t>
              </a:r>
              <a:endPara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Avenir Next LT Pro" panose="020B0504020202020204" pitchFamily="34" charset="0"/>
                <a:ea typeface="+mn-ea"/>
                <a:cs typeface="Times New Roman"/>
              </a:endParaRPr>
            </a:p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Avenir Next LT Pro" panose="020B0504020202020204" pitchFamily="34" charset="0"/>
                <a:ea typeface="+mn-ea"/>
                <a:cs typeface="Times New Roman"/>
              </a:endParaRPr>
            </a:p>
          </p:txBody>
        </p:sp>
        <p:sp>
          <p:nvSpPr>
            <p:cNvPr id="10" name="Rectangle: Rounded Corners 9">
              <a:extLst>
                <a:ext uri="{FF2B5EF4-FFF2-40B4-BE49-F238E27FC236}">
                  <a16:creationId xmlns:a16="http://schemas.microsoft.com/office/drawing/2014/main" id="{320AE0D8-3369-446D-8619-05D71A300E5D}"/>
                </a:ext>
              </a:extLst>
            </p:cNvPr>
            <p:cNvSpPr/>
            <p:nvPr/>
          </p:nvSpPr>
          <p:spPr>
            <a:xfrm>
              <a:off x="2558558" y="4229389"/>
              <a:ext cx="2809341" cy="567160"/>
            </a:xfrm>
            <a:prstGeom prst="roundRect">
              <a:avLst/>
            </a:prstGeom>
            <a:solidFill>
              <a:schemeClr val="accent5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venir Next LT Pro" panose="020B0504020202020204" pitchFamily="34" charset="0"/>
                  <a:ea typeface="+mn-ea"/>
                  <a:cs typeface="+mn-cs"/>
                </a:rPr>
                <a:t>Cognitive Engagement</a:t>
              </a:r>
            </a:p>
          </p:txBody>
        </p:sp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590A430C-81BB-481D-81D2-2D5CA5063D67}"/>
                </a:ext>
              </a:extLst>
            </p:cNvPr>
            <p:cNvSpPr txBox="1"/>
            <p:nvPr/>
          </p:nvSpPr>
          <p:spPr>
            <a:xfrm>
              <a:off x="4400644" y="1707527"/>
              <a:ext cx="1918090" cy="646331"/>
            </a:xfrm>
            <a:prstGeom prst="rect">
              <a:avLst/>
            </a:prstGeom>
            <a:noFill/>
          </p:spPr>
          <p:txBody>
            <a:bodyPr wrap="square" lIns="91440" tIns="45720" rIns="91440" bIns="45720" rtlCol="0" anchor="t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400" b="1" i="0" u="none" strike="noStrike" kern="1200" cap="none" spc="0" normalizeH="0" baseline="0" noProof="0" dirty="0">
                  <a:ln>
                    <a:noFill/>
                  </a:ln>
                  <a:solidFill>
                    <a:srgbClr val="5B9BD5">
                      <a:lumMod val="50000"/>
                    </a:srgbClr>
                  </a:solidFill>
                  <a:effectLst/>
                  <a:uLnTx/>
                  <a:uFillTx/>
                  <a:latin typeface="Avenir Next LT Pro"/>
                  <a:ea typeface="Calibri" panose="020F0502020204030204" pitchFamily="34" charset="0"/>
                  <a:cs typeface="Times New Roman"/>
                </a:rPr>
                <a:t>Principle 2</a:t>
              </a:r>
              <a:endParaRPr kumimoji="0" lang="en-US" sz="1100" b="1" i="0" u="none" strike="noStrike" kern="1200" cap="none" spc="0" normalizeH="0" baseline="0" noProof="0" dirty="0">
                <a:ln>
                  <a:noFill/>
                </a:ln>
                <a:solidFill>
                  <a:srgbClr val="5B9BD5">
                    <a:lumMod val="50000"/>
                  </a:srgbClr>
                </a:solidFill>
                <a:effectLst/>
                <a:uLnTx/>
                <a:uFillTx/>
                <a:latin typeface="Avenir Next LT Pro"/>
                <a:ea typeface="+mn-ea"/>
                <a:cs typeface="Times New Roman"/>
              </a:endParaRPr>
            </a:p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100" b="1" i="0" u="none" strike="noStrike" kern="1200" cap="none" spc="0" normalizeH="0" baseline="0" noProof="0" dirty="0">
                <a:ln>
                  <a:noFill/>
                </a:ln>
                <a:solidFill>
                  <a:srgbClr val="5B9BD5">
                    <a:lumMod val="50000"/>
                  </a:srgbClr>
                </a:solidFill>
                <a:effectLst/>
                <a:uLnTx/>
                <a:uFillTx/>
                <a:latin typeface="Avenir Next LT Pro"/>
                <a:ea typeface="+mn-ea"/>
                <a:cs typeface="Times New Roman"/>
              </a:endParaRPr>
            </a:p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100" b="1" i="0" u="none" strike="noStrike" kern="1200" cap="none" spc="0" normalizeH="0" baseline="0" noProof="0" dirty="0">
                <a:ln>
                  <a:noFill/>
                </a:ln>
                <a:solidFill>
                  <a:srgbClr val="5B9BD5">
                    <a:lumMod val="50000"/>
                  </a:srgbClr>
                </a:solidFill>
                <a:effectLst/>
                <a:uLnTx/>
                <a:uFillTx/>
                <a:latin typeface="Avenir Next LT Pro"/>
                <a:ea typeface="+mn-ea"/>
                <a:cs typeface="Times New Roman"/>
              </a:endParaRPr>
            </a:p>
          </p:txBody>
        </p:sp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944DBDCB-3A3C-4F9F-BE48-C8B10F45BE83}"/>
                </a:ext>
              </a:extLst>
            </p:cNvPr>
            <p:cNvSpPr txBox="1"/>
            <p:nvPr/>
          </p:nvSpPr>
          <p:spPr>
            <a:xfrm>
              <a:off x="2558558" y="4900580"/>
              <a:ext cx="3002736" cy="830997"/>
            </a:xfrm>
            <a:prstGeom prst="rect">
              <a:avLst/>
            </a:prstGeom>
            <a:noFill/>
          </p:spPr>
          <p:txBody>
            <a:bodyPr wrap="square" lIns="91440" tIns="45720" rIns="91440" bIns="45720" rtlCol="0" anchor="t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600" b="0" i="0" u="none" strike="noStrike" kern="1200" cap="none" spc="0" normalizeH="0" baseline="0" noProof="0" dirty="0">
                  <a:ln>
                    <a:noFill/>
                  </a:ln>
                  <a:solidFill>
                    <a:srgbClr val="002060"/>
                  </a:solidFill>
                  <a:effectLst/>
                  <a:uLnTx/>
                  <a:uFillTx/>
                  <a:latin typeface="Avenir Next LT Pro" panose="020B0504020202020204" pitchFamily="34" charset="0"/>
                  <a:ea typeface="Calibri" panose="020F0502020204030204" pitchFamily="34" charset="0"/>
                  <a:cs typeface="Times New Roman" panose="02020603050405020304" pitchFamily="18" charset="0"/>
                </a:rPr>
                <a:t>Learning requires cognitive engagement and should be effortful.</a:t>
              </a:r>
              <a:endPara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Avenir Next LT Pro" panose="020B0504020202020204" pitchFamily="34" charset="0"/>
                <a:ea typeface="+mn-ea"/>
                <a:cs typeface="Times New Roman"/>
              </a:endParaRPr>
            </a:p>
          </p:txBody>
        </p:sp>
        <p:sp>
          <p:nvSpPr>
            <p:cNvPr id="14" name="Rectangle: Rounded Corners 13">
              <a:extLst>
                <a:ext uri="{FF2B5EF4-FFF2-40B4-BE49-F238E27FC236}">
                  <a16:creationId xmlns:a16="http://schemas.microsoft.com/office/drawing/2014/main" id="{6C4369FC-BE26-42ED-BF07-FCDED6C6E5DB}"/>
                </a:ext>
              </a:extLst>
            </p:cNvPr>
            <p:cNvSpPr/>
            <p:nvPr/>
          </p:nvSpPr>
          <p:spPr>
            <a:xfrm>
              <a:off x="4474837" y="2089404"/>
              <a:ext cx="2809341" cy="567160"/>
            </a:xfrm>
            <a:prstGeom prst="roundRect">
              <a:avLst/>
            </a:prstGeom>
            <a:solidFill>
              <a:schemeClr val="accent6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venir Next LT Pro" panose="020B0504020202020204" pitchFamily="34" charset="0"/>
                  <a:ea typeface="+mn-ea"/>
                  <a:cs typeface="+mn-cs"/>
                </a:rPr>
                <a:t>Prior Knowledge</a:t>
              </a:r>
            </a:p>
          </p:txBody>
        </p:sp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F85F8674-35C6-4E0D-B4E1-BC91DEFDE9EE}"/>
                </a:ext>
              </a:extLst>
            </p:cNvPr>
            <p:cNvSpPr txBox="1"/>
            <p:nvPr/>
          </p:nvSpPr>
          <p:spPr>
            <a:xfrm>
              <a:off x="8175429" y="1719841"/>
              <a:ext cx="1918090" cy="646331"/>
            </a:xfrm>
            <a:prstGeom prst="rect">
              <a:avLst/>
            </a:prstGeom>
            <a:noFill/>
          </p:spPr>
          <p:txBody>
            <a:bodyPr wrap="square" lIns="91440" tIns="45720" rIns="91440" bIns="45720" rtlCol="0" anchor="t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400" b="1" i="0" u="none" strike="noStrike" kern="1200" cap="none" spc="0" normalizeH="0" baseline="0" noProof="0" dirty="0">
                  <a:ln>
                    <a:noFill/>
                  </a:ln>
                  <a:solidFill>
                    <a:srgbClr val="5B9BD5">
                      <a:lumMod val="50000"/>
                    </a:srgbClr>
                  </a:solidFill>
                  <a:effectLst/>
                  <a:uLnTx/>
                  <a:uFillTx/>
                  <a:latin typeface="Avenir Next LT Pro"/>
                  <a:ea typeface="Calibri" panose="020F0502020204030204" pitchFamily="34" charset="0"/>
                  <a:cs typeface="Times New Roman"/>
                </a:rPr>
                <a:t>Principle 3</a:t>
              </a:r>
              <a:endParaRPr kumimoji="0" lang="en-US" sz="1100" b="1" i="0" u="none" strike="noStrike" kern="1200" cap="none" spc="0" normalizeH="0" baseline="0" noProof="0" dirty="0">
                <a:ln>
                  <a:noFill/>
                </a:ln>
                <a:solidFill>
                  <a:srgbClr val="5B9BD5">
                    <a:lumMod val="50000"/>
                  </a:srgbClr>
                </a:solidFill>
                <a:effectLst/>
                <a:uLnTx/>
                <a:uFillTx/>
                <a:latin typeface="Avenir Next LT Pro"/>
                <a:ea typeface="+mn-ea"/>
                <a:cs typeface="Times New Roman"/>
              </a:endParaRPr>
            </a:p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100" b="1" i="0" u="none" strike="noStrike" kern="1200" cap="none" spc="0" normalizeH="0" baseline="0" noProof="0" dirty="0">
                <a:ln>
                  <a:noFill/>
                </a:ln>
                <a:solidFill>
                  <a:srgbClr val="5B9BD5">
                    <a:lumMod val="50000"/>
                  </a:srgbClr>
                </a:solidFill>
                <a:effectLst/>
                <a:uLnTx/>
                <a:uFillTx/>
                <a:latin typeface="Avenir Next LT Pro"/>
                <a:ea typeface="+mn-ea"/>
                <a:cs typeface="Times New Roman"/>
              </a:endParaRPr>
            </a:p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100" b="1" i="0" u="none" strike="noStrike" kern="1200" cap="none" spc="0" normalizeH="0" baseline="0" noProof="0" dirty="0">
                <a:ln>
                  <a:noFill/>
                </a:ln>
                <a:solidFill>
                  <a:srgbClr val="5B9BD5">
                    <a:lumMod val="50000"/>
                  </a:srgbClr>
                </a:solidFill>
                <a:effectLst/>
                <a:uLnTx/>
                <a:uFillTx/>
                <a:latin typeface="Avenir Next LT Pro"/>
                <a:ea typeface="+mn-ea"/>
                <a:cs typeface="Times New Roman"/>
              </a:endParaRPr>
            </a:p>
          </p:txBody>
        </p:sp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BF8A83E4-6B1C-4802-A847-9A43E7EF3575}"/>
                </a:ext>
              </a:extLst>
            </p:cNvPr>
            <p:cNvSpPr txBox="1"/>
            <p:nvPr/>
          </p:nvSpPr>
          <p:spPr>
            <a:xfrm>
              <a:off x="4474837" y="2760595"/>
              <a:ext cx="3002736" cy="584775"/>
            </a:xfrm>
            <a:prstGeom prst="rect">
              <a:avLst/>
            </a:prstGeom>
            <a:noFill/>
          </p:spPr>
          <p:txBody>
            <a:bodyPr wrap="square" lIns="91440" tIns="45720" rIns="91440" bIns="45720" rtlCol="0" anchor="t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600" b="0" i="0" u="none" strike="noStrike" kern="1200" cap="none" spc="0" normalizeH="0" baseline="0" noProof="0" dirty="0">
                  <a:ln>
                    <a:noFill/>
                  </a:ln>
                  <a:solidFill>
                    <a:srgbClr val="002060"/>
                  </a:solidFill>
                  <a:effectLst/>
                  <a:uLnTx/>
                  <a:uFillTx/>
                  <a:latin typeface="Avenir Next LT Pro" panose="020B0504020202020204" pitchFamily="34" charset="0"/>
                  <a:ea typeface="Calibri" panose="020F0502020204030204" pitchFamily="34" charset="0"/>
                  <a:cs typeface="Times New Roman" panose="02020603050405020304" pitchFamily="18" charset="0"/>
                </a:rPr>
                <a:t>Learning builds on prior knowledge.</a:t>
              </a:r>
              <a:endPara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Avenir Next LT Pro" panose="020B0504020202020204" pitchFamily="34" charset="0"/>
                <a:ea typeface="+mn-ea"/>
                <a:cs typeface="Times New Roman"/>
              </a:endParaRPr>
            </a:p>
          </p:txBody>
        </p:sp>
        <p:sp>
          <p:nvSpPr>
            <p:cNvPr id="18" name="Rectangle: Rounded Corners 17">
              <a:extLst>
                <a:ext uri="{FF2B5EF4-FFF2-40B4-BE49-F238E27FC236}">
                  <a16:creationId xmlns:a16="http://schemas.microsoft.com/office/drawing/2014/main" id="{72A3E8E6-1F7C-4312-A94D-33E5D8E775AF}"/>
                </a:ext>
              </a:extLst>
            </p:cNvPr>
            <p:cNvSpPr/>
            <p:nvPr/>
          </p:nvSpPr>
          <p:spPr>
            <a:xfrm>
              <a:off x="6711128" y="4260683"/>
              <a:ext cx="2809341" cy="567160"/>
            </a:xfrm>
            <a:prstGeom prst="roundRect">
              <a:avLst/>
            </a:prstGeom>
            <a:solidFill>
              <a:schemeClr val="bg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venir Next LT Pro" panose="020B0504020202020204" pitchFamily="34" charset="0"/>
                  <a:ea typeface="+mn-ea"/>
                  <a:cs typeface="+mn-cs"/>
                </a:rPr>
                <a:t>Practice with Feedback</a:t>
              </a:r>
            </a:p>
          </p:txBody>
        </p:sp>
        <p:sp>
          <p:nvSpPr>
            <p:cNvPr id="19" name="TextBox 18">
              <a:extLst>
                <a:ext uri="{FF2B5EF4-FFF2-40B4-BE49-F238E27FC236}">
                  <a16:creationId xmlns:a16="http://schemas.microsoft.com/office/drawing/2014/main" id="{F0CA7FF1-C83B-462B-B19D-BC77285B711A}"/>
                </a:ext>
              </a:extLst>
            </p:cNvPr>
            <p:cNvSpPr txBox="1"/>
            <p:nvPr/>
          </p:nvSpPr>
          <p:spPr>
            <a:xfrm>
              <a:off x="2482554" y="3639841"/>
              <a:ext cx="1918090" cy="646331"/>
            </a:xfrm>
            <a:prstGeom prst="rect">
              <a:avLst/>
            </a:prstGeom>
            <a:noFill/>
          </p:spPr>
          <p:txBody>
            <a:bodyPr wrap="square" lIns="91440" tIns="45720" rIns="91440" bIns="45720" rtlCol="0" anchor="t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400" b="1" i="0" u="none" strike="noStrike" kern="1200" cap="none" spc="0" normalizeH="0" baseline="0" noProof="0" dirty="0">
                  <a:ln>
                    <a:noFill/>
                  </a:ln>
                  <a:solidFill>
                    <a:srgbClr val="5B9BD5">
                      <a:lumMod val="50000"/>
                    </a:srgbClr>
                  </a:solidFill>
                  <a:effectLst/>
                  <a:uLnTx/>
                  <a:uFillTx/>
                  <a:latin typeface="Avenir Next LT Pro"/>
                  <a:ea typeface="Calibri" panose="020F0502020204030204" pitchFamily="34" charset="0"/>
                  <a:cs typeface="Times New Roman"/>
                </a:rPr>
                <a:t>Principle 4</a:t>
              </a:r>
              <a:endParaRPr kumimoji="0" lang="en-US" sz="1100" b="1" i="0" u="none" strike="noStrike" kern="1200" cap="none" spc="0" normalizeH="0" baseline="0" noProof="0" dirty="0">
                <a:ln>
                  <a:noFill/>
                </a:ln>
                <a:solidFill>
                  <a:srgbClr val="5B9BD5">
                    <a:lumMod val="50000"/>
                  </a:srgbClr>
                </a:solidFill>
                <a:effectLst/>
                <a:uLnTx/>
                <a:uFillTx/>
                <a:latin typeface="Avenir Next LT Pro"/>
                <a:ea typeface="+mn-ea"/>
                <a:cs typeface="Times New Roman"/>
              </a:endParaRPr>
            </a:p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100" b="1" i="0" u="none" strike="noStrike" kern="1200" cap="none" spc="0" normalizeH="0" baseline="0" noProof="0" dirty="0">
                <a:ln>
                  <a:noFill/>
                </a:ln>
                <a:solidFill>
                  <a:srgbClr val="5B9BD5">
                    <a:lumMod val="50000"/>
                  </a:srgbClr>
                </a:solidFill>
                <a:effectLst/>
                <a:uLnTx/>
                <a:uFillTx/>
                <a:latin typeface="Avenir Next LT Pro"/>
                <a:ea typeface="+mn-ea"/>
                <a:cs typeface="Times New Roman"/>
              </a:endParaRPr>
            </a:p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100" b="1" i="0" u="none" strike="noStrike" kern="1200" cap="none" spc="0" normalizeH="0" baseline="0" noProof="0" dirty="0">
                <a:ln>
                  <a:noFill/>
                </a:ln>
                <a:solidFill>
                  <a:srgbClr val="5B9BD5">
                    <a:lumMod val="50000"/>
                  </a:srgbClr>
                </a:solidFill>
                <a:effectLst/>
                <a:uLnTx/>
                <a:uFillTx/>
                <a:latin typeface="Avenir Next LT Pro"/>
                <a:ea typeface="+mn-ea"/>
                <a:cs typeface="Times New Roman"/>
              </a:endParaRPr>
            </a:p>
          </p:txBody>
        </p:sp>
        <p:sp>
          <p:nvSpPr>
            <p:cNvPr id="20" name="TextBox 19">
              <a:extLst>
                <a:ext uri="{FF2B5EF4-FFF2-40B4-BE49-F238E27FC236}">
                  <a16:creationId xmlns:a16="http://schemas.microsoft.com/office/drawing/2014/main" id="{C5597D05-3955-40B3-AF4E-99CFBA7C4623}"/>
                </a:ext>
              </a:extLst>
            </p:cNvPr>
            <p:cNvSpPr txBox="1"/>
            <p:nvPr/>
          </p:nvSpPr>
          <p:spPr>
            <a:xfrm>
              <a:off x="6711128" y="4931874"/>
              <a:ext cx="3002736" cy="1077218"/>
            </a:xfrm>
            <a:prstGeom prst="rect">
              <a:avLst/>
            </a:prstGeom>
            <a:noFill/>
          </p:spPr>
          <p:txBody>
            <a:bodyPr wrap="square" lIns="91440" tIns="45720" rIns="91440" bIns="45720" rtlCol="0" anchor="t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600" b="0" i="0" u="none" strike="noStrike" kern="1200" cap="none" spc="0" normalizeH="0" baseline="0" noProof="0" dirty="0">
                  <a:ln>
                    <a:noFill/>
                  </a:ln>
                  <a:solidFill>
                    <a:srgbClr val="002060"/>
                  </a:solidFill>
                  <a:effectLst/>
                  <a:uLnTx/>
                  <a:uFillTx/>
                  <a:latin typeface="Avenir Next LT Pro" panose="020B0504020202020204" pitchFamily="34" charset="0"/>
                  <a:ea typeface="Calibri" panose="020F0502020204030204" pitchFamily="34" charset="0"/>
                  <a:cs typeface="Times New Roman" panose="02020603050405020304" pitchFamily="18" charset="0"/>
                </a:rPr>
                <a:t>Practice and feedback are essential to move ideas permanently into long-term memory.</a:t>
              </a:r>
              <a:endPara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Avenir Next LT Pro" panose="020B0504020202020204" pitchFamily="34" charset="0"/>
                <a:ea typeface="+mn-ea"/>
                <a:cs typeface="Times New Roman"/>
              </a:endParaRPr>
            </a:p>
          </p:txBody>
        </p:sp>
        <p:sp>
          <p:nvSpPr>
            <p:cNvPr id="21" name="Rectangle: Rounded Corners 20">
              <a:extLst>
                <a:ext uri="{FF2B5EF4-FFF2-40B4-BE49-F238E27FC236}">
                  <a16:creationId xmlns:a16="http://schemas.microsoft.com/office/drawing/2014/main" id="{73043B92-E3FD-472C-8091-673A2CC07D07}"/>
                </a:ext>
              </a:extLst>
            </p:cNvPr>
            <p:cNvSpPr/>
            <p:nvPr/>
          </p:nvSpPr>
          <p:spPr>
            <a:xfrm>
              <a:off x="8205622" y="2098139"/>
              <a:ext cx="2809341" cy="567160"/>
            </a:xfrm>
            <a:prstGeom prst="roundRect">
              <a:avLst/>
            </a:prstGeom>
            <a:solidFill>
              <a:srgbClr val="C0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venir Next LT Pro" panose="020B0504020202020204" pitchFamily="34" charset="0"/>
                  <a:ea typeface="+mn-ea"/>
                  <a:cs typeface="+mn-cs"/>
                </a:rPr>
                <a:t>Avoiding Overload</a:t>
              </a:r>
            </a:p>
          </p:txBody>
        </p:sp>
        <p:sp>
          <p:nvSpPr>
            <p:cNvPr id="23" name="TextBox 22">
              <a:extLst>
                <a:ext uri="{FF2B5EF4-FFF2-40B4-BE49-F238E27FC236}">
                  <a16:creationId xmlns:a16="http://schemas.microsoft.com/office/drawing/2014/main" id="{78E6F118-C533-423F-821E-C74599E7B5BD}"/>
                </a:ext>
              </a:extLst>
            </p:cNvPr>
            <p:cNvSpPr txBox="1"/>
            <p:nvPr/>
          </p:nvSpPr>
          <p:spPr>
            <a:xfrm>
              <a:off x="8205622" y="2769330"/>
              <a:ext cx="3002736" cy="584775"/>
            </a:xfrm>
            <a:prstGeom prst="rect">
              <a:avLst/>
            </a:prstGeom>
            <a:noFill/>
          </p:spPr>
          <p:txBody>
            <a:bodyPr wrap="square" lIns="91440" tIns="45720" rIns="91440" bIns="45720" rtlCol="0" anchor="t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600" b="0" i="0" u="none" strike="noStrike" kern="1200" cap="none" spc="0" normalizeH="0" baseline="0" noProof="0" dirty="0">
                  <a:ln>
                    <a:noFill/>
                  </a:ln>
                  <a:solidFill>
                    <a:srgbClr val="002060"/>
                  </a:solidFill>
                  <a:effectLst/>
                  <a:uLnTx/>
                  <a:uFillTx/>
                  <a:latin typeface="Avenir Next LT Pro" panose="020B0504020202020204" pitchFamily="34" charset="0"/>
                  <a:ea typeface="Calibri" panose="020F0502020204030204" pitchFamily="34" charset="0"/>
                  <a:cs typeface="Times New Roman" panose="02020603050405020304" pitchFamily="18" charset="0"/>
                </a:rPr>
                <a:t>Too much information at once can interfere with learning. </a:t>
              </a:r>
              <a:endPara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Avenir Next LT Pro" panose="020B0504020202020204" pitchFamily="34" charset="0"/>
                <a:ea typeface="+mn-ea"/>
                <a:cs typeface="Times New Roman"/>
              </a:endParaRPr>
            </a:p>
          </p:txBody>
        </p:sp>
        <p:sp>
          <p:nvSpPr>
            <p:cNvPr id="25" name="TextBox 24">
              <a:extLst>
                <a:ext uri="{FF2B5EF4-FFF2-40B4-BE49-F238E27FC236}">
                  <a16:creationId xmlns:a16="http://schemas.microsoft.com/office/drawing/2014/main" id="{5F5F9617-20C4-4ECD-AD0A-793BE7FFD026}"/>
                </a:ext>
              </a:extLst>
            </p:cNvPr>
            <p:cNvSpPr txBox="1"/>
            <p:nvPr/>
          </p:nvSpPr>
          <p:spPr>
            <a:xfrm>
              <a:off x="6680935" y="3784477"/>
              <a:ext cx="1918090" cy="646331"/>
            </a:xfrm>
            <a:prstGeom prst="rect">
              <a:avLst/>
            </a:prstGeom>
            <a:noFill/>
          </p:spPr>
          <p:txBody>
            <a:bodyPr wrap="square" lIns="91440" tIns="45720" rIns="91440" bIns="45720" rtlCol="0" anchor="t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400" b="1" i="0" u="none" strike="noStrike" kern="1200" cap="none" spc="0" normalizeH="0" baseline="0" noProof="0" dirty="0">
                  <a:ln>
                    <a:noFill/>
                  </a:ln>
                  <a:solidFill>
                    <a:srgbClr val="5B9BD5">
                      <a:lumMod val="50000"/>
                    </a:srgbClr>
                  </a:solidFill>
                  <a:effectLst/>
                  <a:uLnTx/>
                  <a:uFillTx/>
                  <a:latin typeface="Avenir Next LT Pro"/>
                  <a:ea typeface="Calibri" panose="020F0502020204030204" pitchFamily="34" charset="0"/>
                  <a:cs typeface="Times New Roman"/>
                </a:rPr>
                <a:t>Principle 5</a:t>
              </a:r>
              <a:endParaRPr kumimoji="0" lang="en-US" sz="1100" b="1" i="0" u="none" strike="noStrike" kern="1200" cap="none" spc="0" normalizeH="0" baseline="0" noProof="0" dirty="0">
                <a:ln>
                  <a:noFill/>
                </a:ln>
                <a:solidFill>
                  <a:srgbClr val="5B9BD5">
                    <a:lumMod val="50000"/>
                  </a:srgbClr>
                </a:solidFill>
                <a:effectLst/>
                <a:uLnTx/>
                <a:uFillTx/>
                <a:latin typeface="Avenir Next LT Pro"/>
                <a:ea typeface="+mn-ea"/>
                <a:cs typeface="Times New Roman"/>
              </a:endParaRPr>
            </a:p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100" b="1" i="0" u="none" strike="noStrike" kern="1200" cap="none" spc="0" normalizeH="0" baseline="0" noProof="0" dirty="0">
                <a:ln>
                  <a:noFill/>
                </a:ln>
                <a:solidFill>
                  <a:srgbClr val="5B9BD5">
                    <a:lumMod val="50000"/>
                  </a:srgbClr>
                </a:solidFill>
                <a:effectLst/>
                <a:uLnTx/>
                <a:uFillTx/>
                <a:latin typeface="Avenir Next LT Pro"/>
                <a:ea typeface="+mn-ea"/>
                <a:cs typeface="Times New Roman"/>
              </a:endParaRPr>
            </a:p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100" b="1" i="0" u="none" strike="noStrike" kern="1200" cap="none" spc="0" normalizeH="0" baseline="0" noProof="0" dirty="0">
                <a:ln>
                  <a:noFill/>
                </a:ln>
                <a:solidFill>
                  <a:srgbClr val="5B9BD5">
                    <a:lumMod val="50000"/>
                  </a:srgbClr>
                </a:solidFill>
                <a:effectLst/>
                <a:uLnTx/>
                <a:uFillTx/>
                <a:latin typeface="Avenir Next LT Pro"/>
                <a:ea typeface="+mn-ea"/>
                <a:cs typeface="Times New Roman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3032545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1ECDB3-7F62-4124-A1E9-E48D699D24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20675"/>
            <a:ext cx="10515600" cy="1325563"/>
          </a:xfrm>
        </p:spPr>
        <p:txBody>
          <a:bodyPr>
            <a:normAutofit fontScale="90000"/>
          </a:bodyPr>
          <a:lstStyle/>
          <a:p>
            <a:br>
              <a:rPr lang="en-US" sz="2700" dirty="0"/>
            </a:br>
            <a:br>
              <a:rPr lang="en-US" sz="3300" dirty="0"/>
            </a:br>
            <a:r>
              <a:rPr lang="en-US" sz="3300" dirty="0"/>
              <a:t>Deliberate Practice: Practice can be guided (with teacher support) or independent (without teacher support)</a:t>
            </a:r>
            <a:br>
              <a:rPr lang="en-US" dirty="0"/>
            </a:b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12C84E3-4C09-4253-8964-13B9C34E5E4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599" cy="4711700"/>
          </a:xfrm>
        </p:spPr>
        <p:txBody>
          <a:bodyPr>
            <a:normAutofit lnSpcReduction="10000"/>
          </a:bodyPr>
          <a:lstStyle/>
          <a:p>
            <a:pPr marL="0" indent="0" algn="ctr">
              <a:buNone/>
            </a:pPr>
            <a:r>
              <a:rPr lang="en-US" dirty="0"/>
              <a:t>Examples</a:t>
            </a:r>
          </a:p>
          <a:p>
            <a:pPr marR="0" lvl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2000" i="1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Skip count as a class </a:t>
            </a:r>
            <a:endParaRPr lang="en-US" sz="20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R="0" lvl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2000" i="1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Use counters to make equal groups. Add the groups and write a number sentence.</a:t>
            </a:r>
            <a:endParaRPr lang="en-US" sz="20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R="0" lvl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2000" i="1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Write repeated addition sentences to represent situations (4+4+4=12)</a:t>
            </a:r>
            <a:endParaRPr lang="en-US" sz="20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R="0" lvl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2000" i="1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Explain to a partner about how 3x4 =12 is related to 4+4+4 =12</a:t>
            </a:r>
            <a:endParaRPr lang="en-US" sz="20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R="0" lvl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2000" i="1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Write multiplication sentences from equal groups</a:t>
            </a:r>
            <a:endParaRPr lang="en-US" sz="20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R="0" lvl="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sz="2000" i="1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Complete a set of practice problems with a partner</a:t>
            </a:r>
            <a:endParaRPr lang="en-US" sz="20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R="0" lvl="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sz="2000" i="1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Complete a set of practice problems independently</a:t>
            </a:r>
            <a:r>
              <a:rPr lang="en-US" sz="2000" dirty="0"/>
              <a:t>	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50E13DDA-93C4-45BA-B209-D5212074D845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>
            <a:normAutofit lnSpcReduction="10000"/>
          </a:bodyPr>
          <a:lstStyle/>
          <a:p>
            <a:pPr marL="0" indent="0" algn="ctr">
              <a:buNone/>
            </a:pPr>
            <a:r>
              <a:rPr lang="en-US" dirty="0"/>
              <a:t>Non-Examples</a:t>
            </a:r>
          </a:p>
          <a:p>
            <a:pPr marR="0" lvl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2000" i="1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Create and color a foldable to remember the lesson’s vocabulary. Cut and glue it into a math notebook</a:t>
            </a:r>
            <a:endParaRPr lang="en-US" sz="20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R="0" lvl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2000" i="1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Write a poem or rap about multiplication</a:t>
            </a:r>
            <a:endParaRPr lang="en-US" sz="20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R="0" lvl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2000" i="1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Talk to a partner about where you see multiplication in real life</a:t>
            </a:r>
            <a:endParaRPr lang="en-US" sz="20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R="0" lvl="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sz="2000" i="1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Watch a video to learn a multiplication song and dance</a:t>
            </a:r>
            <a:endParaRPr lang="en-US" sz="20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97159D5-CAC3-47F8-8492-7D28C15A3A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D56C8B-F564-4051-AFED-A78F1C6A2F0E}" type="slidenum">
              <a:rPr lang="en-US" smtClean="0"/>
              <a:pPr/>
              <a:t>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6393167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FB837C-3E07-4129-B371-9F5CA97D56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Exit Ticket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9F2A5AF-3C0B-4968-A438-E435325199E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Look at the lesson objective and assessment on your Exit Ticket. Sort the practice activities into examples and nonexamples. </a:t>
            </a:r>
          </a:p>
          <a:p>
            <a:pPr marL="0" indent="0">
              <a:buNone/>
            </a:pPr>
            <a:endParaRPr lang="en-US" dirty="0">
              <a:highlight>
                <a:srgbClr val="FFFF00"/>
              </a:highlight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0210221-3F4A-4187-A674-5BB2A5218F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D56C8B-F564-4051-AFED-A78F1C6A2F0E}" type="slidenum">
              <a:rPr lang="en-US" smtClean="0"/>
              <a:pPr/>
              <a:t>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4740876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C2U6 Template" id="{AF0A3B9D-A4D4-43B9-877C-DC7685DF529F}" vid="{24BCECEA-A865-4364-8D35-4F287E7D5DE6}"/>
    </a:ext>
  </a:extLst>
</a:theme>
</file>

<file path=ppt/theme/theme2.xml><?xml version="1.0" encoding="utf-8"?>
<a:theme xmlns:a="http://schemas.openxmlformats.org/drawingml/2006/main" name="1_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C2U6 Template</Template>
  <TotalTime>33</TotalTime>
  <Words>528</Words>
  <Application>Microsoft Office PowerPoint</Application>
  <PresentationFormat>Widescreen</PresentationFormat>
  <Paragraphs>69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8</vt:i4>
      </vt:variant>
    </vt:vector>
  </HeadingPairs>
  <TitlesOfParts>
    <vt:vector size="14" baseType="lpstr">
      <vt:lpstr>Arial</vt:lpstr>
      <vt:lpstr>Avenir Next LT Pro</vt:lpstr>
      <vt:lpstr>Calibri</vt:lpstr>
      <vt:lpstr>Calibri Light</vt:lpstr>
      <vt:lpstr>Office Theme</vt:lpstr>
      <vt:lpstr>1_Office Theme</vt:lpstr>
      <vt:lpstr>Instructional Practices| Unit 6: Instructional Alignment| Lesson 6.10</vt:lpstr>
      <vt:lpstr>TEKS Standards &amp; Objectives</vt:lpstr>
      <vt:lpstr>Bellringer</vt:lpstr>
      <vt:lpstr>Vocabulary</vt:lpstr>
      <vt:lpstr>Video Example: (21:40-26:40)</vt:lpstr>
      <vt:lpstr>Five Principles for Teaching based on the Science of Learning  </vt:lpstr>
      <vt:lpstr>  Deliberate Practice: Practice can be guided (with teacher support) or independent (without teacher support) </vt:lpstr>
      <vt:lpstr>Exit Ticket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Lesson 6.10: Scaffolding a Lesson | Practice </dc:title>
  <dc:subject>Lesson 6.10: Scaffolding a Lesson | Practice </dc:subject>
  <dc:creator>Texas Education Agency</dc:creator>
  <cp:lastModifiedBy>London White</cp:lastModifiedBy>
  <cp:revision>2</cp:revision>
  <dcterms:created xsi:type="dcterms:W3CDTF">2022-09-18T02:05:04Z</dcterms:created>
  <dcterms:modified xsi:type="dcterms:W3CDTF">2023-08-31T04:44:42Z</dcterms:modified>
</cp:coreProperties>
</file>
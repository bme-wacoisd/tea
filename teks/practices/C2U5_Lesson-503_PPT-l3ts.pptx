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9" r:id="rId3"/>
    <p:sldId id="258" r:id="rId4"/>
    <p:sldId id="261" r:id="rId5"/>
    <p:sldId id="264" r:id="rId6"/>
    <p:sldId id="263" r:id="rId7"/>
    <p:sldId id="260"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25FC97-412A-47CD-B43C-E65B05D3BB83}" v="23" dt="2022-10-09T19:35:13.6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01" d="100"/>
          <a:sy n="101" d="100"/>
        </p:scale>
        <p:origin x="126" y="4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she/her), Whitney" userId="65f39021-2f1d-4d8b-87dc-b123826f65bf" providerId="ADAL" clId="{1925FC97-412A-47CD-B43C-E65B05D3BB83}"/>
    <pc:docChg chg="custSel delSld modSld">
      <pc:chgData name="White (she/her), Whitney" userId="65f39021-2f1d-4d8b-87dc-b123826f65bf" providerId="ADAL" clId="{1925FC97-412A-47CD-B43C-E65B05D3BB83}" dt="2022-10-09T19:36:03.599" v="321" actId="404"/>
      <pc:docMkLst>
        <pc:docMk/>
      </pc:docMkLst>
      <pc:sldChg chg="modSp mod">
        <pc:chgData name="White (she/her), Whitney" userId="65f39021-2f1d-4d8b-87dc-b123826f65bf" providerId="ADAL" clId="{1925FC97-412A-47CD-B43C-E65B05D3BB83}" dt="2022-10-09T19:26:56.823" v="31" actId="403"/>
        <pc:sldMkLst>
          <pc:docMk/>
          <pc:sldMk cId="4071305681" sldId="258"/>
        </pc:sldMkLst>
        <pc:spChg chg="mod">
          <ac:chgData name="White (she/her), Whitney" userId="65f39021-2f1d-4d8b-87dc-b123826f65bf" providerId="ADAL" clId="{1925FC97-412A-47CD-B43C-E65B05D3BB83}" dt="2022-10-09T19:26:56.823" v="31" actId="403"/>
          <ac:spMkLst>
            <pc:docMk/>
            <pc:sldMk cId="4071305681" sldId="258"/>
            <ac:spMk id="3" creationId="{392BE286-77A6-49DD-B15D-7E4718D52FE7}"/>
          </ac:spMkLst>
        </pc:spChg>
      </pc:sldChg>
      <pc:sldChg chg="addSp delSp modSp mod">
        <pc:chgData name="White (she/her), Whitney" userId="65f39021-2f1d-4d8b-87dc-b123826f65bf" providerId="ADAL" clId="{1925FC97-412A-47CD-B43C-E65B05D3BB83}" dt="2022-10-09T19:26:42.911" v="26" actId="20577"/>
        <pc:sldMkLst>
          <pc:docMk/>
          <pc:sldMk cId="2772527113" sldId="259"/>
        </pc:sldMkLst>
        <pc:spChg chg="mod">
          <ac:chgData name="White (she/her), Whitney" userId="65f39021-2f1d-4d8b-87dc-b123826f65bf" providerId="ADAL" clId="{1925FC97-412A-47CD-B43C-E65B05D3BB83}" dt="2022-10-09T19:26:42.911" v="26" actId="20577"/>
          <ac:spMkLst>
            <pc:docMk/>
            <pc:sldMk cId="2772527113" sldId="259"/>
            <ac:spMk id="3" creationId="{8CE08C7F-0286-423B-92F7-DEB89F31111A}"/>
          </ac:spMkLst>
        </pc:spChg>
        <pc:graphicFrameChg chg="add del mod">
          <ac:chgData name="White (she/her), Whitney" userId="65f39021-2f1d-4d8b-87dc-b123826f65bf" providerId="ADAL" clId="{1925FC97-412A-47CD-B43C-E65B05D3BB83}" dt="2022-10-09T19:26:24.165" v="20"/>
          <ac:graphicFrameMkLst>
            <pc:docMk/>
            <pc:sldMk cId="2772527113" sldId="259"/>
            <ac:graphicFrameMk id="5" creationId="{84433144-F084-41F6-AEEF-F5DD018A767B}"/>
          </ac:graphicFrameMkLst>
        </pc:graphicFrameChg>
      </pc:sldChg>
      <pc:sldChg chg="modSp mod">
        <pc:chgData name="White (she/her), Whitney" userId="65f39021-2f1d-4d8b-87dc-b123826f65bf" providerId="ADAL" clId="{1925FC97-412A-47CD-B43C-E65B05D3BB83}" dt="2022-10-09T19:36:03.599" v="321" actId="404"/>
        <pc:sldMkLst>
          <pc:docMk/>
          <pc:sldMk cId="2147408764" sldId="260"/>
        </pc:sldMkLst>
        <pc:spChg chg="mod">
          <ac:chgData name="White (she/her), Whitney" userId="65f39021-2f1d-4d8b-87dc-b123826f65bf" providerId="ADAL" clId="{1925FC97-412A-47CD-B43C-E65B05D3BB83}" dt="2022-10-09T19:36:03.599" v="321" actId="404"/>
          <ac:spMkLst>
            <pc:docMk/>
            <pc:sldMk cId="2147408764" sldId="260"/>
            <ac:spMk id="3" creationId="{49F2A5AF-3C0B-4968-A438-E435325199EA}"/>
          </ac:spMkLst>
        </pc:spChg>
      </pc:sldChg>
      <pc:sldChg chg="addSp delSp modSp mod">
        <pc:chgData name="White (she/her), Whitney" userId="65f39021-2f1d-4d8b-87dc-b123826f65bf" providerId="ADAL" clId="{1925FC97-412A-47CD-B43C-E65B05D3BB83}" dt="2022-10-09T19:27:52.680" v="46" actId="1076"/>
        <pc:sldMkLst>
          <pc:docMk/>
          <pc:sldMk cId="3054216349" sldId="261"/>
        </pc:sldMkLst>
        <pc:spChg chg="del mod">
          <ac:chgData name="White (she/her), Whitney" userId="65f39021-2f1d-4d8b-87dc-b123826f65bf" providerId="ADAL" clId="{1925FC97-412A-47CD-B43C-E65B05D3BB83}" dt="2022-10-09T19:27:27.987" v="38" actId="21"/>
          <ac:spMkLst>
            <pc:docMk/>
            <pc:sldMk cId="3054216349" sldId="261"/>
            <ac:spMk id="3" creationId="{AE13FDB6-F093-4D9E-B14E-3D7DB894C34C}"/>
          </ac:spMkLst>
        </pc:spChg>
        <pc:graphicFrameChg chg="add mod modGraphic">
          <ac:chgData name="White (she/her), Whitney" userId="65f39021-2f1d-4d8b-87dc-b123826f65bf" providerId="ADAL" clId="{1925FC97-412A-47CD-B43C-E65B05D3BB83}" dt="2022-10-09T19:27:52.680" v="46" actId="1076"/>
          <ac:graphicFrameMkLst>
            <pc:docMk/>
            <pc:sldMk cId="3054216349" sldId="261"/>
            <ac:graphicFrameMk id="5" creationId="{97542136-3C86-4008-8635-FE8212FCAF17}"/>
          </ac:graphicFrameMkLst>
        </pc:graphicFrameChg>
      </pc:sldChg>
      <pc:sldChg chg="del">
        <pc:chgData name="White (she/her), Whitney" userId="65f39021-2f1d-4d8b-87dc-b123826f65bf" providerId="ADAL" clId="{1925FC97-412A-47CD-B43C-E65B05D3BB83}" dt="2022-10-09T19:35:15.997" v="253" actId="47"/>
        <pc:sldMkLst>
          <pc:docMk/>
          <pc:sldMk cId="4170921578" sldId="262"/>
        </pc:sldMkLst>
      </pc:sldChg>
      <pc:sldChg chg="modSp mod modAnim">
        <pc:chgData name="White (she/her), Whitney" userId="65f39021-2f1d-4d8b-87dc-b123826f65bf" providerId="ADAL" clId="{1925FC97-412A-47CD-B43C-E65B05D3BB83}" dt="2022-10-09T19:35:13.603" v="252" actId="6549"/>
        <pc:sldMkLst>
          <pc:docMk/>
          <pc:sldMk cId="1163931679" sldId="263"/>
        </pc:sldMkLst>
        <pc:spChg chg="mod">
          <ac:chgData name="White (she/her), Whitney" userId="65f39021-2f1d-4d8b-87dc-b123826f65bf" providerId="ADAL" clId="{1925FC97-412A-47CD-B43C-E65B05D3BB83}" dt="2022-10-09T19:35:13.603" v="252" actId="6549"/>
          <ac:spMkLst>
            <pc:docMk/>
            <pc:sldMk cId="1163931679" sldId="263"/>
            <ac:spMk id="2" creationId="{531ECDB3-7F62-4124-A1E9-E48D699D2427}"/>
          </ac:spMkLst>
        </pc:spChg>
        <pc:spChg chg="mod">
          <ac:chgData name="White (she/her), Whitney" userId="65f39021-2f1d-4d8b-87dc-b123826f65bf" providerId="ADAL" clId="{1925FC97-412A-47CD-B43C-E65B05D3BB83}" dt="2022-10-09T19:33:04.346" v="249" actId="5793"/>
          <ac:spMkLst>
            <pc:docMk/>
            <pc:sldMk cId="1163931679" sldId="263"/>
            <ac:spMk id="3" creationId="{012C84E3-4C09-4253-8964-13B9C34E5E48}"/>
          </ac:spMkLst>
        </pc:spChg>
      </pc:sldChg>
      <pc:sldChg chg="addSp modSp mod modAnim">
        <pc:chgData name="White (she/her), Whitney" userId="65f39021-2f1d-4d8b-87dc-b123826f65bf" providerId="ADAL" clId="{1925FC97-412A-47CD-B43C-E65B05D3BB83}" dt="2022-10-09T19:31:37.604" v="199"/>
        <pc:sldMkLst>
          <pc:docMk/>
          <pc:sldMk cId="3493109116" sldId="264"/>
        </pc:sldMkLst>
        <pc:spChg chg="mod">
          <ac:chgData name="White (she/her), Whitney" userId="65f39021-2f1d-4d8b-87dc-b123826f65bf" providerId="ADAL" clId="{1925FC97-412A-47CD-B43C-E65B05D3BB83}" dt="2022-10-09T19:29:32.398" v="179" actId="20577"/>
          <ac:spMkLst>
            <pc:docMk/>
            <pc:sldMk cId="3493109116" sldId="264"/>
            <ac:spMk id="2" creationId="{D7836664-70C0-47BA-9BFF-496A04EBBFDE}"/>
          </ac:spMkLst>
        </pc:spChg>
        <pc:spChg chg="mod">
          <ac:chgData name="White (she/her), Whitney" userId="65f39021-2f1d-4d8b-87dc-b123826f65bf" providerId="ADAL" clId="{1925FC97-412A-47CD-B43C-E65B05D3BB83}" dt="2022-10-09T19:30:28.711" v="187" actId="20577"/>
          <ac:spMkLst>
            <pc:docMk/>
            <pc:sldMk cId="3493109116" sldId="264"/>
            <ac:spMk id="3" creationId="{F64339F5-2F5D-46B5-A25D-C197D73747BD}"/>
          </ac:spMkLst>
        </pc:spChg>
        <pc:picChg chg="add mod">
          <ac:chgData name="White (she/her), Whitney" userId="65f39021-2f1d-4d8b-87dc-b123826f65bf" providerId="ADAL" clId="{1925FC97-412A-47CD-B43C-E65B05D3BB83}" dt="2022-10-09T19:30:55.066" v="194" actId="1076"/>
          <ac:picMkLst>
            <pc:docMk/>
            <pc:sldMk cId="3493109116" sldId="264"/>
            <ac:picMk id="5" creationId="{51129B50-8534-4584-80F0-72AAFB8BD650}"/>
          </ac:picMkLst>
        </pc:picChg>
        <pc:picChg chg="add mod">
          <ac:chgData name="White (she/her), Whitney" userId="65f39021-2f1d-4d8b-87dc-b123826f65bf" providerId="ADAL" clId="{1925FC97-412A-47CD-B43C-E65B05D3BB83}" dt="2022-10-09T19:30:59.710" v="195" actId="1076"/>
          <ac:picMkLst>
            <pc:docMk/>
            <pc:sldMk cId="3493109116" sldId="264"/>
            <ac:picMk id="6" creationId="{258F93AE-D6C9-4099-8396-C3F6B3EDA6A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8/31/2023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8/31/2023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8/31/2023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8/31/2023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8/31/2023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8/31/2023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8/31/2023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76639"/>
            <a:ext cx="9144000" cy="370300"/>
          </a:xfrm>
        </p:spPr>
        <p:txBody>
          <a:bodyPr>
            <a:normAutofit/>
          </a:bodyPr>
          <a:lstStyle/>
          <a:p>
            <a:pPr algn="l"/>
            <a:r>
              <a:rPr lang="en-US" sz="1800" dirty="0"/>
              <a:t>Instructional Practices| Unit 5: Planning For and With Assessment | Lesson 5.03</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Best Practices for Formal and Informal Assessment</a:t>
            </a:r>
          </a:p>
        </p:txBody>
      </p:sp>
      <p:sp>
        <p:nvSpPr>
          <p:cNvPr id="4" name="TextBox 6">
            <a:extLst>
              <a:ext uri="{FF2B5EF4-FFF2-40B4-BE49-F238E27FC236}">
                <a16:creationId xmlns:a16="http://schemas.microsoft.com/office/drawing/2014/main" id="{7043CB6F-D838-C517-8383-5E8A10FD3A17}"/>
              </a:ext>
            </a:extLst>
          </p:cNvPr>
          <p:cNvSpPr txBox="1"/>
          <p:nvPr/>
        </p:nvSpPr>
        <p:spPr>
          <a:xfrm>
            <a:off x="0" y="6446939"/>
            <a:ext cx="10154653" cy="338554"/>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a:spcBef>
                <a:spcPts val="0"/>
              </a:spcBef>
              <a:spcAft>
                <a:spcPts val="0"/>
              </a:spcAft>
              <a:tabLst>
                <a:tab pos="2971800" algn="ctr"/>
                <a:tab pos="5943600" algn="r"/>
              </a:tabLst>
            </a:pPr>
            <a:r>
              <a:rPr lang="en-US" sz="1600" dirty="0">
                <a:solidFill>
                  <a:srgbClr val="464646"/>
                </a:solidFill>
                <a:effectLst/>
                <a:latin typeface="Calibri" panose="020F0502020204030204" pitchFamily="34" charset="0"/>
                <a:ea typeface="Calibri" panose="020F0502020204030204" pitchFamily="34" charset="0"/>
                <a:cs typeface="Calibri" panose="020F0502020204030204" pitchFamily="34" charset="0"/>
              </a:rPr>
              <a:t>This work is licensed under a </a:t>
            </a:r>
            <a:r>
              <a:rPr lang="en-US" sz="1600" u="sng" dirty="0">
                <a:solidFill>
                  <a:srgbClr val="0070C0"/>
                </a:solidFill>
                <a:effectLst/>
                <a:latin typeface="Calibri" panose="020F05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60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3B, 6D, 8A, 8C</a:t>
            </a:r>
          </a:p>
          <a:p>
            <a:pPr marL="0" indent="0">
              <a:buNone/>
            </a:pPr>
            <a:endParaRPr lang="en-US" dirty="0"/>
          </a:p>
          <a:p>
            <a:pPr marL="0" indent="0">
              <a:buNone/>
            </a:pPr>
            <a:r>
              <a:rPr lang="en-US" dirty="0"/>
              <a:t>The student will: </a:t>
            </a:r>
          </a:p>
          <a:p>
            <a:pPr marL="342900" marR="0" lvl="0" indent="-342900">
              <a:lnSpc>
                <a:spcPct val="107000"/>
              </a:lnSpc>
              <a:spcBef>
                <a:spcPts val="600"/>
              </a:spcBef>
              <a:spcAft>
                <a:spcPts val="60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cs typeface="Calibri" panose="020F0502020204030204" pitchFamily="34" charset="0"/>
              </a:rPr>
              <a:t>Identify use of a variety of assessments in a lesson plan </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600"/>
              </a:spcBef>
              <a:spcAft>
                <a:spcPts val="60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rPr>
              <a:t>Analyze how different types of formative assessments are used in a lesson</a:t>
            </a:r>
            <a:endParaRPr lang="en-US"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normAutofit/>
          </a:bodyPr>
          <a:lstStyle/>
          <a:p>
            <a:pPr marL="0" indent="0">
              <a:buNone/>
            </a:pPr>
            <a:r>
              <a:rPr lang="en-US" sz="3200" dirty="0">
                <a:effectLst/>
                <a:latin typeface="Calibri" panose="020F0502020204030204" pitchFamily="34" charset="0"/>
                <a:ea typeface="Calibri" panose="020F0502020204030204" pitchFamily="34" charset="0"/>
              </a:rPr>
              <a:t>Read the scenario located on your student guide. As you read, look for formative assessments the teacher uses. Underline every instance of a formative assessment that you see. </a:t>
            </a:r>
            <a:endParaRPr lang="en-US" sz="4400" dirty="0">
              <a:highlight>
                <a:srgbClr val="FFFF00"/>
              </a:highlight>
            </a:endParaRPr>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dirty="0"/>
              <a:t>Vocabulary</a:t>
            </a:r>
          </a:p>
        </p:txBody>
      </p:sp>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4</a:t>
            </a:fld>
            <a:endParaRPr lang="en-US" dirty="0"/>
          </a:p>
        </p:txBody>
      </p:sp>
      <p:graphicFrame>
        <p:nvGraphicFramePr>
          <p:cNvPr id="5" name="Table 4">
            <a:extLst>
              <a:ext uri="{FF2B5EF4-FFF2-40B4-BE49-F238E27FC236}">
                <a16:creationId xmlns:a16="http://schemas.microsoft.com/office/drawing/2014/main" id="{97542136-3C86-4008-8635-FE8212FCAF17}"/>
              </a:ext>
            </a:extLst>
          </p:cNvPr>
          <p:cNvGraphicFramePr>
            <a:graphicFrameLocks noGrp="1"/>
          </p:cNvGraphicFramePr>
          <p:nvPr>
            <p:extLst>
              <p:ext uri="{D42A27DB-BD31-4B8C-83A1-F6EECF244321}">
                <p14:modId xmlns:p14="http://schemas.microsoft.com/office/powerpoint/2010/main" val="1698367768"/>
              </p:ext>
            </p:extLst>
          </p:nvPr>
        </p:nvGraphicFramePr>
        <p:xfrm>
          <a:off x="988982" y="1584768"/>
          <a:ext cx="9488867" cy="4623759"/>
        </p:xfrm>
        <a:graphic>
          <a:graphicData uri="http://schemas.openxmlformats.org/drawingml/2006/table">
            <a:tbl>
              <a:tblPr firstRow="1" firstCol="1" bandRow="1">
                <a:tableStyleId>{5940675A-B579-460E-94D1-54222C63F5DA}</a:tableStyleId>
              </a:tblPr>
              <a:tblGrid>
                <a:gridCol w="2076258">
                  <a:extLst>
                    <a:ext uri="{9D8B030D-6E8A-4147-A177-3AD203B41FA5}">
                      <a16:colId xmlns:a16="http://schemas.microsoft.com/office/drawing/2014/main" val="1252524310"/>
                    </a:ext>
                  </a:extLst>
                </a:gridCol>
                <a:gridCol w="7412609">
                  <a:extLst>
                    <a:ext uri="{9D8B030D-6E8A-4147-A177-3AD203B41FA5}">
                      <a16:colId xmlns:a16="http://schemas.microsoft.com/office/drawing/2014/main" val="476762365"/>
                    </a:ext>
                  </a:extLst>
                </a:gridCol>
              </a:tblGrid>
              <a:tr h="1130175">
                <a:tc>
                  <a:txBody>
                    <a:bodyPr/>
                    <a:lstStyle/>
                    <a:p>
                      <a:pPr marL="0" marR="0" algn="ctr">
                        <a:lnSpc>
                          <a:spcPct val="107000"/>
                        </a:lnSpc>
                        <a:spcBef>
                          <a:spcPts val="600"/>
                        </a:spcBef>
                        <a:spcAft>
                          <a:spcPts val="600"/>
                        </a:spcAft>
                      </a:pPr>
                      <a:r>
                        <a:rPr lang="en-US" sz="2000" b="1" dirty="0">
                          <a:effectLst/>
                        </a:rPr>
                        <a:t>Formal Assessment</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600"/>
                        </a:spcBef>
                        <a:spcAft>
                          <a:spcPts val="600"/>
                        </a:spcAft>
                      </a:pPr>
                      <a:r>
                        <a:rPr lang="en-US" sz="2000" dirty="0">
                          <a:effectLst/>
                        </a:rPr>
                        <a:t>Structured instructional activities within the lesson in which students and teachers assess the progress of student’s learning to help in the learning process (practice sets, homework, fluency assessment)</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81385706"/>
                  </a:ext>
                </a:extLst>
              </a:tr>
              <a:tr h="844472">
                <a:tc>
                  <a:txBody>
                    <a:bodyPr/>
                    <a:lstStyle/>
                    <a:p>
                      <a:pPr marL="0" marR="0" algn="ctr">
                        <a:lnSpc>
                          <a:spcPct val="107000"/>
                        </a:lnSpc>
                        <a:spcBef>
                          <a:spcPts val="600"/>
                        </a:spcBef>
                        <a:spcAft>
                          <a:spcPts val="600"/>
                        </a:spcAft>
                      </a:pPr>
                      <a:r>
                        <a:rPr lang="en-US" sz="2000" b="1" dirty="0">
                          <a:effectLst/>
                        </a:rPr>
                        <a:t>Informal Assessment</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600"/>
                        </a:spcBef>
                        <a:spcAft>
                          <a:spcPts val="600"/>
                        </a:spcAft>
                      </a:pPr>
                      <a:r>
                        <a:rPr lang="en-US" sz="2000" dirty="0">
                          <a:effectLst/>
                        </a:rPr>
                        <a:t>Quick conversational or observation-based checks for understanding (thumbs up, white boards, first to 5, feedback on students’ verbal response)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58594953"/>
                  </a:ext>
                </a:extLst>
              </a:tr>
              <a:tr h="844472">
                <a:tc>
                  <a:txBody>
                    <a:bodyPr/>
                    <a:lstStyle/>
                    <a:p>
                      <a:pPr marL="0" marR="0" algn="ctr">
                        <a:lnSpc>
                          <a:spcPct val="107000"/>
                        </a:lnSpc>
                        <a:spcBef>
                          <a:spcPts val="600"/>
                        </a:spcBef>
                        <a:spcAft>
                          <a:spcPts val="600"/>
                        </a:spcAft>
                      </a:pPr>
                      <a:r>
                        <a:rPr lang="en-US" sz="2000" b="1" dirty="0">
                          <a:effectLst/>
                        </a:rPr>
                        <a:t>Pacing</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600"/>
                        </a:spcBef>
                        <a:spcAft>
                          <a:spcPts val="600"/>
                        </a:spcAft>
                      </a:pPr>
                      <a:r>
                        <a:rPr lang="en-US" sz="2000" dirty="0">
                          <a:effectLst/>
                        </a:rPr>
                        <a:t>The timing of instruction that includes how fast to move through new material and when to shift from one lesson segment to another</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50916042"/>
                  </a:ext>
                </a:extLst>
              </a:tr>
              <a:tr h="409594">
                <a:tc>
                  <a:txBody>
                    <a:bodyPr/>
                    <a:lstStyle/>
                    <a:p>
                      <a:pPr marL="0" marR="0" algn="ctr">
                        <a:lnSpc>
                          <a:spcPct val="107000"/>
                        </a:lnSpc>
                        <a:spcBef>
                          <a:spcPts val="600"/>
                        </a:spcBef>
                        <a:spcAft>
                          <a:spcPts val="600"/>
                        </a:spcAft>
                      </a:pPr>
                      <a:r>
                        <a:rPr lang="en-US" sz="2000" b="1" dirty="0">
                          <a:effectLst/>
                        </a:rPr>
                        <a:t>Reteaching</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600"/>
                        </a:spcBef>
                        <a:spcAft>
                          <a:spcPts val="600"/>
                        </a:spcAft>
                      </a:pPr>
                      <a:r>
                        <a:rPr lang="en-US" sz="2000" dirty="0">
                          <a:effectLst/>
                        </a:rPr>
                        <a:t>Teaching material in a new way when necessary</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73051297"/>
                  </a:ext>
                </a:extLst>
              </a:tr>
              <a:tr h="558768">
                <a:tc>
                  <a:txBody>
                    <a:bodyPr/>
                    <a:lstStyle/>
                    <a:p>
                      <a:pPr marL="0" marR="0" algn="ctr">
                        <a:lnSpc>
                          <a:spcPct val="107000"/>
                        </a:lnSpc>
                        <a:spcBef>
                          <a:spcPts val="600"/>
                        </a:spcBef>
                        <a:spcAft>
                          <a:spcPts val="600"/>
                        </a:spcAft>
                      </a:pPr>
                      <a:r>
                        <a:rPr lang="en-US" sz="2000" b="1" dirty="0">
                          <a:effectLst/>
                        </a:rPr>
                        <a:t>Remediation</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600"/>
                        </a:spcBef>
                        <a:spcAft>
                          <a:spcPts val="600"/>
                        </a:spcAft>
                      </a:pPr>
                      <a:r>
                        <a:rPr lang="en-US" sz="2000" dirty="0">
                          <a:effectLst/>
                        </a:rPr>
                        <a:t>Teaching content again to students who didn't learn it the first time; filling in gaps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0773226"/>
                  </a:ext>
                </a:extLst>
              </a:tr>
              <a:tr h="558768">
                <a:tc>
                  <a:txBody>
                    <a:bodyPr/>
                    <a:lstStyle/>
                    <a:p>
                      <a:pPr marL="0" marR="0" algn="ctr">
                        <a:lnSpc>
                          <a:spcPct val="107000"/>
                        </a:lnSpc>
                        <a:spcBef>
                          <a:spcPts val="600"/>
                        </a:spcBef>
                        <a:spcAft>
                          <a:spcPts val="600"/>
                        </a:spcAft>
                      </a:pPr>
                      <a:r>
                        <a:rPr lang="en-US" sz="2000" b="1" dirty="0">
                          <a:effectLst/>
                        </a:rPr>
                        <a:t>Strategic Grouping</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600"/>
                        </a:spcBef>
                        <a:spcAft>
                          <a:spcPts val="600"/>
                        </a:spcAft>
                      </a:pPr>
                      <a:r>
                        <a:rPr lang="en-US" sz="2000" dirty="0">
                          <a:effectLst/>
                        </a:rPr>
                        <a:t>Placing students in small groups with purpose and intentionality based on reteaching needs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00497275"/>
                  </a:ext>
                </a:extLst>
              </a:tr>
            </a:tbl>
          </a:graphicData>
        </a:graphic>
      </p:graphicFrame>
    </p:spTree>
    <p:extLst>
      <p:ext uri="{BB962C8B-B14F-4D97-AF65-F5344CB8AC3E}">
        <p14:creationId xmlns:p14="http://schemas.microsoft.com/office/powerpoint/2010/main" val="3054216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200" y="500062"/>
            <a:ext cx="10515600" cy="1325563"/>
          </a:xfrm>
        </p:spPr>
        <p:txBody>
          <a:bodyPr/>
          <a:lstStyle/>
          <a:p>
            <a:r>
              <a:rPr lang="en-US" dirty="0"/>
              <a:t>Best Practices for Using Formative Assessments</a:t>
            </a:r>
          </a:p>
        </p:txBody>
      </p:sp>
      <p:sp>
        <p:nvSpPr>
          <p:cNvPr id="3" name="Content Placeholder 2">
            <a:extLst>
              <a:ext uri="{FF2B5EF4-FFF2-40B4-BE49-F238E27FC236}">
                <a16:creationId xmlns:a16="http://schemas.microsoft.com/office/drawing/2014/main" id="{F64339F5-2F5D-46B5-A25D-C197D73747BD}"/>
              </a:ext>
            </a:extLst>
          </p:cNvPr>
          <p:cNvSpPr>
            <a:spLocks noGrp="1"/>
          </p:cNvSpPr>
          <p:nvPr>
            <p:ph idx="1"/>
          </p:nvPr>
        </p:nvSpPr>
        <p:spPr/>
        <p:txBody>
          <a:bodyPr>
            <a:normAutofit/>
          </a:bodyPr>
          <a:lstStyle/>
          <a:p>
            <a:pPr marL="342900" marR="0" lvl="0" indent="-342900">
              <a:lnSpc>
                <a:spcPct val="107000"/>
              </a:lnSpc>
              <a:spcBef>
                <a:spcPts val="0"/>
              </a:spcBef>
              <a:spcAft>
                <a:spcPts val="0"/>
              </a:spcAft>
              <a:buFont typeface="+mj-lt"/>
              <a:buAutoNum type="arabicPeriod"/>
            </a:pPr>
            <a:r>
              <a:rPr lang="en-US" i="1" dirty="0">
                <a:solidFill>
                  <a:srgbClr val="008000"/>
                </a:solidFill>
                <a:effectLst/>
                <a:latin typeface="Calibri" panose="020F0502020204030204" pitchFamily="34" charset="0"/>
                <a:ea typeface="Calibri" panose="020F0502020204030204" pitchFamily="34" charset="0"/>
                <a:cs typeface="Calibri" panose="020F0502020204030204" pitchFamily="34" charset="0"/>
              </a:rPr>
              <a:t>Create a portfolio with a variety of assessments over time</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mj-lt"/>
              <a:buAutoNum type="arabicPeriod"/>
            </a:pPr>
            <a:r>
              <a:rPr lang="en-US" i="1" dirty="0">
                <a:solidFill>
                  <a:srgbClr val="008000"/>
                </a:solidFill>
                <a:effectLst/>
                <a:latin typeface="Calibri" panose="020F0502020204030204" pitchFamily="34" charset="0"/>
                <a:ea typeface="Calibri" panose="020F0502020204030204" pitchFamily="34" charset="0"/>
                <a:cs typeface="Calibri" panose="020F0502020204030204" pitchFamily="34" charset="0"/>
              </a:rPr>
              <a:t>Use throughout a lesson</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pPr>
            <a:r>
              <a:rPr lang="en-US" i="1" dirty="0">
                <a:solidFill>
                  <a:srgbClr val="008000"/>
                </a:solidFill>
                <a:effectLst/>
                <a:latin typeface="Calibri" panose="020F0502020204030204" pitchFamily="34" charset="0"/>
                <a:ea typeface="Calibri" panose="020F0502020204030204" pitchFamily="34" charset="0"/>
                <a:cs typeface="Calibri" panose="020F0502020204030204" pitchFamily="34" charset="0"/>
              </a:rPr>
              <a:t>Use to make strategic decisions</a:t>
            </a:r>
          </a:p>
          <a:p>
            <a:pPr marL="0" marR="0" lvl="0" indent="0">
              <a:lnSpc>
                <a:spcPct val="107000"/>
              </a:lnSpc>
              <a:spcBef>
                <a:spcPts val="0"/>
              </a:spcBef>
              <a:spcAft>
                <a:spcPts val="800"/>
              </a:spcAft>
              <a:buNone/>
            </a:pPr>
            <a:endParaRPr lang="en-US" i="1" dirty="0">
              <a:solidFill>
                <a:srgbClr val="008000"/>
              </a:solidFill>
              <a:latin typeface="Calibri" panose="020F0502020204030204" pitchFamily="34" charset="0"/>
              <a:ea typeface="Calibri" panose="020F0502020204030204" pitchFamily="34" charset="0"/>
              <a:cs typeface="Calibri" panose="020F0502020204030204" pitchFamily="34" charset="0"/>
            </a:endParaRPr>
          </a:p>
          <a:p>
            <a:pPr marL="0" marR="0" lvl="0" indent="0">
              <a:lnSpc>
                <a:spcPct val="107000"/>
              </a:lnSpc>
              <a:spcBef>
                <a:spcPts val="0"/>
              </a:spcBef>
              <a:spcAft>
                <a:spcPts val="800"/>
              </a:spcAft>
              <a:buNone/>
            </a:pP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5</a:t>
            </a:fld>
            <a:endParaRPr lang="en-US" dirty="0"/>
          </a:p>
        </p:txBody>
      </p:sp>
      <p:pic>
        <p:nvPicPr>
          <p:cNvPr id="5" name="Picture 4" descr="The Five Science of Learning Principles. &#10;&#10;Top row: Three boxes (Orange: Attending; Green: Prior Knowledge; Red: Avoiding Overload)&#10;&#10;Bottom Row: Two boxes (Blue: Cognitive Engagement; Gray: Practice with Feedback)&#10;&#10;Text:&#10;Attending: Learning requires attending to the most important content.&#10;&#10;Prior Knowledge: Learning builds on prior knowledge.&#10;&#10;Avoiding Overload: Too much information at once can interfere with learning.&#10;&#10;Cognitive Engagement: Learning requires cognitive engagement and should be effortful.&#10;&#10;Practice with Feedback:&#10;Practice and feedback are essential to move ideas permanently into long-term memory.">
            <a:extLst>
              <a:ext uri="{FF2B5EF4-FFF2-40B4-BE49-F238E27FC236}">
                <a16:creationId xmlns:a16="http://schemas.microsoft.com/office/drawing/2014/main" id="{51129B50-8534-4584-80F0-72AAFB8BD6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5129" y="3544743"/>
            <a:ext cx="3667125" cy="2114550"/>
          </a:xfrm>
          <a:prstGeom prst="rect">
            <a:avLst/>
          </a:prstGeom>
        </p:spPr>
      </p:pic>
      <p:pic>
        <p:nvPicPr>
          <p:cNvPr id="6" name="Picture 5" descr="The Five Science of Learning Principles. &#10;&#10;Top row: Three boxes (Orange: Attending; Green: Prior Knowledge; Red: Avoiding Overload)&#10;&#10;Bottom Row: Two boxes (Blue: Cognitive Engagement; Gray: Practice with Feedback)&#10;&#10;Text:&#10;Attending: Learning requires attending to the most important content.&#10;&#10;Prior Knowledge: Learning builds on prior knowledge.&#10;&#10;Avoiding Overload: Too much information at once can interfere with learning.&#10;&#10;Cognitive Engagement: Learning requires cognitive engagement and should be effortful.&#10;&#10;Practice with Feedback:&#10;Practice and feedback are essential to move ideas permanently into long-term memory.">
            <a:extLst>
              <a:ext uri="{FF2B5EF4-FFF2-40B4-BE49-F238E27FC236}">
                <a16:creationId xmlns:a16="http://schemas.microsoft.com/office/drawing/2014/main" id="{258F93AE-D6C9-4099-8396-C3F6B3EDA6A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32252" y="3728315"/>
            <a:ext cx="4556695" cy="1747405"/>
          </a:xfrm>
          <a:prstGeom prst="rect">
            <a:avLst/>
          </a:prstGeom>
        </p:spPr>
      </p:pic>
    </p:spTree>
    <p:extLst>
      <p:ext uri="{BB962C8B-B14F-4D97-AF65-F5344CB8AC3E}">
        <p14:creationId xmlns:p14="http://schemas.microsoft.com/office/powerpoint/2010/main" val="3493109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ECDB3-7F62-4124-A1E9-E48D699D2427}"/>
              </a:ext>
            </a:extLst>
          </p:cNvPr>
          <p:cNvSpPr>
            <a:spLocks noGrp="1"/>
          </p:cNvSpPr>
          <p:nvPr>
            <p:ph type="title"/>
          </p:nvPr>
        </p:nvSpPr>
        <p:spPr>
          <a:xfrm>
            <a:off x="838200" y="500062"/>
            <a:ext cx="10515600" cy="1325563"/>
          </a:xfrm>
        </p:spPr>
        <p:txBody>
          <a:bodyPr/>
          <a:lstStyle/>
          <a:p>
            <a:r>
              <a:rPr lang="en-US" dirty="0"/>
              <a:t>Strategic Decisions</a:t>
            </a:r>
          </a:p>
        </p:txBody>
      </p:sp>
      <p:sp>
        <p:nvSpPr>
          <p:cNvPr id="3" name="Content Placeholder 2">
            <a:extLst>
              <a:ext uri="{FF2B5EF4-FFF2-40B4-BE49-F238E27FC236}">
                <a16:creationId xmlns:a16="http://schemas.microsoft.com/office/drawing/2014/main" id="{012C84E3-4C09-4253-8964-13B9C34E5E48}"/>
              </a:ext>
            </a:extLst>
          </p:cNvPr>
          <p:cNvSpPr>
            <a:spLocks noGrp="1"/>
          </p:cNvSpPr>
          <p:nvPr>
            <p:ph idx="1"/>
          </p:nvPr>
        </p:nvSpPr>
        <p:spPr/>
        <p:txBody>
          <a:bodyPr>
            <a:normAutofit fontScale="92500" lnSpcReduction="10000"/>
          </a:bodyPr>
          <a:lstStyle/>
          <a:p>
            <a:pPr marL="342900" marR="0" lvl="0" indent="-342900">
              <a:lnSpc>
                <a:spcPct val="107000"/>
              </a:lnSpc>
              <a:spcBef>
                <a:spcPts val="0"/>
              </a:spcBef>
              <a:spcAft>
                <a:spcPts val="0"/>
              </a:spcAft>
              <a:buFont typeface="Symbol" panose="05050102010706020507" pitchFamily="18" charset="2"/>
              <a:buChar char=""/>
            </a:pPr>
            <a:r>
              <a:rPr lang="en-US" sz="2000" dirty="0">
                <a:effectLst/>
                <a:latin typeface="Calibri" panose="020F0502020204030204" pitchFamily="34" charset="0"/>
                <a:ea typeface="Calibri" panose="020F0502020204030204" pitchFamily="34" charset="0"/>
                <a:cs typeface="Calibri" panose="020F0502020204030204" pitchFamily="34" charset="0"/>
              </a:rPr>
              <a:t>Pacing: Should I move faster or slower? Should I review the material again or are students ready to move forward? </a:t>
            </a:r>
          </a:p>
          <a:p>
            <a:pPr marL="342900" marR="0" lvl="0" indent="-342900">
              <a:lnSpc>
                <a:spcPct val="107000"/>
              </a:lnSpc>
              <a:spcBef>
                <a:spcPts val="0"/>
              </a:spcBef>
              <a:spcAft>
                <a:spcPts val="0"/>
              </a:spcAft>
              <a:buFont typeface="Symbol" panose="05050102010706020507" pitchFamily="18" charset="2"/>
              <a:buChar char=""/>
            </a:pP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sz="2000" dirty="0">
                <a:effectLst/>
                <a:latin typeface="Calibri" panose="020F0502020204030204" pitchFamily="34" charset="0"/>
                <a:ea typeface="Calibri" panose="020F0502020204030204" pitchFamily="34" charset="0"/>
                <a:cs typeface="Calibri" panose="020F0502020204030204" pitchFamily="34" charset="0"/>
              </a:rPr>
              <a:t>Reteaching: Do I need to reteach part or all this lesson? How do I know? Do I need to reteach part of all the lesson to all students or a small group?</a:t>
            </a:r>
          </a:p>
          <a:p>
            <a:pPr marL="0" marR="0" lvl="0" indent="0">
              <a:lnSpc>
                <a:spcPct val="107000"/>
              </a:lnSpc>
              <a:spcBef>
                <a:spcPts val="0"/>
              </a:spcBef>
              <a:spcAft>
                <a:spcPts val="0"/>
              </a:spcAft>
              <a:buNone/>
            </a:pP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2000" dirty="0">
                <a:effectLst/>
                <a:latin typeface="Calibri" panose="020F0502020204030204" pitchFamily="34" charset="0"/>
                <a:ea typeface="Calibri" panose="020F0502020204030204" pitchFamily="34" charset="0"/>
                <a:cs typeface="Calibri" panose="020F0502020204030204" pitchFamily="34" charset="0"/>
              </a:rPr>
              <a:t>Remediation and Enrichment: Do some students need remediation to learn background knowledge they should but do not have? Do some students need to go deeper faster because they already know the material?</a:t>
            </a:r>
          </a:p>
          <a:p>
            <a:pPr marL="0" marR="0" lvl="0" indent="0">
              <a:lnSpc>
                <a:spcPct val="107000"/>
              </a:lnSpc>
              <a:spcBef>
                <a:spcPts val="0"/>
              </a:spcBef>
              <a:spcAft>
                <a:spcPts val="800"/>
              </a:spcAft>
              <a:buNone/>
            </a:pPr>
            <a:endParaRPr lang="en-US" sz="20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2000" dirty="0">
                <a:effectLst/>
                <a:latin typeface="Calibri" panose="020F0502020204030204" pitchFamily="34" charset="0"/>
                <a:ea typeface="Calibri" panose="020F0502020204030204" pitchFamily="34" charset="0"/>
              </a:rPr>
              <a:t>Strategic Grouping: Based on who understands the lesson and who doesn’t, how can I group students to support one another? How can I group students so that I can reteach portions or all of the lesson only to those students who need it? How will I enrich the new learning for students who are ready to move on? How might I pair students for peer teaching and support?</a:t>
            </a:r>
            <a:endParaRPr lang="en-US" sz="2000" dirty="0"/>
          </a:p>
        </p:txBody>
      </p:sp>
      <p:sp>
        <p:nvSpPr>
          <p:cNvPr id="4" name="Slide Number Placeholder 3">
            <a:extLst>
              <a:ext uri="{FF2B5EF4-FFF2-40B4-BE49-F238E27FC236}">
                <a16:creationId xmlns:a16="http://schemas.microsoft.com/office/drawing/2014/main" id="{497159D5-CAC3-47F8-8492-7D28C15A3A58}"/>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1163931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lstStyle/>
          <a:p>
            <a:pPr marL="0" marR="0" indent="0">
              <a:lnSpc>
                <a:spcPct val="107000"/>
              </a:lnSpc>
              <a:spcBef>
                <a:spcPts val="0"/>
              </a:spcBef>
              <a:spcAft>
                <a:spcPts val="800"/>
              </a:spcAft>
              <a:buNone/>
            </a:pPr>
            <a:r>
              <a:rPr lang="en-US" sz="20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Read the scenario below. Identify and analyze the assessments the teacher uses. Use the graphic organizer </a:t>
            </a:r>
            <a:r>
              <a:rPr lang="en-US" sz="2000" b="1" dirty="0">
                <a:solidFill>
                  <a:srgbClr val="000000"/>
                </a:solidFill>
                <a:latin typeface="Calibri" panose="020F0502020204030204" pitchFamily="34" charset="0"/>
                <a:ea typeface="Calibri" panose="020F0502020204030204" pitchFamily="34" charset="0"/>
                <a:cs typeface="Calibri" panose="020F0502020204030204" pitchFamily="34" charset="0"/>
              </a:rPr>
              <a:t>on your Exit Ticket to guide your analysis</a:t>
            </a:r>
            <a:r>
              <a:rPr lang="en-US" sz="20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18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 a lesson about maps and how to draw maps to represent information, Mr. Hillary begins by providing his students with an image of a map and asking them to describe what they see and what they know about maps. Next, he teaches key elements of maps and then engages students in a discussion about key elements as they annotate the map together based on his questions (Where on this map do you see the legend?  How does this map show elevation?). Students then work in partners to draw their own map of the playground, ensuring that they use the essential elements of a map in their work. Finally, as an exit ticket, Mr. Hillary provides students a new map and asks them to annotate the important parts.</a:t>
            </a:r>
            <a:endParaRPr lang="en-US" sz="1800" i="1"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7</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2FC137D3-1920-4541-BF2F-431628E4368B}" vid="{D2C998E6-2449-491A-B7CD-BA309C0576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C2U5 Template</Template>
  <TotalTime>12</TotalTime>
  <Words>605</Words>
  <Application>Microsoft Office PowerPoint</Application>
  <PresentationFormat>Widescreen</PresentationFormat>
  <Paragraphs>46</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Symbol</vt:lpstr>
      <vt:lpstr>Office Theme</vt:lpstr>
      <vt:lpstr>Instructional Practices| Unit 5: Planning For and With Assessment | Lesson 5.03</vt:lpstr>
      <vt:lpstr>TEKS Standards &amp; Objectives</vt:lpstr>
      <vt:lpstr>Bellringer</vt:lpstr>
      <vt:lpstr>Vocabulary</vt:lpstr>
      <vt:lpstr>Best Practices for Using Formative Assessments</vt:lpstr>
      <vt:lpstr>Strategic Decisions</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5.03: Best Practices for Formal and Informal Assessment</dc:title>
  <dc:subject>Lesson 5.03: Best Practices for Formal and Informal Assessment</dc:subject>
  <dc:creator>Texas Education Agency</dc:creator>
  <cp:lastModifiedBy>London White</cp:lastModifiedBy>
  <cp:revision>2</cp:revision>
  <dcterms:created xsi:type="dcterms:W3CDTF">2022-09-18T22:43:29Z</dcterms:created>
  <dcterms:modified xsi:type="dcterms:W3CDTF">2023-08-31T04:05:10Z</dcterms:modified>
</cp:coreProperties>
</file>
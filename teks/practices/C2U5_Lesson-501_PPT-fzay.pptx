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4" r:id="rId6"/>
    <p:sldId id="263"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0A07D6-055F-4BEF-B135-6F991BD4D447}" v="65" dt="2022-09-24T16:36:07.7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114" d="100"/>
          <a:sy n="114" d="100"/>
        </p:scale>
        <p:origin x="32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4A0A07D6-055F-4BEF-B135-6F991BD4D447}"/>
    <pc:docChg chg="undo custSel modSld">
      <pc:chgData name="White (she/her), Whitney" userId="65f39021-2f1d-4d8b-87dc-b123826f65bf" providerId="ADAL" clId="{4A0A07D6-055F-4BEF-B135-6F991BD4D447}" dt="2022-09-24T16:36:07.778" v="217" actId="20577"/>
      <pc:docMkLst>
        <pc:docMk/>
      </pc:docMkLst>
      <pc:sldChg chg="modSp mod">
        <pc:chgData name="White (she/her), Whitney" userId="65f39021-2f1d-4d8b-87dc-b123826f65bf" providerId="ADAL" clId="{4A0A07D6-055F-4BEF-B135-6F991BD4D447}" dt="2022-09-24T15:17:58.992" v="72" actId="404"/>
        <pc:sldMkLst>
          <pc:docMk/>
          <pc:sldMk cId="4071305681" sldId="258"/>
        </pc:sldMkLst>
        <pc:spChg chg="mod">
          <ac:chgData name="White (she/her), Whitney" userId="65f39021-2f1d-4d8b-87dc-b123826f65bf" providerId="ADAL" clId="{4A0A07D6-055F-4BEF-B135-6F991BD4D447}" dt="2022-09-24T15:17:58.992" v="72" actId="404"/>
          <ac:spMkLst>
            <pc:docMk/>
            <pc:sldMk cId="4071305681" sldId="258"/>
            <ac:spMk id="3" creationId="{392BE286-77A6-49DD-B15D-7E4718D52FE7}"/>
          </ac:spMkLst>
        </pc:spChg>
      </pc:sldChg>
      <pc:sldChg chg="modSp mod">
        <pc:chgData name="White (she/her), Whitney" userId="65f39021-2f1d-4d8b-87dc-b123826f65bf" providerId="ADAL" clId="{4A0A07D6-055F-4BEF-B135-6F991BD4D447}" dt="2022-09-24T15:24:06.134" v="111" actId="403"/>
        <pc:sldMkLst>
          <pc:docMk/>
          <pc:sldMk cId="2772527113" sldId="259"/>
        </pc:sldMkLst>
        <pc:spChg chg="mod">
          <ac:chgData name="White (she/her), Whitney" userId="65f39021-2f1d-4d8b-87dc-b123826f65bf" providerId="ADAL" clId="{4A0A07D6-055F-4BEF-B135-6F991BD4D447}" dt="2022-09-24T15:24:06.134" v="111" actId="403"/>
          <ac:spMkLst>
            <pc:docMk/>
            <pc:sldMk cId="2772527113" sldId="259"/>
            <ac:spMk id="3" creationId="{8CE08C7F-0286-423B-92F7-DEB89F31111A}"/>
          </ac:spMkLst>
        </pc:spChg>
      </pc:sldChg>
      <pc:sldChg chg="modSp mod">
        <pc:chgData name="White (she/her), Whitney" userId="65f39021-2f1d-4d8b-87dc-b123826f65bf" providerId="ADAL" clId="{4A0A07D6-055F-4BEF-B135-6F991BD4D447}" dt="2022-09-24T15:10:59.550" v="40" actId="403"/>
        <pc:sldMkLst>
          <pc:docMk/>
          <pc:sldMk cId="2147408764" sldId="260"/>
        </pc:sldMkLst>
        <pc:spChg chg="mod">
          <ac:chgData name="White (she/her), Whitney" userId="65f39021-2f1d-4d8b-87dc-b123826f65bf" providerId="ADAL" clId="{4A0A07D6-055F-4BEF-B135-6F991BD4D447}" dt="2022-09-24T15:10:59.550" v="40" actId="403"/>
          <ac:spMkLst>
            <pc:docMk/>
            <pc:sldMk cId="2147408764" sldId="260"/>
            <ac:spMk id="3" creationId="{49F2A5AF-3C0B-4968-A438-E435325199EA}"/>
          </ac:spMkLst>
        </pc:spChg>
      </pc:sldChg>
      <pc:sldChg chg="addSp delSp modSp mod">
        <pc:chgData name="White (she/her), Whitney" userId="65f39021-2f1d-4d8b-87dc-b123826f65bf" providerId="ADAL" clId="{4A0A07D6-055F-4BEF-B135-6F991BD4D447}" dt="2022-09-24T15:21:41.704" v="92" actId="1076"/>
        <pc:sldMkLst>
          <pc:docMk/>
          <pc:sldMk cId="3054216349" sldId="261"/>
        </pc:sldMkLst>
        <pc:spChg chg="del mod">
          <ac:chgData name="White (she/her), Whitney" userId="65f39021-2f1d-4d8b-87dc-b123826f65bf" providerId="ADAL" clId="{4A0A07D6-055F-4BEF-B135-6F991BD4D447}" dt="2022-09-24T15:21:11.066" v="91" actId="21"/>
          <ac:spMkLst>
            <pc:docMk/>
            <pc:sldMk cId="3054216349" sldId="261"/>
            <ac:spMk id="3" creationId="{AE13FDB6-F093-4D9E-B14E-3D7DB894C34C}"/>
          </ac:spMkLst>
        </pc:spChg>
        <pc:graphicFrameChg chg="add mod modGraphic">
          <ac:chgData name="White (she/her), Whitney" userId="65f39021-2f1d-4d8b-87dc-b123826f65bf" providerId="ADAL" clId="{4A0A07D6-055F-4BEF-B135-6F991BD4D447}" dt="2022-09-24T15:21:41.704" v="92" actId="1076"/>
          <ac:graphicFrameMkLst>
            <pc:docMk/>
            <pc:sldMk cId="3054216349" sldId="261"/>
            <ac:graphicFrameMk id="5" creationId="{BBC981DC-88A6-4EC4-BBA6-6DE6FBF49DC6}"/>
          </ac:graphicFrameMkLst>
        </pc:graphicFrameChg>
      </pc:sldChg>
      <pc:sldChg chg="modSp mod modAnim">
        <pc:chgData name="White (she/her), Whitney" userId="65f39021-2f1d-4d8b-87dc-b123826f65bf" providerId="ADAL" clId="{4A0A07D6-055F-4BEF-B135-6F991BD4D447}" dt="2022-09-24T16:36:07.778" v="217" actId="20577"/>
        <pc:sldMkLst>
          <pc:docMk/>
          <pc:sldMk cId="4170921578" sldId="262"/>
        </pc:sldMkLst>
        <pc:spChg chg="mod">
          <ac:chgData name="White (she/her), Whitney" userId="65f39021-2f1d-4d8b-87dc-b123826f65bf" providerId="ADAL" clId="{4A0A07D6-055F-4BEF-B135-6F991BD4D447}" dt="2022-09-24T16:36:07.778" v="217" actId="20577"/>
          <ac:spMkLst>
            <pc:docMk/>
            <pc:sldMk cId="4170921578" sldId="262"/>
            <ac:spMk id="2" creationId="{A7DAC820-49EE-4F41-8B1F-B9E33FF6BE24}"/>
          </ac:spMkLst>
        </pc:spChg>
        <pc:spChg chg="mod">
          <ac:chgData name="White (she/her), Whitney" userId="65f39021-2f1d-4d8b-87dc-b123826f65bf" providerId="ADAL" clId="{4A0A07D6-055F-4BEF-B135-6F991BD4D447}" dt="2022-09-24T16:35:43.170" v="193" actId="403"/>
          <ac:spMkLst>
            <pc:docMk/>
            <pc:sldMk cId="4170921578" sldId="262"/>
            <ac:spMk id="3" creationId="{79FFCA46-4155-4484-8350-F1E0B95F6088}"/>
          </ac:spMkLst>
        </pc:spChg>
      </pc:sldChg>
      <pc:sldChg chg="modSp mod modAnim">
        <pc:chgData name="White (she/her), Whitney" userId="65f39021-2f1d-4d8b-87dc-b123826f65bf" providerId="ADAL" clId="{4A0A07D6-055F-4BEF-B135-6F991BD4D447}" dt="2022-09-24T16:34:20.561" v="188" actId="20577"/>
        <pc:sldMkLst>
          <pc:docMk/>
          <pc:sldMk cId="1163931679" sldId="263"/>
        </pc:sldMkLst>
        <pc:spChg chg="mod">
          <ac:chgData name="White (she/her), Whitney" userId="65f39021-2f1d-4d8b-87dc-b123826f65bf" providerId="ADAL" clId="{4A0A07D6-055F-4BEF-B135-6F991BD4D447}" dt="2022-09-24T16:34:20.561" v="188" actId="20577"/>
          <ac:spMkLst>
            <pc:docMk/>
            <pc:sldMk cId="1163931679" sldId="263"/>
            <ac:spMk id="2" creationId="{531ECDB3-7F62-4124-A1E9-E48D699D2427}"/>
          </ac:spMkLst>
        </pc:spChg>
        <pc:spChg chg="mod">
          <ac:chgData name="White (she/her), Whitney" userId="65f39021-2f1d-4d8b-87dc-b123826f65bf" providerId="ADAL" clId="{4A0A07D6-055F-4BEF-B135-6F991BD4D447}" dt="2022-09-24T16:33:56.654" v="164" actId="403"/>
          <ac:spMkLst>
            <pc:docMk/>
            <pc:sldMk cId="1163931679" sldId="263"/>
            <ac:spMk id="3" creationId="{012C84E3-4C09-4253-8964-13B9C34E5E48}"/>
          </ac:spMkLst>
        </pc:spChg>
      </pc:sldChg>
      <pc:sldChg chg="addSp delSp modSp mod modAnim">
        <pc:chgData name="White (she/her), Whitney" userId="65f39021-2f1d-4d8b-87dc-b123826f65bf" providerId="ADAL" clId="{4A0A07D6-055F-4BEF-B135-6F991BD4D447}" dt="2022-09-24T16:30:22.300" v="159" actId="13926"/>
        <pc:sldMkLst>
          <pc:docMk/>
          <pc:sldMk cId="3493109116" sldId="264"/>
        </pc:sldMkLst>
        <pc:spChg chg="mod">
          <ac:chgData name="White (she/her), Whitney" userId="65f39021-2f1d-4d8b-87dc-b123826f65bf" providerId="ADAL" clId="{4A0A07D6-055F-4BEF-B135-6F991BD4D447}" dt="2022-09-24T16:30:22.300" v="159" actId="13926"/>
          <ac:spMkLst>
            <pc:docMk/>
            <pc:sldMk cId="3493109116" sldId="264"/>
            <ac:spMk id="2" creationId="{D7836664-70C0-47BA-9BFF-496A04EBBFDE}"/>
          </ac:spMkLst>
        </pc:spChg>
        <pc:spChg chg="mod">
          <ac:chgData name="White (she/her), Whitney" userId="65f39021-2f1d-4d8b-87dc-b123826f65bf" providerId="ADAL" clId="{4A0A07D6-055F-4BEF-B135-6F991BD4D447}" dt="2022-09-24T16:29:56.107" v="145" actId="403"/>
          <ac:spMkLst>
            <pc:docMk/>
            <pc:sldMk cId="3493109116" sldId="264"/>
            <ac:spMk id="3" creationId="{F64339F5-2F5D-46B5-A25D-C197D73747BD}"/>
          </ac:spMkLst>
        </pc:spChg>
        <pc:graphicFrameChg chg="add del mod">
          <ac:chgData name="White (she/her), Whitney" userId="65f39021-2f1d-4d8b-87dc-b123826f65bf" providerId="ADAL" clId="{4A0A07D6-055F-4BEF-B135-6F991BD4D447}" dt="2022-09-24T16:29:21.915" v="114"/>
          <ac:graphicFrameMkLst>
            <pc:docMk/>
            <pc:sldMk cId="3493109116" sldId="264"/>
            <ac:graphicFrameMk id="5" creationId="{75B59F8B-93C0-4C20-99BC-7EA95C1DB06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5: Planning For and With Assessment | Lesson 5.01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4800" dirty="0">
                <a:effectLst/>
                <a:latin typeface="Calibri" panose="020F0502020204030204" pitchFamily="34" charset="0"/>
                <a:ea typeface="Calibri" panose="020F0502020204030204" pitchFamily="34" charset="0"/>
                <a:cs typeface="Times New Roman" panose="02020603050405020304" pitchFamily="18" charset="0"/>
              </a:rPr>
              <a:t>Defining Assessment | Formative &amp; Summative </a:t>
            </a:r>
            <a:endParaRPr lang="en-US" sz="16600" dirty="0"/>
          </a:p>
        </p:txBody>
      </p:sp>
      <p:sp>
        <p:nvSpPr>
          <p:cNvPr id="4" name="TextBox 6">
            <a:extLst>
              <a:ext uri="{FF2B5EF4-FFF2-40B4-BE49-F238E27FC236}">
                <a16:creationId xmlns:a16="http://schemas.microsoft.com/office/drawing/2014/main" id="{7043CB6F-D838-C517-8383-5E8A10FD3A17}"/>
              </a:ext>
            </a:extLst>
          </p:cNvPr>
          <p:cNvSpPr txBox="1"/>
          <p:nvPr/>
        </p:nvSpPr>
        <p:spPr>
          <a:xfrm>
            <a:off x="0" y="6438550"/>
            <a:ext cx="1015465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8A, 8C</a:t>
            </a:r>
          </a:p>
          <a:p>
            <a:pPr marL="0" indent="0">
              <a:buNone/>
            </a:pPr>
            <a:endParaRPr lang="en-US" dirty="0"/>
          </a:p>
          <a:p>
            <a:pPr marL="0" indent="0">
              <a:buNone/>
            </a:pPr>
            <a:r>
              <a:rPr lang="en-US" dirty="0"/>
              <a:t>The student will:</a:t>
            </a:r>
          </a:p>
          <a:p>
            <a:pPr marL="342900" marR="0" lvl="0" indent="-342900">
              <a:spcBef>
                <a:spcPts val="600"/>
              </a:spcBef>
              <a:spcAft>
                <a:spcPts val="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Define assessment including formative assessment and summative assessment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Compare/contrast formative and summative assessments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Categorize assessments according to formative and summative types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Calibri" panose="020F0502020204030204" pitchFamily="34" charset="0"/>
              </a:rPr>
              <a:t>Mark each statement true or false. Explain your thinking for each.</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The purpose of all assessment is to evaluate students and give students grades.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All assessments are graded.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Assessments are given every day.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Assessment is part of the learning process.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Journals and graphic organizers can be forms of assessment.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5" name="Table 4">
            <a:extLst>
              <a:ext uri="{FF2B5EF4-FFF2-40B4-BE49-F238E27FC236}">
                <a16:creationId xmlns:a16="http://schemas.microsoft.com/office/drawing/2014/main" id="{BBC981DC-88A6-4EC4-BBA6-6DE6FBF49DC6}"/>
              </a:ext>
            </a:extLst>
          </p:cNvPr>
          <p:cNvGraphicFramePr>
            <a:graphicFrameLocks noGrp="1"/>
          </p:cNvGraphicFramePr>
          <p:nvPr>
            <p:extLst>
              <p:ext uri="{D42A27DB-BD31-4B8C-83A1-F6EECF244321}">
                <p14:modId xmlns:p14="http://schemas.microsoft.com/office/powerpoint/2010/main" val="1135260808"/>
              </p:ext>
            </p:extLst>
          </p:nvPr>
        </p:nvGraphicFramePr>
        <p:xfrm>
          <a:off x="838200" y="1472664"/>
          <a:ext cx="10515600" cy="4603293"/>
        </p:xfrm>
        <a:graphic>
          <a:graphicData uri="http://schemas.openxmlformats.org/drawingml/2006/table">
            <a:tbl>
              <a:tblPr firstRow="1" firstCol="1" bandRow="1">
                <a:tableStyleId>{5940675A-B579-460E-94D1-54222C63F5DA}</a:tableStyleId>
              </a:tblPr>
              <a:tblGrid>
                <a:gridCol w="2297978">
                  <a:extLst>
                    <a:ext uri="{9D8B030D-6E8A-4147-A177-3AD203B41FA5}">
                      <a16:colId xmlns:a16="http://schemas.microsoft.com/office/drawing/2014/main" val="3783814609"/>
                    </a:ext>
                  </a:extLst>
                </a:gridCol>
                <a:gridCol w="8217622">
                  <a:extLst>
                    <a:ext uri="{9D8B030D-6E8A-4147-A177-3AD203B41FA5}">
                      <a16:colId xmlns:a16="http://schemas.microsoft.com/office/drawing/2014/main" val="1106107306"/>
                    </a:ext>
                  </a:extLst>
                </a:gridCol>
              </a:tblGrid>
              <a:tr h="579933">
                <a:tc>
                  <a:txBody>
                    <a:bodyPr/>
                    <a:lstStyle/>
                    <a:p>
                      <a:pPr marL="0" marR="0">
                        <a:spcBef>
                          <a:spcPts val="600"/>
                        </a:spcBef>
                        <a:spcAft>
                          <a:spcPts val="600"/>
                        </a:spcAft>
                      </a:pPr>
                      <a:r>
                        <a:rPr lang="en-US" sz="2400" dirty="0">
                          <a:effectLst/>
                        </a:rPr>
                        <a:t>Assessment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400" dirty="0">
                          <a:effectLst/>
                        </a:rPr>
                        <a:t>Any tool used to collect, analyze, and respond to information about student understanding of learning targets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8053228"/>
                  </a:ext>
                </a:extLst>
              </a:tr>
              <a:tr h="579933">
                <a:tc>
                  <a:txBody>
                    <a:bodyPr/>
                    <a:lstStyle/>
                    <a:p>
                      <a:pPr marL="0" marR="0">
                        <a:spcBef>
                          <a:spcPts val="600"/>
                        </a:spcBef>
                        <a:spcAft>
                          <a:spcPts val="600"/>
                        </a:spcAft>
                      </a:pPr>
                      <a:r>
                        <a:rPr lang="en-US" sz="2400" dirty="0">
                          <a:effectLst/>
                        </a:rPr>
                        <a:t>Formative Assessment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400" dirty="0">
                          <a:effectLst/>
                        </a:rPr>
                        <a:t>Low or no-stakes assessments that gather data about a small number (1-2) learning target.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9631403"/>
                  </a:ext>
                </a:extLst>
              </a:tr>
              <a:tr h="729060">
                <a:tc>
                  <a:txBody>
                    <a:bodyPr/>
                    <a:lstStyle/>
                    <a:p>
                      <a:pPr marL="0" marR="0">
                        <a:spcBef>
                          <a:spcPts val="600"/>
                        </a:spcBef>
                        <a:spcAft>
                          <a:spcPts val="600"/>
                        </a:spcAft>
                      </a:pPr>
                      <a:r>
                        <a:rPr lang="en-US" sz="2400" dirty="0">
                          <a:effectLst/>
                        </a:rPr>
                        <a:t>Summative Assessment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400" dirty="0">
                          <a:effectLst/>
                        </a:rPr>
                        <a:t>High-stakes or graded assessments, given at the end of a learning sequence, that gather data about student mastery of multiple learning targets.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4808493"/>
                  </a:ext>
                </a:extLst>
              </a:tr>
              <a:tr h="579933">
                <a:tc>
                  <a:txBody>
                    <a:bodyPr/>
                    <a:lstStyle/>
                    <a:p>
                      <a:pPr marL="0" marR="0">
                        <a:spcBef>
                          <a:spcPts val="600"/>
                        </a:spcBef>
                        <a:spcAft>
                          <a:spcPts val="600"/>
                        </a:spcAft>
                      </a:pPr>
                      <a:r>
                        <a:rPr lang="en-US" sz="2400" dirty="0">
                          <a:effectLst/>
                        </a:rPr>
                        <a:t>Low-stakes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400" dirty="0">
                          <a:effectLst/>
                        </a:rPr>
                        <a:t>An assessment that represents a small percentage of a student’s grade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1382452"/>
                  </a:ext>
                </a:extLst>
              </a:tr>
              <a:tr h="579933">
                <a:tc>
                  <a:txBody>
                    <a:bodyPr/>
                    <a:lstStyle/>
                    <a:p>
                      <a:pPr marL="0" marR="0">
                        <a:spcBef>
                          <a:spcPts val="600"/>
                        </a:spcBef>
                        <a:spcAft>
                          <a:spcPts val="600"/>
                        </a:spcAft>
                      </a:pPr>
                      <a:r>
                        <a:rPr lang="en-US" sz="2400" dirty="0">
                          <a:effectLst/>
                        </a:rPr>
                        <a:t>No-stakes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400" dirty="0">
                          <a:effectLst/>
                        </a:rPr>
                        <a:t>An assessment that does not count towards a student’s grade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620384"/>
                  </a:ext>
                </a:extLst>
              </a:tr>
              <a:tr h="579933">
                <a:tc>
                  <a:txBody>
                    <a:bodyPr/>
                    <a:lstStyle/>
                    <a:p>
                      <a:pPr marL="0" marR="0">
                        <a:spcBef>
                          <a:spcPts val="600"/>
                        </a:spcBef>
                        <a:spcAft>
                          <a:spcPts val="600"/>
                        </a:spcAft>
                      </a:pPr>
                      <a:r>
                        <a:rPr lang="en-US" sz="2400" dirty="0">
                          <a:effectLst/>
                        </a:rPr>
                        <a:t>High-stakes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400" dirty="0">
                          <a:effectLst/>
                        </a:rPr>
                        <a:t>An assessment that represents a large percentage of a student’s grade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1138039"/>
                  </a:ext>
                </a:extLst>
              </a:tr>
            </a:tbl>
          </a:graphicData>
        </a:graphic>
      </p:graphicFrame>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Assessments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sz="32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A tool used to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sz="32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collect data about student understanding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sz="32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help a teacher make instructional decisions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alibri" panose="020F0502020204030204" pitchFamily="34" charset="0"/>
              <a:buChar char="-"/>
            </a:pPr>
            <a:r>
              <a:rPr lang="en-US" sz="32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communicate progress with students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3200" i="1" dirty="0">
                <a:solidFill>
                  <a:srgbClr val="008000"/>
                </a:solidFill>
                <a:effectLst/>
                <a:latin typeface="Calibri" panose="020F0502020204030204" pitchFamily="34" charset="0"/>
                <a:ea typeface="Calibri" panose="020F0502020204030204" pitchFamily="34" charset="0"/>
              </a:rPr>
              <a:t>Examples of Assessments:</a:t>
            </a:r>
          </a:p>
          <a:p>
            <a:pPr marL="0" indent="0">
              <a:buNone/>
            </a:pPr>
            <a:r>
              <a:rPr lang="en-US" sz="3200" i="1" dirty="0">
                <a:solidFill>
                  <a:srgbClr val="008000"/>
                </a:solidFill>
                <a:effectLst/>
                <a:latin typeface="Calibri" panose="020F0502020204030204" pitchFamily="34" charset="0"/>
                <a:ea typeface="Calibri" panose="020F0502020204030204" pitchFamily="34" charset="0"/>
              </a:rPr>
              <a:t>Tests, quizzes, projects, essays, exit tickets, journals, class discussions, polls, self-assessments, graphic organizers</a:t>
            </a:r>
            <a:endParaRPr lang="en-US" sz="44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Formative Assessments</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Low or no-stakes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Allow the teacher to collect data throughout the learning process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Usually measures 1–2 objectives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Help students move information from short-term to long-term memory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i="1" dirty="0">
                <a:solidFill>
                  <a:srgbClr val="008000"/>
                </a:solidFill>
                <a:effectLst/>
                <a:latin typeface="Calibri" panose="020F0502020204030204" pitchFamily="34" charset="0"/>
                <a:ea typeface="Calibri" panose="020F0502020204030204" pitchFamily="34" charset="0"/>
              </a:rPr>
              <a:t>Classroom discussions, journals, graphic organizers, anticipation guides, exit tickets, polls, quick writes, summaries, low- or no-stakes quizzes</a:t>
            </a:r>
            <a:endParaRPr lang="en-US" sz="4000"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Summative Assessments</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High stakes (graded)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Used at the end of a learning sequence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Evaluate student achievement of learning targets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alibri" panose="020F0502020204030204" pitchFamily="34" charset="0"/>
              <a:buChar char="-"/>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Usually measures multiple learning targets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i="1" dirty="0">
                <a:solidFill>
                  <a:srgbClr val="008000"/>
                </a:solidFill>
                <a:effectLst/>
                <a:latin typeface="Calibri" panose="020F0502020204030204" pitchFamily="34" charset="0"/>
                <a:ea typeface="Calibri" panose="020F0502020204030204" pitchFamily="34" charset="0"/>
              </a:rPr>
              <a:t>Tests, high-stakes quizzes, projects, essays</a:t>
            </a:r>
            <a:endParaRPr lang="en-US" sz="40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504825" y="1690687"/>
            <a:ext cx="10641230" cy="4802187"/>
          </a:xfrm>
        </p:spPr>
        <p:txBody>
          <a:bodyPr>
            <a:noAutofit/>
          </a:bodyPr>
          <a:lstStyle/>
          <a:p>
            <a:pPr marL="0" marR="0" lvl="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1. Define formative assessment and summative assessment and explain the purpose of each.</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indent="0">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600"/>
              </a:spcBef>
              <a:spcAft>
                <a:spcPts val="600"/>
              </a:spcAft>
              <a:buNone/>
            </a:pPr>
            <a:r>
              <a:rPr lang="en-US" sz="2000" dirty="0">
                <a:latin typeface="Calibri" panose="020F0502020204030204" pitchFamily="34" charset="0"/>
                <a:ea typeface="Calibri" panose="020F0502020204030204" pitchFamily="34" charset="0"/>
                <a:cs typeface="Calibri" panose="020F0502020204030204" pitchFamily="34" charset="0"/>
              </a:rPr>
              <a:t>2. </a:t>
            </a:r>
            <a:r>
              <a:rPr lang="en-US" sz="2000" dirty="0">
                <a:effectLst/>
                <a:latin typeface="Calibri" panose="020F0502020204030204" pitchFamily="34" charset="0"/>
                <a:ea typeface="Calibri" panose="020F0502020204030204" pitchFamily="34" charset="0"/>
                <a:cs typeface="Calibri" panose="020F0502020204030204" pitchFamily="34" charset="0"/>
              </a:rPr>
              <a:t>Match the descriptions below to the appropriate assessment type.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i="1" dirty="0">
                <a:effectLst/>
                <a:latin typeface="Calibri" panose="020F0502020204030204" pitchFamily="34" charset="0"/>
                <a:ea typeface="Calibri" panose="020F0502020204030204" pitchFamily="34" charset="0"/>
                <a:cs typeface="Calibri" panose="020F0502020204030204" pitchFamily="34" charset="0"/>
              </a:rPr>
              <a:t>Assessment #1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i="1" dirty="0">
                <a:effectLst/>
                <a:latin typeface="Calibri" panose="020F0502020204030204" pitchFamily="34" charset="0"/>
                <a:ea typeface="Calibri" panose="020F0502020204030204" pitchFamily="34" charset="0"/>
                <a:cs typeface="Calibri" panose="020F0502020204030204" pitchFamily="34" charset="0"/>
              </a:rPr>
              <a:t>Students are working independently on a set of math problems from the day’s lesson. Students are expected to subtract using the take from ten strategy. While they work, the teacher circulates the room to observe and take notes. She uses a checklist to record common areas of understanding and common misconceptions.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i="1" dirty="0">
                <a:effectLst/>
                <a:latin typeface="Calibri" panose="020F0502020204030204" pitchFamily="34" charset="0"/>
                <a:ea typeface="Calibri" panose="020F0502020204030204" pitchFamily="34" charset="0"/>
                <a:cs typeface="Calibri" panose="020F0502020204030204" pitchFamily="34" charset="0"/>
              </a:rPr>
              <a:t>Assessment #2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600" i="1" dirty="0">
                <a:effectLst/>
                <a:latin typeface="Calibri" panose="020F0502020204030204" pitchFamily="34" charset="0"/>
                <a:ea typeface="Calibri" panose="020F0502020204030204" pitchFamily="34" charset="0"/>
                <a:cs typeface="Calibri" panose="020F0502020204030204" pitchFamily="34" charset="0"/>
              </a:rPr>
              <a:t>Fifth grade math students are engaged in a unit about financial literacy, in which they learn about income, taxes, and budgeting. Throughout the unit, students have solved real-world problems with fractions, decimals, and percentages. The teacher assigns each student a graded project to create a budget for a household. Students are expected to accurately calculate income, taxes, and expenses. Students also need to describe how to balance a budget when income exceeds expenses.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93</TotalTime>
  <Words>547</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Instructional Practices| Unit 5: Planning For and With Assessment | Lesson 5.01</vt:lpstr>
      <vt:lpstr>TEKS Standards &amp; Objectives</vt:lpstr>
      <vt:lpstr>Bellringer</vt:lpstr>
      <vt:lpstr>Vocabulary</vt:lpstr>
      <vt:lpstr>Assessments</vt:lpstr>
      <vt:lpstr>Formative Assessments</vt:lpstr>
      <vt:lpstr>Summative Assessments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5.01: Defining Assessment | Formative &amp; Summative</dc:title>
  <dc:subject>Lesson 5.01: Defining Assessment | Formative &amp; Summative</dc:subject>
  <dc:creator>Texas Education Agency</dc:creator>
  <cp:lastModifiedBy>London White</cp:lastModifiedBy>
  <cp:revision>2</cp:revision>
  <dcterms:created xsi:type="dcterms:W3CDTF">2022-09-18T22:37:47Z</dcterms:created>
  <dcterms:modified xsi:type="dcterms:W3CDTF">2023-08-31T04:02:46Z</dcterms:modified>
</cp:coreProperties>
</file>
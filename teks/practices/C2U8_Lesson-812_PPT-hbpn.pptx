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2" r:id="rId5"/>
    <p:sldId id="263" r:id="rId6"/>
    <p:sldId id="264" r:id="rId7"/>
    <p:sldId id="265" r:id="rId8"/>
    <p:sldId id="266"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2"/>
            <p14:sldId id="263"/>
            <p14:sldId id="264"/>
            <p14:sldId id="265"/>
            <p14:sldId id="266"/>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79FEC984-1430-4954-B97E-949640808C39}" v="6" dt="2023-01-26T05:51:40.973"/>
    <p1510:client id="{97A8789F-27EC-493A-B13E-DB853CC06DF7}" v="4" dt="2023-01-25T15:58:05.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79FEC984-1430-4954-B97E-949640808C39}"/>
    <pc:docChg chg="undo custSel addSld delSld modSld modSection">
      <pc:chgData name="White (she/her), Whitney" userId="65f39021-2f1d-4d8b-87dc-b123826f65bf" providerId="ADAL" clId="{79FEC984-1430-4954-B97E-949640808C39}" dt="2023-01-26T05:50:59.285" v="240" actId="114"/>
      <pc:docMkLst>
        <pc:docMk/>
      </pc:docMkLst>
      <pc:sldChg chg="modSp mod">
        <pc:chgData name="White (she/her), Whitney" userId="65f39021-2f1d-4d8b-87dc-b123826f65bf" providerId="ADAL" clId="{79FEC984-1430-4954-B97E-949640808C39}" dt="2023-01-26T05:38:47.431" v="80" actId="20577"/>
        <pc:sldMkLst>
          <pc:docMk/>
          <pc:sldMk cId="1482277026" sldId="256"/>
        </pc:sldMkLst>
        <pc:spChg chg="mod">
          <ac:chgData name="White (she/her), Whitney" userId="65f39021-2f1d-4d8b-87dc-b123826f65bf" providerId="ADAL" clId="{79FEC984-1430-4954-B97E-949640808C39}" dt="2023-01-26T05:38:47.431" v="80" actId="20577"/>
          <ac:spMkLst>
            <pc:docMk/>
            <pc:sldMk cId="1482277026" sldId="256"/>
            <ac:spMk id="2" creationId="{BFFCF5BD-F8FF-4A67-A8B6-EBB21E79279B}"/>
          </ac:spMkLst>
        </pc:spChg>
        <pc:spChg chg="mod">
          <ac:chgData name="White (she/her), Whitney" userId="65f39021-2f1d-4d8b-87dc-b123826f65bf" providerId="ADAL" clId="{79FEC984-1430-4954-B97E-949640808C39}" dt="2023-01-26T05:38:41.792" v="77" actId="20577"/>
          <ac:spMkLst>
            <pc:docMk/>
            <pc:sldMk cId="1482277026" sldId="256"/>
            <ac:spMk id="3" creationId="{E0FBD98F-3A67-498E-8174-652040DD7B60}"/>
          </ac:spMkLst>
        </pc:spChg>
      </pc:sldChg>
      <pc:sldChg chg="modSp mod">
        <pc:chgData name="White (she/her), Whitney" userId="65f39021-2f1d-4d8b-87dc-b123826f65bf" providerId="ADAL" clId="{79FEC984-1430-4954-B97E-949640808C39}" dt="2023-01-26T05:41:08.080" v="97" actId="255"/>
        <pc:sldMkLst>
          <pc:docMk/>
          <pc:sldMk cId="4071305681" sldId="258"/>
        </pc:sldMkLst>
        <pc:spChg chg="mod">
          <ac:chgData name="White (she/her), Whitney" userId="65f39021-2f1d-4d8b-87dc-b123826f65bf" providerId="ADAL" clId="{79FEC984-1430-4954-B97E-949640808C39}" dt="2023-01-26T05:41:08.080" v="97" actId="255"/>
          <ac:spMkLst>
            <pc:docMk/>
            <pc:sldMk cId="4071305681" sldId="258"/>
            <ac:spMk id="3" creationId="{392BE286-77A6-49DD-B15D-7E4718D52FE7}"/>
          </ac:spMkLst>
        </pc:spChg>
      </pc:sldChg>
      <pc:sldChg chg="modSp mod">
        <pc:chgData name="White (she/her), Whitney" userId="65f39021-2f1d-4d8b-87dc-b123826f65bf" providerId="ADAL" clId="{79FEC984-1430-4954-B97E-949640808C39}" dt="2023-01-26T05:40:22.469" v="95" actId="27636"/>
        <pc:sldMkLst>
          <pc:docMk/>
          <pc:sldMk cId="2772527113" sldId="259"/>
        </pc:sldMkLst>
        <pc:spChg chg="mod">
          <ac:chgData name="White (she/her), Whitney" userId="65f39021-2f1d-4d8b-87dc-b123826f65bf" providerId="ADAL" clId="{79FEC984-1430-4954-B97E-949640808C39}" dt="2023-01-26T05:40:22.469" v="95" actId="27636"/>
          <ac:spMkLst>
            <pc:docMk/>
            <pc:sldMk cId="2772527113" sldId="259"/>
            <ac:spMk id="3" creationId="{8CE08C7F-0286-423B-92F7-DEB89F31111A}"/>
          </ac:spMkLst>
        </pc:spChg>
      </pc:sldChg>
      <pc:sldChg chg="modSp mod">
        <pc:chgData name="White (she/her), Whitney" userId="65f39021-2f1d-4d8b-87dc-b123826f65bf" providerId="ADAL" clId="{79FEC984-1430-4954-B97E-949640808C39}" dt="2023-01-26T05:50:59.285" v="240" actId="114"/>
        <pc:sldMkLst>
          <pc:docMk/>
          <pc:sldMk cId="2147408764" sldId="260"/>
        </pc:sldMkLst>
        <pc:spChg chg="mod">
          <ac:chgData name="White (she/her), Whitney" userId="65f39021-2f1d-4d8b-87dc-b123826f65bf" providerId="ADAL" clId="{79FEC984-1430-4954-B97E-949640808C39}" dt="2023-01-26T05:50:59.285" v="240" actId="114"/>
          <ac:spMkLst>
            <pc:docMk/>
            <pc:sldMk cId="2147408764" sldId="260"/>
            <ac:spMk id="3" creationId="{49F2A5AF-3C0B-4968-A438-E435325199EA}"/>
          </ac:spMkLst>
        </pc:spChg>
      </pc:sldChg>
      <pc:sldChg chg="addSp delSp modSp mod chgLayout">
        <pc:chgData name="White (she/her), Whitney" userId="65f39021-2f1d-4d8b-87dc-b123826f65bf" providerId="ADAL" clId="{79FEC984-1430-4954-B97E-949640808C39}" dt="2023-01-26T05:45:10.408" v="138" actId="255"/>
        <pc:sldMkLst>
          <pc:docMk/>
          <pc:sldMk cId="258332572" sldId="262"/>
        </pc:sldMkLst>
        <pc:spChg chg="add del mod">
          <ac:chgData name="White (she/her), Whitney" userId="65f39021-2f1d-4d8b-87dc-b123826f65bf" providerId="ADAL" clId="{79FEC984-1430-4954-B97E-949640808C39}" dt="2023-01-26T05:44:48.973" v="99" actId="700"/>
          <ac:spMkLst>
            <pc:docMk/>
            <pc:sldMk cId="258332572" sldId="262"/>
            <ac:spMk id="3" creationId="{53BFF44A-0349-10FE-7792-C92C744DCDE5}"/>
          </ac:spMkLst>
        </pc:spChg>
        <pc:spChg chg="mod ord">
          <ac:chgData name="White (she/her), Whitney" userId="65f39021-2f1d-4d8b-87dc-b123826f65bf" providerId="ADAL" clId="{79FEC984-1430-4954-B97E-949640808C39}" dt="2023-01-26T05:44:48.973" v="99" actId="700"/>
          <ac:spMkLst>
            <pc:docMk/>
            <pc:sldMk cId="258332572" sldId="262"/>
            <ac:spMk id="4" creationId="{A071A007-43B3-444C-A468-0BC1B73EE5D2}"/>
          </ac:spMkLst>
        </pc:spChg>
        <pc:spChg chg="add mod ord">
          <ac:chgData name="White (she/her), Whitney" userId="65f39021-2f1d-4d8b-87dc-b123826f65bf" providerId="ADAL" clId="{79FEC984-1430-4954-B97E-949640808C39}" dt="2023-01-26T05:45:01.546" v="134" actId="20577"/>
          <ac:spMkLst>
            <pc:docMk/>
            <pc:sldMk cId="258332572" sldId="262"/>
            <ac:spMk id="6" creationId="{4D13AA80-DD4B-7BA0-B75B-C3489701C47B}"/>
          </ac:spMkLst>
        </pc:spChg>
        <pc:spChg chg="add mod ord">
          <ac:chgData name="White (she/her), Whitney" userId="65f39021-2f1d-4d8b-87dc-b123826f65bf" providerId="ADAL" clId="{79FEC984-1430-4954-B97E-949640808C39}" dt="2023-01-26T05:45:10.408" v="138" actId="255"/>
          <ac:spMkLst>
            <pc:docMk/>
            <pc:sldMk cId="258332572" sldId="262"/>
            <ac:spMk id="7" creationId="{767722ED-194A-634F-20FC-2DB22C01EA03}"/>
          </ac:spMkLst>
        </pc:spChg>
        <pc:picChg chg="del">
          <ac:chgData name="White (she/her), Whitney" userId="65f39021-2f1d-4d8b-87dc-b123826f65bf" providerId="ADAL" clId="{79FEC984-1430-4954-B97E-949640808C39}" dt="2023-01-26T05:44:24.781" v="98" actId="478"/>
          <ac:picMkLst>
            <pc:docMk/>
            <pc:sldMk cId="258332572" sldId="262"/>
            <ac:picMk id="5" creationId="{DC7D3B62-46B2-43FE-B87C-3AED60C836B8}"/>
          </ac:picMkLst>
        </pc:picChg>
      </pc:sldChg>
      <pc:sldChg chg="modSp mod">
        <pc:chgData name="White (she/her), Whitney" userId="65f39021-2f1d-4d8b-87dc-b123826f65bf" providerId="ADAL" clId="{79FEC984-1430-4954-B97E-949640808C39}" dt="2023-01-26T05:46:09.181" v="194" actId="255"/>
        <pc:sldMkLst>
          <pc:docMk/>
          <pc:sldMk cId="498985592" sldId="263"/>
        </pc:sldMkLst>
        <pc:spChg chg="mod">
          <ac:chgData name="White (she/her), Whitney" userId="65f39021-2f1d-4d8b-87dc-b123826f65bf" providerId="ADAL" clId="{79FEC984-1430-4954-B97E-949640808C39}" dt="2023-01-26T05:45:41.246" v="164" actId="20577"/>
          <ac:spMkLst>
            <pc:docMk/>
            <pc:sldMk cId="498985592" sldId="263"/>
            <ac:spMk id="2" creationId="{67E8180B-6498-44E5-AD81-0674C51652BA}"/>
          </ac:spMkLst>
        </pc:spChg>
        <pc:graphicFrameChg chg="mod modGraphic">
          <ac:chgData name="White (she/her), Whitney" userId="65f39021-2f1d-4d8b-87dc-b123826f65bf" providerId="ADAL" clId="{79FEC984-1430-4954-B97E-949640808C39}" dt="2023-01-26T05:46:09.181" v="194" actId="255"/>
          <ac:graphicFrameMkLst>
            <pc:docMk/>
            <pc:sldMk cId="498985592" sldId="263"/>
            <ac:graphicFrameMk id="7" creationId="{5FDD475B-C6CC-4B8A-BF1E-CC6CB3E6FF61}"/>
          </ac:graphicFrameMkLst>
        </pc:graphicFrameChg>
      </pc:sldChg>
      <pc:sldChg chg="modSp add mod">
        <pc:chgData name="White (she/her), Whitney" userId="65f39021-2f1d-4d8b-87dc-b123826f65bf" providerId="ADAL" clId="{79FEC984-1430-4954-B97E-949640808C39}" dt="2023-01-26T05:47:19.150" v="201" actId="255"/>
        <pc:sldMkLst>
          <pc:docMk/>
          <pc:sldMk cId="994749547" sldId="264"/>
        </pc:sldMkLst>
        <pc:graphicFrameChg chg="mod modGraphic">
          <ac:chgData name="White (she/her), Whitney" userId="65f39021-2f1d-4d8b-87dc-b123826f65bf" providerId="ADAL" clId="{79FEC984-1430-4954-B97E-949640808C39}" dt="2023-01-26T05:47:19.150" v="201" actId="255"/>
          <ac:graphicFrameMkLst>
            <pc:docMk/>
            <pc:sldMk cId="994749547" sldId="264"/>
            <ac:graphicFrameMk id="7" creationId="{5FDD475B-C6CC-4B8A-BF1E-CC6CB3E6FF61}"/>
          </ac:graphicFrameMkLst>
        </pc:graphicFrameChg>
      </pc:sldChg>
      <pc:sldChg chg="modSp add mod">
        <pc:chgData name="White (she/her), Whitney" userId="65f39021-2f1d-4d8b-87dc-b123826f65bf" providerId="ADAL" clId="{79FEC984-1430-4954-B97E-949640808C39}" dt="2023-01-26T05:47:33.105" v="203" actId="255"/>
        <pc:sldMkLst>
          <pc:docMk/>
          <pc:sldMk cId="776221867" sldId="265"/>
        </pc:sldMkLst>
        <pc:graphicFrameChg chg="mod modGraphic">
          <ac:chgData name="White (she/her), Whitney" userId="65f39021-2f1d-4d8b-87dc-b123826f65bf" providerId="ADAL" clId="{79FEC984-1430-4954-B97E-949640808C39}" dt="2023-01-26T05:47:33.105" v="203" actId="255"/>
          <ac:graphicFrameMkLst>
            <pc:docMk/>
            <pc:sldMk cId="776221867" sldId="265"/>
            <ac:graphicFrameMk id="7" creationId="{5FDD475B-C6CC-4B8A-BF1E-CC6CB3E6FF61}"/>
          </ac:graphicFrameMkLst>
        </pc:graphicFrameChg>
      </pc:sldChg>
      <pc:sldChg chg="modSp new mod">
        <pc:chgData name="White (she/her), Whitney" userId="65f39021-2f1d-4d8b-87dc-b123826f65bf" providerId="ADAL" clId="{79FEC984-1430-4954-B97E-949640808C39}" dt="2023-01-26T05:49:35.511" v="228" actId="113"/>
        <pc:sldMkLst>
          <pc:docMk/>
          <pc:sldMk cId="3010215944" sldId="266"/>
        </pc:sldMkLst>
        <pc:spChg chg="mod">
          <ac:chgData name="White (she/her), Whitney" userId="65f39021-2f1d-4d8b-87dc-b123826f65bf" providerId="ADAL" clId="{79FEC984-1430-4954-B97E-949640808C39}" dt="2023-01-26T05:49:14.564" v="221" actId="20577"/>
          <ac:spMkLst>
            <pc:docMk/>
            <pc:sldMk cId="3010215944" sldId="266"/>
            <ac:spMk id="2" creationId="{42663FC8-A956-BF03-9188-56FE7B9E9532}"/>
          </ac:spMkLst>
        </pc:spChg>
        <pc:spChg chg="mod">
          <ac:chgData name="White (she/her), Whitney" userId="65f39021-2f1d-4d8b-87dc-b123826f65bf" providerId="ADAL" clId="{79FEC984-1430-4954-B97E-949640808C39}" dt="2023-01-26T05:49:35.511" v="228" actId="113"/>
          <ac:spMkLst>
            <pc:docMk/>
            <pc:sldMk cId="3010215944" sldId="266"/>
            <ac:spMk id="3" creationId="{588BC387-9ED3-6028-1543-A3E18E68F4B8}"/>
          </ac:spMkLst>
        </pc:spChg>
      </pc:sldChg>
      <pc:sldChg chg="del">
        <pc:chgData name="White (she/her), Whitney" userId="65f39021-2f1d-4d8b-87dc-b123826f65bf" providerId="ADAL" clId="{79FEC984-1430-4954-B97E-949640808C39}" dt="2023-01-26T05:46:29.492" v="195" actId="47"/>
        <pc:sldMkLst>
          <pc:docMk/>
          <pc:sldMk cId="4157156871" sldId="268"/>
        </pc:sldMkLst>
      </pc:sldChg>
      <pc:sldChg chg="del">
        <pc:chgData name="White (she/her), Whitney" userId="65f39021-2f1d-4d8b-87dc-b123826f65bf" providerId="ADAL" clId="{79FEC984-1430-4954-B97E-949640808C39}" dt="2023-01-26T05:46:29.492" v="195" actId="47"/>
        <pc:sldMkLst>
          <pc:docMk/>
          <pc:sldMk cId="818675080" sldId="269"/>
        </pc:sldMkLst>
      </pc:sldChg>
      <pc:sldChg chg="del">
        <pc:chgData name="White (she/her), Whitney" userId="65f39021-2f1d-4d8b-87dc-b123826f65bf" providerId="ADAL" clId="{79FEC984-1430-4954-B97E-949640808C39}" dt="2023-01-26T05:46:29.492" v="195" actId="47"/>
        <pc:sldMkLst>
          <pc:docMk/>
          <pc:sldMk cId="3968532148" sldId="270"/>
        </pc:sldMkLst>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Instructional Practices| Unit 8: Planning for Diverse Learners| Lesson 8.12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Multiple Means of Action &amp; Expression | Expression &amp; Communication</a:t>
            </a:r>
          </a:p>
        </p:txBody>
      </p:sp>
      <p:sp>
        <p:nvSpPr>
          <p:cNvPr id="4" name="TextBox 3">
            <a:extLst>
              <a:ext uri="{FF2B5EF4-FFF2-40B4-BE49-F238E27FC236}">
                <a16:creationId xmlns:a16="http://schemas.microsoft.com/office/drawing/2014/main" id="{16AFFB67-F12A-3039-B826-6D7C4223111C}"/>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lnSpcReduction="10000"/>
          </a:bodyPr>
          <a:lstStyle/>
          <a:p>
            <a:pPr marL="0" indent="0">
              <a:buNone/>
            </a:pPr>
            <a:r>
              <a:rPr lang="en-US" dirty="0"/>
              <a:t>TEKS 3B, 7A, 7D, 10A, 10B</a:t>
            </a:r>
          </a:p>
          <a:p>
            <a:pPr marL="0" indent="0">
              <a:buNone/>
            </a:pPr>
            <a:endParaRPr lang="en-US" dirty="0"/>
          </a:p>
          <a:p>
            <a:pPr marL="0" indent="0">
              <a:buNone/>
            </a:pPr>
            <a:r>
              <a:rPr lang="en-US" dirty="0"/>
              <a:t>The student will:</a:t>
            </a:r>
          </a:p>
          <a:p>
            <a:pPr marL="342900" marR="0" lvl="0" indent="-342900" fontAlgn="base">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Times New Roman" panose="02020603050405020304" pitchFamily="18" charset="0"/>
                <a:cs typeface="Calibri" panose="020F0502020204030204" pitchFamily="34" charset="0"/>
              </a:rPr>
              <a:t>Describe and explain strategies to promote expression and communication in the classroom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Times New Roman" panose="02020603050405020304" pitchFamily="18" charset="0"/>
                <a:cs typeface="Calibri" panose="020F0502020204030204" pitchFamily="34" charset="0"/>
              </a:rPr>
              <a:t>Evaluate scenarios to determine effective use of expression and communication</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Times New Roman" panose="02020603050405020304" pitchFamily="18" charset="0"/>
              </a:rPr>
              <a:t>Identify strategies for providing alternatives for expression and communication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Ms. C. just finished a lesson on insects and assigns students to create a brochure to show what they learned. The brochure must include information and pictures. </a:t>
            </a:r>
            <a:r>
              <a:rPr lang="en-US" dirty="0">
                <a:solidFill>
                  <a:srgbClr val="000000"/>
                </a:solidFill>
                <a:effectLst/>
                <a:latin typeface="Calibri" panose="020F0502020204030204" pitchFamily="34" charset="0"/>
                <a:ea typeface="Calibri" panose="020F0502020204030204" pitchFamily="34" charset="0"/>
              </a:rPr>
              <a:t>One student in the class struggles with writing and although she learned a great deal about insects and can elaborately explain her learning, her teacher thinks she has a lack of knowledge and didn’t master the task because she struggled to create her brochure. What are some other ways the teacher might find out what this student knows about insects?</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D13AA80-DD4B-7BA0-B75B-C3489701C47B}"/>
              </a:ext>
            </a:extLst>
          </p:cNvPr>
          <p:cNvSpPr>
            <a:spLocks noGrp="1"/>
          </p:cNvSpPr>
          <p:nvPr>
            <p:ph type="title"/>
          </p:nvPr>
        </p:nvSpPr>
        <p:spPr/>
        <p:txBody>
          <a:bodyPr/>
          <a:lstStyle/>
          <a:p>
            <a:r>
              <a:rPr lang="en-US" dirty="0"/>
              <a:t>Intro to Expression &amp; Communication</a:t>
            </a:r>
          </a:p>
        </p:txBody>
      </p:sp>
      <p:sp>
        <p:nvSpPr>
          <p:cNvPr id="7" name="Content Placeholder 6">
            <a:extLst>
              <a:ext uri="{FF2B5EF4-FFF2-40B4-BE49-F238E27FC236}">
                <a16:creationId xmlns:a16="http://schemas.microsoft.com/office/drawing/2014/main" id="{767722ED-194A-634F-20FC-2DB22C01EA03}"/>
              </a:ext>
            </a:extLst>
          </p:cNvPr>
          <p:cNvSpPr>
            <a:spLocks noGrp="1"/>
          </p:cNvSpPr>
          <p:nvPr>
            <p:ph idx="1"/>
          </p:nvPr>
        </p:nvSpPr>
        <p:spPr/>
        <p:txBody>
          <a:bodyPr/>
          <a:lstStyle/>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You are a student in a 2</a:t>
            </a:r>
            <a:r>
              <a:rPr lang="en-US" baseline="30000" dirty="0">
                <a:effectLst/>
                <a:latin typeface="Calibri" panose="020F0502020204030204" pitchFamily="34" charset="0"/>
                <a:ea typeface="Calibri" panose="020F0502020204030204" pitchFamily="34" charset="0"/>
                <a:cs typeface="Times New Roman" panose="02020603050405020304" pitchFamily="18" charset="0"/>
              </a:rPr>
              <a:t>nd</a:t>
            </a:r>
            <a:r>
              <a:rPr lang="en-US" dirty="0">
                <a:effectLst/>
                <a:latin typeface="Calibri" panose="020F0502020204030204" pitchFamily="34" charset="0"/>
                <a:ea typeface="Calibri" panose="020F0502020204030204" pitchFamily="34" charset="0"/>
                <a:cs typeface="Times New Roman" panose="02020603050405020304" pitchFamily="18" charset="0"/>
              </a:rPr>
              <a:t> grade class. Your class has engaged in various learning experiences to explore the properties of matter. Now, you must demonstrate your understanding of the following standard: </a:t>
            </a:r>
          </a:p>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nSpc>
                <a:spcPct val="107000"/>
              </a:lnSpc>
              <a:spcBef>
                <a:spcPts val="0"/>
              </a:spcBef>
              <a:spcAft>
                <a:spcPts val="800"/>
              </a:spcAft>
              <a:buNone/>
            </a:pPr>
            <a:r>
              <a:rPr lang="en-US" b="1" dirty="0">
                <a:effectLst/>
                <a:latin typeface="Calibri" panose="020F0502020204030204" pitchFamily="34" charset="0"/>
                <a:ea typeface="Calibri" panose="020F0502020204030204" pitchFamily="34" charset="0"/>
                <a:cs typeface="Times New Roman" panose="02020603050405020304" pitchFamily="18" charset="0"/>
              </a:rPr>
              <a:t>2.5A</a:t>
            </a:r>
            <a:r>
              <a:rPr lang="en-US" dirty="0">
                <a:effectLst/>
                <a:latin typeface="Calibri" panose="020F0502020204030204" pitchFamily="34" charset="0"/>
                <a:ea typeface="Calibri" panose="020F0502020204030204" pitchFamily="34" charset="0"/>
                <a:cs typeface="Times New Roman" panose="02020603050405020304" pitchFamily="18" charset="0"/>
              </a:rPr>
              <a:t> classify matter by physical properties, including relative temperature, texture, flexibility, and whether material is a solid or liquid.</a:t>
            </a:r>
          </a:p>
          <a:p>
            <a:pPr marL="0" indent="0">
              <a:buNone/>
            </a:pPr>
            <a:endParaRPr lang="en-US" dirty="0"/>
          </a:p>
        </p:txBody>
      </p:sp>
      <p:sp>
        <p:nvSpPr>
          <p:cNvPr id="4" name="Slide Number Placeholder 3">
            <a:extLst>
              <a:ext uri="{FF2B5EF4-FFF2-40B4-BE49-F238E27FC236}">
                <a16:creationId xmlns:a16="http://schemas.microsoft.com/office/drawing/2014/main" id="{A071A007-43B3-444C-A468-0BC1B73EE5D2}"/>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5833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Expression &amp; Communication</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1694816576"/>
              </p:ext>
            </p:extLst>
          </p:nvPr>
        </p:nvGraphicFramePr>
        <p:xfrm>
          <a:off x="1272157" y="1522889"/>
          <a:ext cx="8529710" cy="4240467"/>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Expression &amp; Communication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Arial" panose="020B0604020202020204" pitchFamily="34" charset="0"/>
                        </a:rPr>
                        <a:t>Provide opportunities for students to communicate using multiple forms of media.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Arial" panose="020B0604020202020204" pitchFamily="34" charset="0"/>
                        </a:rPr>
                        <a:t>Ask students to solve problems using a variety of strategies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Arial" panose="020B0604020202020204" pitchFamily="34" charset="0"/>
                        </a:rPr>
                        <a:t>Allow options for students to communicate through text, speech, drawing, music, comics, dance, video, etc.</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Arial" panose="020B0604020202020204" pitchFamily="34" charset="0"/>
                        </a:rPr>
                        <a:t>Offer physical manipulatives, such as blocks, base-ten blocks, 3D models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Ask students to solve problems using the same strategy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Require students to share their learning through writing a summary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5</a:t>
            </a:fld>
            <a:endParaRPr lang="en-US"/>
          </a:p>
        </p:txBody>
      </p:sp>
    </p:spTree>
    <p:extLst>
      <p:ext uri="{BB962C8B-B14F-4D97-AF65-F5344CB8AC3E}">
        <p14:creationId xmlns:p14="http://schemas.microsoft.com/office/powerpoint/2010/main" val="498985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Expression &amp; Communication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1800980668"/>
              </p:ext>
            </p:extLst>
          </p:nvPr>
        </p:nvGraphicFramePr>
        <p:xfrm>
          <a:off x="1272157" y="1522889"/>
          <a:ext cx="8529710" cy="4627690"/>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Expression &amp; Communication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Arial" panose="020B0604020202020204" pitchFamily="34" charset="0"/>
                        </a:rPr>
                        <a:t>Allow students to use tools that complement the learning goal</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Use sentence starters or sentence strips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Use spellcheckers, grammar checkers, text-to-speech software, calculators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Use story webs or concept maps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Ask students to engage in a discussion without supported prompts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Require all students complete a task without access to tools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6</a:t>
            </a:fld>
            <a:endParaRPr lang="en-US"/>
          </a:p>
        </p:txBody>
      </p:sp>
    </p:spTree>
    <p:extLst>
      <p:ext uri="{BB962C8B-B14F-4D97-AF65-F5344CB8AC3E}">
        <p14:creationId xmlns:p14="http://schemas.microsoft.com/office/powerpoint/2010/main" val="994749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Expression &amp; Communication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864255598"/>
              </p:ext>
            </p:extLst>
          </p:nvPr>
        </p:nvGraphicFramePr>
        <p:xfrm>
          <a:off x="1272157" y="1522889"/>
          <a:ext cx="8529710" cy="4303395"/>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Expression &amp; Communication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200">
                          <a:effectLst/>
                          <a:latin typeface="Calibri" panose="020F0502020204030204" pitchFamily="34" charset="0"/>
                          <a:ea typeface="Calibri" panose="020F0502020204030204" pitchFamily="34" charset="0"/>
                          <a:cs typeface="Arial" panose="020B0604020202020204" pitchFamily="34" charset="0"/>
                        </a:rPr>
                        <a:t>Provide differentiated levels of support and scaffolds to support independent learning</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feedback that is customized to the individual learner</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access to mentors, such as another teacher or tutor</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models and scaffolds that can gradually be released</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Give general feedback to all students on an assignment</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Provide the same scaffolds and support to all students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7</a:t>
            </a:fld>
            <a:endParaRPr lang="en-US"/>
          </a:p>
        </p:txBody>
      </p:sp>
    </p:spTree>
    <p:extLst>
      <p:ext uri="{BB962C8B-B14F-4D97-AF65-F5344CB8AC3E}">
        <p14:creationId xmlns:p14="http://schemas.microsoft.com/office/powerpoint/2010/main" val="77622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63FC8-A956-BF03-9188-56FE7B9E9532}"/>
              </a:ext>
            </a:extLst>
          </p:cNvPr>
          <p:cNvSpPr>
            <a:spLocks noGrp="1"/>
          </p:cNvSpPr>
          <p:nvPr>
            <p:ph type="title"/>
          </p:nvPr>
        </p:nvSpPr>
        <p:spPr/>
        <p:txBody>
          <a:bodyPr/>
          <a:lstStyle/>
          <a:p>
            <a:r>
              <a:rPr lang="en-US" dirty="0"/>
              <a:t>Scenario Analysis</a:t>
            </a:r>
          </a:p>
        </p:txBody>
      </p:sp>
      <p:sp>
        <p:nvSpPr>
          <p:cNvPr id="3" name="Content Placeholder 2">
            <a:extLst>
              <a:ext uri="{FF2B5EF4-FFF2-40B4-BE49-F238E27FC236}">
                <a16:creationId xmlns:a16="http://schemas.microsoft.com/office/drawing/2014/main" id="{588BC387-9ED3-6028-1543-A3E18E68F4B8}"/>
              </a:ext>
            </a:extLst>
          </p:cNvPr>
          <p:cNvSpPr>
            <a:spLocks noGrp="1"/>
          </p:cNvSpPr>
          <p:nvPr>
            <p:ph idx="1"/>
          </p:nvPr>
        </p:nvSpPr>
        <p:spPr/>
        <p:txBody>
          <a:bodyPr>
            <a:normAutofit fontScale="92500"/>
          </a:bodyPr>
          <a:lstStyle/>
          <a:p>
            <a:pPr marL="342900" marR="0" lvl="0" indent="-342900">
              <a:lnSpc>
                <a:spcPct val="107000"/>
              </a:lnSpc>
              <a:spcBef>
                <a:spcPts val="0"/>
              </a:spcBef>
              <a:spcAft>
                <a:spcPts val="800"/>
              </a:spcAft>
              <a:buFont typeface="Symbol" panose="05050102010706020507" pitchFamily="18" charset="2"/>
              <a:buChar char=""/>
            </a:pPr>
            <a:r>
              <a:rPr lang="en-US" sz="2400" b="1" dirty="0">
                <a:solidFill>
                  <a:srgbClr val="000000"/>
                </a:solidFill>
                <a:effectLst/>
                <a:latin typeface="Calibri" panose="020F0502020204030204" pitchFamily="34" charset="0"/>
                <a:ea typeface="SimSun" panose="02010600030101010101" pitchFamily="2" charset="-122"/>
                <a:cs typeface="Arial" panose="020B0604020202020204" pitchFamily="34" charset="0"/>
              </a:rPr>
              <a:t>Example 1: </a:t>
            </a:r>
            <a:r>
              <a:rPr lang="en-US" sz="2400" dirty="0">
                <a:solidFill>
                  <a:srgbClr val="000000"/>
                </a:solidFill>
                <a:effectLst/>
                <a:latin typeface="Calibri" panose="020F0502020204030204" pitchFamily="34" charset="0"/>
                <a:ea typeface="SimSun" panose="02010600030101010101" pitchFamily="2" charset="-122"/>
                <a:cs typeface="Arial" panose="020B0604020202020204" pitchFamily="34" charset="0"/>
              </a:rPr>
              <a:t>Mrs. D spent the week teaching her students about frogs and the life cycle of a frog. To demonstrate their understanding, she gives students a worksheet where they must label the steps of the life cycle and write at least 3 sentences about a frog. She then provides students with materials to make a model of the life cycle of a frog. </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b="1" dirty="0">
                <a:solidFill>
                  <a:srgbClr val="000000"/>
                </a:solidFill>
                <a:effectLst/>
                <a:latin typeface="Calibri" panose="020F0502020204030204" pitchFamily="34" charset="0"/>
                <a:ea typeface="SimSun" panose="02010600030101010101" pitchFamily="2" charset="-122"/>
                <a:cs typeface="Arial" panose="020B0604020202020204" pitchFamily="34" charset="0"/>
              </a:rPr>
              <a:t>Example 2: </a:t>
            </a:r>
            <a:r>
              <a:rPr lang="en-US" sz="2400" dirty="0">
                <a:solidFill>
                  <a:srgbClr val="000000"/>
                </a:solidFill>
                <a:effectLst/>
                <a:latin typeface="Calibri" panose="020F0502020204030204" pitchFamily="34" charset="0"/>
                <a:ea typeface="SimSun" panose="02010600030101010101" pitchFamily="2" charset="-122"/>
                <a:cs typeface="Arial" panose="020B0604020202020204" pitchFamily="34" charset="0"/>
              </a:rPr>
              <a:t>Mr. H also spent the week teaching his students about frogs and the life cycle of a frog. To demonstrate their understanding, Mr. H gives his students a choice board where they must choose how they want to demonstrate their learning about frogs and their life cycle. Some of the choices include making a video, creating a visual representation, writing a paragraph, podcast series, etc. Mr. H provides students with a rubric that indicates the key components of a frog life cycle that students must demonstrate in their products.</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54FFD282-6105-7A9E-B935-71F78AF1293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3010215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fontScale="92500"/>
          </a:bodyPr>
          <a:lstStyle/>
          <a:p>
            <a:pPr marL="0" marR="0" indent="0">
              <a:lnSpc>
                <a:spcPct val="107000"/>
              </a:lnSpc>
              <a:spcBef>
                <a:spcPts val="600"/>
              </a:spcBef>
              <a:spcAft>
                <a:spcPts val="600"/>
              </a:spcAft>
              <a:buNone/>
            </a:pPr>
            <a:r>
              <a:rPr lang="en-US" b="1" dirty="0">
                <a:effectLst/>
                <a:latin typeface="Calibri" panose="020F0502020204030204" pitchFamily="34" charset="0"/>
                <a:ea typeface="Calibri" panose="020F0502020204030204" pitchFamily="34" charset="0"/>
                <a:cs typeface="Arial" panose="020B0604020202020204" pitchFamily="34" charset="0"/>
              </a:rPr>
              <a:t>Return to the bellringer scenario.</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i="1" dirty="0">
                <a:effectLst/>
                <a:latin typeface="Calibri" panose="020F0502020204030204" pitchFamily="34" charset="0"/>
                <a:ea typeface="Calibri" panose="020F0502020204030204" pitchFamily="34" charset="0"/>
                <a:cs typeface="Arial" panose="020B0604020202020204" pitchFamily="34" charset="0"/>
              </a:rPr>
              <a:t>Ms. C. just finished a lesson on insects and assigns students a brochure to show what they learned. The brochure must include information and pictures. One student in the class struggles with writing and although she learned a great deal about insects and can elaborately explain her learning, her teacher thinks she has a lack of knowledge and didn’t master the task because she struggled to create her brochure. </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Based on what you learned in this lesson, what are some additional ways the teacher might find out what this student knows about insects?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92</TotalTime>
  <Words>761</Words>
  <Application>Microsoft Office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Instructional Practices| Unit 8: Planning for Diverse Learners| Lesson 8.12</vt:lpstr>
      <vt:lpstr>TEKS Standards &amp; Objectives</vt:lpstr>
      <vt:lpstr>Bellringer</vt:lpstr>
      <vt:lpstr>Intro to Expression &amp; Communication</vt:lpstr>
      <vt:lpstr>Guideline: Expression &amp; Communication</vt:lpstr>
      <vt:lpstr>Guideline: Expression &amp; Communication </vt:lpstr>
      <vt:lpstr>Guideline: Expression &amp; Communication  </vt:lpstr>
      <vt:lpstr>Scenario Analysis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8.12:Multiple Means of Action &amp; Expression | Expression &amp; Communication</dc:title>
  <dc:subject>Lesson 8.12:Multiple Means of Action &amp; Expression | Expression &amp; Communication</dc:subject>
  <dc:creator>Texas Education Agency</dc:creator>
  <cp:lastModifiedBy>London White</cp:lastModifiedBy>
  <cp:revision>2</cp:revision>
  <dcterms:created xsi:type="dcterms:W3CDTF">2022-09-17T16:30:16Z</dcterms:created>
  <dcterms:modified xsi:type="dcterms:W3CDTF">2023-08-31T05:23:38Z</dcterms:modified>
</cp:coreProperties>
</file>
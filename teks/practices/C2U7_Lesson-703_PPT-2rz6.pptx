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9" r:id="rId3"/>
    <p:sldId id="258" r:id="rId4"/>
    <p:sldId id="261" r:id="rId5"/>
    <p:sldId id="263" r:id="rId6"/>
    <p:sldId id="262"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id="{E000ABC9-E9F5-430F-B087-F09C6DF407C1}">
          <p14:sldIdLst>
            <p14:sldId id="256"/>
            <p14:sldId id="259"/>
            <p14:sldId id="258"/>
            <p14:sldId id="261"/>
            <p14:sldId id="263"/>
            <p14:sldId id="262"/>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F44297-F94C-4991-BC7E-AAD79838D019}" v="4" dt="2023-01-17T03:43:33.969"/>
    <p1510:client id="{5D1B8971-A522-422B-AAD4-017328E3E616}" v="5" dt="2023-01-17T04:36:38.1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32" autoAdjust="0"/>
    <p:restoredTop sz="94614" autoAdjust="0"/>
  </p:normalViewPr>
  <p:slideViewPr>
    <p:cSldViewPr snapToGrid="0">
      <p:cViewPr varScale="1">
        <p:scale>
          <a:sx n="108" d="100"/>
          <a:sy n="108" d="100"/>
        </p:scale>
        <p:origin x="51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5D1B8971-A522-422B-AAD4-017328E3E616}"/>
    <pc:docChg chg="undo custSel addSld modSld modSection">
      <pc:chgData name="White (she/her), Whitney" userId="65f39021-2f1d-4d8b-87dc-b123826f65bf" providerId="ADAL" clId="{5D1B8971-A522-422B-AAD4-017328E3E616}" dt="2023-01-17T04:36:38.149" v="274"/>
      <pc:docMkLst>
        <pc:docMk/>
      </pc:docMkLst>
      <pc:sldChg chg="modSp mod">
        <pc:chgData name="White (she/her), Whitney" userId="65f39021-2f1d-4d8b-87dc-b123826f65bf" providerId="ADAL" clId="{5D1B8971-A522-422B-AAD4-017328E3E616}" dt="2023-01-17T04:28:53.417" v="20" actId="20577"/>
        <pc:sldMkLst>
          <pc:docMk/>
          <pc:sldMk cId="1482277026" sldId="256"/>
        </pc:sldMkLst>
        <pc:spChg chg="mod">
          <ac:chgData name="White (she/her), Whitney" userId="65f39021-2f1d-4d8b-87dc-b123826f65bf" providerId="ADAL" clId="{5D1B8971-A522-422B-AAD4-017328E3E616}" dt="2023-01-17T04:28:53.417" v="20" actId="20577"/>
          <ac:spMkLst>
            <pc:docMk/>
            <pc:sldMk cId="1482277026" sldId="256"/>
            <ac:spMk id="2" creationId="{BFFCF5BD-F8FF-4A67-A8B6-EBB21E79279B}"/>
          </ac:spMkLst>
        </pc:spChg>
        <pc:spChg chg="mod">
          <ac:chgData name="White (she/her), Whitney" userId="65f39021-2f1d-4d8b-87dc-b123826f65bf" providerId="ADAL" clId="{5D1B8971-A522-422B-AAD4-017328E3E616}" dt="2023-01-17T04:28:51.125" v="18" actId="20577"/>
          <ac:spMkLst>
            <pc:docMk/>
            <pc:sldMk cId="1482277026" sldId="256"/>
            <ac:spMk id="3" creationId="{E0FBD98F-3A67-498E-8174-652040DD7B60}"/>
          </ac:spMkLst>
        </pc:spChg>
      </pc:sldChg>
      <pc:sldChg chg="modSp mod">
        <pc:chgData name="White (she/her), Whitney" userId="65f39021-2f1d-4d8b-87dc-b123826f65bf" providerId="ADAL" clId="{5D1B8971-A522-422B-AAD4-017328E3E616}" dt="2023-01-17T04:31:45.749" v="110" actId="255"/>
        <pc:sldMkLst>
          <pc:docMk/>
          <pc:sldMk cId="4071305681" sldId="258"/>
        </pc:sldMkLst>
        <pc:spChg chg="mod">
          <ac:chgData name="White (she/her), Whitney" userId="65f39021-2f1d-4d8b-87dc-b123826f65bf" providerId="ADAL" clId="{5D1B8971-A522-422B-AAD4-017328E3E616}" dt="2023-01-17T04:31:45.749" v="110" actId="255"/>
          <ac:spMkLst>
            <pc:docMk/>
            <pc:sldMk cId="4071305681" sldId="258"/>
            <ac:spMk id="3" creationId="{392BE286-77A6-49DD-B15D-7E4718D52FE7}"/>
          </ac:spMkLst>
        </pc:spChg>
      </pc:sldChg>
      <pc:sldChg chg="modSp mod">
        <pc:chgData name="White (she/her), Whitney" userId="65f39021-2f1d-4d8b-87dc-b123826f65bf" providerId="ADAL" clId="{5D1B8971-A522-422B-AAD4-017328E3E616}" dt="2023-01-17T04:29:20.800" v="26" actId="20577"/>
        <pc:sldMkLst>
          <pc:docMk/>
          <pc:sldMk cId="2772527113" sldId="259"/>
        </pc:sldMkLst>
        <pc:spChg chg="mod">
          <ac:chgData name="White (she/her), Whitney" userId="65f39021-2f1d-4d8b-87dc-b123826f65bf" providerId="ADAL" clId="{5D1B8971-A522-422B-AAD4-017328E3E616}" dt="2023-01-17T04:29:20.800" v="26" actId="20577"/>
          <ac:spMkLst>
            <pc:docMk/>
            <pc:sldMk cId="2772527113" sldId="259"/>
            <ac:spMk id="3" creationId="{8CE08C7F-0286-423B-92F7-DEB89F31111A}"/>
          </ac:spMkLst>
        </pc:spChg>
      </pc:sldChg>
      <pc:sldChg chg="modSp mod">
        <pc:chgData name="White (she/her), Whitney" userId="65f39021-2f1d-4d8b-87dc-b123826f65bf" providerId="ADAL" clId="{5D1B8971-A522-422B-AAD4-017328E3E616}" dt="2023-01-17T04:31:11.495" v="106" actId="27636"/>
        <pc:sldMkLst>
          <pc:docMk/>
          <pc:sldMk cId="2147408764" sldId="260"/>
        </pc:sldMkLst>
        <pc:spChg chg="mod">
          <ac:chgData name="White (she/her), Whitney" userId="65f39021-2f1d-4d8b-87dc-b123826f65bf" providerId="ADAL" clId="{5D1B8971-A522-422B-AAD4-017328E3E616}" dt="2023-01-17T04:31:11.495" v="106" actId="27636"/>
          <ac:spMkLst>
            <pc:docMk/>
            <pc:sldMk cId="2147408764" sldId="260"/>
            <ac:spMk id="3" creationId="{49F2A5AF-3C0B-4968-A438-E435325199EA}"/>
          </ac:spMkLst>
        </pc:spChg>
      </pc:sldChg>
      <pc:sldChg chg="modSp mod">
        <pc:chgData name="White (she/her), Whitney" userId="65f39021-2f1d-4d8b-87dc-b123826f65bf" providerId="ADAL" clId="{5D1B8971-A522-422B-AAD4-017328E3E616}" dt="2023-01-17T04:33:04.429" v="177" actId="404"/>
        <pc:sldMkLst>
          <pc:docMk/>
          <pc:sldMk cId="3054216349" sldId="261"/>
        </pc:sldMkLst>
        <pc:spChg chg="mod">
          <ac:chgData name="White (she/her), Whitney" userId="65f39021-2f1d-4d8b-87dc-b123826f65bf" providerId="ADAL" clId="{5D1B8971-A522-422B-AAD4-017328E3E616}" dt="2023-01-17T04:33:04.429" v="177" actId="404"/>
          <ac:spMkLst>
            <pc:docMk/>
            <pc:sldMk cId="3054216349" sldId="261"/>
            <ac:spMk id="3" creationId="{AE13FDB6-F093-4D9E-B14E-3D7DB894C34C}"/>
          </ac:spMkLst>
        </pc:spChg>
      </pc:sldChg>
      <pc:sldChg chg="modSp new mod">
        <pc:chgData name="White (she/her), Whitney" userId="65f39021-2f1d-4d8b-87dc-b123826f65bf" providerId="ADAL" clId="{5D1B8971-A522-422B-AAD4-017328E3E616}" dt="2023-01-17T04:34:15.232" v="217" actId="403"/>
        <pc:sldMkLst>
          <pc:docMk/>
          <pc:sldMk cId="914695715" sldId="262"/>
        </pc:sldMkLst>
        <pc:spChg chg="mod">
          <ac:chgData name="White (she/her), Whitney" userId="65f39021-2f1d-4d8b-87dc-b123826f65bf" providerId="ADAL" clId="{5D1B8971-A522-422B-AAD4-017328E3E616}" dt="2023-01-17T04:34:07.439" v="212" actId="20577"/>
          <ac:spMkLst>
            <pc:docMk/>
            <pc:sldMk cId="914695715" sldId="262"/>
            <ac:spMk id="2" creationId="{49C87313-12D7-47E4-BDA6-FECCF0A4CD3A}"/>
          </ac:spMkLst>
        </pc:spChg>
        <pc:spChg chg="mod">
          <ac:chgData name="White (she/her), Whitney" userId="65f39021-2f1d-4d8b-87dc-b123826f65bf" providerId="ADAL" clId="{5D1B8971-A522-422B-AAD4-017328E3E616}" dt="2023-01-17T04:34:15.232" v="217" actId="403"/>
          <ac:spMkLst>
            <pc:docMk/>
            <pc:sldMk cId="914695715" sldId="262"/>
            <ac:spMk id="3" creationId="{930CFD1D-C1C6-4E6E-9C86-80FCC1CA1DF5}"/>
          </ac:spMkLst>
        </pc:spChg>
      </pc:sldChg>
      <pc:sldChg chg="modSp new mod modAnim">
        <pc:chgData name="White (she/her), Whitney" userId="65f39021-2f1d-4d8b-87dc-b123826f65bf" providerId="ADAL" clId="{5D1B8971-A522-422B-AAD4-017328E3E616}" dt="2023-01-17T04:36:38.149" v="274"/>
        <pc:sldMkLst>
          <pc:docMk/>
          <pc:sldMk cId="1937699235" sldId="263"/>
        </pc:sldMkLst>
        <pc:spChg chg="mod">
          <ac:chgData name="White (she/her), Whitney" userId="65f39021-2f1d-4d8b-87dc-b123826f65bf" providerId="ADAL" clId="{5D1B8971-A522-422B-AAD4-017328E3E616}" dt="2023-01-17T04:35:23.175" v="254" actId="20577"/>
          <ac:spMkLst>
            <pc:docMk/>
            <pc:sldMk cId="1937699235" sldId="263"/>
            <ac:spMk id="2" creationId="{6E3B1B05-A3F0-48BF-B49B-257B2633F716}"/>
          </ac:spMkLst>
        </pc:spChg>
        <pc:spChg chg="mod">
          <ac:chgData name="White (she/her), Whitney" userId="65f39021-2f1d-4d8b-87dc-b123826f65bf" providerId="ADAL" clId="{5D1B8971-A522-422B-AAD4-017328E3E616}" dt="2023-01-17T04:36:20.205" v="272" actId="114"/>
          <ac:spMkLst>
            <pc:docMk/>
            <pc:sldMk cId="1937699235" sldId="263"/>
            <ac:spMk id="3" creationId="{90554E5C-BD9F-40C7-93C1-D500B10C9898}"/>
          </ac:spMkLst>
        </pc:spChg>
      </pc:sldChg>
    </pc:docChg>
  </pc:docChgLst>
  <pc:docChgLst>
    <pc:chgData name="White (she/her), Whitney" userId="65f39021-2f1d-4d8b-87dc-b123826f65bf" providerId="ADAL" clId="{38F44297-F94C-4991-BC7E-AAD79838D019}"/>
    <pc:docChg chg="custSel delSld modSld modSection">
      <pc:chgData name="White (she/her), Whitney" userId="65f39021-2f1d-4d8b-87dc-b123826f65bf" providerId="ADAL" clId="{38F44297-F94C-4991-BC7E-AAD79838D019}" dt="2023-01-17T03:44:30.772" v="117" actId="20577"/>
      <pc:docMkLst>
        <pc:docMk/>
      </pc:docMkLst>
      <pc:sldChg chg="modSp mod">
        <pc:chgData name="White (she/her), Whitney" userId="65f39021-2f1d-4d8b-87dc-b123826f65bf" providerId="ADAL" clId="{38F44297-F94C-4991-BC7E-AAD79838D019}" dt="2023-01-17T03:44:30.772" v="117" actId="20577"/>
        <pc:sldMkLst>
          <pc:docMk/>
          <pc:sldMk cId="1482277026" sldId="256"/>
        </pc:sldMkLst>
        <pc:spChg chg="mod">
          <ac:chgData name="White (she/her), Whitney" userId="65f39021-2f1d-4d8b-87dc-b123826f65bf" providerId="ADAL" clId="{38F44297-F94C-4991-BC7E-AAD79838D019}" dt="2023-01-17T03:44:30.772" v="117" actId="20577"/>
          <ac:spMkLst>
            <pc:docMk/>
            <pc:sldMk cId="1482277026" sldId="256"/>
            <ac:spMk id="2" creationId="{BFFCF5BD-F8FF-4A67-A8B6-EBB21E79279B}"/>
          </ac:spMkLst>
        </pc:spChg>
        <pc:spChg chg="mod">
          <ac:chgData name="White (she/her), Whitney" userId="65f39021-2f1d-4d8b-87dc-b123826f65bf" providerId="ADAL" clId="{38F44297-F94C-4991-BC7E-AAD79838D019}" dt="2023-01-17T03:43:15.507" v="113" actId="20577"/>
          <ac:spMkLst>
            <pc:docMk/>
            <pc:sldMk cId="1482277026" sldId="256"/>
            <ac:spMk id="3" creationId="{E0FBD98F-3A67-498E-8174-652040DD7B60}"/>
          </ac:spMkLst>
        </pc:spChg>
      </pc:sldChg>
      <pc:sldChg chg="del">
        <pc:chgData name="White (she/her), Whitney" userId="65f39021-2f1d-4d8b-87dc-b123826f65bf" providerId="ADAL" clId="{38F44297-F94C-4991-BC7E-AAD79838D019}" dt="2023-01-17T03:43:47.911" v="116" actId="47"/>
        <pc:sldMkLst>
          <pc:docMk/>
          <pc:sldMk cId="1163931679" sldId="263"/>
        </pc:sldMkLst>
      </pc:sldChg>
      <pc:sldChg chg="del">
        <pc:chgData name="White (she/her), Whitney" userId="65f39021-2f1d-4d8b-87dc-b123826f65bf" providerId="ADAL" clId="{38F44297-F94C-4991-BC7E-AAD79838D019}" dt="2023-01-17T03:43:40.476" v="114" actId="47"/>
        <pc:sldMkLst>
          <pc:docMk/>
          <pc:sldMk cId="3493109116" sldId="264"/>
        </pc:sldMkLst>
      </pc:sldChg>
      <pc:sldChg chg="del">
        <pc:chgData name="White (she/her), Whitney" userId="65f39021-2f1d-4d8b-87dc-b123826f65bf" providerId="ADAL" clId="{38F44297-F94C-4991-BC7E-AAD79838D019}" dt="2023-01-17T03:43:45.323" v="115" actId="47"/>
        <pc:sldMkLst>
          <pc:docMk/>
          <pc:sldMk cId="2571717539"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drive.google.com/file/d/1uXwe2ZKQ_C2RbbxjvZM-evzsgOSDTz4d/view?usp=sharin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7: High Leverage Teaching Practices| Lesson 7.03</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Structuring Lessons</a:t>
            </a:r>
          </a:p>
        </p:txBody>
      </p:sp>
      <p:sp>
        <p:nvSpPr>
          <p:cNvPr id="4" name="TextBox 3">
            <a:extLst>
              <a:ext uri="{FF2B5EF4-FFF2-40B4-BE49-F238E27FC236}">
                <a16:creationId xmlns:a16="http://schemas.microsoft.com/office/drawing/2014/main" id="{FA082AAA-A84A-7CB4-9A74-562914CB070C}"/>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4B, 6D</a:t>
            </a:r>
          </a:p>
          <a:p>
            <a:pPr marL="0" indent="0">
              <a:buNone/>
            </a:pPr>
            <a:endParaRPr lang="en-US" dirty="0"/>
          </a:p>
          <a:p>
            <a:pPr marL="0" indent="0">
              <a:buNone/>
            </a:pPr>
            <a:r>
              <a:rPr lang="en-US" dirty="0"/>
              <a:t>The student will:</a:t>
            </a:r>
          </a:p>
          <a:p>
            <a:r>
              <a:rPr lang="en-US" dirty="0"/>
              <a:t>define and describe standards and objectives</a:t>
            </a:r>
          </a:p>
          <a:p>
            <a:r>
              <a:rPr lang="en-US" dirty="0"/>
              <a:t>explain the key differences between standards and objectives</a:t>
            </a:r>
          </a:p>
          <a:p>
            <a:r>
              <a:rPr lang="en-US" dirty="0"/>
              <a:t>identify and evaluate objective to determine alignment with the standards</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marR="0" indent="0">
              <a:spcBef>
                <a:spcPts val="600"/>
              </a:spcBef>
              <a:spcAft>
                <a:spcPts val="600"/>
              </a:spcAft>
              <a:buNone/>
            </a:pPr>
            <a:r>
              <a:rPr lang="en-US" dirty="0">
                <a:effectLst/>
                <a:latin typeface="Calibri" panose="020F0502020204030204" pitchFamily="34" charset="0"/>
                <a:ea typeface="Calibri" panose="020F0502020204030204" pitchFamily="34" charset="0"/>
                <a:cs typeface="Times New Roman" panose="02020603050405020304" pitchFamily="18" charset="0"/>
              </a:rPr>
              <a:t>In past units we have discussed the importance of classroom management and considerations for effective sequencing of instruction.  Write down all that you remember about these two topics.</a:t>
            </a:r>
          </a:p>
          <a:p>
            <a:pPr marL="0" indent="0">
              <a:buNone/>
            </a:pPr>
            <a:endParaRPr lang="en-US"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p:txBody>
          <a:bodyPr>
            <a:noAutofit/>
          </a:bodyPr>
          <a:lstStyle/>
          <a:p>
            <a:pPr marL="0" indent="0">
              <a:buNone/>
            </a:pPr>
            <a:r>
              <a:rPr lang="en-US" sz="2400" dirty="0"/>
              <a:t>Sequencing: </a:t>
            </a:r>
            <a:r>
              <a:rPr lang="en-US" sz="2400" dirty="0">
                <a:effectLst/>
                <a:latin typeface="Calibri" panose="020F0502020204030204" pitchFamily="34" charset="0"/>
                <a:ea typeface="Calibri" panose="020F0502020204030204" pitchFamily="34" charset="0"/>
                <a:cs typeface="Arial" panose="020B0604020202020204" pitchFamily="34" charset="0"/>
              </a:rPr>
              <a:t>The effective ordering of academic content to support students' understanding of a topic; sequencing also relies on building on prior knowledge to ensure that there are not gaps in student learning.</a:t>
            </a:r>
            <a:endParaRPr lang="en-US" sz="2400" dirty="0"/>
          </a:p>
          <a:p>
            <a:pPr marL="0" indent="0">
              <a:buNone/>
            </a:pPr>
            <a:endParaRPr lang="en-US" sz="2400" dirty="0"/>
          </a:p>
          <a:p>
            <a:pPr marL="0" indent="0">
              <a:buNone/>
            </a:pPr>
            <a:r>
              <a:rPr lang="en-US" sz="2400" dirty="0"/>
              <a:t>Scaffolding: </a:t>
            </a:r>
            <a:r>
              <a:rPr lang="en-US" sz="2400" dirty="0">
                <a:effectLst/>
                <a:latin typeface="Calibri" panose="020F0502020204030204" pitchFamily="34" charset="0"/>
                <a:ea typeface="Calibri" panose="020F0502020204030204" pitchFamily="34" charset="0"/>
                <a:cs typeface="Arial" panose="020B0604020202020204" pitchFamily="34" charset="0"/>
              </a:rPr>
              <a:t>Structured supports offered to students by the teacher to help students attain a strong command of a new skill and/or concept</a:t>
            </a:r>
            <a:endParaRPr lang="en-US" sz="2400" dirty="0"/>
          </a:p>
          <a:p>
            <a:pPr marL="0" indent="0">
              <a:buNone/>
            </a:pPr>
            <a:endParaRPr lang="en-US" sz="2400" dirty="0"/>
          </a:p>
          <a:p>
            <a:pPr marL="0" indent="0">
              <a:buNone/>
            </a:pPr>
            <a:r>
              <a:rPr lang="en-US" sz="2400" dirty="0"/>
              <a:t>Double Planning: </a:t>
            </a:r>
            <a:r>
              <a:rPr lang="en-US" sz="2400" dirty="0">
                <a:effectLst/>
                <a:latin typeface="Calibri" panose="020F0502020204030204" pitchFamily="34" charset="0"/>
                <a:ea typeface="Calibri" panose="020F0502020204030204" pitchFamily="34" charset="0"/>
                <a:cs typeface="Times New Roman" panose="02020603050405020304" pitchFamily="18" charset="0"/>
              </a:rPr>
              <a:t>Instructional strategy where teachers plan what students will be doing each step of the way to intentionally leverage opportunities for student learning and engagement.</a:t>
            </a:r>
            <a:endParaRPr lang="en-US" sz="2400" dirty="0"/>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B1B05-A3F0-48BF-B49B-257B2633F716}"/>
              </a:ext>
            </a:extLst>
          </p:cNvPr>
          <p:cNvSpPr>
            <a:spLocks noGrp="1"/>
          </p:cNvSpPr>
          <p:nvPr>
            <p:ph type="title"/>
          </p:nvPr>
        </p:nvSpPr>
        <p:spPr/>
        <p:txBody>
          <a:bodyPr/>
          <a:lstStyle/>
          <a:p>
            <a:r>
              <a:rPr lang="en-US" dirty="0"/>
              <a:t>Structuring Lessons</a:t>
            </a:r>
          </a:p>
        </p:txBody>
      </p:sp>
      <p:sp>
        <p:nvSpPr>
          <p:cNvPr id="3" name="Content Placeholder 2">
            <a:extLst>
              <a:ext uri="{FF2B5EF4-FFF2-40B4-BE49-F238E27FC236}">
                <a16:creationId xmlns:a16="http://schemas.microsoft.com/office/drawing/2014/main" id="{90554E5C-BD9F-40C7-93C1-D500B10C9898}"/>
              </a:ext>
            </a:extLst>
          </p:cNvPr>
          <p:cNvSpPr>
            <a:spLocks noGrp="1"/>
          </p:cNvSpPr>
          <p:nvPr>
            <p:ph idx="1"/>
          </p:nvPr>
        </p:nvSpPr>
        <p:spPr/>
        <p:txBody>
          <a:bodyPr>
            <a:normAutofit fontScale="85000" lnSpcReduction="20000"/>
          </a:bodyPr>
          <a:lstStyle/>
          <a:p>
            <a:pPr marL="0" marR="0" indent="0">
              <a:lnSpc>
                <a:spcPct val="107000"/>
              </a:lnSpc>
              <a:spcBef>
                <a:spcPts val="0"/>
              </a:spcBef>
              <a:spcAft>
                <a:spcPts val="800"/>
              </a:spcAft>
              <a:buNone/>
            </a:pPr>
            <a:r>
              <a:rPr lang="en-US" sz="2600" dirty="0">
                <a:effectLst/>
                <a:latin typeface="Calibri" panose="020F0502020204030204" pitchFamily="34" charset="0"/>
                <a:ea typeface="Calibri" panose="020F0502020204030204" pitchFamily="34" charset="0"/>
                <a:cs typeface="Times New Roman" panose="02020603050405020304" pitchFamily="18" charset="0"/>
              </a:rPr>
              <a:t>The high leverage teaching strategy of Structuring Lessons brings together the concepts of:</a:t>
            </a:r>
          </a:p>
          <a:p>
            <a:pPr marL="0" marR="0" indent="0">
              <a:lnSpc>
                <a:spcPct val="107000"/>
              </a:lnSpc>
              <a:spcBef>
                <a:spcPts val="0"/>
              </a:spcBef>
              <a:spcAft>
                <a:spcPts val="800"/>
              </a:spcAft>
              <a:buNone/>
            </a:pPr>
            <a:r>
              <a:rPr lang="en-US" sz="2600" i="1" dirty="0">
                <a:effectLst/>
                <a:latin typeface="Calibri" panose="020F0502020204030204" pitchFamily="34" charset="0"/>
                <a:ea typeface="Calibri" panose="020F0502020204030204" pitchFamily="34" charset="0"/>
                <a:cs typeface="Times New Roman" panose="02020603050405020304" pitchFamily="18" charset="0"/>
              </a:rPr>
              <a:t>Classroom management and Sequencing of lessons</a:t>
            </a:r>
          </a:p>
          <a:p>
            <a:pPr marL="0" marR="0" indent="0">
              <a:lnSpc>
                <a:spcPct val="107000"/>
              </a:lnSpc>
              <a:spcBef>
                <a:spcPts val="0"/>
              </a:spcBef>
              <a:spcAft>
                <a:spcPts val="800"/>
              </a:spcAft>
              <a:buNone/>
            </a:pP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600" dirty="0">
                <a:effectLst/>
                <a:latin typeface="Calibri" panose="020F0502020204030204" pitchFamily="34" charset="0"/>
                <a:ea typeface="Calibri" panose="020F0502020204030204" pitchFamily="34" charset="0"/>
                <a:cs typeface="Times New Roman" panose="02020603050405020304" pitchFamily="18" charset="0"/>
              </a:rPr>
              <a:t>3 Key Considerations for Implementing HQIM with structure and intentionality:</a:t>
            </a:r>
          </a:p>
          <a:p>
            <a:pPr>
              <a:spcBef>
                <a:spcPts val="600"/>
              </a:spcBef>
            </a:pPr>
            <a:r>
              <a:rPr lang="en-US" sz="2600" i="1" dirty="0">
                <a:effectLst/>
                <a:latin typeface="Calibri" panose="020F0502020204030204" pitchFamily="34" charset="0"/>
                <a:ea typeface="Calibri" panose="020F0502020204030204" pitchFamily="34" charset="0"/>
                <a:cs typeface="Times New Roman" panose="02020603050405020304" pitchFamily="18" charset="0"/>
              </a:rPr>
              <a:t>Clarity of Student Expectations: Begin with overview/review prior content.  This helps to activate student thinking and make connections between past learning and current learning as well as clarify expectations and student success criteria.</a:t>
            </a:r>
          </a:p>
          <a:p>
            <a:pPr>
              <a:spcBef>
                <a:spcPts val="600"/>
              </a:spcBef>
            </a:pP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0"/>
              </a:spcBef>
            </a:pPr>
            <a:r>
              <a:rPr lang="en-US" sz="2600" i="1" dirty="0">
                <a:effectLst/>
                <a:latin typeface="Calibri" panose="020F0502020204030204" pitchFamily="34" charset="0"/>
                <a:ea typeface="Calibri" panose="020F0502020204030204" pitchFamily="34" charset="0"/>
                <a:cs typeface="Times New Roman" panose="02020603050405020304" pitchFamily="18" charset="0"/>
              </a:rPr>
              <a:t>Effective Transitions: Teachers must maximize the time available for learning.  This includes ensuring that transitions between activities are smooth and the teacher structures instructional activities to maximize time on task.</a:t>
            </a:r>
          </a:p>
          <a:p>
            <a:pPr>
              <a:spcBef>
                <a:spcPts val="0"/>
              </a:spcBef>
            </a:pP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0"/>
              </a:spcBef>
              <a:spcAft>
                <a:spcPts val="600"/>
              </a:spcAft>
            </a:pPr>
            <a:r>
              <a:rPr lang="en-US" sz="2600" i="1" dirty="0">
                <a:effectLst/>
                <a:latin typeface="Calibri" panose="020F0502020204030204" pitchFamily="34" charset="0"/>
                <a:ea typeface="Calibri" panose="020F0502020204030204" pitchFamily="34" charset="0"/>
                <a:cs typeface="Times New Roman" panose="02020603050405020304" pitchFamily="18" charset="0"/>
              </a:rPr>
              <a:t>Student Engagement: Students should be actively thinking, reading, writing, and talking about their learning throughout the lesson.</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5EAED8B4-3D3E-4F28-8F9F-915362BDE28A}"/>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1937699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87313-12D7-47E4-BDA6-FECCF0A4CD3A}"/>
              </a:ext>
            </a:extLst>
          </p:cNvPr>
          <p:cNvSpPr>
            <a:spLocks noGrp="1"/>
          </p:cNvSpPr>
          <p:nvPr>
            <p:ph type="title"/>
          </p:nvPr>
        </p:nvSpPr>
        <p:spPr/>
        <p:txBody>
          <a:bodyPr/>
          <a:lstStyle/>
          <a:p>
            <a:r>
              <a:rPr lang="en-US" dirty="0"/>
              <a:t>TLAC Video: Double Planning	</a:t>
            </a:r>
          </a:p>
        </p:txBody>
      </p:sp>
      <p:sp>
        <p:nvSpPr>
          <p:cNvPr id="3" name="Content Placeholder 2">
            <a:extLst>
              <a:ext uri="{FF2B5EF4-FFF2-40B4-BE49-F238E27FC236}">
                <a16:creationId xmlns:a16="http://schemas.microsoft.com/office/drawing/2014/main" id="{930CFD1D-C1C6-4E6E-9C86-80FCC1CA1DF5}"/>
              </a:ext>
            </a:extLst>
          </p:cNvPr>
          <p:cNvSpPr>
            <a:spLocks noGrp="1"/>
          </p:cNvSpPr>
          <p:nvPr>
            <p:ph idx="1"/>
          </p:nvPr>
        </p:nvSpPr>
        <p:spPr/>
        <p:txBody>
          <a:bodyPr>
            <a:normAutofit/>
          </a:bodyPr>
          <a:lstStyle/>
          <a:p>
            <a:pPr marL="0" indent="0">
              <a:buNone/>
            </a:pPr>
            <a:r>
              <a:rPr lang="en-US" u="sng" dirty="0">
                <a:solidFill>
                  <a:srgbClr val="0D6CB9"/>
                </a:solidFill>
                <a:effectLst/>
                <a:latin typeface="Calibri" panose="020F0502020204030204" pitchFamily="34" charset="0"/>
                <a:ea typeface="Calibri" panose="020F0502020204030204" pitchFamily="34" charset="0"/>
                <a:cs typeface="Times New Roman" panose="02020603050405020304" pitchFamily="18" charset="0"/>
                <a:hlinkClick r:id="rId2"/>
              </a:rPr>
              <a:t>TLAC Video: Double Planning</a:t>
            </a:r>
            <a:endParaRPr lang="en-US" sz="4000" dirty="0"/>
          </a:p>
        </p:txBody>
      </p:sp>
      <p:sp>
        <p:nvSpPr>
          <p:cNvPr id="4" name="Slide Number Placeholder 3">
            <a:extLst>
              <a:ext uri="{FF2B5EF4-FFF2-40B4-BE49-F238E27FC236}">
                <a16:creationId xmlns:a16="http://schemas.microsoft.com/office/drawing/2014/main" id="{8C89385A-6DD2-4817-8310-C8B7D19ED71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914695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fontScale="92500" lnSpcReduction="20000"/>
          </a:bodyPr>
          <a:lstStyle/>
          <a:p>
            <a:pPr marL="0" marR="0" lvl="0" indent="0">
              <a:lnSpc>
                <a:spcPct val="107000"/>
              </a:lnSpc>
              <a:spcBef>
                <a:spcPts val="0"/>
              </a:spcBef>
              <a:spcAft>
                <a:spcPts val="0"/>
              </a:spcAft>
              <a:buNone/>
            </a:pPr>
            <a:r>
              <a:rPr lang="en-US" sz="2600" dirty="0">
                <a:effectLst/>
                <a:latin typeface="Calibri" panose="020F0502020204030204" pitchFamily="34" charset="0"/>
                <a:ea typeface="Calibri" panose="020F0502020204030204" pitchFamily="34" charset="0"/>
                <a:cs typeface="Calibri" panose="020F0502020204030204" pitchFamily="34" charset="0"/>
              </a:rPr>
              <a:t>What are the 3 key considerations for teachers in implementing high quality instructional materials with structure and intentionality?</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07000"/>
              </a:lnSpc>
              <a:spcBef>
                <a:spcPts val="0"/>
              </a:spcBef>
              <a:spcAft>
                <a:spcPts val="0"/>
              </a:spcAft>
              <a:buNone/>
            </a:pPr>
            <a:r>
              <a:rPr lang="en-US" sz="2600" dirty="0">
                <a:effectLst/>
                <a:latin typeface="Calibri" panose="020F0502020204030204" pitchFamily="34" charset="0"/>
                <a:ea typeface="Calibri" panose="020F0502020204030204" pitchFamily="34" charset="0"/>
                <a:cs typeface="Calibri" panose="020F0502020204030204" pitchFamily="34" charset="0"/>
              </a:rPr>
              <a:t> </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0"/>
              </a:spcAft>
              <a:buNone/>
            </a:pPr>
            <a:r>
              <a:rPr lang="en-US" sz="2600" dirty="0">
                <a:effectLst/>
                <a:latin typeface="Calibri" panose="020F0502020204030204" pitchFamily="34" charset="0"/>
                <a:ea typeface="Calibri" panose="020F0502020204030204" pitchFamily="34" charset="0"/>
                <a:cs typeface="Calibri" panose="020F0502020204030204" pitchFamily="34" charset="0"/>
              </a:rPr>
              <a:t>See the example of a lesson description, as well as the double plan on your Exit Ticket.  </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07000"/>
              </a:lnSpc>
              <a:spcBef>
                <a:spcPts val="0"/>
              </a:spcBef>
              <a:spcAft>
                <a:spcPts val="0"/>
              </a:spcAft>
              <a:buNone/>
            </a:pPr>
            <a:r>
              <a:rPr lang="en-US" sz="2600" dirty="0">
                <a:solidFill>
                  <a:srgbClr val="70AD47"/>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07000"/>
              </a:lnSpc>
              <a:spcBef>
                <a:spcPts val="0"/>
              </a:spcBef>
              <a:spcAft>
                <a:spcPts val="800"/>
              </a:spcAft>
              <a:buNone/>
            </a:pPr>
            <a:r>
              <a:rPr lang="en-US" sz="2600" u="sng" dirty="0">
                <a:effectLst/>
                <a:latin typeface="Calibri" panose="020F0502020204030204" pitchFamily="34" charset="0"/>
                <a:ea typeface="Calibri" panose="020F0502020204030204" pitchFamily="34" charset="0"/>
                <a:cs typeface="Times New Roman" panose="02020603050405020304" pitchFamily="18" charset="0"/>
              </a:rPr>
              <a:t>Lesson Description</a:t>
            </a:r>
            <a:r>
              <a:rPr lang="en-US" sz="2600" dirty="0">
                <a:effectLst/>
                <a:latin typeface="Calibri" panose="020F0502020204030204" pitchFamily="34" charset="0"/>
                <a:ea typeface="Calibri" panose="020F0502020204030204" pitchFamily="34" charset="0"/>
                <a:cs typeface="Times New Roman" panose="02020603050405020304" pitchFamily="18" charset="0"/>
              </a:rPr>
              <a:t>:  Students have just read a passage from the book, The Diary of Anne Frank. The students are examining how the narrator uses figurative language in the text to convey meaning. The teacher wants students to talk to each other about what Anne meant when she said, “I thought my days were numbered.”  </a:t>
            </a:r>
          </a:p>
          <a:p>
            <a:pPr marL="0" indent="0">
              <a:buNone/>
            </a:pPr>
            <a:r>
              <a:rPr lang="en-US" sz="2600" dirty="0">
                <a:effectLst/>
                <a:latin typeface="Calibri" panose="020F0502020204030204" pitchFamily="34" charset="0"/>
                <a:ea typeface="Calibri" panose="020F0502020204030204" pitchFamily="34" charset="0"/>
                <a:cs typeface="Calibri" panose="020F0502020204030204" pitchFamily="34" charset="0"/>
              </a:rPr>
              <a:t>How does this double plan address the 3 key considerations for implementing high quality instructional materials?</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400"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XUX_Lesson X.XX_PPT_TEMPLATE" id="{F292ABBA-735D-46DE-9B1C-1ED03EE23A6F}" vid="{47570F0D-54DB-4FC7-92A5-A7A883415B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CXUX_Lesson X.XX_PPT_TEMPLATE</Template>
  <TotalTime>41</TotalTime>
  <Words>449</Words>
  <Application>Microsoft Office PowerPoint</Application>
  <PresentationFormat>Widescreen</PresentationFormat>
  <Paragraphs>43</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Instructional Practices| Unit 7: High Leverage Teaching Practices| Lesson 7.03</vt:lpstr>
      <vt:lpstr>TEKS Standards &amp; Objectives</vt:lpstr>
      <vt:lpstr>Bellringer</vt:lpstr>
      <vt:lpstr>Vocabulary</vt:lpstr>
      <vt:lpstr>Structuring Lessons</vt:lpstr>
      <vt:lpstr>TLAC Video: Double Planning </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Structuring Lessons</dc:title>
  <dc:subject>Structuring Lessons</dc:subject>
  <dc:creator>Texas Education Agency</dc:creator>
  <cp:lastModifiedBy>London White</cp:lastModifiedBy>
  <cp:revision>2</cp:revision>
  <dcterms:created xsi:type="dcterms:W3CDTF">2022-09-17T16:30:16Z</dcterms:created>
  <dcterms:modified xsi:type="dcterms:W3CDTF">2023-08-31T04:58:03Z</dcterms:modified>
</cp:coreProperties>
</file>
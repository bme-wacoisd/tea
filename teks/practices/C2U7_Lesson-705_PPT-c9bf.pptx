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1" r:id="rId5"/>
    <p:sldId id="262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." id="{E000ABC9-E9F5-430F-B087-F09C6DF407C1}">
          <p14:sldIdLst>
            <p14:sldId id="256"/>
            <p14:sldId id="259"/>
            <p14:sldId id="258"/>
            <p14:sldId id="261"/>
            <p14:sldId id="262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F44297-F94C-4991-BC7E-AAD79838D019}" v="4" dt="2023-01-17T03:43:33.969"/>
    <p1510:client id="{C4D16DD6-805E-4F0C-813A-20A99C7C2345}" v="9" dt="2023-01-17T05:03:06.2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2" autoAdjust="0"/>
    <p:restoredTop sz="94614" autoAdjust="0"/>
  </p:normalViewPr>
  <p:slideViewPr>
    <p:cSldViewPr snapToGrid="0">
      <p:cViewPr varScale="1">
        <p:scale>
          <a:sx n="108" d="100"/>
          <a:sy n="108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C4D16DD6-805E-4F0C-813A-20A99C7C2345}"/>
    <pc:docChg chg="custSel addSld modSld modSection">
      <pc:chgData name="White (she/her), Whitney" userId="65f39021-2f1d-4d8b-87dc-b123826f65bf" providerId="ADAL" clId="{C4D16DD6-805E-4F0C-813A-20A99C7C2345}" dt="2023-01-17T05:03:06.271" v="156"/>
      <pc:docMkLst>
        <pc:docMk/>
      </pc:docMkLst>
      <pc:sldChg chg="modSp mod">
        <pc:chgData name="White (she/her), Whitney" userId="65f39021-2f1d-4d8b-87dc-b123826f65bf" providerId="ADAL" clId="{C4D16DD6-805E-4F0C-813A-20A99C7C2345}" dt="2023-01-17T04:58:08.973" v="47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C4D16DD6-805E-4F0C-813A-20A99C7C2345}" dt="2023-01-17T04:58:08.973" v="47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C4D16DD6-805E-4F0C-813A-20A99C7C2345}" dt="2023-01-17T04:58:04.652" v="45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C4D16DD6-805E-4F0C-813A-20A99C7C2345}" dt="2023-01-17T04:59:11.214" v="60" actId="403"/>
        <pc:sldMkLst>
          <pc:docMk/>
          <pc:sldMk cId="4071305681" sldId="258"/>
        </pc:sldMkLst>
        <pc:spChg chg="mod">
          <ac:chgData name="White (she/her), Whitney" userId="65f39021-2f1d-4d8b-87dc-b123826f65bf" providerId="ADAL" clId="{C4D16DD6-805E-4F0C-813A-20A99C7C2345}" dt="2023-01-17T04:59:11.214" v="60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C4D16DD6-805E-4F0C-813A-20A99C7C2345}" dt="2023-01-17T05:00:00.971" v="66" actId="404"/>
        <pc:sldMkLst>
          <pc:docMk/>
          <pc:sldMk cId="2772527113" sldId="259"/>
        </pc:sldMkLst>
        <pc:spChg chg="mod">
          <ac:chgData name="White (she/her), Whitney" userId="65f39021-2f1d-4d8b-87dc-b123826f65bf" providerId="ADAL" clId="{C4D16DD6-805E-4F0C-813A-20A99C7C2345}" dt="2023-01-17T05:00:00.971" v="66" actId="404"/>
          <ac:spMkLst>
            <pc:docMk/>
            <pc:sldMk cId="2772527113" sldId="259"/>
            <ac:spMk id="3" creationId="{8CE08C7F-0286-423B-92F7-DEB89F31111A}"/>
          </ac:spMkLst>
        </pc:spChg>
      </pc:sldChg>
      <pc:sldChg chg="addSp modSp mod">
        <pc:chgData name="White (she/her), Whitney" userId="65f39021-2f1d-4d8b-87dc-b123826f65bf" providerId="ADAL" clId="{C4D16DD6-805E-4F0C-813A-20A99C7C2345}" dt="2023-01-17T04:57:42.404" v="16" actId="404"/>
        <pc:sldMkLst>
          <pc:docMk/>
          <pc:sldMk cId="2147408764" sldId="260"/>
        </pc:sldMkLst>
        <pc:spChg chg="mod">
          <ac:chgData name="White (she/her), Whitney" userId="65f39021-2f1d-4d8b-87dc-b123826f65bf" providerId="ADAL" clId="{C4D16DD6-805E-4F0C-813A-20A99C7C2345}" dt="2023-01-17T04:57:42.404" v="16" actId="404"/>
          <ac:spMkLst>
            <pc:docMk/>
            <pc:sldMk cId="2147408764" sldId="260"/>
            <ac:spMk id="3" creationId="{49F2A5AF-3C0B-4968-A438-E435325199EA}"/>
          </ac:spMkLst>
        </pc:spChg>
        <pc:graphicFrameChg chg="add mod modGraphic">
          <ac:chgData name="White (she/her), Whitney" userId="65f39021-2f1d-4d8b-87dc-b123826f65bf" providerId="ADAL" clId="{C4D16DD6-805E-4F0C-813A-20A99C7C2345}" dt="2023-01-17T04:57:36.199" v="13" actId="255"/>
          <ac:graphicFrameMkLst>
            <pc:docMk/>
            <pc:sldMk cId="2147408764" sldId="260"/>
            <ac:graphicFrameMk id="5" creationId="{F1E9DCAF-C662-4A6B-BB99-36751617ABEA}"/>
          </ac:graphicFrameMkLst>
        </pc:graphicFrameChg>
      </pc:sldChg>
      <pc:sldChg chg="modSp mod">
        <pc:chgData name="White (she/her), Whitney" userId="65f39021-2f1d-4d8b-87dc-b123826f65bf" providerId="ADAL" clId="{C4D16DD6-805E-4F0C-813A-20A99C7C2345}" dt="2023-01-17T05:01:15.991" v="98" actId="255"/>
        <pc:sldMkLst>
          <pc:docMk/>
          <pc:sldMk cId="3054216349" sldId="261"/>
        </pc:sldMkLst>
        <pc:spChg chg="mod">
          <ac:chgData name="White (she/her), Whitney" userId="65f39021-2f1d-4d8b-87dc-b123826f65bf" providerId="ADAL" clId="{C4D16DD6-805E-4F0C-813A-20A99C7C2345}" dt="2023-01-17T05:01:15.991" v="98" actId="255"/>
          <ac:spMkLst>
            <pc:docMk/>
            <pc:sldMk cId="3054216349" sldId="261"/>
            <ac:spMk id="3" creationId="{AE13FDB6-F093-4D9E-B14E-3D7DB894C34C}"/>
          </ac:spMkLst>
        </pc:spChg>
      </pc:sldChg>
      <pc:sldChg chg="modSp new mod modAnim">
        <pc:chgData name="White (she/her), Whitney" userId="65f39021-2f1d-4d8b-87dc-b123826f65bf" providerId="ADAL" clId="{C4D16DD6-805E-4F0C-813A-20A99C7C2345}" dt="2023-01-17T05:03:06.271" v="156"/>
        <pc:sldMkLst>
          <pc:docMk/>
          <pc:sldMk cId="254696692" sldId="262"/>
        </pc:sldMkLst>
        <pc:spChg chg="mod">
          <ac:chgData name="White (she/her), Whitney" userId="65f39021-2f1d-4d8b-87dc-b123826f65bf" providerId="ADAL" clId="{C4D16DD6-805E-4F0C-813A-20A99C7C2345}" dt="2023-01-17T05:02:24.269" v="142" actId="20577"/>
          <ac:spMkLst>
            <pc:docMk/>
            <pc:sldMk cId="254696692" sldId="262"/>
            <ac:spMk id="2" creationId="{09B1E89E-A7F7-40A8-9E1C-C75E017B9A91}"/>
          </ac:spMkLst>
        </pc:spChg>
        <pc:spChg chg="mod">
          <ac:chgData name="White (she/her), Whitney" userId="65f39021-2f1d-4d8b-87dc-b123826f65bf" providerId="ADAL" clId="{C4D16DD6-805E-4F0C-813A-20A99C7C2345}" dt="2023-01-17T05:02:51.121" v="151" actId="27636"/>
          <ac:spMkLst>
            <pc:docMk/>
            <pc:sldMk cId="254696692" sldId="262"/>
            <ac:spMk id="3" creationId="{4030658D-C191-418D-AB92-05F2A431FD30}"/>
          </ac:spMkLst>
        </pc:spChg>
      </pc:sldChg>
    </pc:docChg>
  </pc:docChgLst>
  <pc:docChgLst>
    <pc:chgData name="White (she/her), Whitney" userId="65f39021-2f1d-4d8b-87dc-b123826f65bf" providerId="ADAL" clId="{38F44297-F94C-4991-BC7E-AAD79838D019}"/>
    <pc:docChg chg="custSel delSld modSld modSection">
      <pc:chgData name="White (she/her), Whitney" userId="65f39021-2f1d-4d8b-87dc-b123826f65bf" providerId="ADAL" clId="{38F44297-F94C-4991-BC7E-AAD79838D019}" dt="2023-01-17T03:44:30.772" v="117" actId="20577"/>
      <pc:docMkLst>
        <pc:docMk/>
      </pc:docMkLst>
      <pc:sldChg chg="modSp mod">
        <pc:chgData name="White (she/her), Whitney" userId="65f39021-2f1d-4d8b-87dc-b123826f65bf" providerId="ADAL" clId="{38F44297-F94C-4991-BC7E-AAD79838D019}" dt="2023-01-17T03:44:30.772" v="117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38F44297-F94C-4991-BC7E-AAD79838D019}" dt="2023-01-17T03:44:30.772" v="117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38F44297-F94C-4991-BC7E-AAD79838D019}" dt="2023-01-17T03:43:15.507" v="113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">
        <pc:chgData name="White (she/her), Whitney" userId="65f39021-2f1d-4d8b-87dc-b123826f65bf" providerId="ADAL" clId="{38F44297-F94C-4991-BC7E-AAD79838D019}" dt="2023-01-17T03:43:47.911" v="116" actId="47"/>
        <pc:sldMkLst>
          <pc:docMk/>
          <pc:sldMk cId="1163931679" sldId="263"/>
        </pc:sldMkLst>
      </pc:sldChg>
      <pc:sldChg chg="del">
        <pc:chgData name="White (she/her), Whitney" userId="65f39021-2f1d-4d8b-87dc-b123826f65bf" providerId="ADAL" clId="{38F44297-F94C-4991-BC7E-AAD79838D019}" dt="2023-01-17T03:43:40.476" v="114" actId="47"/>
        <pc:sldMkLst>
          <pc:docMk/>
          <pc:sldMk cId="3493109116" sldId="264"/>
        </pc:sldMkLst>
      </pc:sldChg>
      <pc:sldChg chg="del">
        <pc:chgData name="White (she/her), Whitney" userId="65f39021-2f1d-4d8b-87dc-b123826f65bf" providerId="ADAL" clId="{38F44297-F94C-4991-BC7E-AAD79838D019}" dt="2023-01-17T03:43:45.323" v="115" actId="47"/>
        <pc:sldMkLst>
          <pc:docMk/>
          <pc:sldMk cId="2571717539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76639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7: High Leverage Teaching Practices| Lesson 7.05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Explicit Teaching | Part II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CA8495-3696-2ADB-F14A-D4FCABA0980D}"/>
              </a:ext>
            </a:extLst>
          </p:cNvPr>
          <p:cNvSpPr txBox="1"/>
          <p:nvPr/>
        </p:nvSpPr>
        <p:spPr>
          <a:xfrm>
            <a:off x="0" y="6446939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4B, 6D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Practice and reflect on the strategy of teacher modeling as a method showing students what to do and how to do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Describe the high leverage practice of explicit teaching.  How is modeling an example of explicit teaching?</a:t>
            </a:r>
            <a:r>
              <a:rPr lang="en-US" sz="3200" i="1" dirty="0">
                <a:solidFill>
                  <a:srgbClr val="70AD47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Explicit Teaching: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Guides students through the learning process, step by step, with clear explanations, procedures, and success criteria.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Modeling: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 strategy where teachers visually show students a process while describing each step with a rationale.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1E89E-A7F7-40A8-9E1C-C75E017B9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Practices for Effective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0658D-C191-418D-AB92-05F2A431F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Small, learnable steps:  Small, manageable chunks prevent cognitive overload.</a:t>
            </a:r>
          </a:p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 demonstration:  demonstrate each step as students watch. 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Verbal explanation:  explain each step as you demonstrate them.  Provide a rationale for why that step is important and key details for that step.  Keep explanations short and direct.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Connect the steps.  This is important to understand the sequence to the process as well as looking for ways to connect to prior learning.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Pause &amp; check for student understanding along the way.  Allow opportunities for students to ask questions and get clarification. Re-model steps as necessary.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7BDA6-3A47-409E-9218-8839A7D99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9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Below are the key practices for effective modeling.  Reflect on your modeling practice in the lesson today.  Provide a brief description your experience with each key practice including identifying your areas of strength as well as areas for improvement.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E9DCAF-C662-4A6B-BB99-36751617A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727955"/>
              </p:ext>
            </p:extLst>
          </p:nvPr>
        </p:nvGraphicFramePr>
        <p:xfrm>
          <a:off x="1203960" y="3057525"/>
          <a:ext cx="9784080" cy="288798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883729">
                  <a:extLst>
                    <a:ext uri="{9D8B030D-6E8A-4147-A177-3AD203B41FA5}">
                      <a16:colId xmlns:a16="http://schemas.microsoft.com/office/drawing/2014/main" val="1005628210"/>
                    </a:ext>
                  </a:extLst>
                </a:gridCol>
                <a:gridCol w="3501671">
                  <a:extLst>
                    <a:ext uri="{9D8B030D-6E8A-4147-A177-3AD203B41FA5}">
                      <a16:colId xmlns:a16="http://schemas.microsoft.com/office/drawing/2014/main" val="2004352571"/>
                    </a:ext>
                  </a:extLst>
                </a:gridCol>
                <a:gridCol w="3398680">
                  <a:extLst>
                    <a:ext uri="{9D8B030D-6E8A-4147-A177-3AD203B41FA5}">
                      <a16:colId xmlns:a16="http://schemas.microsoft.com/office/drawing/2014/main" val="1972877215"/>
                    </a:ext>
                  </a:extLst>
                </a:gridCol>
              </a:tblGrid>
              <a:tr h="49389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b="1" kern="0" dirty="0">
                          <a:effectLst/>
                        </a:rPr>
                        <a:t>Key Modeling Practices</a:t>
                      </a:r>
                      <a:endParaRPr lang="en-US" sz="1800" b="1" kern="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b="1" kern="0" dirty="0">
                          <a:effectLst/>
                        </a:rPr>
                        <a:t>Strengths</a:t>
                      </a:r>
                      <a:endParaRPr lang="en-US" sz="1800" b="1" kern="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b="1" kern="0" dirty="0">
                          <a:effectLst/>
                        </a:rPr>
                        <a:t>Areas of Improvement</a:t>
                      </a:r>
                      <a:endParaRPr lang="en-US" sz="1800" b="1" kern="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31346323"/>
                  </a:ext>
                </a:extLst>
              </a:tr>
              <a:tr h="47881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0" dirty="0">
                          <a:effectLst/>
                        </a:rPr>
                        <a:t>Small, Learnable Steps</a:t>
                      </a:r>
                      <a:endParaRPr lang="en-US" sz="1800" b="1" kern="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0" dirty="0">
                          <a:effectLst/>
                        </a:rPr>
                        <a:t> </a:t>
                      </a:r>
                      <a:endParaRPr lang="en-US" sz="1100" b="1" kern="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0">
                          <a:effectLst/>
                        </a:rPr>
                        <a:t> </a:t>
                      </a:r>
                      <a:endParaRPr lang="en-US" sz="1100" b="1" kern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56800525"/>
                  </a:ext>
                </a:extLst>
              </a:tr>
              <a:tr h="47881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0" dirty="0">
                          <a:effectLst/>
                        </a:rPr>
                        <a:t>Visual Demonstration</a:t>
                      </a:r>
                      <a:endParaRPr lang="en-US" sz="1800" b="1" kern="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0">
                          <a:effectLst/>
                        </a:rPr>
                        <a:t> </a:t>
                      </a:r>
                      <a:endParaRPr lang="en-US" sz="1100" b="1" kern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0">
                          <a:effectLst/>
                        </a:rPr>
                        <a:t> </a:t>
                      </a:r>
                      <a:endParaRPr lang="en-US" sz="1100" b="1" kern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85505118"/>
                  </a:ext>
                </a:extLst>
              </a:tr>
              <a:tr h="47881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0" dirty="0">
                          <a:effectLst/>
                        </a:rPr>
                        <a:t>Verbal Explanation</a:t>
                      </a:r>
                      <a:endParaRPr lang="en-US" sz="1800" b="1" kern="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0">
                          <a:effectLst/>
                        </a:rPr>
                        <a:t> </a:t>
                      </a:r>
                      <a:endParaRPr lang="en-US" sz="1100" b="1" kern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0">
                          <a:effectLst/>
                        </a:rPr>
                        <a:t> </a:t>
                      </a:r>
                      <a:endParaRPr lang="en-US" sz="1100" b="1" kern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3622611"/>
                  </a:ext>
                </a:extLst>
              </a:tr>
              <a:tr h="47881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0" dirty="0">
                          <a:effectLst/>
                        </a:rPr>
                        <a:t>Connect the Steps</a:t>
                      </a:r>
                      <a:endParaRPr lang="en-US" sz="1800" b="1" kern="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0">
                          <a:effectLst/>
                        </a:rPr>
                        <a:t> </a:t>
                      </a:r>
                      <a:endParaRPr lang="en-US" sz="1100" b="1" kern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0">
                          <a:effectLst/>
                        </a:rPr>
                        <a:t> </a:t>
                      </a:r>
                      <a:endParaRPr lang="en-US" sz="1100" b="1" kern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07873848"/>
                  </a:ext>
                </a:extLst>
              </a:tr>
              <a:tr h="47881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0" dirty="0">
                          <a:effectLst/>
                        </a:rPr>
                        <a:t>Check for Understanding</a:t>
                      </a:r>
                      <a:endParaRPr lang="en-US" sz="1800" b="1" kern="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0">
                          <a:effectLst/>
                        </a:rPr>
                        <a:t> </a:t>
                      </a:r>
                      <a:endParaRPr lang="en-US" sz="1100" b="1" kern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0" dirty="0">
                          <a:effectLst/>
                        </a:rPr>
                        <a:t> </a:t>
                      </a:r>
                      <a:endParaRPr lang="en-US" sz="1100" b="1" kern="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355352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XUX_Lesson X.XX_PPT_TEMPLATE" id="{F292ABBA-735D-46DE-9B1C-1ED03EE23A6F}" vid="{47570F0D-54DB-4FC7-92A5-A7A883415B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CXUX_Lesson X.XX_PPT_TEMPLATE</Template>
  <TotalTime>46</TotalTime>
  <Words>323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Symbol</vt:lpstr>
      <vt:lpstr>Office Theme</vt:lpstr>
      <vt:lpstr>Instructional Practices| Unit 7: High Leverage Teaching Practices| Lesson 7.05</vt:lpstr>
      <vt:lpstr>TEKS Standards &amp; Objectives</vt:lpstr>
      <vt:lpstr>Bellringer</vt:lpstr>
      <vt:lpstr>Vocabulary</vt:lpstr>
      <vt:lpstr>Key Practices for Effective Modeling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Explicit Teaching | Part II</dc:title>
  <dc:subject>Explicit Teaching | Part II</dc:subject>
  <dc:creator>Texas Education Agency</dc:creator>
  <cp:lastModifiedBy>London White</cp:lastModifiedBy>
  <cp:revision>2</cp:revision>
  <dcterms:created xsi:type="dcterms:W3CDTF">2022-09-17T16:30:16Z</dcterms:created>
  <dcterms:modified xsi:type="dcterms:W3CDTF">2023-08-31T05:07:26Z</dcterms:modified>
</cp:coreProperties>
</file>
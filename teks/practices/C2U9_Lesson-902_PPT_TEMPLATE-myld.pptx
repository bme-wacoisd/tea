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9" r:id="rId3"/>
    <p:sldId id="258" r:id="rId4"/>
    <p:sldId id="261"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6BE3088-3496-45FE-B1E4-66717CA7044E}" v="6" dt="2022-12-04T20:43:51.17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9" d="100"/>
          <a:sy n="119" d="100"/>
        </p:scale>
        <p:origin x="15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5990395"/>
            <a:ext cx="9144000" cy="370300"/>
          </a:xfrm>
        </p:spPr>
        <p:txBody>
          <a:bodyPr>
            <a:normAutofit/>
          </a:bodyPr>
          <a:lstStyle/>
          <a:p>
            <a:pPr algn="l"/>
            <a:r>
              <a:rPr lang="en-US" sz="1800" dirty="0"/>
              <a:t>Instructional Practices| Unit 9: Feedback| Lesson 9.02</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vert="horz" lIns="91440" tIns="45720" rIns="91440" bIns="45720" rtlCol="0" anchor="t">
            <a:normAutofit/>
          </a:bodyPr>
          <a:lstStyle/>
          <a:p>
            <a:r>
              <a:rPr lang="en-US" sz="6000" dirty="0">
                <a:cs typeface="Calibri"/>
              </a:rPr>
              <a:t>Practice with Informal Feedback</a:t>
            </a:r>
          </a:p>
        </p:txBody>
      </p:sp>
      <p:sp>
        <p:nvSpPr>
          <p:cNvPr id="4" name="TextBox 4">
            <a:extLst>
              <a:ext uri="{FF2B5EF4-FFF2-40B4-BE49-F238E27FC236}">
                <a16:creationId xmlns:a16="http://schemas.microsoft.com/office/drawing/2014/main" id="{B705C459-A130-8302-9637-4C0AB43D3DDB}"/>
              </a:ext>
            </a:extLst>
          </p:cNvPr>
          <p:cNvSpPr txBox="1"/>
          <p:nvPr/>
        </p:nvSpPr>
        <p:spPr>
          <a:xfrm>
            <a:off x="0" y="6436060"/>
            <a:ext cx="10684043"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a:spcBef>
                <a:spcPts val="0"/>
              </a:spcBef>
              <a:spcAft>
                <a:spcPts val="0"/>
              </a:spcAft>
              <a:tabLst>
                <a:tab pos="2971800" algn="ctr"/>
                <a:tab pos="5943600" algn="r"/>
              </a:tabLst>
            </a:pPr>
            <a:r>
              <a:rPr lang="en-US" sz="1600" dirty="0">
                <a:solidFill>
                  <a:srgbClr val="464646"/>
                </a:solidFill>
                <a:effectLst/>
                <a:latin typeface="Calibri" panose="020F0502020204030204" pitchFamily="34" charset="0"/>
                <a:ea typeface="Calibri" panose="020F0502020204030204" pitchFamily="34" charset="0"/>
                <a:cs typeface="Calibri" panose="020F0502020204030204" pitchFamily="34" charset="0"/>
              </a:rPr>
              <a:t>This work is licensed under a </a:t>
            </a:r>
            <a:r>
              <a:rPr lang="en-US" sz="1600" u="sng" dirty="0">
                <a:solidFill>
                  <a:srgbClr val="0070C0"/>
                </a:solidFill>
                <a:effectLst/>
                <a:latin typeface="Calibri" panose="020F05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600" dirty="0">
                <a:solidFill>
                  <a:srgbClr val="0070C0"/>
                </a:solidFill>
                <a:effectLst/>
                <a:latin typeface="Calibri" panose="020F0502020204030204" pitchFamily="34" charset="0"/>
                <a:ea typeface="Calibri" panose="020F0502020204030204" pitchFamily="34" charset="0"/>
                <a:cs typeface="Calibri" panose="020F0502020204030204" pitchFamily="34" charset="0"/>
              </a:rPr>
              <a:t>.</a:t>
            </a: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vert="horz" lIns="91440" tIns="45720" rIns="91440" bIns="45720" rtlCol="0" anchor="t">
            <a:normAutofit/>
          </a:bodyPr>
          <a:lstStyle/>
          <a:p>
            <a:pPr marL="0" indent="0">
              <a:buNone/>
            </a:pPr>
            <a:r>
              <a:rPr lang="en-US" dirty="0"/>
              <a:t>TEKS 4 B-C, 14 </a:t>
            </a:r>
            <a:r>
              <a:rPr lang="en-US"/>
              <a:t>A,C,</a:t>
            </a:r>
            <a:r>
              <a:rPr lang="en-US" dirty="0"/>
              <a:t>D</a:t>
            </a:r>
            <a:endParaRPr lang="en-US" dirty="0">
              <a:cs typeface="Calibri"/>
            </a:endParaRPr>
          </a:p>
          <a:p>
            <a:pPr marL="0" indent="0">
              <a:buNone/>
            </a:pPr>
            <a:endParaRPr lang="en-US" dirty="0"/>
          </a:p>
          <a:p>
            <a:pPr marL="0" indent="0">
              <a:buNone/>
            </a:pPr>
            <a:r>
              <a:rPr lang="en-US" dirty="0"/>
              <a:t>The student will:</a:t>
            </a:r>
          </a:p>
          <a:p>
            <a:pPr marL="342900" marR="0" lvl="0" indent="-342900">
              <a:spcBef>
                <a:spcPts val="600"/>
              </a:spcBef>
              <a:spcAft>
                <a:spcPts val="600"/>
              </a:spcAft>
              <a:buFont typeface="Calibri" panose="020F0502020204030204" pitchFamily="34" charset="0"/>
              <a:buChar char="•"/>
            </a:pPr>
            <a:r>
              <a:rPr lang="en-US" dirty="0">
                <a:effectLst/>
                <a:latin typeface="Calibri" panose="020F0502020204030204" pitchFamily="34" charset="0"/>
                <a:ea typeface="Calibri" panose="020F0502020204030204" pitchFamily="34" charset="0"/>
                <a:cs typeface="Arial" panose="020B0604020202020204" pitchFamily="34" charset="0"/>
              </a:rPr>
              <a:t>Practice giving informal, verbal feedback</a:t>
            </a:r>
          </a:p>
          <a:p>
            <a:pPr marL="342900" marR="0" lvl="0" indent="-342900">
              <a:spcBef>
                <a:spcPts val="600"/>
              </a:spcBef>
              <a:spcAft>
                <a:spcPts val="600"/>
              </a:spcAft>
              <a:buFont typeface="Calibri" panose="020F0502020204030204" pitchFamily="34" charset="0"/>
              <a:buChar char="•"/>
            </a:pPr>
            <a:r>
              <a:rPr lang="en-US" dirty="0">
                <a:effectLst/>
                <a:latin typeface="Calibri" panose="020F0502020204030204" pitchFamily="34" charset="0"/>
                <a:ea typeface="Calibri" panose="020F0502020204030204" pitchFamily="34" charset="0"/>
              </a:rPr>
              <a:t>Analyze and evaluate informal, verbal feedback based on the characteristics of effective feedback</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a:xfrm>
            <a:off x="838200" y="1493240"/>
            <a:ext cx="10515600" cy="4683723"/>
          </a:xfrm>
        </p:spPr>
        <p:txBody>
          <a:bodyPr vert="horz" lIns="91440" tIns="45720" rIns="91440" bIns="45720" rtlCol="0" anchor="t">
            <a:normAutofit/>
          </a:bodyPr>
          <a:lstStyle/>
          <a:p>
            <a:pPr marL="0" marR="0" indent="0">
              <a:lnSpc>
                <a:spcPct val="107000"/>
              </a:lnSpc>
              <a:spcBef>
                <a:spcPts val="600"/>
              </a:spcBef>
              <a:spcAft>
                <a:spcPts val="600"/>
              </a:spcAft>
              <a:buNone/>
            </a:pPr>
            <a:r>
              <a:rPr lang="en-US" sz="2400" dirty="0">
                <a:effectLst/>
                <a:latin typeface="Calibri" panose="020F0502020204030204" pitchFamily="34" charset="0"/>
                <a:ea typeface="Calibri" panose="020F0502020204030204" pitchFamily="34" charset="0"/>
                <a:cs typeface="Times New Roman" panose="02020603050405020304" pitchFamily="18" charset="0"/>
              </a:rPr>
              <a:t>You are a teacher in a math class.  Your students are working on grouping by fives to count to the total.  Each student is asked to first draw a picture of the value, circle the groups of five and use those groups to count by five to get to the answer.  You notice that one of your students is forgetting to circle the groups of five in their drawing which is leading to the incorrect answer.  </a:t>
            </a:r>
          </a:p>
          <a:p>
            <a:pPr marL="0" marR="0" indent="0">
              <a:lnSpc>
                <a:spcPct val="107000"/>
              </a:lnSpc>
              <a:spcBef>
                <a:spcPts val="600"/>
              </a:spcBef>
              <a:spcAft>
                <a:spcPts val="600"/>
              </a:spcAft>
              <a:buNone/>
            </a:pPr>
            <a:r>
              <a:rPr lang="en-US" sz="2400" dirty="0">
                <a:effectLst/>
                <a:latin typeface="Calibri" panose="020F0502020204030204" pitchFamily="34" charset="0"/>
                <a:ea typeface="Calibri" panose="020F0502020204030204" pitchFamily="34" charset="0"/>
                <a:cs typeface="Times New Roman" panose="02020603050405020304" pitchFamily="18" charset="0"/>
              </a:rPr>
              <a:t>What type of informal, verbal feedback might you give that student to get them back on track?  Consider the characteristics of effective feedback we discussed in the previous lesson (specific and clear, focused on the task, strengths and improvements and timely and actionable.)</a:t>
            </a:r>
            <a:endParaRPr lang="en-US" sz="240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Feedback Prompts</a:t>
            </a:r>
          </a:p>
        </p:txBody>
      </p:sp>
      <p:graphicFrame>
        <p:nvGraphicFramePr>
          <p:cNvPr id="5" name="Content Placeholder 4">
            <a:extLst>
              <a:ext uri="{FF2B5EF4-FFF2-40B4-BE49-F238E27FC236}">
                <a16:creationId xmlns:a16="http://schemas.microsoft.com/office/drawing/2014/main" id="{2CA06D76-C016-431B-9A91-8C1EA5E8867D}"/>
              </a:ext>
            </a:extLst>
          </p:cNvPr>
          <p:cNvGraphicFramePr>
            <a:graphicFrameLocks noGrp="1"/>
          </p:cNvGraphicFramePr>
          <p:nvPr>
            <p:ph idx="1"/>
            <p:extLst>
              <p:ext uri="{D42A27DB-BD31-4B8C-83A1-F6EECF244321}">
                <p14:modId xmlns:p14="http://schemas.microsoft.com/office/powerpoint/2010/main" val="3654813007"/>
              </p:ext>
            </p:extLst>
          </p:nvPr>
        </p:nvGraphicFramePr>
        <p:xfrm>
          <a:off x="914400" y="1838325"/>
          <a:ext cx="9191625" cy="4191000"/>
        </p:xfrm>
        <a:graphic>
          <a:graphicData uri="http://schemas.openxmlformats.org/drawingml/2006/table">
            <a:tbl>
              <a:tblPr firstRow="1" firstCol="1" bandRow="1">
                <a:tableStyleId>{5940675A-B579-460E-94D1-54222C63F5DA}</a:tableStyleId>
              </a:tblPr>
              <a:tblGrid>
                <a:gridCol w="4362450">
                  <a:extLst>
                    <a:ext uri="{9D8B030D-6E8A-4147-A177-3AD203B41FA5}">
                      <a16:colId xmlns:a16="http://schemas.microsoft.com/office/drawing/2014/main" val="3263053045"/>
                    </a:ext>
                  </a:extLst>
                </a:gridCol>
                <a:gridCol w="266700">
                  <a:extLst>
                    <a:ext uri="{9D8B030D-6E8A-4147-A177-3AD203B41FA5}">
                      <a16:colId xmlns:a16="http://schemas.microsoft.com/office/drawing/2014/main" val="3620625577"/>
                    </a:ext>
                  </a:extLst>
                </a:gridCol>
                <a:gridCol w="4562475">
                  <a:extLst>
                    <a:ext uri="{9D8B030D-6E8A-4147-A177-3AD203B41FA5}">
                      <a16:colId xmlns:a16="http://schemas.microsoft.com/office/drawing/2014/main" val="2625286899"/>
                    </a:ext>
                  </a:extLst>
                </a:gridCol>
              </a:tblGrid>
              <a:tr h="1036030">
                <a:tc>
                  <a:txBody>
                    <a:bodyPr/>
                    <a:lstStyle/>
                    <a:p>
                      <a:pPr marL="0" marR="0">
                        <a:lnSpc>
                          <a:spcPct val="107000"/>
                        </a:lnSpc>
                        <a:spcBef>
                          <a:spcPts val="0"/>
                        </a:spcBef>
                        <a:spcAft>
                          <a:spcPts val="0"/>
                        </a:spcAft>
                      </a:pPr>
                      <a:r>
                        <a:rPr lang="en-US" sz="2400">
                          <a:effectLst/>
                        </a:rPr>
                        <a:t>Feedback Prompts:</a:t>
                      </a:r>
                    </a:p>
                    <a:p>
                      <a:pPr marL="0" marR="0">
                        <a:lnSpc>
                          <a:spcPct val="107000"/>
                        </a:lnSpc>
                        <a:spcBef>
                          <a:spcPts val="0"/>
                        </a:spcBef>
                        <a:spcAft>
                          <a:spcPts val="0"/>
                        </a:spcAft>
                      </a:pPr>
                      <a:r>
                        <a:rPr lang="en-US" sz="2400">
                          <a:effectLst/>
                        </a:rPr>
                        <a:t>Positive</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rPr>
                        <a: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rPr>
                        <a:t>Feedback Prompts:</a:t>
                      </a:r>
                    </a:p>
                    <a:p>
                      <a:pPr marL="0" marR="0">
                        <a:lnSpc>
                          <a:spcPct val="107000"/>
                        </a:lnSpc>
                        <a:spcBef>
                          <a:spcPts val="0"/>
                        </a:spcBef>
                        <a:spcAft>
                          <a:spcPts val="0"/>
                        </a:spcAft>
                      </a:pPr>
                      <a:r>
                        <a:rPr lang="en-US" sz="2400">
                          <a:effectLst/>
                        </a:rPr>
                        <a:t>Needs Improvement</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83094363"/>
                  </a:ext>
                </a:extLst>
              </a:tr>
              <a:tr h="3154970">
                <a:tc>
                  <a:txBody>
                    <a:bodyPr/>
                    <a:lstStyle/>
                    <a:p>
                      <a:pPr marL="342900" marR="0" lvl="0" indent="-342900">
                        <a:lnSpc>
                          <a:spcPct val="107000"/>
                        </a:lnSpc>
                        <a:spcBef>
                          <a:spcPts val="0"/>
                        </a:spcBef>
                        <a:spcAft>
                          <a:spcPts val="0"/>
                        </a:spcAft>
                        <a:buFont typeface="Symbol" panose="05050102010706020507" pitchFamily="18" charset="2"/>
                        <a:buChar char=""/>
                      </a:pPr>
                      <a:r>
                        <a:rPr lang="en-US" sz="2400">
                          <a:effectLst/>
                        </a:rPr>
                        <a:t>The best part of your work is…because…</a:t>
                      </a:r>
                    </a:p>
                    <a:p>
                      <a:pPr marL="342900" marR="0" lvl="0" indent="-342900">
                        <a:lnSpc>
                          <a:spcPct val="107000"/>
                        </a:lnSpc>
                        <a:spcBef>
                          <a:spcPts val="0"/>
                        </a:spcBef>
                        <a:spcAft>
                          <a:spcPts val="0"/>
                        </a:spcAft>
                        <a:buFont typeface="Symbol" panose="05050102010706020507" pitchFamily="18" charset="2"/>
                        <a:buChar char=""/>
                      </a:pPr>
                      <a:r>
                        <a:rPr lang="en-US" sz="2400">
                          <a:effectLst/>
                        </a:rPr>
                        <a:t>You put a lot of thought/effort into…</a:t>
                      </a:r>
                    </a:p>
                    <a:p>
                      <a:pPr marL="342900" marR="0" lvl="0" indent="-342900">
                        <a:lnSpc>
                          <a:spcPct val="107000"/>
                        </a:lnSpc>
                        <a:spcBef>
                          <a:spcPts val="0"/>
                        </a:spcBef>
                        <a:spcAft>
                          <a:spcPts val="0"/>
                        </a:spcAft>
                        <a:buFont typeface="Symbol" panose="05050102010706020507" pitchFamily="18" charset="2"/>
                        <a:buChar char=""/>
                      </a:pPr>
                      <a:r>
                        <a:rPr lang="en-US" sz="2400">
                          <a:effectLst/>
                        </a:rPr>
                        <a:t>One thing you did well is…</a:t>
                      </a:r>
                    </a:p>
                    <a:p>
                      <a:pPr marL="342900" marR="0" lvl="0" indent="-342900">
                        <a:lnSpc>
                          <a:spcPct val="107000"/>
                        </a:lnSpc>
                        <a:spcBef>
                          <a:spcPts val="0"/>
                        </a:spcBef>
                        <a:spcAft>
                          <a:spcPts val="0"/>
                        </a:spcAft>
                        <a:buFont typeface="Symbol" panose="05050102010706020507" pitchFamily="18" charset="2"/>
                        <a:buChar char=""/>
                      </a:pPr>
                      <a:r>
                        <a:rPr lang="en-US" sz="2400">
                          <a:effectLst/>
                        </a:rPr>
                        <a:t>This is high-quality work because…</a:t>
                      </a:r>
                    </a:p>
                    <a:p>
                      <a:pPr marL="0" marR="0">
                        <a:lnSpc>
                          <a:spcPct val="107000"/>
                        </a:lnSpc>
                        <a:spcBef>
                          <a:spcPts val="0"/>
                        </a:spcBef>
                        <a:spcAft>
                          <a:spcPts val="0"/>
                        </a:spcAft>
                      </a:pPr>
                      <a:r>
                        <a:rPr lang="en-US" sz="2400">
                          <a:effectLst/>
                        </a:rPr>
                        <a: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2400">
                          <a:effectLst/>
                        </a:rPr>
                        <a: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342900" marR="0" lvl="0" indent="-342900">
                        <a:lnSpc>
                          <a:spcPct val="107000"/>
                        </a:lnSpc>
                        <a:spcBef>
                          <a:spcPts val="0"/>
                        </a:spcBef>
                        <a:spcAft>
                          <a:spcPts val="0"/>
                        </a:spcAft>
                        <a:buFont typeface="Symbol" panose="05050102010706020507" pitchFamily="18" charset="2"/>
                        <a:buChar char=""/>
                      </a:pPr>
                      <a:r>
                        <a:rPr lang="en-US" sz="2400" dirty="0">
                          <a:effectLst/>
                        </a:rPr>
                        <a:t>One thing that is not clear is…</a:t>
                      </a:r>
                    </a:p>
                    <a:p>
                      <a:pPr marL="342900" marR="0" lvl="0" indent="-342900">
                        <a:lnSpc>
                          <a:spcPct val="107000"/>
                        </a:lnSpc>
                        <a:spcBef>
                          <a:spcPts val="0"/>
                        </a:spcBef>
                        <a:spcAft>
                          <a:spcPts val="0"/>
                        </a:spcAft>
                        <a:buFont typeface="Symbol" panose="05050102010706020507" pitchFamily="18" charset="2"/>
                        <a:buChar char=""/>
                      </a:pPr>
                      <a:r>
                        <a:rPr lang="en-US" sz="2400" dirty="0">
                          <a:effectLst/>
                        </a:rPr>
                        <a:t>One suggestion would be to…</a:t>
                      </a:r>
                    </a:p>
                    <a:p>
                      <a:pPr marL="342900" marR="0" lvl="0" indent="-342900">
                        <a:lnSpc>
                          <a:spcPct val="107000"/>
                        </a:lnSpc>
                        <a:spcBef>
                          <a:spcPts val="0"/>
                        </a:spcBef>
                        <a:spcAft>
                          <a:spcPts val="0"/>
                        </a:spcAft>
                        <a:buFont typeface="Symbol" panose="05050102010706020507" pitchFamily="18" charset="2"/>
                        <a:buChar char=""/>
                      </a:pPr>
                      <a:r>
                        <a:rPr lang="en-US" sz="2400" dirty="0">
                          <a:effectLst/>
                        </a:rPr>
                        <a:t>Remember to…</a:t>
                      </a:r>
                    </a:p>
                    <a:p>
                      <a:pPr marL="342900" marR="0" lvl="0" indent="-342900">
                        <a:lnSpc>
                          <a:spcPct val="107000"/>
                        </a:lnSpc>
                        <a:spcBef>
                          <a:spcPts val="0"/>
                        </a:spcBef>
                        <a:spcAft>
                          <a:spcPts val="0"/>
                        </a:spcAft>
                        <a:buFont typeface="Symbol" panose="05050102010706020507" pitchFamily="18" charset="2"/>
                        <a:buChar char=""/>
                      </a:pPr>
                      <a:r>
                        <a:rPr lang="en-US" sz="2400" dirty="0">
                          <a:effectLst/>
                        </a:rPr>
                        <a:t>I wonder if…</a:t>
                      </a:r>
                    </a:p>
                    <a:p>
                      <a:pPr marL="342900" marR="0" lvl="0" indent="-342900">
                        <a:lnSpc>
                          <a:spcPct val="107000"/>
                        </a:lnSpc>
                        <a:spcBef>
                          <a:spcPts val="0"/>
                        </a:spcBef>
                        <a:spcAft>
                          <a:spcPts val="0"/>
                        </a:spcAft>
                        <a:buFont typeface="Symbol" panose="05050102010706020507" pitchFamily="18" charset="2"/>
                        <a:buChar char=""/>
                      </a:pPr>
                      <a:r>
                        <a:rPr lang="en-US" sz="2400" dirty="0">
                          <a:effectLst/>
                        </a:rPr>
                        <a:t>Can you show or tell more about how…</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43858592"/>
                  </a:ext>
                </a:extLst>
              </a:tr>
            </a:tbl>
          </a:graphicData>
        </a:graphic>
      </p:graphicFrame>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17009930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a:xfrm>
            <a:off x="838200" y="136525"/>
            <a:ext cx="10515600" cy="800945"/>
          </a:xfrm>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a:xfrm>
            <a:off x="838200" y="1276350"/>
            <a:ext cx="10657667" cy="5445124"/>
          </a:xfrm>
        </p:spPr>
        <p:txBody>
          <a:bodyPr vert="horz" lIns="91440" tIns="45720" rIns="91440" bIns="45720" rtlCol="0" anchor="t">
            <a:normAutofit/>
          </a:bodyPr>
          <a:lstStyle/>
          <a:p>
            <a:pPr marL="514350" indent="-514350">
              <a:spcAft>
                <a:spcPts val="1200"/>
              </a:spcAft>
              <a:buFont typeface="+mj-lt"/>
              <a:buAutoNum type="arabicPeriod"/>
            </a:pPr>
            <a:r>
              <a:rPr lang="en-US" dirty="0">
                <a:solidFill>
                  <a:srgbClr val="000000"/>
                </a:solidFill>
                <a:effectLst/>
                <a:ea typeface="Calibri" panose="020F0502020204030204" pitchFamily="34" charset="0"/>
                <a:cs typeface="Times New Roman" panose="02020603050405020304" pitchFamily="18" charset="0"/>
              </a:rPr>
              <a:t>During class today you practiced providing informal, verbal feedback to your classmates.  Reflect on your practice and identify the areas of strength that you exhibited and areas for you to improve upon for each characteristic of effective feedback.</a:t>
            </a:r>
          </a:p>
          <a:p>
            <a:pPr marL="514350" marR="0" lvl="0" indent="-514350">
              <a:lnSpc>
                <a:spcPct val="107000"/>
              </a:lnSpc>
              <a:spcBef>
                <a:spcPts val="0"/>
              </a:spcBef>
              <a:spcAft>
                <a:spcPts val="1200"/>
              </a:spcAft>
              <a:buFont typeface="+mj-lt"/>
              <a:buAutoNum type="arabicPeriod"/>
            </a:pPr>
            <a:r>
              <a:rPr lang="en-US" dirty="0">
                <a:solidFill>
                  <a:srgbClr val="000000"/>
                </a:solidFill>
                <a:effectLst/>
                <a:ea typeface="Calibri" panose="020F0502020204030204" pitchFamily="34" charset="0"/>
                <a:cs typeface="Times New Roman" panose="02020603050405020304" pitchFamily="18" charset="0"/>
              </a:rPr>
              <a:t>What was the hardest part of providing informal verbal feedback? Why?</a:t>
            </a:r>
            <a:endParaRPr lang="en-US" dirty="0">
              <a:effectLst/>
              <a:ea typeface="Calibri" panose="020F0502020204030204" pitchFamily="34" charset="0"/>
              <a:cs typeface="Times New Roman" panose="02020603050405020304" pitchFamily="18" charset="0"/>
            </a:endParaRPr>
          </a:p>
          <a:p>
            <a:pPr marL="514350" marR="0" lvl="0" indent="-514350">
              <a:lnSpc>
                <a:spcPct val="107000"/>
              </a:lnSpc>
              <a:spcBef>
                <a:spcPts val="0"/>
              </a:spcBef>
              <a:spcAft>
                <a:spcPts val="1200"/>
              </a:spcAft>
              <a:buFont typeface="+mj-lt"/>
              <a:buAutoNum type="arabicPeriod"/>
            </a:pPr>
            <a:r>
              <a:rPr lang="en-US" dirty="0">
                <a:solidFill>
                  <a:srgbClr val="000000"/>
                </a:solidFill>
                <a:effectLst/>
                <a:ea typeface="Calibri" panose="020F0502020204030204" pitchFamily="34" charset="0"/>
                <a:cs typeface="Times New Roman" panose="02020603050405020304" pitchFamily="18" charset="0"/>
              </a:rPr>
              <a:t>What did you learn by observing your group members that you can use to improve your own practice in providing informal, verbal feedback?</a:t>
            </a:r>
            <a:endParaRPr lang="en-US" dirty="0">
              <a:effectLst/>
              <a:ea typeface="Calibri" panose="020F0502020204030204" pitchFamily="34" charset="0"/>
              <a:cs typeface="Times New Roman" panose="02020603050405020304" pitchFamily="18" charset="0"/>
            </a:endParaRPr>
          </a:p>
          <a:p>
            <a:pPr marL="514350" indent="-514350">
              <a:buAutoNum type="arabicPeriod"/>
            </a:pPr>
            <a:endParaRPr lang="en-US" dirty="0">
              <a:effectLst/>
              <a:ea typeface="Calibri" panose="020F0502020204030204" pitchFamily="34" charset="0"/>
              <a:cs typeface="Times New Roman" panose="02020603050405020304" pitchFamily="18" charset="0"/>
            </a:endParaRPr>
          </a:p>
          <a:p>
            <a:pPr marL="0" indent="0">
              <a:buNone/>
            </a:pPr>
            <a:endParaRPr lang="en-US" dirty="0">
              <a:cs typeface="Calibri" panose="020F0502020204030204"/>
            </a:endParaRPr>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dirty="0" smtClean="0"/>
              <a:pPr/>
              <a:t>5</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146</TotalTime>
  <Words>359</Words>
  <Application>Microsoft Office PowerPoint</Application>
  <PresentationFormat>Widescreen</PresentationFormat>
  <Paragraphs>37</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Calibri</vt:lpstr>
      <vt:lpstr>Calibri Light</vt:lpstr>
      <vt:lpstr>Symbol</vt:lpstr>
      <vt:lpstr>Office Theme</vt:lpstr>
      <vt:lpstr>Instructional Practices| Unit 9: Feedback| Lesson 9.02</vt:lpstr>
      <vt:lpstr>TEKS Standards &amp; Objectives</vt:lpstr>
      <vt:lpstr>Bellringer</vt:lpstr>
      <vt:lpstr>Feedback Prompts</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9.02: Practice with Informal Feedback</dc:title>
  <dc:subject>Lesson 9.02: Practice with Informal Feedback</dc:subject>
  <dc:creator>Texas Education Agency</dc:creator>
  <cp:lastModifiedBy>London White</cp:lastModifiedBy>
  <cp:revision>85</cp:revision>
  <dcterms:created xsi:type="dcterms:W3CDTF">2022-05-09T19:40:20Z</dcterms:created>
  <dcterms:modified xsi:type="dcterms:W3CDTF">2023-08-31T03:28:43Z</dcterms:modified>
</cp:coreProperties>
</file>
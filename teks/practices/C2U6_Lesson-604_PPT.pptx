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00ABC9-E9F5-430F-B087-F09C6DF407C1}">
          <p14:sldIdLst>
            <p14:sldId id="256"/>
            <p14:sldId id="259"/>
            <p14:sldId id="258"/>
            <p14:sldId id="261"/>
            <p14:sldId id="264"/>
            <p14:sldId id="265"/>
            <p14:sldId id="26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8A5FE-F389-4B3D-B9E0-43F597D00737}" v="3" dt="2022-08-12T20:50:44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9/17/2022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9/17/2022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Standard &amp; Objective Alignment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define and describe standards and objectives</a:t>
            </a:r>
          </a:p>
          <a:p>
            <a:r>
              <a:rPr lang="en-US" dirty="0"/>
              <a:t>explain the key differences between standards and objectives</a:t>
            </a:r>
          </a:p>
          <a:p>
            <a:r>
              <a:rPr lang="en-US" dirty="0"/>
              <a:t>identify and evaluate objective to determine alignment with the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this 3</a:t>
            </a:r>
            <a:r>
              <a:rPr lang="en-US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grade standard: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understands the purposes of earning, spending, saving, and donating money. The student is expected to: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 Identify ways of earning, spending, saving, and donating 	money.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with a partner to underline the verbs in the student expectation and brainstorm ways in which students would show their learning of this concept.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Standards: The learning goals or expectations for what students should know and be able to do at each grade level.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Objectives: Brief statements that describe what students will be expected to learn by the end of the unit or lesson.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Standards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F44648-26D9-434F-B029-39ECFF579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t="38562" r="52223" b="45123"/>
          <a:stretch/>
        </p:blipFill>
        <p:spPr bwMode="auto">
          <a:xfrm>
            <a:off x="1417410" y="2548321"/>
            <a:ext cx="9648697" cy="22102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Standards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EB9474-F9FF-4416-99B4-7C5BF6FB0F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486" b="44516"/>
          <a:stretch/>
        </p:blipFill>
        <p:spPr bwMode="auto">
          <a:xfrm>
            <a:off x="838200" y="2820807"/>
            <a:ext cx="10515600" cy="18071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1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Practice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8E3BA9-A233-4E28-B483-6EC32B20C8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tretch/>
        </p:blipFill>
        <p:spPr bwMode="auto">
          <a:xfrm>
            <a:off x="558282" y="2282874"/>
            <a:ext cx="5181600" cy="34368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A2444B-E96F-414A-B149-25CFDAA9A4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61313404"/>
              </p:ext>
            </p:extLst>
          </p:nvPr>
        </p:nvGraphicFramePr>
        <p:xfrm>
          <a:off x="6019800" y="2402237"/>
          <a:ext cx="5479942" cy="32919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29097">
                  <a:extLst>
                    <a:ext uri="{9D8B030D-6E8A-4147-A177-3AD203B41FA5}">
                      <a16:colId xmlns:a16="http://schemas.microsoft.com/office/drawing/2014/main" val="3882437898"/>
                    </a:ext>
                  </a:extLst>
                </a:gridCol>
                <a:gridCol w="896309">
                  <a:extLst>
                    <a:ext uri="{9D8B030D-6E8A-4147-A177-3AD203B41FA5}">
                      <a16:colId xmlns:a16="http://schemas.microsoft.com/office/drawing/2014/main" val="2532027829"/>
                    </a:ext>
                  </a:extLst>
                </a:gridCol>
                <a:gridCol w="1344466">
                  <a:extLst>
                    <a:ext uri="{9D8B030D-6E8A-4147-A177-3AD203B41FA5}">
                      <a16:colId xmlns:a16="http://schemas.microsoft.com/office/drawing/2014/main" val="3499052264"/>
                    </a:ext>
                  </a:extLst>
                </a:gridCol>
                <a:gridCol w="2210070">
                  <a:extLst>
                    <a:ext uri="{9D8B030D-6E8A-4147-A177-3AD203B41FA5}">
                      <a16:colId xmlns:a16="http://schemas.microsoft.com/office/drawing/2014/main" val="554197171"/>
                    </a:ext>
                  </a:extLst>
                </a:gridCol>
              </a:tblGrid>
              <a:tr h="985983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Standard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</a:rPr>
                        <a:t>Do (Verbs)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</a:rPr>
                        <a:t>Content (Nouns)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effectLst/>
                        </a:rPr>
                        <a:t>Objective that Aligns to the Standard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3463240"/>
                  </a:ext>
                </a:extLst>
              </a:tr>
              <a:tr h="2305922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1.9A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Sort, classify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living and nonliving things based on basic needs and production of offspring.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Observe photographs to determine that living things have needs and produce offspring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54304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student moves to a new school in the same state mid-year. Explain why the use of consistent state standards is beneficial in this situation.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Read the standard below and circle the objectives that most closely align to the standard. </a:t>
            </a:r>
          </a:p>
          <a:p>
            <a:pPr marL="0" indent="0">
              <a:buNone/>
            </a:pPr>
            <a:r>
              <a:rPr lang="en-US" sz="2400" b="1" dirty="0"/>
              <a:t>	TEKS 1.3B: </a:t>
            </a:r>
            <a:r>
              <a:rPr lang="en-US" sz="2400" dirty="0"/>
              <a:t>Use objects and pictorial models to solve word problems 	involving joining, separating, and comparing sets within 20 and unknowns 	as any one of the terms in a problem such as 2+4=[ ]; 3 + [ ] = 7; and 5= [ ] -3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26</TotalTime>
  <Words>331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Instructional Practices| Unit 6: Instructional Alignment| Lesson 6.04</vt:lpstr>
      <vt:lpstr>TEKS Standards &amp; Objectives</vt:lpstr>
      <vt:lpstr>Bellringer</vt:lpstr>
      <vt:lpstr>Vocabulary</vt:lpstr>
      <vt:lpstr>Standards Example</vt:lpstr>
      <vt:lpstr>Standards Example</vt:lpstr>
      <vt:lpstr>Practice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Instructional Practices| Unit 6: Instructional Alignment| Lesson 6.04</dc:title>
  <dc:subject>Lesson X.XX: Title Goes Here</dc:subject>
  <dc:creator>White (she/her), Whitney</dc:creator>
  <cp:lastModifiedBy>White (she/her), Whitney</cp:lastModifiedBy>
  <cp:revision>1</cp:revision>
  <dcterms:created xsi:type="dcterms:W3CDTF">2022-09-17T16:30:16Z</dcterms:created>
  <dcterms:modified xsi:type="dcterms:W3CDTF">2022-09-17T16:56:28Z</dcterms:modified>
</cp:coreProperties>
</file>
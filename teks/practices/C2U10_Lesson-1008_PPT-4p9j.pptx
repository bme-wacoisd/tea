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58" r:id="rId4"/>
    <p:sldId id="264" r:id="rId5"/>
    <p:sldId id="272" r:id="rId6"/>
    <p:sldId id="273" r:id="rId7"/>
    <p:sldId id="274" r:id="rId8"/>
    <p:sldId id="275" r:id="rId9"/>
    <p:sldId id="276" r:id="rId10"/>
    <p:sldId id="277"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14" autoAdjust="0"/>
  </p:normalViewPr>
  <p:slideViewPr>
    <p:cSldViewPr snapToGrid="0">
      <p:cViewPr varScale="1">
        <p:scale>
          <a:sx n="108" d="100"/>
          <a:sy n="108" d="100"/>
        </p:scale>
        <p:origin x="4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DBDAF6-F088-43CC-B3C9-99724EDB76BA}" type="doc">
      <dgm:prSet loTypeId="urn:microsoft.com/office/officeart/2005/8/layout/cycle4" loCatId="cycle" qsTypeId="urn:microsoft.com/office/officeart/2005/8/quickstyle/simple1" qsCatId="simple" csTypeId="urn:microsoft.com/office/officeart/2005/8/colors/accent0_1" csCatId="mainScheme" phldr="1"/>
      <dgm:spPr/>
      <dgm:t>
        <a:bodyPr/>
        <a:lstStyle/>
        <a:p>
          <a:endParaRPr lang="en-US"/>
        </a:p>
      </dgm:t>
    </dgm:pt>
    <dgm:pt modelId="{8AC3A73F-A47D-45B7-BD39-C61C26BEE02C}">
      <dgm:prSet phldrT="[Text]"/>
      <dgm:spPr/>
      <dgm:t>
        <a:bodyPr/>
        <a:lstStyle/>
        <a:p>
          <a:r>
            <a:rPr lang="en-US"/>
            <a:t>Plan</a:t>
          </a:r>
        </a:p>
      </dgm:t>
    </dgm:pt>
    <dgm:pt modelId="{103BDE1E-3187-48E8-9807-CF3DDAAE0F43}" type="parTrans" cxnId="{5CAB5D80-3940-4363-AE70-DC1FCF1ECEBC}">
      <dgm:prSet/>
      <dgm:spPr/>
      <dgm:t>
        <a:bodyPr/>
        <a:lstStyle/>
        <a:p>
          <a:endParaRPr lang="en-US"/>
        </a:p>
      </dgm:t>
    </dgm:pt>
    <dgm:pt modelId="{0BD610E3-9B46-4636-9F37-FED251B1B8F4}" type="sibTrans" cxnId="{5CAB5D80-3940-4363-AE70-DC1FCF1ECEBC}">
      <dgm:prSet/>
      <dgm:spPr/>
      <dgm:t>
        <a:bodyPr/>
        <a:lstStyle/>
        <a:p>
          <a:endParaRPr lang="en-US"/>
        </a:p>
      </dgm:t>
    </dgm:pt>
    <dgm:pt modelId="{5F2A03A8-9E8A-43A7-9DBE-024A50154CD8}">
      <dgm:prSet phldrT="[Text]"/>
      <dgm:spPr/>
      <dgm:t>
        <a:bodyPr/>
        <a:lstStyle/>
        <a:p>
          <a:r>
            <a:rPr lang="en-US"/>
            <a:t>Do</a:t>
          </a:r>
        </a:p>
      </dgm:t>
    </dgm:pt>
    <dgm:pt modelId="{1D55854C-EF7E-4BE4-A9C9-67B8EC436E0F}" type="parTrans" cxnId="{448569EC-592C-47C8-BB20-E58DD03B0BA8}">
      <dgm:prSet/>
      <dgm:spPr/>
      <dgm:t>
        <a:bodyPr/>
        <a:lstStyle/>
        <a:p>
          <a:endParaRPr lang="en-US"/>
        </a:p>
      </dgm:t>
    </dgm:pt>
    <dgm:pt modelId="{226BFE26-8B80-4A0C-8517-D0B1ECA291EB}" type="sibTrans" cxnId="{448569EC-592C-47C8-BB20-E58DD03B0BA8}">
      <dgm:prSet/>
      <dgm:spPr/>
      <dgm:t>
        <a:bodyPr/>
        <a:lstStyle/>
        <a:p>
          <a:endParaRPr lang="en-US"/>
        </a:p>
      </dgm:t>
    </dgm:pt>
    <dgm:pt modelId="{7BCF7B95-B6AA-4C0B-8496-FB4CAAA47446}">
      <dgm:prSet phldrT="[Text]"/>
      <dgm:spPr/>
      <dgm:t>
        <a:bodyPr/>
        <a:lstStyle/>
        <a:p>
          <a:r>
            <a:rPr lang="en-US"/>
            <a:t>Study</a:t>
          </a:r>
        </a:p>
      </dgm:t>
    </dgm:pt>
    <dgm:pt modelId="{363C61D2-B9F0-49F2-A5B7-97D928C99143}" type="parTrans" cxnId="{7E971C53-A4D8-44CE-AF00-D17DE76403A8}">
      <dgm:prSet/>
      <dgm:spPr/>
      <dgm:t>
        <a:bodyPr/>
        <a:lstStyle/>
        <a:p>
          <a:endParaRPr lang="en-US"/>
        </a:p>
      </dgm:t>
    </dgm:pt>
    <dgm:pt modelId="{26A97A26-B2EF-4A68-BD13-718D05FCAF62}" type="sibTrans" cxnId="{7E971C53-A4D8-44CE-AF00-D17DE76403A8}">
      <dgm:prSet/>
      <dgm:spPr/>
      <dgm:t>
        <a:bodyPr/>
        <a:lstStyle/>
        <a:p>
          <a:endParaRPr lang="en-US"/>
        </a:p>
      </dgm:t>
    </dgm:pt>
    <dgm:pt modelId="{3CB3866F-CAA9-492C-85CC-F9572FD881C0}">
      <dgm:prSet phldrT="[Text]"/>
      <dgm:spPr/>
      <dgm:t>
        <a:bodyPr/>
        <a:lstStyle/>
        <a:p>
          <a:r>
            <a:rPr lang="en-US"/>
            <a:t>Act</a:t>
          </a:r>
        </a:p>
      </dgm:t>
    </dgm:pt>
    <dgm:pt modelId="{6265D8D7-1D4F-4F8F-BD22-EBF7F718869C}" type="parTrans" cxnId="{D95296F3-723F-4995-9488-AE27FAB86BD4}">
      <dgm:prSet/>
      <dgm:spPr/>
      <dgm:t>
        <a:bodyPr/>
        <a:lstStyle/>
        <a:p>
          <a:endParaRPr lang="en-US"/>
        </a:p>
      </dgm:t>
    </dgm:pt>
    <dgm:pt modelId="{06728DB4-9ADB-4786-9700-09F1C46AE77C}" type="sibTrans" cxnId="{D95296F3-723F-4995-9488-AE27FAB86BD4}">
      <dgm:prSet/>
      <dgm:spPr/>
      <dgm:t>
        <a:bodyPr/>
        <a:lstStyle/>
        <a:p>
          <a:endParaRPr lang="en-US"/>
        </a:p>
      </dgm:t>
    </dgm:pt>
    <dgm:pt modelId="{DDBB1758-3A80-489E-9252-ED6C37561624}" type="pres">
      <dgm:prSet presAssocID="{46DBDAF6-F088-43CC-B3C9-99724EDB76BA}" presName="cycleMatrixDiagram" presStyleCnt="0">
        <dgm:presLayoutVars>
          <dgm:chMax val="1"/>
          <dgm:dir/>
          <dgm:animLvl val="lvl"/>
          <dgm:resizeHandles val="exact"/>
        </dgm:presLayoutVars>
      </dgm:prSet>
      <dgm:spPr/>
    </dgm:pt>
    <dgm:pt modelId="{D6270166-562B-4122-9D34-C70CF1B433D6}" type="pres">
      <dgm:prSet presAssocID="{46DBDAF6-F088-43CC-B3C9-99724EDB76BA}" presName="children" presStyleCnt="0"/>
      <dgm:spPr/>
    </dgm:pt>
    <dgm:pt modelId="{5C6FD3D2-5A75-465F-8CDC-3BC25BAD3082}" type="pres">
      <dgm:prSet presAssocID="{46DBDAF6-F088-43CC-B3C9-99724EDB76BA}" presName="childPlaceholder" presStyleCnt="0"/>
      <dgm:spPr/>
    </dgm:pt>
    <dgm:pt modelId="{3CFBCA08-E1B8-4084-8C47-19803E631A57}" type="pres">
      <dgm:prSet presAssocID="{46DBDAF6-F088-43CC-B3C9-99724EDB76BA}" presName="circle" presStyleCnt="0"/>
      <dgm:spPr/>
    </dgm:pt>
    <dgm:pt modelId="{0AF6F5FF-ECB1-48F6-8FC7-0132FB89AC42}" type="pres">
      <dgm:prSet presAssocID="{46DBDAF6-F088-43CC-B3C9-99724EDB76BA}" presName="quadrant1" presStyleLbl="node1" presStyleIdx="0" presStyleCnt="4">
        <dgm:presLayoutVars>
          <dgm:chMax val="1"/>
          <dgm:bulletEnabled val="1"/>
        </dgm:presLayoutVars>
      </dgm:prSet>
      <dgm:spPr/>
    </dgm:pt>
    <dgm:pt modelId="{2B4A4EE5-1749-4DCF-AB8D-75B72083D905}" type="pres">
      <dgm:prSet presAssocID="{46DBDAF6-F088-43CC-B3C9-99724EDB76BA}" presName="quadrant2" presStyleLbl="node1" presStyleIdx="1" presStyleCnt="4">
        <dgm:presLayoutVars>
          <dgm:chMax val="1"/>
          <dgm:bulletEnabled val="1"/>
        </dgm:presLayoutVars>
      </dgm:prSet>
      <dgm:spPr/>
    </dgm:pt>
    <dgm:pt modelId="{DF05DAA0-99CF-4046-A0AB-4A88D657D528}" type="pres">
      <dgm:prSet presAssocID="{46DBDAF6-F088-43CC-B3C9-99724EDB76BA}" presName="quadrant3" presStyleLbl="node1" presStyleIdx="2" presStyleCnt="4">
        <dgm:presLayoutVars>
          <dgm:chMax val="1"/>
          <dgm:bulletEnabled val="1"/>
        </dgm:presLayoutVars>
      </dgm:prSet>
      <dgm:spPr/>
    </dgm:pt>
    <dgm:pt modelId="{1AEC9897-7673-4341-BB97-7512606AC017}" type="pres">
      <dgm:prSet presAssocID="{46DBDAF6-F088-43CC-B3C9-99724EDB76BA}" presName="quadrant4" presStyleLbl="node1" presStyleIdx="3" presStyleCnt="4">
        <dgm:presLayoutVars>
          <dgm:chMax val="1"/>
          <dgm:bulletEnabled val="1"/>
        </dgm:presLayoutVars>
      </dgm:prSet>
      <dgm:spPr/>
    </dgm:pt>
    <dgm:pt modelId="{BB7F92B6-750C-4ED7-8402-5DF8DE0FFE12}" type="pres">
      <dgm:prSet presAssocID="{46DBDAF6-F088-43CC-B3C9-99724EDB76BA}" presName="quadrantPlaceholder" presStyleCnt="0"/>
      <dgm:spPr/>
    </dgm:pt>
    <dgm:pt modelId="{3DB97ACC-2C3A-44D7-8110-A52F2CF813A3}" type="pres">
      <dgm:prSet presAssocID="{46DBDAF6-F088-43CC-B3C9-99724EDB76BA}" presName="center1" presStyleLbl="fgShp" presStyleIdx="0" presStyleCnt="2"/>
      <dgm:spPr/>
    </dgm:pt>
    <dgm:pt modelId="{BBE6D9AC-FB57-443A-872E-659F43A93E39}" type="pres">
      <dgm:prSet presAssocID="{46DBDAF6-F088-43CC-B3C9-99724EDB76BA}" presName="center2" presStyleLbl="fgShp" presStyleIdx="1" presStyleCnt="2"/>
      <dgm:spPr/>
    </dgm:pt>
  </dgm:ptLst>
  <dgm:cxnLst>
    <dgm:cxn modelId="{21E1735B-FA9A-4D7F-B3CF-D7FEB104F020}" type="presOf" srcId="{3CB3866F-CAA9-492C-85CC-F9572FD881C0}" destId="{1AEC9897-7673-4341-BB97-7512606AC017}" srcOrd="0" destOrd="0" presId="urn:microsoft.com/office/officeart/2005/8/layout/cycle4"/>
    <dgm:cxn modelId="{7E971C53-A4D8-44CE-AF00-D17DE76403A8}" srcId="{46DBDAF6-F088-43CC-B3C9-99724EDB76BA}" destId="{7BCF7B95-B6AA-4C0B-8496-FB4CAAA47446}" srcOrd="2" destOrd="0" parTransId="{363C61D2-B9F0-49F2-A5B7-97D928C99143}" sibTransId="{26A97A26-B2EF-4A68-BD13-718D05FCAF62}"/>
    <dgm:cxn modelId="{35364275-F6AC-477B-909D-B5B25D8D16DE}" type="presOf" srcId="{46DBDAF6-F088-43CC-B3C9-99724EDB76BA}" destId="{DDBB1758-3A80-489E-9252-ED6C37561624}" srcOrd="0" destOrd="0" presId="urn:microsoft.com/office/officeart/2005/8/layout/cycle4"/>
    <dgm:cxn modelId="{06D22C76-2832-4E39-B4F2-B959A179FE75}" type="presOf" srcId="{7BCF7B95-B6AA-4C0B-8496-FB4CAAA47446}" destId="{DF05DAA0-99CF-4046-A0AB-4A88D657D528}" srcOrd="0" destOrd="0" presId="urn:microsoft.com/office/officeart/2005/8/layout/cycle4"/>
    <dgm:cxn modelId="{5CAB5D80-3940-4363-AE70-DC1FCF1ECEBC}" srcId="{46DBDAF6-F088-43CC-B3C9-99724EDB76BA}" destId="{8AC3A73F-A47D-45B7-BD39-C61C26BEE02C}" srcOrd="0" destOrd="0" parTransId="{103BDE1E-3187-48E8-9807-CF3DDAAE0F43}" sibTransId="{0BD610E3-9B46-4636-9F37-FED251B1B8F4}"/>
    <dgm:cxn modelId="{94ADFC89-9CB9-43B0-A7DE-B9BF35C076EC}" type="presOf" srcId="{8AC3A73F-A47D-45B7-BD39-C61C26BEE02C}" destId="{0AF6F5FF-ECB1-48F6-8FC7-0132FB89AC42}" srcOrd="0" destOrd="0" presId="urn:microsoft.com/office/officeart/2005/8/layout/cycle4"/>
    <dgm:cxn modelId="{D08BDDA4-4278-42E8-9303-7E5FCC716253}" type="presOf" srcId="{5F2A03A8-9E8A-43A7-9DBE-024A50154CD8}" destId="{2B4A4EE5-1749-4DCF-AB8D-75B72083D905}" srcOrd="0" destOrd="0" presId="urn:microsoft.com/office/officeart/2005/8/layout/cycle4"/>
    <dgm:cxn modelId="{448569EC-592C-47C8-BB20-E58DD03B0BA8}" srcId="{46DBDAF6-F088-43CC-B3C9-99724EDB76BA}" destId="{5F2A03A8-9E8A-43A7-9DBE-024A50154CD8}" srcOrd="1" destOrd="0" parTransId="{1D55854C-EF7E-4BE4-A9C9-67B8EC436E0F}" sibTransId="{226BFE26-8B80-4A0C-8517-D0B1ECA291EB}"/>
    <dgm:cxn modelId="{D95296F3-723F-4995-9488-AE27FAB86BD4}" srcId="{46DBDAF6-F088-43CC-B3C9-99724EDB76BA}" destId="{3CB3866F-CAA9-492C-85CC-F9572FD881C0}" srcOrd="3" destOrd="0" parTransId="{6265D8D7-1D4F-4F8F-BD22-EBF7F718869C}" sibTransId="{06728DB4-9ADB-4786-9700-09F1C46AE77C}"/>
    <dgm:cxn modelId="{EA6EE08D-E018-4EC4-B457-B9DF369352BB}" type="presParOf" srcId="{DDBB1758-3A80-489E-9252-ED6C37561624}" destId="{D6270166-562B-4122-9D34-C70CF1B433D6}" srcOrd="0" destOrd="0" presId="urn:microsoft.com/office/officeart/2005/8/layout/cycle4"/>
    <dgm:cxn modelId="{6C4F7424-7135-4E31-84C6-1D9BDE367ACC}" type="presParOf" srcId="{D6270166-562B-4122-9D34-C70CF1B433D6}" destId="{5C6FD3D2-5A75-465F-8CDC-3BC25BAD3082}" srcOrd="0" destOrd="0" presId="urn:microsoft.com/office/officeart/2005/8/layout/cycle4"/>
    <dgm:cxn modelId="{2D742CDA-2BF0-4E02-A00D-A6C8BDD10FF9}" type="presParOf" srcId="{DDBB1758-3A80-489E-9252-ED6C37561624}" destId="{3CFBCA08-E1B8-4084-8C47-19803E631A57}" srcOrd="1" destOrd="0" presId="urn:microsoft.com/office/officeart/2005/8/layout/cycle4"/>
    <dgm:cxn modelId="{5F311201-1CCE-4172-A9EE-84BFB99EA3F0}" type="presParOf" srcId="{3CFBCA08-E1B8-4084-8C47-19803E631A57}" destId="{0AF6F5FF-ECB1-48F6-8FC7-0132FB89AC42}" srcOrd="0" destOrd="0" presId="urn:microsoft.com/office/officeart/2005/8/layout/cycle4"/>
    <dgm:cxn modelId="{F0B5D74A-EC95-45D8-81B5-28CB73346C85}" type="presParOf" srcId="{3CFBCA08-E1B8-4084-8C47-19803E631A57}" destId="{2B4A4EE5-1749-4DCF-AB8D-75B72083D905}" srcOrd="1" destOrd="0" presId="urn:microsoft.com/office/officeart/2005/8/layout/cycle4"/>
    <dgm:cxn modelId="{DC08521D-579D-4C9C-9B9B-A7C9EC5FDA8E}" type="presParOf" srcId="{3CFBCA08-E1B8-4084-8C47-19803E631A57}" destId="{DF05DAA0-99CF-4046-A0AB-4A88D657D528}" srcOrd="2" destOrd="0" presId="urn:microsoft.com/office/officeart/2005/8/layout/cycle4"/>
    <dgm:cxn modelId="{AF7A89FA-D403-4905-979E-1DB8B54A2FE3}" type="presParOf" srcId="{3CFBCA08-E1B8-4084-8C47-19803E631A57}" destId="{1AEC9897-7673-4341-BB97-7512606AC017}" srcOrd="3" destOrd="0" presId="urn:microsoft.com/office/officeart/2005/8/layout/cycle4"/>
    <dgm:cxn modelId="{CA0836B8-2E7E-4896-856A-DD2A5E4462FF}" type="presParOf" srcId="{3CFBCA08-E1B8-4084-8C47-19803E631A57}" destId="{BB7F92B6-750C-4ED7-8402-5DF8DE0FFE12}" srcOrd="4" destOrd="0" presId="urn:microsoft.com/office/officeart/2005/8/layout/cycle4"/>
    <dgm:cxn modelId="{D5BA0E4D-DB15-4B28-8EBF-310EB380FD78}" type="presParOf" srcId="{DDBB1758-3A80-489E-9252-ED6C37561624}" destId="{3DB97ACC-2C3A-44D7-8110-A52F2CF813A3}" srcOrd="2" destOrd="0" presId="urn:microsoft.com/office/officeart/2005/8/layout/cycle4"/>
    <dgm:cxn modelId="{B1B0C09A-DC61-42CD-8420-3DA3979E9E5A}" type="presParOf" srcId="{DDBB1758-3A80-489E-9252-ED6C37561624}" destId="{BBE6D9AC-FB57-443A-872E-659F43A93E39}"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F6F5FF-ECB1-48F6-8FC7-0132FB89AC42}">
      <dsp:nvSpPr>
        <dsp:cNvPr id="0" name=""/>
        <dsp:cNvSpPr/>
      </dsp:nvSpPr>
      <dsp:spPr>
        <a:xfrm>
          <a:off x="825070" y="409939"/>
          <a:ext cx="1725871" cy="1725871"/>
        </a:xfrm>
        <a:prstGeom prst="pieWedg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Plan</a:t>
          </a:r>
        </a:p>
      </dsp:txBody>
      <dsp:txXfrm>
        <a:off x="1330566" y="915435"/>
        <a:ext cx="1220375" cy="1220375"/>
      </dsp:txXfrm>
    </dsp:sp>
    <dsp:sp modelId="{2B4A4EE5-1749-4DCF-AB8D-75B72083D905}">
      <dsp:nvSpPr>
        <dsp:cNvPr id="0" name=""/>
        <dsp:cNvSpPr/>
      </dsp:nvSpPr>
      <dsp:spPr>
        <a:xfrm rot="5400000">
          <a:off x="2630658" y="409939"/>
          <a:ext cx="1725871" cy="1725871"/>
        </a:xfrm>
        <a:prstGeom prst="pieWedg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Do</a:t>
          </a:r>
        </a:p>
      </dsp:txBody>
      <dsp:txXfrm rot="-5400000">
        <a:off x="2630658" y="915435"/>
        <a:ext cx="1220375" cy="1220375"/>
      </dsp:txXfrm>
    </dsp:sp>
    <dsp:sp modelId="{DF05DAA0-99CF-4046-A0AB-4A88D657D528}">
      <dsp:nvSpPr>
        <dsp:cNvPr id="0" name=""/>
        <dsp:cNvSpPr/>
      </dsp:nvSpPr>
      <dsp:spPr>
        <a:xfrm rot="10800000">
          <a:off x="2630658" y="2215527"/>
          <a:ext cx="1725871" cy="1725871"/>
        </a:xfrm>
        <a:prstGeom prst="pieWedg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Study</a:t>
          </a:r>
        </a:p>
      </dsp:txBody>
      <dsp:txXfrm rot="10800000">
        <a:off x="2630658" y="2215527"/>
        <a:ext cx="1220375" cy="1220375"/>
      </dsp:txXfrm>
    </dsp:sp>
    <dsp:sp modelId="{1AEC9897-7673-4341-BB97-7512606AC017}">
      <dsp:nvSpPr>
        <dsp:cNvPr id="0" name=""/>
        <dsp:cNvSpPr/>
      </dsp:nvSpPr>
      <dsp:spPr>
        <a:xfrm rot="16200000">
          <a:off x="825070" y="2215527"/>
          <a:ext cx="1725871" cy="1725871"/>
        </a:xfrm>
        <a:prstGeom prst="pieWedg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Act</a:t>
          </a:r>
        </a:p>
      </dsp:txBody>
      <dsp:txXfrm rot="5400000">
        <a:off x="1330566" y="2215527"/>
        <a:ext cx="1220375" cy="1220375"/>
      </dsp:txXfrm>
    </dsp:sp>
    <dsp:sp modelId="{3DB97ACC-2C3A-44D7-8110-A52F2CF813A3}">
      <dsp:nvSpPr>
        <dsp:cNvPr id="0" name=""/>
        <dsp:cNvSpPr/>
      </dsp:nvSpPr>
      <dsp:spPr>
        <a:xfrm>
          <a:off x="2292858" y="1816942"/>
          <a:ext cx="595884" cy="518160"/>
        </a:xfrm>
        <a:prstGeom prst="circularArrow">
          <a:avLst/>
        </a:prstGeom>
        <a:solidFill>
          <a:schemeClr val="dk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E6D9AC-FB57-443A-872E-659F43A93E39}">
      <dsp:nvSpPr>
        <dsp:cNvPr id="0" name=""/>
        <dsp:cNvSpPr/>
      </dsp:nvSpPr>
      <dsp:spPr>
        <a:xfrm rot="10800000">
          <a:off x="2292858" y="2016235"/>
          <a:ext cx="595884" cy="518160"/>
        </a:xfrm>
        <a:prstGeom prst="circularArrow">
          <a:avLst/>
        </a:prstGeom>
        <a:solidFill>
          <a:schemeClr val="dk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10: Putting it All Together | Lesson 10.08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Reflective, Collegial Practices | Developing Habits of Continuous Improvement</a:t>
            </a:r>
          </a:p>
        </p:txBody>
      </p:sp>
      <p:sp>
        <p:nvSpPr>
          <p:cNvPr id="4" name="TextBox 3">
            <a:extLst>
              <a:ext uri="{FF2B5EF4-FFF2-40B4-BE49-F238E27FC236}">
                <a16:creationId xmlns:a16="http://schemas.microsoft.com/office/drawing/2014/main" id="{1FC103F0-C550-9B4D-53EB-E7A57C021FA1}"/>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5A, 11A</a:t>
            </a:r>
          </a:p>
          <a:p>
            <a:pPr marL="0" indent="0">
              <a:buNone/>
            </a:pPr>
            <a:endParaRPr lang="en-US" dirty="0"/>
          </a:p>
          <a:p>
            <a:pPr marL="0" indent="0">
              <a:buNone/>
            </a:pPr>
            <a:r>
              <a:rPr lang="en-US" dirty="0"/>
              <a:t>The student will…</a:t>
            </a:r>
          </a:p>
          <a:p>
            <a:r>
              <a:rPr lang="en-US" dirty="0"/>
              <a:t>Describe parts and purposes of the continuous improvement cycle (Plan-Do-Study-Act).</a:t>
            </a:r>
          </a:p>
          <a:p>
            <a:r>
              <a:rPr lang="en-US" dirty="0"/>
              <a:t>Observe and discuss the continuous improvement cycle as demonstrated by Texas Lesson Study.</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520890"/>
            <a:ext cx="10747310" cy="5001208"/>
          </a:xfrm>
        </p:spPr>
        <p:txBody>
          <a:bodyPr>
            <a:normAutofit/>
          </a:bodyPr>
          <a:lstStyle/>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Of the quotes listed below, select one of them that speaks most to you. Why does this quote stand out? Do you agree or disagree with it? How do you think the quote you selected applies to teaching and learning?</a:t>
            </a:r>
          </a:p>
          <a:p>
            <a:pPr marL="0" marR="0" indent="0">
              <a:lnSpc>
                <a:spcPct val="107000"/>
              </a:lnSpc>
              <a:spcBef>
                <a:spcPts val="600"/>
              </a:spcBef>
              <a:spcAft>
                <a:spcPts val="6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Quote A: “When you’re in a growth mindset, what that means is that you choose to see struggle and challenge as an opportunity for growth and for learning and development.” -Chris Bertram</a:t>
            </a: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Quote B: “It is only after you’ve stepped outside your comfort zone that you begin to change, grow, and transform.” -Roy T. Bennett</a:t>
            </a: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0" marR="0" indent="0">
              <a:lnSpc>
                <a:spcPct val="107000"/>
              </a:lnSpc>
              <a:spcBef>
                <a:spcPts val="600"/>
              </a:spcBef>
              <a:spcAft>
                <a:spcPts val="600"/>
              </a:spcAft>
              <a:buNone/>
            </a:pPr>
            <a:r>
              <a:rPr lang="en-US" sz="1800" dirty="0">
                <a:effectLst/>
                <a:latin typeface="Calibri" panose="020F0502020204030204" pitchFamily="34" charset="0"/>
                <a:ea typeface="Calibri" panose="020F0502020204030204" pitchFamily="34" charset="0"/>
                <a:cs typeface="Arial" panose="020B0604020202020204" pitchFamily="34" charset="0"/>
              </a:rPr>
              <a:t>Quote C: “Practice the philosophy of continuous improvement. Get a little better every single day.” -Author Unknown</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p:txBody>
          <a:bodyPr/>
          <a:lstStyle/>
          <a:p>
            <a:r>
              <a:rPr lang="en-US" dirty="0"/>
              <a:t>Vocabulary</a:t>
            </a:r>
          </a:p>
        </p:txBody>
      </p:sp>
      <p:sp>
        <p:nvSpPr>
          <p:cNvPr id="5" name="Content Placeholder 4">
            <a:extLst>
              <a:ext uri="{FF2B5EF4-FFF2-40B4-BE49-F238E27FC236}">
                <a16:creationId xmlns:a16="http://schemas.microsoft.com/office/drawing/2014/main" id="{B07F47F9-41A1-46D1-30D2-9BE65C8C7546}"/>
              </a:ext>
            </a:extLst>
          </p:cNvPr>
          <p:cNvSpPr>
            <a:spLocks noGrp="1"/>
          </p:cNvSpPr>
          <p:nvPr>
            <p:ph idx="1"/>
          </p:nvPr>
        </p:nvSpPr>
        <p:spPr/>
        <p:txBody>
          <a:bodyPr/>
          <a:lstStyle/>
          <a:p>
            <a:r>
              <a:rPr lang="en-US" dirty="0"/>
              <a:t>Continuous Improvement Cycle: An intentional approach to improving one’s practice through planning, action, and reflection.</a:t>
            </a:r>
          </a:p>
          <a:p>
            <a:pPr marL="0" indent="0">
              <a:buNone/>
            </a:pPr>
            <a:endParaRPr lang="en-US" dirty="0"/>
          </a:p>
          <a:p>
            <a:r>
              <a:rPr lang="en-US" dirty="0"/>
              <a:t>Texas Lesson Study: A continuous improvement cycle in which Texas teachers work collaboratively to plan, practice, and reflect on instruction around a particular problem of practice within their content and grade level.</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5E04-0CDE-9FC5-6F1A-131B75ECD57A}"/>
              </a:ext>
            </a:extLst>
          </p:cNvPr>
          <p:cNvSpPr>
            <a:spLocks noGrp="1"/>
          </p:cNvSpPr>
          <p:nvPr>
            <p:ph type="title"/>
          </p:nvPr>
        </p:nvSpPr>
        <p:spPr/>
        <p:txBody>
          <a:bodyPr/>
          <a:lstStyle/>
          <a:p>
            <a:r>
              <a:rPr lang="en-US" dirty="0"/>
              <a:t>Plan-Do-Study-Act</a:t>
            </a:r>
          </a:p>
        </p:txBody>
      </p:sp>
      <p:graphicFrame>
        <p:nvGraphicFramePr>
          <p:cNvPr id="5" name="Content Placeholder 4" descr="Circle divided into quadrants with the words Plan, Do, Study, Act (showing the cycle of continuous improvement).">
            <a:extLst>
              <a:ext uri="{FF2B5EF4-FFF2-40B4-BE49-F238E27FC236}">
                <a16:creationId xmlns:a16="http://schemas.microsoft.com/office/drawing/2014/main" id="{A62D019B-1579-CC88-4DF4-3BD8B06F12F6}"/>
              </a:ext>
            </a:extLst>
          </p:cNvPr>
          <p:cNvGraphicFramePr>
            <a:graphicFrameLocks noGrp="1"/>
          </p:cNvGraphicFramePr>
          <p:nvPr>
            <p:ph sz="half" idx="1"/>
            <p:extLst>
              <p:ext uri="{D42A27DB-BD31-4B8C-83A1-F6EECF244321}">
                <p14:modId xmlns:p14="http://schemas.microsoft.com/office/powerpoint/2010/main" val="1618960174"/>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5">
            <a:extLst>
              <a:ext uri="{FF2B5EF4-FFF2-40B4-BE49-F238E27FC236}">
                <a16:creationId xmlns:a16="http://schemas.microsoft.com/office/drawing/2014/main" id="{D6C1DD00-7EA6-7112-5354-2D2193FABA43}"/>
              </a:ext>
            </a:extLst>
          </p:cNvPr>
          <p:cNvSpPr>
            <a:spLocks noGrp="1"/>
          </p:cNvSpPr>
          <p:nvPr>
            <p:ph sz="half" idx="2"/>
          </p:nvPr>
        </p:nvSpPr>
        <p:spPr/>
        <p:txBody>
          <a:bodyPr/>
          <a:lstStyle/>
          <a:p>
            <a:pPr marL="0" indent="0">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latin typeface="Calibri" panose="020F0502020204030204" pitchFamily="34" charset="0"/>
              <a:ea typeface="Calibri" panose="020F0502020204030204" pitchFamily="34" charset="0"/>
              <a:cs typeface="Arial" panose="020B0604020202020204" pitchFamily="34" charset="0"/>
            </a:endParaRPr>
          </a:p>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An example of a continuous improvement cycle where, when used in education, teachers </a:t>
            </a:r>
            <a:r>
              <a:rPr lang="en-US" i="1" u="sng" dirty="0">
                <a:solidFill>
                  <a:srgbClr val="008000"/>
                </a:solidFill>
                <a:effectLst/>
                <a:latin typeface="Calibri" panose="020F0502020204030204" pitchFamily="34" charset="0"/>
                <a:ea typeface="Calibri" panose="020F0502020204030204" pitchFamily="34" charset="0"/>
                <a:cs typeface="Arial" panose="020B0604020202020204" pitchFamily="34" charset="0"/>
              </a:rPr>
              <a:t>plan for</a:t>
            </a:r>
            <a:r>
              <a:rPr lang="en-US" dirty="0">
                <a:effectLst/>
                <a:latin typeface="Calibri" panose="020F0502020204030204" pitchFamily="34" charset="0"/>
                <a:ea typeface="Calibri" panose="020F0502020204030204" pitchFamily="34" charset="0"/>
                <a:cs typeface="Arial" panose="020B0604020202020204" pitchFamily="34" charset="0"/>
              </a:rPr>
              <a:t>, </a:t>
            </a:r>
            <a:r>
              <a:rPr lang="en-US" i="1" u="sng" dirty="0">
                <a:solidFill>
                  <a:srgbClr val="008000"/>
                </a:solidFill>
                <a:effectLst/>
                <a:latin typeface="Calibri" panose="020F0502020204030204" pitchFamily="34" charset="0"/>
                <a:ea typeface="Calibri" panose="020F0502020204030204" pitchFamily="34" charset="0"/>
                <a:cs typeface="Arial" panose="020B0604020202020204" pitchFamily="34" charset="0"/>
              </a:rPr>
              <a:t>implement</a:t>
            </a:r>
            <a:r>
              <a:rPr lang="en-US" dirty="0">
                <a:effectLst/>
                <a:latin typeface="Calibri" panose="020F0502020204030204" pitchFamily="34" charset="0"/>
                <a:ea typeface="Calibri" panose="020F0502020204030204" pitchFamily="34" charset="0"/>
                <a:cs typeface="Arial" panose="020B0604020202020204" pitchFamily="34" charset="0"/>
              </a:rPr>
              <a:t>, and </a:t>
            </a:r>
            <a:r>
              <a:rPr lang="en-US" i="1" u="sng" dirty="0">
                <a:solidFill>
                  <a:srgbClr val="008000"/>
                </a:solidFill>
                <a:effectLst/>
                <a:latin typeface="Calibri" panose="020F0502020204030204" pitchFamily="34" charset="0"/>
                <a:ea typeface="Calibri" panose="020F0502020204030204" pitchFamily="34" charset="0"/>
                <a:cs typeface="Arial" panose="020B0604020202020204" pitchFamily="34" charset="0"/>
              </a:rPr>
              <a:t>observe </a:t>
            </a:r>
            <a:r>
              <a:rPr lang="en-US" dirty="0">
                <a:effectLst/>
                <a:latin typeface="Calibri" panose="020F0502020204030204" pitchFamily="34" charset="0"/>
                <a:ea typeface="Calibri" panose="020F0502020204030204" pitchFamily="34" charset="0"/>
                <a:cs typeface="Arial" panose="020B0604020202020204" pitchFamily="34" charset="0"/>
              </a:rPr>
              <a:t>the process of a </a:t>
            </a:r>
            <a:r>
              <a:rPr lang="en-US" i="1" u="sng" dirty="0">
                <a:solidFill>
                  <a:srgbClr val="008000"/>
                </a:solidFill>
                <a:effectLst/>
                <a:latin typeface="Calibri" panose="020F0502020204030204" pitchFamily="34" charset="0"/>
                <a:ea typeface="Calibri" panose="020F0502020204030204" pitchFamily="34" charset="0"/>
                <a:cs typeface="Arial" panose="020B0604020202020204" pitchFamily="34" charset="0"/>
              </a:rPr>
              <a:t>desired change.</a:t>
            </a:r>
            <a:r>
              <a:rPr lang="en-US" dirty="0">
                <a:solidFill>
                  <a:srgbClr val="008000"/>
                </a:solidFill>
                <a:effectLst/>
                <a:latin typeface="Calibri" panose="020F0502020204030204" pitchFamily="34" charset="0"/>
                <a:ea typeface="Calibri" panose="020F0502020204030204" pitchFamily="34" charset="0"/>
                <a:cs typeface="Arial" panose="020B0604020202020204" pitchFamily="34" charset="0"/>
              </a:rPr>
              <a:t> </a:t>
            </a:r>
          </a:p>
          <a:p>
            <a:pPr marL="0" indent="0">
              <a:buNone/>
            </a:pPr>
            <a:endParaRPr lang="en-US" dirty="0"/>
          </a:p>
        </p:txBody>
      </p:sp>
      <p:sp>
        <p:nvSpPr>
          <p:cNvPr id="4" name="Slide Number Placeholder 3">
            <a:extLst>
              <a:ext uri="{FF2B5EF4-FFF2-40B4-BE49-F238E27FC236}">
                <a16:creationId xmlns:a16="http://schemas.microsoft.com/office/drawing/2014/main" id="{F9FBB7B5-C517-0FBC-90DF-687589FAEFDD}"/>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35415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BAD1-A102-7264-EF26-D6C18E678470}"/>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08E17569-94B8-28B5-0CB2-28B62B26A036}"/>
              </a:ext>
            </a:extLst>
          </p:cNvPr>
          <p:cNvSpPr>
            <a:spLocks noGrp="1"/>
          </p:cNvSpPr>
          <p:nvPr>
            <p:ph idx="1"/>
          </p:nvPr>
        </p:nvSpPr>
        <p:spPr/>
        <p:txBody>
          <a:bodyPr/>
          <a:lstStyle/>
          <a:p>
            <a:r>
              <a:rPr lang="en-US" dirty="0"/>
              <a:t>Identify the problem</a:t>
            </a:r>
          </a:p>
          <a:p>
            <a:r>
              <a:rPr lang="en-US" dirty="0"/>
              <a:t>List possible steps to approach the problem</a:t>
            </a:r>
          </a:p>
          <a:p>
            <a:r>
              <a:rPr lang="en-US" dirty="0"/>
              <a:t>List desired outcomes</a:t>
            </a:r>
          </a:p>
          <a:p>
            <a:pPr marL="0" indent="0">
              <a:buNone/>
            </a:pPr>
            <a:endParaRPr lang="en-US" dirty="0"/>
          </a:p>
        </p:txBody>
      </p:sp>
      <p:sp>
        <p:nvSpPr>
          <p:cNvPr id="4" name="Slide Number Placeholder 3">
            <a:extLst>
              <a:ext uri="{FF2B5EF4-FFF2-40B4-BE49-F238E27FC236}">
                <a16:creationId xmlns:a16="http://schemas.microsoft.com/office/drawing/2014/main" id="{FC7B1A6C-7AEB-E036-C345-A97D4DCB9596}"/>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621742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9169F-F298-31F4-C5C7-5755942F57F7}"/>
              </a:ext>
            </a:extLst>
          </p:cNvPr>
          <p:cNvSpPr>
            <a:spLocks noGrp="1"/>
          </p:cNvSpPr>
          <p:nvPr>
            <p:ph type="title"/>
          </p:nvPr>
        </p:nvSpPr>
        <p:spPr/>
        <p:txBody>
          <a:bodyPr/>
          <a:lstStyle/>
          <a:p>
            <a:r>
              <a:rPr lang="en-US" dirty="0"/>
              <a:t>Do</a:t>
            </a:r>
          </a:p>
        </p:txBody>
      </p:sp>
      <p:sp>
        <p:nvSpPr>
          <p:cNvPr id="3" name="Content Placeholder 2">
            <a:extLst>
              <a:ext uri="{FF2B5EF4-FFF2-40B4-BE49-F238E27FC236}">
                <a16:creationId xmlns:a16="http://schemas.microsoft.com/office/drawing/2014/main" id="{4E24C353-EE54-D65A-49B6-A4C61539D51C}"/>
              </a:ext>
            </a:extLst>
          </p:cNvPr>
          <p:cNvSpPr>
            <a:spLocks noGrp="1"/>
          </p:cNvSpPr>
          <p:nvPr>
            <p:ph idx="1"/>
          </p:nvPr>
        </p:nvSpPr>
        <p:spPr/>
        <p:txBody>
          <a:bodyPr/>
          <a:lstStyle/>
          <a:p>
            <a:r>
              <a:rPr lang="en-US" dirty="0"/>
              <a:t>Apply the steps listed in the plan</a:t>
            </a:r>
          </a:p>
          <a:p>
            <a:r>
              <a:rPr lang="en-US" dirty="0"/>
              <a:t>Take notes/make observations during this time</a:t>
            </a:r>
          </a:p>
        </p:txBody>
      </p:sp>
      <p:sp>
        <p:nvSpPr>
          <p:cNvPr id="4" name="Slide Number Placeholder 3">
            <a:extLst>
              <a:ext uri="{FF2B5EF4-FFF2-40B4-BE49-F238E27FC236}">
                <a16:creationId xmlns:a16="http://schemas.microsoft.com/office/drawing/2014/main" id="{C26FFB4F-088D-CF5E-FE7B-84FDB057B3DA}"/>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260085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6057-B78F-23C6-0F1F-8D8DAF491360}"/>
              </a:ext>
            </a:extLst>
          </p:cNvPr>
          <p:cNvSpPr>
            <a:spLocks noGrp="1"/>
          </p:cNvSpPr>
          <p:nvPr>
            <p:ph type="title"/>
          </p:nvPr>
        </p:nvSpPr>
        <p:spPr/>
        <p:txBody>
          <a:bodyPr/>
          <a:lstStyle/>
          <a:p>
            <a:r>
              <a:rPr lang="en-US" dirty="0"/>
              <a:t>Study</a:t>
            </a:r>
          </a:p>
        </p:txBody>
      </p:sp>
      <p:sp>
        <p:nvSpPr>
          <p:cNvPr id="3" name="Content Placeholder 2">
            <a:extLst>
              <a:ext uri="{FF2B5EF4-FFF2-40B4-BE49-F238E27FC236}">
                <a16:creationId xmlns:a16="http://schemas.microsoft.com/office/drawing/2014/main" id="{40B1F9BB-7E29-3391-9E26-C2F74F6AFDB6}"/>
              </a:ext>
            </a:extLst>
          </p:cNvPr>
          <p:cNvSpPr>
            <a:spLocks noGrp="1"/>
          </p:cNvSpPr>
          <p:nvPr>
            <p:ph idx="1"/>
          </p:nvPr>
        </p:nvSpPr>
        <p:spPr/>
        <p:txBody>
          <a:bodyPr/>
          <a:lstStyle/>
          <a:p>
            <a:r>
              <a:rPr lang="en-US" dirty="0"/>
              <a:t>Study the results after applying the plan. </a:t>
            </a:r>
          </a:p>
          <a:p>
            <a:pPr lvl="1"/>
            <a:r>
              <a:rPr lang="en-US" dirty="0"/>
              <a:t>Did you see the outcome you expected?</a:t>
            </a:r>
          </a:p>
          <a:p>
            <a:pPr lvl="1"/>
            <a:r>
              <a:rPr lang="en-US" dirty="0"/>
              <a:t>What were the actual results when compared to the desired ones?</a:t>
            </a:r>
          </a:p>
          <a:p>
            <a:pPr marL="457200" lvl="1" indent="0">
              <a:buNone/>
            </a:pPr>
            <a:endParaRPr lang="en-US" dirty="0"/>
          </a:p>
        </p:txBody>
      </p:sp>
      <p:sp>
        <p:nvSpPr>
          <p:cNvPr id="4" name="Slide Number Placeholder 3">
            <a:extLst>
              <a:ext uri="{FF2B5EF4-FFF2-40B4-BE49-F238E27FC236}">
                <a16:creationId xmlns:a16="http://schemas.microsoft.com/office/drawing/2014/main" id="{70F102FF-C640-795A-9DE7-A1CE76F026B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630003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36889-A232-7877-7A08-018AB00941F8}"/>
              </a:ext>
            </a:extLst>
          </p:cNvPr>
          <p:cNvSpPr>
            <a:spLocks noGrp="1"/>
          </p:cNvSpPr>
          <p:nvPr>
            <p:ph type="title"/>
          </p:nvPr>
        </p:nvSpPr>
        <p:spPr/>
        <p:txBody>
          <a:bodyPr/>
          <a:lstStyle/>
          <a:p>
            <a:r>
              <a:rPr lang="en-US" dirty="0"/>
              <a:t>Act</a:t>
            </a:r>
          </a:p>
        </p:txBody>
      </p:sp>
      <p:sp>
        <p:nvSpPr>
          <p:cNvPr id="3" name="Content Placeholder 2">
            <a:extLst>
              <a:ext uri="{FF2B5EF4-FFF2-40B4-BE49-F238E27FC236}">
                <a16:creationId xmlns:a16="http://schemas.microsoft.com/office/drawing/2014/main" id="{AC732EE0-E611-3475-DE87-C2BC21FC58F6}"/>
              </a:ext>
            </a:extLst>
          </p:cNvPr>
          <p:cNvSpPr>
            <a:spLocks noGrp="1"/>
          </p:cNvSpPr>
          <p:nvPr>
            <p:ph idx="1"/>
          </p:nvPr>
        </p:nvSpPr>
        <p:spPr/>
        <p:txBody>
          <a:bodyPr/>
          <a:lstStyle/>
          <a:p>
            <a:r>
              <a:rPr lang="en-US" dirty="0"/>
              <a:t>Consider your next steps.</a:t>
            </a:r>
          </a:p>
          <a:p>
            <a:r>
              <a:rPr lang="en-US" dirty="0"/>
              <a:t>Has the solution addressed the problem?</a:t>
            </a:r>
          </a:p>
          <a:p>
            <a:r>
              <a:rPr lang="en-US" dirty="0"/>
              <a:t>Do you need to return to any of the previous step?</a:t>
            </a:r>
          </a:p>
        </p:txBody>
      </p:sp>
      <p:sp>
        <p:nvSpPr>
          <p:cNvPr id="4" name="Slide Number Placeholder 3">
            <a:extLst>
              <a:ext uri="{FF2B5EF4-FFF2-40B4-BE49-F238E27FC236}">
                <a16:creationId xmlns:a16="http://schemas.microsoft.com/office/drawing/2014/main" id="{E5FDA0CE-1F83-1FD7-94D8-0A0B3F586DF3}"/>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1065662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620A5C-F696-97EE-FC9A-D97FC2BDB24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Texas Lesson Study Model</a:t>
            </a:r>
          </a:p>
        </p:txBody>
      </p:sp>
      <p:pic>
        <p:nvPicPr>
          <p:cNvPr id="5" name="Content Placeholder 4" descr="A diagram showing the Texas Lesson Study deep dive cycle. 1) Examine and Identify; 2) Review and Plan; 3) Teach and Observe; 4) Reflect and Revise; 5) Share and Network">
            <a:extLst>
              <a:ext uri="{FF2B5EF4-FFF2-40B4-BE49-F238E27FC236}">
                <a16:creationId xmlns:a16="http://schemas.microsoft.com/office/drawing/2014/main" id="{71379815-6456-B250-2CF4-E03BB4F1E04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383296" y="643466"/>
            <a:ext cx="5568739" cy="5568739"/>
          </a:xfrm>
          <a:prstGeom prst="rect">
            <a:avLst/>
          </a:prstGeom>
        </p:spPr>
      </p:pic>
      <p:sp>
        <p:nvSpPr>
          <p:cNvPr id="4" name="Slide Number Placeholder 3">
            <a:extLst>
              <a:ext uri="{FF2B5EF4-FFF2-40B4-BE49-F238E27FC236}">
                <a16:creationId xmlns:a16="http://schemas.microsoft.com/office/drawing/2014/main" id="{55B2A91C-CB63-3D42-D102-19BD71D6265F}"/>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E2D56C8B-F564-4051-AFED-A78F1C6A2F0E}" type="slidenum">
              <a:rPr lang="en-US">
                <a:solidFill>
                  <a:schemeClr val="tx1">
                    <a:alpha val="80000"/>
                  </a:schemeClr>
                </a:solidFill>
              </a:rPr>
              <a:pPr>
                <a:spcAft>
                  <a:spcPts val="600"/>
                </a:spcAft>
              </a:pPr>
              <a:t>10</a:t>
            </a:fld>
            <a:endParaRPr lang="en-US">
              <a:solidFill>
                <a:schemeClr val="tx1">
                  <a:alpha val="80000"/>
                </a:schemeClr>
              </a:solidFill>
            </a:endParaRPr>
          </a:p>
        </p:txBody>
      </p:sp>
    </p:spTree>
    <p:extLst>
      <p:ext uri="{BB962C8B-B14F-4D97-AF65-F5344CB8AC3E}">
        <p14:creationId xmlns:p14="http://schemas.microsoft.com/office/powerpoint/2010/main" val="2945454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809750"/>
            <a:ext cx="10515600" cy="4683124"/>
          </a:xfrm>
        </p:spPr>
        <p:txBody>
          <a:bodyPr>
            <a:noAutofit/>
          </a:bodyPr>
          <a:lstStyle/>
          <a:p>
            <a:pPr marL="342900" marR="0" lvl="0" indent="-342900">
              <a:lnSpc>
                <a:spcPct val="107000"/>
              </a:lnSpc>
              <a:spcBef>
                <a:spcPts val="600"/>
              </a:spcBef>
              <a:spcAft>
                <a:spcPts val="600"/>
              </a:spcAft>
              <a:buFont typeface="+mj-lt"/>
              <a:buAutoNum type="arabicPeriod"/>
            </a:pPr>
            <a:r>
              <a:rPr lang="en-US" sz="2600" dirty="0">
                <a:effectLst/>
                <a:latin typeface="Calibri" panose="020F0502020204030204" pitchFamily="34" charset="0"/>
                <a:ea typeface="Calibri" panose="020F0502020204030204" pitchFamily="34" charset="0"/>
                <a:cs typeface="Arial" panose="020B0604020202020204" pitchFamily="34" charset="0"/>
              </a:rPr>
              <a:t>Explain the steps of the Plan-Do-Study-Act continuous improvement cycle.</a:t>
            </a:r>
          </a:p>
          <a:p>
            <a:pPr marL="342900" marR="0" indent="-342900">
              <a:lnSpc>
                <a:spcPct val="107000"/>
              </a:lnSpc>
              <a:spcBef>
                <a:spcPts val="600"/>
              </a:spcBef>
              <a:spcAft>
                <a:spcPts val="600"/>
              </a:spcAft>
              <a:buFont typeface="+mj-lt"/>
              <a:buAutoNum type="arabicPeriod"/>
            </a:pP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600"/>
              </a:spcBef>
              <a:spcAft>
                <a:spcPts val="600"/>
              </a:spcAft>
              <a:buFont typeface="+mj-lt"/>
              <a:buAutoNum type="arabicPeriod"/>
            </a:pPr>
            <a:r>
              <a:rPr lang="en-US" sz="2600" dirty="0">
                <a:effectLst/>
                <a:latin typeface="Calibri" panose="020F0502020204030204" pitchFamily="34" charset="0"/>
                <a:ea typeface="Calibri" panose="020F0502020204030204" pitchFamily="34" charset="0"/>
                <a:cs typeface="Arial" panose="020B0604020202020204" pitchFamily="34" charset="0"/>
              </a:rPr>
              <a:t>How do continuous improvement cycles benefit teachers? How do they benefit students?</a:t>
            </a:r>
          </a:p>
          <a:p>
            <a:pPr marL="342900" marR="0" indent="-342900">
              <a:lnSpc>
                <a:spcPct val="107000"/>
              </a:lnSpc>
              <a:spcBef>
                <a:spcPts val="600"/>
              </a:spcBef>
              <a:spcAft>
                <a:spcPts val="600"/>
              </a:spcAft>
              <a:buFont typeface="+mj-lt"/>
              <a:buAutoNum type="arabicPeriod"/>
            </a:pPr>
            <a:endParaRPr lang="en-US" sz="2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600"/>
              </a:spcBef>
              <a:spcAft>
                <a:spcPts val="600"/>
              </a:spcAft>
              <a:buFont typeface="+mj-lt"/>
              <a:buAutoNum type="arabicPeriod"/>
            </a:pPr>
            <a:r>
              <a:rPr lang="en-US" sz="2600" dirty="0">
                <a:effectLst/>
                <a:latin typeface="Calibri" panose="020F0502020204030204" pitchFamily="34" charset="0"/>
                <a:ea typeface="Calibri" panose="020F0502020204030204" pitchFamily="34" charset="0"/>
                <a:cs typeface="Arial" panose="020B0604020202020204" pitchFamily="34" charset="0"/>
              </a:rPr>
              <a:t>Return to your bellringer from earlier in class. How does the quote you selected relate to Continuous Improvement Cycles, such as Texas Lesson Study?</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342</TotalTime>
  <Words>453</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Instructional Practices| Unit 10: Putting it All Together | Lesson 10.08</vt:lpstr>
      <vt:lpstr>TEKS Standards &amp; Objectives</vt:lpstr>
      <vt:lpstr>Bellringer</vt:lpstr>
      <vt:lpstr>Vocabulary</vt:lpstr>
      <vt:lpstr>Plan-Do-Study-Act</vt:lpstr>
      <vt:lpstr>Plan</vt:lpstr>
      <vt:lpstr>Do</vt:lpstr>
      <vt:lpstr>Study</vt:lpstr>
      <vt:lpstr>Act</vt:lpstr>
      <vt:lpstr>Texas Lesson Study Model</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10.07: Reflective, Collegial Practices | Growing Collaborative Skills and Mindsets</dc:title>
  <dc:subject>Lesson 10.07: Reflective, Collegial Practices | Growing Collaborative Skills and Mindsets</dc:subject>
  <dc:creator>Texas Education Agency</dc:creator>
  <cp:lastModifiedBy>London White</cp:lastModifiedBy>
  <cp:revision>14</cp:revision>
  <dcterms:created xsi:type="dcterms:W3CDTF">2022-05-09T19:40:20Z</dcterms:created>
  <dcterms:modified xsi:type="dcterms:W3CDTF">2023-08-31T06:45:35Z</dcterms:modified>
</cp:coreProperties>
</file>
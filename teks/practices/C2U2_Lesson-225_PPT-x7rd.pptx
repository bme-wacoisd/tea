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9" r:id="rId3"/>
    <p:sldId id="258" r:id="rId4"/>
    <p:sldId id="261" r:id="rId5"/>
    <p:sldId id="264" r:id="rId6"/>
    <p:sldId id="263" r:id="rId7"/>
    <p:sldId id="265" r:id="rId8"/>
    <p:sldId id="266"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9DF0CF-6AF5-4754-BA47-08EDD5472C15}" v="1" dt="2023-08-31T01:27:33.3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712" autoAdjust="0"/>
  </p:normalViewPr>
  <p:slideViewPr>
    <p:cSldViewPr snapToGrid="0">
      <p:cViewPr varScale="1">
        <p:scale>
          <a:sx n="108" d="100"/>
          <a:sy n="108" d="100"/>
        </p:scale>
        <p:origin x="60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669DF0CF-6AF5-4754-BA47-08EDD5472C15}"/>
    <pc:docChg chg="modSld">
      <pc:chgData name="White (she/her), Whitney" userId="65f39021-2f1d-4d8b-87dc-b123826f65bf" providerId="ADAL" clId="{669DF0CF-6AF5-4754-BA47-08EDD5472C15}" dt="2023-08-31T01:27:36.261" v="5" actId="1076"/>
      <pc:docMkLst>
        <pc:docMk/>
      </pc:docMkLst>
      <pc:sldChg chg="addSp modSp mod">
        <pc:chgData name="White (she/her), Whitney" userId="65f39021-2f1d-4d8b-87dc-b123826f65bf" providerId="ADAL" clId="{669DF0CF-6AF5-4754-BA47-08EDD5472C15}" dt="2023-08-31T01:27:36.261" v="5" actId="1076"/>
        <pc:sldMkLst>
          <pc:docMk/>
          <pc:sldMk cId="1482277026" sldId="256"/>
        </pc:sldMkLst>
        <pc:spChg chg="mod">
          <ac:chgData name="White (she/her), Whitney" userId="65f39021-2f1d-4d8b-87dc-b123826f65bf" providerId="ADAL" clId="{669DF0CF-6AF5-4754-BA47-08EDD5472C15}" dt="2023-08-31T01:27:31.989" v="3" actId="1076"/>
          <ac:spMkLst>
            <pc:docMk/>
            <pc:sldMk cId="1482277026" sldId="256"/>
            <ac:spMk id="2" creationId="{BFFCF5BD-F8FF-4A67-A8B6-EBB21E79279B}"/>
          </ac:spMkLst>
        </pc:spChg>
        <pc:spChg chg="add mod">
          <ac:chgData name="White (she/her), Whitney" userId="65f39021-2f1d-4d8b-87dc-b123826f65bf" providerId="ADAL" clId="{669DF0CF-6AF5-4754-BA47-08EDD5472C15}" dt="2023-08-31T01:27:36.261" v="5" actId="1076"/>
          <ac:spMkLst>
            <pc:docMk/>
            <pc:sldMk cId="1482277026" sldId="256"/>
            <ac:spMk id="4" creationId="{97B16933-48B9-EBD9-7888-B3740057DE83}"/>
          </ac:spMkLst>
        </pc:spChg>
      </pc:sldChg>
      <pc:sldChg chg="modSp mod">
        <pc:chgData name="White (she/her), Whitney" userId="65f39021-2f1d-4d8b-87dc-b123826f65bf" providerId="ADAL" clId="{669DF0CF-6AF5-4754-BA47-08EDD5472C15}" dt="2023-08-31T01:27:21.909" v="0" actId="20577"/>
        <pc:sldMkLst>
          <pc:docMk/>
          <pc:sldMk cId="3550641238" sldId="265"/>
        </pc:sldMkLst>
        <pc:spChg chg="mod">
          <ac:chgData name="White (she/her), Whitney" userId="65f39021-2f1d-4d8b-87dc-b123826f65bf" providerId="ADAL" clId="{669DF0CF-6AF5-4754-BA47-08EDD5472C15}" dt="2023-08-31T01:27:21.909" v="0" actId="20577"/>
          <ac:spMkLst>
            <pc:docMk/>
            <pc:sldMk cId="3550641238" sldId="265"/>
            <ac:spMk id="2" creationId="{531ECDB3-7F62-4124-A1E9-E48D699D2427}"/>
          </ac:spMkLst>
        </pc:spChg>
      </pc:sldChg>
      <pc:sldChg chg="modSp mod">
        <pc:chgData name="White (she/her), Whitney" userId="65f39021-2f1d-4d8b-87dc-b123826f65bf" providerId="ADAL" clId="{669DF0CF-6AF5-4754-BA47-08EDD5472C15}" dt="2023-08-31T01:27:25.266" v="2" actId="20577"/>
        <pc:sldMkLst>
          <pc:docMk/>
          <pc:sldMk cId="2333493653" sldId="266"/>
        </pc:sldMkLst>
        <pc:spChg chg="mod">
          <ac:chgData name="White (she/her), Whitney" userId="65f39021-2f1d-4d8b-87dc-b123826f65bf" providerId="ADAL" clId="{669DF0CF-6AF5-4754-BA47-08EDD5472C15}" dt="2023-08-31T01:27:25.266" v="2" actId="20577"/>
          <ac:spMkLst>
            <pc:docMk/>
            <pc:sldMk cId="2333493653" sldId="266"/>
            <ac:spMk id="2" creationId="{531ECDB3-7F62-4124-A1E9-E48D699D2427}"/>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4ACD2CB2-91FC-4BB1-AC1A-F29A5752FE24}"/>
    <pc:docChg chg="modSld">
      <pc:chgData name="White, Whitney" userId="65f39021-2f1d-4d8b-87dc-b123826f65bf" providerId="ADAL" clId="{4ACD2CB2-91FC-4BB1-AC1A-F29A5752FE24}" dt="2022-08-03T14:16:49.713" v="46" actId="20577"/>
      <pc:docMkLst>
        <pc:docMk/>
      </pc:docMkLst>
      <pc:sldChg chg="modSp mod">
        <pc:chgData name="White, Whitney" userId="65f39021-2f1d-4d8b-87dc-b123826f65bf" providerId="ADAL" clId="{4ACD2CB2-91FC-4BB1-AC1A-F29A5752FE24}" dt="2022-08-03T14:16:49.713" v="46" actId="20577"/>
        <pc:sldMkLst>
          <pc:docMk/>
          <pc:sldMk cId="1482277026" sldId="256"/>
        </pc:sldMkLst>
        <pc:spChg chg="mod">
          <ac:chgData name="White, Whitney" userId="65f39021-2f1d-4d8b-87dc-b123826f65bf" providerId="ADAL" clId="{4ACD2CB2-91FC-4BB1-AC1A-F29A5752FE24}" dt="2022-08-03T14:16:49.713" v="46" actId="20577"/>
          <ac:spMkLst>
            <pc:docMk/>
            <pc:sldMk cId="1482277026" sldId="256"/>
            <ac:spMk id="2" creationId="{BFFCF5BD-F8FF-4A67-A8B6-EBB21E79279B}"/>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docChgLst>
    <pc:chgData name="White, Whitney" userId="65f39021-2f1d-4d8b-87dc-b123826f65bf" providerId="ADAL" clId="{D5214F66-09AF-4AED-AD68-BC52D5D1862C}"/>
    <pc:docChg chg="undo custSel addSld delSld modSld">
      <pc:chgData name="White, Whitney" userId="65f39021-2f1d-4d8b-87dc-b123826f65bf" providerId="ADAL" clId="{D5214F66-09AF-4AED-AD68-BC52D5D1862C}" dt="2022-08-03T21:13:42.289" v="384" actId="47"/>
      <pc:docMkLst>
        <pc:docMk/>
      </pc:docMkLst>
      <pc:sldChg chg="modSp mod">
        <pc:chgData name="White, Whitney" userId="65f39021-2f1d-4d8b-87dc-b123826f65bf" providerId="ADAL" clId="{D5214F66-09AF-4AED-AD68-BC52D5D1862C}" dt="2022-08-03T21:01:32.098" v="27" actId="20577"/>
        <pc:sldMkLst>
          <pc:docMk/>
          <pc:sldMk cId="1482277026" sldId="256"/>
        </pc:sldMkLst>
        <pc:spChg chg="mod">
          <ac:chgData name="White, Whitney" userId="65f39021-2f1d-4d8b-87dc-b123826f65bf" providerId="ADAL" clId="{D5214F66-09AF-4AED-AD68-BC52D5D1862C}" dt="2022-08-03T21:01:32.098" v="27" actId="20577"/>
          <ac:spMkLst>
            <pc:docMk/>
            <pc:sldMk cId="1482277026" sldId="256"/>
            <ac:spMk id="2" creationId="{BFFCF5BD-F8FF-4A67-A8B6-EBB21E79279B}"/>
          </ac:spMkLst>
        </pc:spChg>
        <pc:spChg chg="mod">
          <ac:chgData name="White, Whitney" userId="65f39021-2f1d-4d8b-87dc-b123826f65bf" providerId="ADAL" clId="{D5214F66-09AF-4AED-AD68-BC52D5D1862C}" dt="2022-08-03T21:01:27.930" v="23" actId="20577"/>
          <ac:spMkLst>
            <pc:docMk/>
            <pc:sldMk cId="1482277026" sldId="256"/>
            <ac:spMk id="3" creationId="{E0FBD98F-3A67-498E-8174-652040DD7B60}"/>
          </ac:spMkLst>
        </pc:spChg>
      </pc:sldChg>
      <pc:sldChg chg="modSp mod">
        <pc:chgData name="White, Whitney" userId="65f39021-2f1d-4d8b-87dc-b123826f65bf" providerId="ADAL" clId="{D5214F66-09AF-4AED-AD68-BC52D5D1862C}" dt="2022-08-03T21:06:24.402" v="65" actId="20577"/>
        <pc:sldMkLst>
          <pc:docMk/>
          <pc:sldMk cId="4071305681" sldId="258"/>
        </pc:sldMkLst>
        <pc:spChg chg="mod">
          <ac:chgData name="White, Whitney" userId="65f39021-2f1d-4d8b-87dc-b123826f65bf" providerId="ADAL" clId="{D5214F66-09AF-4AED-AD68-BC52D5D1862C}" dt="2022-08-03T21:06:24.402" v="65" actId="20577"/>
          <ac:spMkLst>
            <pc:docMk/>
            <pc:sldMk cId="4071305681" sldId="258"/>
            <ac:spMk id="3" creationId="{392BE286-77A6-49DD-B15D-7E4718D52FE7}"/>
          </ac:spMkLst>
        </pc:spChg>
      </pc:sldChg>
      <pc:sldChg chg="modSp mod">
        <pc:chgData name="White, Whitney" userId="65f39021-2f1d-4d8b-87dc-b123826f65bf" providerId="ADAL" clId="{D5214F66-09AF-4AED-AD68-BC52D5D1862C}" dt="2022-08-03T21:06:06.502" v="59" actId="255"/>
        <pc:sldMkLst>
          <pc:docMk/>
          <pc:sldMk cId="2772527113" sldId="259"/>
        </pc:sldMkLst>
        <pc:spChg chg="mod">
          <ac:chgData name="White, Whitney" userId="65f39021-2f1d-4d8b-87dc-b123826f65bf" providerId="ADAL" clId="{D5214F66-09AF-4AED-AD68-BC52D5D1862C}" dt="2022-08-03T21:06:06.502" v="59" actId="255"/>
          <ac:spMkLst>
            <pc:docMk/>
            <pc:sldMk cId="2772527113" sldId="259"/>
            <ac:spMk id="3" creationId="{8CE08C7F-0286-423B-92F7-DEB89F31111A}"/>
          </ac:spMkLst>
        </pc:spChg>
      </pc:sldChg>
      <pc:sldChg chg="modSp mod">
        <pc:chgData name="White, Whitney" userId="65f39021-2f1d-4d8b-87dc-b123826f65bf" providerId="ADAL" clId="{D5214F66-09AF-4AED-AD68-BC52D5D1862C}" dt="2022-08-03T21:13:40.327" v="383" actId="12"/>
        <pc:sldMkLst>
          <pc:docMk/>
          <pc:sldMk cId="2147408764" sldId="260"/>
        </pc:sldMkLst>
        <pc:spChg chg="mod">
          <ac:chgData name="White, Whitney" userId="65f39021-2f1d-4d8b-87dc-b123826f65bf" providerId="ADAL" clId="{D5214F66-09AF-4AED-AD68-BC52D5D1862C}" dt="2022-08-03T21:13:40.327" v="383" actId="12"/>
          <ac:spMkLst>
            <pc:docMk/>
            <pc:sldMk cId="2147408764" sldId="260"/>
            <ac:spMk id="3" creationId="{49F2A5AF-3C0B-4968-A438-E435325199EA}"/>
          </ac:spMkLst>
        </pc:spChg>
      </pc:sldChg>
      <pc:sldChg chg="addSp delSp modSp mod">
        <pc:chgData name="White, Whitney" userId="65f39021-2f1d-4d8b-87dc-b123826f65bf" providerId="ADAL" clId="{D5214F66-09AF-4AED-AD68-BC52D5D1862C}" dt="2022-08-03T21:06:52.183" v="78" actId="404"/>
        <pc:sldMkLst>
          <pc:docMk/>
          <pc:sldMk cId="3054216349" sldId="261"/>
        </pc:sldMkLst>
        <pc:spChg chg="del">
          <ac:chgData name="White, Whitney" userId="65f39021-2f1d-4d8b-87dc-b123826f65bf" providerId="ADAL" clId="{D5214F66-09AF-4AED-AD68-BC52D5D1862C}" dt="2022-08-03T21:06:36.978" v="66"/>
          <ac:spMkLst>
            <pc:docMk/>
            <pc:sldMk cId="3054216349" sldId="261"/>
            <ac:spMk id="3" creationId="{AE13FDB6-F093-4D9E-B14E-3D7DB894C34C}"/>
          </ac:spMkLst>
        </pc:spChg>
        <pc:graphicFrameChg chg="add mod modGraphic">
          <ac:chgData name="White, Whitney" userId="65f39021-2f1d-4d8b-87dc-b123826f65bf" providerId="ADAL" clId="{D5214F66-09AF-4AED-AD68-BC52D5D1862C}" dt="2022-08-03T21:06:52.183" v="78" actId="404"/>
          <ac:graphicFrameMkLst>
            <pc:docMk/>
            <pc:sldMk cId="3054216349" sldId="261"/>
            <ac:graphicFrameMk id="5" creationId="{EBE6A282-AB0D-4606-853D-3C7233443E86}"/>
          </ac:graphicFrameMkLst>
        </pc:graphicFrameChg>
      </pc:sldChg>
      <pc:sldChg chg="del">
        <pc:chgData name="White, Whitney" userId="65f39021-2f1d-4d8b-87dc-b123826f65bf" providerId="ADAL" clId="{D5214F66-09AF-4AED-AD68-BC52D5D1862C}" dt="2022-08-03T21:13:42.289" v="384" actId="47"/>
        <pc:sldMkLst>
          <pc:docMk/>
          <pc:sldMk cId="4170921578" sldId="262"/>
        </pc:sldMkLst>
      </pc:sldChg>
      <pc:sldChg chg="addSp delSp modSp mod">
        <pc:chgData name="White, Whitney" userId="65f39021-2f1d-4d8b-87dc-b123826f65bf" providerId="ADAL" clId="{D5214F66-09AF-4AED-AD68-BC52D5D1862C}" dt="2022-08-03T21:12:47.140" v="371" actId="20577"/>
        <pc:sldMkLst>
          <pc:docMk/>
          <pc:sldMk cId="1163931679" sldId="263"/>
        </pc:sldMkLst>
        <pc:spChg chg="mod">
          <ac:chgData name="White, Whitney" userId="65f39021-2f1d-4d8b-87dc-b123826f65bf" providerId="ADAL" clId="{D5214F66-09AF-4AED-AD68-BC52D5D1862C}" dt="2022-08-03T21:10:13.635" v="322" actId="20577"/>
          <ac:spMkLst>
            <pc:docMk/>
            <pc:sldMk cId="1163931679" sldId="263"/>
            <ac:spMk id="2" creationId="{531ECDB3-7F62-4124-A1E9-E48D699D2427}"/>
          </ac:spMkLst>
        </pc:spChg>
        <pc:spChg chg="del">
          <ac:chgData name="White, Whitney" userId="65f39021-2f1d-4d8b-87dc-b123826f65bf" providerId="ADAL" clId="{D5214F66-09AF-4AED-AD68-BC52D5D1862C}" dt="2022-08-03T21:10:17.048" v="323"/>
          <ac:spMkLst>
            <pc:docMk/>
            <pc:sldMk cId="1163931679" sldId="263"/>
            <ac:spMk id="3" creationId="{012C84E3-4C09-4253-8964-13B9C34E5E48}"/>
          </ac:spMkLst>
        </pc:spChg>
        <pc:graphicFrameChg chg="add mod modGraphic">
          <ac:chgData name="White, Whitney" userId="65f39021-2f1d-4d8b-87dc-b123826f65bf" providerId="ADAL" clId="{D5214F66-09AF-4AED-AD68-BC52D5D1862C}" dt="2022-08-03T21:12:47.140" v="371" actId="20577"/>
          <ac:graphicFrameMkLst>
            <pc:docMk/>
            <pc:sldMk cId="1163931679" sldId="263"/>
            <ac:graphicFrameMk id="5" creationId="{708A0255-5F85-4C6C-ACDA-22E28353BAF3}"/>
          </ac:graphicFrameMkLst>
        </pc:graphicFrameChg>
      </pc:sldChg>
      <pc:sldChg chg="modSp mod">
        <pc:chgData name="White, Whitney" userId="65f39021-2f1d-4d8b-87dc-b123826f65bf" providerId="ADAL" clId="{D5214F66-09AF-4AED-AD68-BC52D5D1862C}" dt="2022-08-03T21:09:20.853" v="289" actId="12"/>
        <pc:sldMkLst>
          <pc:docMk/>
          <pc:sldMk cId="3493109116" sldId="264"/>
        </pc:sldMkLst>
        <pc:spChg chg="mod">
          <ac:chgData name="White, Whitney" userId="65f39021-2f1d-4d8b-87dc-b123826f65bf" providerId="ADAL" clId="{D5214F66-09AF-4AED-AD68-BC52D5D1862C}" dt="2022-08-03T21:08:04.806" v="86" actId="20577"/>
          <ac:spMkLst>
            <pc:docMk/>
            <pc:sldMk cId="3493109116" sldId="264"/>
            <ac:spMk id="2" creationId="{D7836664-70C0-47BA-9BFF-496A04EBBFDE}"/>
          </ac:spMkLst>
        </pc:spChg>
        <pc:spChg chg="mod">
          <ac:chgData name="White, Whitney" userId="65f39021-2f1d-4d8b-87dc-b123826f65bf" providerId="ADAL" clId="{D5214F66-09AF-4AED-AD68-BC52D5D1862C}" dt="2022-08-03T21:09:20.853" v="289" actId="12"/>
          <ac:spMkLst>
            <pc:docMk/>
            <pc:sldMk cId="3493109116" sldId="264"/>
            <ac:spMk id="3" creationId="{F64339F5-2F5D-46B5-A25D-C197D73747BD}"/>
          </ac:spMkLst>
        </pc:spChg>
      </pc:sldChg>
      <pc:sldChg chg="modSp add mod">
        <pc:chgData name="White, Whitney" userId="65f39021-2f1d-4d8b-87dc-b123826f65bf" providerId="ADAL" clId="{D5214F66-09AF-4AED-AD68-BC52D5D1862C}" dt="2022-08-03T21:12:54.420" v="374" actId="20577"/>
        <pc:sldMkLst>
          <pc:docMk/>
          <pc:sldMk cId="3550641238" sldId="265"/>
        </pc:sldMkLst>
        <pc:graphicFrameChg chg="mod modGraphic">
          <ac:chgData name="White, Whitney" userId="65f39021-2f1d-4d8b-87dc-b123826f65bf" providerId="ADAL" clId="{D5214F66-09AF-4AED-AD68-BC52D5D1862C}" dt="2022-08-03T21:12:54.420" v="374" actId="20577"/>
          <ac:graphicFrameMkLst>
            <pc:docMk/>
            <pc:sldMk cId="3550641238" sldId="265"/>
            <ac:graphicFrameMk id="5" creationId="{708A0255-5F85-4C6C-ACDA-22E28353BAF3}"/>
          </ac:graphicFrameMkLst>
        </pc:graphicFrameChg>
      </pc:sldChg>
      <pc:sldChg chg="modSp add mod">
        <pc:chgData name="White, Whitney" userId="65f39021-2f1d-4d8b-87dc-b123826f65bf" providerId="ADAL" clId="{D5214F66-09AF-4AED-AD68-BC52D5D1862C}" dt="2022-08-03T21:12:37.377" v="369" actId="20577"/>
        <pc:sldMkLst>
          <pc:docMk/>
          <pc:sldMk cId="2333493653" sldId="266"/>
        </pc:sldMkLst>
        <pc:graphicFrameChg chg="mod modGraphic">
          <ac:chgData name="White, Whitney" userId="65f39021-2f1d-4d8b-87dc-b123826f65bf" providerId="ADAL" clId="{D5214F66-09AF-4AED-AD68-BC52D5D1862C}" dt="2022-08-03T21:12:37.377" v="369" actId="20577"/>
          <ac:graphicFrameMkLst>
            <pc:docMk/>
            <pc:sldMk cId="2333493653" sldId="266"/>
            <ac:graphicFrameMk id="5" creationId="{708A0255-5F85-4C6C-ACDA-22E28353BAF3}"/>
          </ac:graphicFrameMkLst>
        </pc:graphicFrameChg>
      </pc:sldChg>
      <pc:sldChg chg="add del">
        <pc:chgData name="White, Whitney" userId="65f39021-2f1d-4d8b-87dc-b123826f65bf" providerId="ADAL" clId="{D5214F66-09AF-4AED-AD68-BC52D5D1862C}" dt="2022-08-03T21:12:59.505" v="375" actId="2696"/>
        <pc:sldMkLst>
          <pc:docMk/>
          <pc:sldMk cId="1643013009"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26061"/>
            <a:ext cx="9144000" cy="370300"/>
          </a:xfrm>
        </p:spPr>
        <p:txBody>
          <a:bodyPr>
            <a:normAutofit/>
          </a:bodyPr>
          <a:lstStyle/>
          <a:p>
            <a:pPr algn="l"/>
            <a:r>
              <a:rPr lang="en-US" sz="1800" dirty="0"/>
              <a:t>Instructional Practices| Unit 2: Classroom Management| Lesson 2.25</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Classroom Reward Systems</a:t>
            </a:r>
          </a:p>
        </p:txBody>
      </p:sp>
      <p:sp>
        <p:nvSpPr>
          <p:cNvPr id="4" name="TextBox 3">
            <a:extLst>
              <a:ext uri="{FF2B5EF4-FFF2-40B4-BE49-F238E27FC236}">
                <a16:creationId xmlns:a16="http://schemas.microsoft.com/office/drawing/2014/main" id="{97B16933-48B9-EBD9-7888-B3740057DE83}"/>
              </a:ext>
            </a:extLst>
          </p:cNvPr>
          <p:cNvSpPr txBox="1"/>
          <p:nvPr/>
        </p:nvSpPr>
        <p:spPr>
          <a:xfrm>
            <a:off x="0" y="6396361"/>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7A, 7C, 7E</a:t>
            </a:r>
          </a:p>
          <a:p>
            <a:pPr marL="0" indent="0">
              <a:buNone/>
            </a:pPr>
            <a:endParaRPr lang="en-US" dirty="0"/>
          </a:p>
          <a:p>
            <a:pPr marL="0" indent="0">
              <a:buNone/>
            </a:pPr>
            <a:r>
              <a:rPr lang="en-US" dirty="0"/>
              <a:t>The student will:</a:t>
            </a:r>
          </a:p>
          <a:p>
            <a:pPr marL="342900" marR="0" lvl="0" indent="-342900">
              <a:lnSpc>
                <a:spcPct val="107000"/>
              </a:lnSpc>
              <a:spcBef>
                <a:spcPts val="600"/>
              </a:spcBef>
              <a:spcAft>
                <a:spcPts val="600"/>
              </a:spcAft>
              <a:buFont typeface="Symbol" panose="05050102010706020507" pitchFamily="18" charset="2"/>
              <a:buChar char=""/>
            </a:pPr>
            <a:r>
              <a:rPr lang="en-US" dirty="0">
                <a:ea typeface="Calibri" panose="020F0502020204030204" pitchFamily="34" charset="0"/>
                <a:cs typeface="Calibri" panose="020F0502020204030204" pitchFamily="34" charset="0"/>
              </a:rPr>
              <a:t>i</a:t>
            </a:r>
            <a:r>
              <a:rPr lang="en-US" dirty="0">
                <a:effectLst/>
                <a:ea typeface="Calibri" panose="020F0502020204030204" pitchFamily="34" charset="0"/>
                <a:cs typeface="Calibri" panose="020F0502020204030204" pitchFamily="34" charset="0"/>
              </a:rPr>
              <a:t>dentify components of classroom reward systems such as sticker charts and computer-based behavior management systems. </a:t>
            </a:r>
          </a:p>
          <a:p>
            <a:pPr marL="342900" marR="0" lvl="0" indent="-342900">
              <a:lnSpc>
                <a:spcPct val="107000"/>
              </a:lnSpc>
              <a:spcBef>
                <a:spcPts val="600"/>
              </a:spcBef>
              <a:spcAft>
                <a:spcPts val="600"/>
              </a:spcAft>
              <a:buFont typeface="Symbol" panose="05050102010706020507" pitchFamily="18" charset="2"/>
              <a:buChar char=""/>
            </a:pPr>
            <a:r>
              <a:rPr lang="en-US" dirty="0">
                <a:ea typeface="Calibri" panose="020F0502020204030204" pitchFamily="34" charset="0"/>
                <a:cs typeface="Calibri" panose="020F0502020204030204" pitchFamily="34" charset="0"/>
              </a:rPr>
              <a:t>d</a:t>
            </a:r>
            <a:r>
              <a:rPr lang="en-US" dirty="0">
                <a:effectLst/>
                <a:ea typeface="Calibri" panose="020F0502020204030204" pitchFamily="34" charset="0"/>
              </a:rPr>
              <a:t>escribe the benefits and drawbacks of classroom reward systems.</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solidFill>
                  <a:srgbClr val="000000"/>
                </a:solidFill>
                <a:effectLst/>
                <a:latin typeface="Calibri" panose="020F0502020204030204" pitchFamily="34" charset="0"/>
                <a:ea typeface="Times New Roman" panose="02020603050405020304" pitchFamily="18" charset="0"/>
              </a:rPr>
              <a:t>What are different ways your previous or current teachers have rewarded behavior and/or efforts in class? </a:t>
            </a:r>
          </a:p>
          <a:p>
            <a:pPr marL="0" indent="0">
              <a:buNone/>
            </a:pPr>
            <a:r>
              <a:rPr lang="en-US" dirty="0">
                <a:solidFill>
                  <a:srgbClr val="000000"/>
                </a:solidFill>
                <a:effectLst/>
                <a:latin typeface="Calibri" panose="020F0502020204030204" pitchFamily="34" charset="0"/>
                <a:ea typeface="Times New Roman" panose="02020603050405020304" pitchFamily="18" charset="0"/>
              </a:rPr>
              <a:t>Did they use a reward system where you could earn points or prizes? </a:t>
            </a:r>
          </a:p>
          <a:p>
            <a:pPr marL="0" indent="0">
              <a:buNone/>
            </a:pPr>
            <a:r>
              <a:rPr lang="en-US" dirty="0">
                <a:solidFill>
                  <a:srgbClr val="000000"/>
                </a:solidFill>
                <a:effectLst/>
                <a:latin typeface="Calibri" panose="020F0502020204030204" pitchFamily="34" charset="0"/>
                <a:ea typeface="Times New Roman" panose="02020603050405020304" pitchFamily="18" charset="0"/>
              </a:rPr>
              <a:t>What do you feel worked well? What were some of the drawbacks? </a:t>
            </a:r>
            <a:endParaRPr lang="en-US" sz="40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EBE6A282-AB0D-4606-853D-3C7233443E86}"/>
              </a:ext>
            </a:extLst>
          </p:cNvPr>
          <p:cNvGraphicFramePr>
            <a:graphicFrameLocks noGrp="1"/>
          </p:cNvGraphicFramePr>
          <p:nvPr>
            <p:ph idx="1"/>
            <p:extLst>
              <p:ext uri="{D42A27DB-BD31-4B8C-83A1-F6EECF244321}">
                <p14:modId xmlns:p14="http://schemas.microsoft.com/office/powerpoint/2010/main" val="345635853"/>
              </p:ext>
            </p:extLst>
          </p:nvPr>
        </p:nvGraphicFramePr>
        <p:xfrm>
          <a:off x="838200" y="1690688"/>
          <a:ext cx="10515600" cy="4208060"/>
        </p:xfrm>
        <a:graphic>
          <a:graphicData uri="http://schemas.openxmlformats.org/drawingml/2006/table">
            <a:tbl>
              <a:tblPr firstRow="1" firstCol="1" bandRow="1"/>
              <a:tblGrid>
                <a:gridCol w="2296217">
                  <a:extLst>
                    <a:ext uri="{9D8B030D-6E8A-4147-A177-3AD203B41FA5}">
                      <a16:colId xmlns:a16="http://schemas.microsoft.com/office/drawing/2014/main" val="544750402"/>
                    </a:ext>
                  </a:extLst>
                </a:gridCol>
                <a:gridCol w="8219383">
                  <a:extLst>
                    <a:ext uri="{9D8B030D-6E8A-4147-A177-3AD203B41FA5}">
                      <a16:colId xmlns:a16="http://schemas.microsoft.com/office/drawing/2014/main" val="449782004"/>
                    </a:ext>
                  </a:extLst>
                </a:gridCol>
              </a:tblGrid>
              <a:tr h="777695">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Positive Reinforcement</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Feedback to students that follows a desired behavior and increases the likelihood that the behavior will be repeated.</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8719381"/>
                  </a:ext>
                </a:extLst>
              </a:tr>
              <a:tr h="777695">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Behavior Management System</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A reinforcement-based system that acknowledges and rewards students for positive behaviors.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4126390"/>
                  </a:ext>
                </a:extLst>
              </a:tr>
              <a:tr h="777695">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Classroom Reward System</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A system where students earn tangible rewards by exhibiting targeted behaviors.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0208546"/>
                  </a:ext>
                </a:extLst>
              </a:tr>
              <a:tr h="777695">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Targeted Behavior</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The discrete behaviors that are explicitly taught and reinforced.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2000607"/>
                  </a:ext>
                </a:extLst>
              </a:tr>
              <a:tr h="777695">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Tangible rewards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Items such as stickers, dollars, toys, etc. that students can earn for exhibiting targeted behaviors.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0813240"/>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normAutofit fontScale="90000"/>
          </a:bodyPr>
          <a:lstStyle/>
          <a:p>
            <a:br>
              <a:rPr lang="en-US" sz="4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4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Remember that positive reinforcement may include:</a:t>
            </a:r>
            <a:br>
              <a:rPr lang="en-US" sz="44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r>
              <a:rPr lang="en-US" dirty="0"/>
              <a:t>Praise and nonverbal communication</a:t>
            </a:r>
          </a:p>
          <a:p>
            <a:r>
              <a:rPr lang="en-US" dirty="0"/>
              <a:t>Social attention</a:t>
            </a:r>
          </a:p>
          <a:p>
            <a:r>
              <a:rPr lang="en-US" dirty="0"/>
              <a:t>Tangibles (such as stickers)</a:t>
            </a:r>
          </a:p>
          <a:p>
            <a:r>
              <a:rPr lang="en-US" dirty="0"/>
              <a:t>Activities or Privileges</a:t>
            </a:r>
          </a:p>
          <a:p>
            <a:r>
              <a:rPr lang="en-US" dirty="0"/>
              <a:t>Secondary positive reinforcements (such as checkmarks)</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Intro to Classroom Reward Systems</a:t>
            </a:r>
          </a:p>
        </p:txBody>
      </p:sp>
      <p:graphicFrame>
        <p:nvGraphicFramePr>
          <p:cNvPr id="5" name="Content Placeholder 4">
            <a:extLst>
              <a:ext uri="{FF2B5EF4-FFF2-40B4-BE49-F238E27FC236}">
                <a16:creationId xmlns:a16="http://schemas.microsoft.com/office/drawing/2014/main" id="{708A0255-5F85-4C6C-ACDA-22E28353BAF3}"/>
              </a:ext>
            </a:extLst>
          </p:cNvPr>
          <p:cNvGraphicFramePr>
            <a:graphicFrameLocks noGrp="1"/>
          </p:cNvGraphicFramePr>
          <p:nvPr>
            <p:ph idx="1"/>
            <p:extLst>
              <p:ext uri="{D42A27DB-BD31-4B8C-83A1-F6EECF244321}">
                <p14:modId xmlns:p14="http://schemas.microsoft.com/office/powerpoint/2010/main" val="1646041620"/>
              </p:ext>
            </p:extLst>
          </p:nvPr>
        </p:nvGraphicFramePr>
        <p:xfrm>
          <a:off x="1383343" y="1909285"/>
          <a:ext cx="9425313" cy="4363404"/>
        </p:xfrm>
        <a:graphic>
          <a:graphicData uri="http://schemas.openxmlformats.org/drawingml/2006/table">
            <a:tbl>
              <a:tblPr firstRow="1" firstCol="1" bandRow="1"/>
              <a:tblGrid>
                <a:gridCol w="2150508">
                  <a:extLst>
                    <a:ext uri="{9D8B030D-6E8A-4147-A177-3AD203B41FA5}">
                      <a16:colId xmlns:a16="http://schemas.microsoft.com/office/drawing/2014/main" val="2196635017"/>
                    </a:ext>
                  </a:extLst>
                </a:gridCol>
                <a:gridCol w="7274805">
                  <a:extLst>
                    <a:ext uri="{9D8B030D-6E8A-4147-A177-3AD203B41FA5}">
                      <a16:colId xmlns:a16="http://schemas.microsoft.com/office/drawing/2014/main" val="4137637633"/>
                    </a:ext>
                  </a:extLst>
                </a:gridCol>
              </a:tblGrid>
              <a:tr h="228303">
                <a:tc>
                  <a:txBody>
                    <a:bodyPr/>
                    <a:lstStyle/>
                    <a:p>
                      <a:pPr marL="0" marR="0" algn="ctr">
                        <a:lnSpc>
                          <a:spcPct val="107000"/>
                        </a:lnSpc>
                        <a:spcBef>
                          <a:spcPts val="0"/>
                        </a:spcBef>
                        <a:spcAft>
                          <a:spcPts val="0"/>
                        </a:spcAft>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Component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b="1">
                          <a:solidFill>
                            <a:srgbClr val="000000"/>
                          </a:solidFill>
                          <a:effectLst/>
                          <a:latin typeface="Calibri" panose="020F0502020204030204" pitchFamily="34" charset="0"/>
                          <a:ea typeface="Calibri" panose="020F0502020204030204" pitchFamily="34" charset="0"/>
                          <a:cs typeface="Calibri" panose="020F0502020204030204" pitchFamily="34" charset="0"/>
                        </a:rPr>
                        <a:t>Notes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7930940"/>
                  </a:ext>
                </a:extLst>
              </a:tr>
              <a:tr h="1900410">
                <a:tc>
                  <a:txBody>
                    <a:bodyPr/>
                    <a:lstStyle/>
                    <a:p>
                      <a:pPr marL="0" marR="0">
                        <a:lnSpc>
                          <a:spcPct val="107000"/>
                        </a:lnSpc>
                        <a:spcBef>
                          <a:spcPts val="600"/>
                        </a:spcBef>
                        <a:spcAft>
                          <a:spcPts val="600"/>
                        </a:spcAft>
                      </a:pPr>
                      <a:r>
                        <a:rPr lang="en-US" sz="1800" b="1" dirty="0">
                          <a:effectLst/>
                          <a:latin typeface="Calibri" panose="020F0502020204030204" pitchFamily="34" charset="0"/>
                          <a:ea typeface="Times New Roman" panose="02020603050405020304" pitchFamily="18" charset="0"/>
                          <a:cs typeface="Calibri" panose="020F0502020204030204" pitchFamily="34" charset="0"/>
                        </a:rPr>
                        <a:t> Purpose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600"/>
                        </a:spcBef>
                        <a:spcAft>
                          <a:spcPts val="600"/>
                        </a:spcAft>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Students need to know the purpose of the behavior management system and the reasons for various aspects of the system. Students should understand that a positive system creates an organized, consistent, culturally-responsive, and integrated classroom environment that supports effective instruction and promotes student learning; Engages and communicates with students (and families) in an ongoing manner. Without a purpose, students may not fully engage in the system, which can result in a disorderly classroom, disruptive behaviors, loss of instructional time, decreased student engagement, etc.</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9650416"/>
                  </a:ext>
                </a:extLst>
              </a:tr>
              <a:tr h="1491977">
                <a:tc>
                  <a:txBody>
                    <a:bodyPr/>
                    <a:lstStyle/>
                    <a:p>
                      <a:pPr marL="0" marR="0">
                        <a:lnSpc>
                          <a:spcPct val="107000"/>
                        </a:lnSpc>
                        <a:spcBef>
                          <a:spcPts val="600"/>
                        </a:spcBef>
                        <a:spcAft>
                          <a:spcPts val="600"/>
                        </a:spcAft>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Commitment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600"/>
                        </a:spcBef>
                        <a:spcAft>
                          <a:spcPts val="600"/>
                        </a:spcAft>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Teachers and Students must commit to supporting and implementing the system consistently and with fidelity.  Students need to understand that the school community – students, parents, teachers, administrators, etc. – will work together to create and maintain a safe and supportive environment to promote teaching and learning. If a teacher is not consistent, students likely will not be either.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8988322"/>
                  </a:ext>
                </a:extLst>
              </a:tr>
            </a:tbl>
          </a:graphicData>
        </a:graphic>
      </p:graphicFrame>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Intro to Classroom Reward Systems </a:t>
            </a:r>
          </a:p>
        </p:txBody>
      </p:sp>
      <p:graphicFrame>
        <p:nvGraphicFramePr>
          <p:cNvPr id="5" name="Content Placeholder 4">
            <a:extLst>
              <a:ext uri="{FF2B5EF4-FFF2-40B4-BE49-F238E27FC236}">
                <a16:creationId xmlns:a16="http://schemas.microsoft.com/office/drawing/2014/main" id="{708A0255-5F85-4C6C-ACDA-22E28353BAF3}"/>
              </a:ext>
            </a:extLst>
          </p:cNvPr>
          <p:cNvGraphicFramePr>
            <a:graphicFrameLocks noGrp="1"/>
          </p:cNvGraphicFramePr>
          <p:nvPr>
            <p:ph idx="1"/>
            <p:extLst>
              <p:ext uri="{D42A27DB-BD31-4B8C-83A1-F6EECF244321}">
                <p14:modId xmlns:p14="http://schemas.microsoft.com/office/powerpoint/2010/main" val="2683129791"/>
              </p:ext>
            </p:extLst>
          </p:nvPr>
        </p:nvGraphicFramePr>
        <p:xfrm>
          <a:off x="1247361" y="2051239"/>
          <a:ext cx="9697278" cy="3748399"/>
        </p:xfrm>
        <a:graphic>
          <a:graphicData uri="http://schemas.openxmlformats.org/drawingml/2006/table">
            <a:tbl>
              <a:tblPr firstRow="1" firstCol="1" bandRow="1"/>
              <a:tblGrid>
                <a:gridCol w="2212560">
                  <a:extLst>
                    <a:ext uri="{9D8B030D-6E8A-4147-A177-3AD203B41FA5}">
                      <a16:colId xmlns:a16="http://schemas.microsoft.com/office/drawing/2014/main" val="2196635017"/>
                    </a:ext>
                  </a:extLst>
                </a:gridCol>
                <a:gridCol w="7484718">
                  <a:extLst>
                    <a:ext uri="{9D8B030D-6E8A-4147-A177-3AD203B41FA5}">
                      <a16:colId xmlns:a16="http://schemas.microsoft.com/office/drawing/2014/main" val="4137637633"/>
                    </a:ext>
                  </a:extLst>
                </a:gridCol>
              </a:tblGrid>
              <a:tr h="164238">
                <a:tc>
                  <a:txBody>
                    <a:bodyPr/>
                    <a:lstStyle/>
                    <a:p>
                      <a:pPr marL="0" marR="0" algn="ctr">
                        <a:lnSpc>
                          <a:spcPct val="107000"/>
                        </a:lnSpc>
                        <a:spcBef>
                          <a:spcPts val="0"/>
                        </a:spcBef>
                        <a:spcAft>
                          <a:spcPts val="0"/>
                        </a:spcAft>
                      </a:pPr>
                      <a:r>
                        <a:rPr lang="en-US" sz="1800" b="1">
                          <a:solidFill>
                            <a:srgbClr val="000000"/>
                          </a:solidFill>
                          <a:effectLst/>
                          <a:latin typeface="Calibri" panose="020F0502020204030204" pitchFamily="34" charset="0"/>
                          <a:ea typeface="Calibri" panose="020F0502020204030204" pitchFamily="34" charset="0"/>
                          <a:cs typeface="Calibri" panose="020F0502020204030204" pitchFamily="34" charset="0"/>
                        </a:rPr>
                        <a:t>Component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b="1">
                          <a:solidFill>
                            <a:srgbClr val="000000"/>
                          </a:solidFill>
                          <a:effectLst/>
                          <a:latin typeface="Calibri" panose="020F0502020204030204" pitchFamily="34" charset="0"/>
                          <a:ea typeface="Calibri" panose="020F0502020204030204" pitchFamily="34" charset="0"/>
                          <a:cs typeface="Calibri" panose="020F0502020204030204" pitchFamily="34" charset="0"/>
                        </a:rPr>
                        <a:t>Notes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7930940"/>
                  </a:ext>
                </a:extLst>
              </a:tr>
              <a:tr h="627171">
                <a:tc>
                  <a:txBody>
                    <a:bodyPr/>
                    <a:lstStyle/>
                    <a:p>
                      <a:pPr marL="0" marR="0">
                        <a:lnSpc>
                          <a:spcPct val="107000"/>
                        </a:lnSpc>
                        <a:spcBef>
                          <a:spcPts val="600"/>
                        </a:spcBef>
                        <a:spcAft>
                          <a:spcPts val="600"/>
                        </a:spcAft>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800" b="1" dirty="0">
                          <a:effectLst/>
                          <a:latin typeface="Calibri" panose="020F0502020204030204" pitchFamily="34" charset="0"/>
                          <a:ea typeface="Times New Roman" panose="02020603050405020304" pitchFamily="18" charset="0"/>
                          <a:cs typeface="Calibri" panose="020F0502020204030204" pitchFamily="34" charset="0"/>
                        </a:rPr>
                        <a:t>Defines behavioral expectations, procedures, and consequences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Students need to be explicitly taught the classroom expectations and procedures and the consequences of not following through with those expectations and procedures.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3169779"/>
                  </a:ext>
                </a:extLst>
              </a:tr>
              <a:tr h="1073304">
                <a:tc>
                  <a:txBody>
                    <a:bodyPr/>
                    <a:lstStyle/>
                    <a:p>
                      <a:pPr marL="0" marR="0">
                        <a:lnSpc>
                          <a:spcPct val="107000"/>
                        </a:lnSpc>
                        <a:spcBef>
                          <a:spcPts val="600"/>
                        </a:spcBef>
                        <a:spcAft>
                          <a:spcPts val="600"/>
                        </a:spcAft>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Fair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600"/>
                        </a:spcBef>
                        <a:spcAft>
                          <a:spcPts val="600"/>
                        </a:spcAft>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Teachers must ensure fairness in the system. A system will backfire and is potentially harmful if students view it as unfair.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0264328"/>
                  </a:ext>
                </a:extLst>
              </a:tr>
              <a:tr h="1233644">
                <a:tc>
                  <a:txBody>
                    <a:bodyPr/>
                    <a:lstStyle/>
                    <a:p>
                      <a:pPr marL="0" marR="0">
                        <a:lnSpc>
                          <a:spcPct val="107000"/>
                        </a:lnSpc>
                        <a:spcBef>
                          <a:spcPts val="600"/>
                        </a:spcBef>
                        <a:spcAft>
                          <a:spcPts val="600"/>
                        </a:spcAft>
                      </a:pPr>
                      <a:r>
                        <a:rPr lang="en-US" sz="1800" b="1" dirty="0">
                          <a:effectLst/>
                          <a:latin typeface="Calibri" panose="020F0502020204030204" pitchFamily="34" charset="0"/>
                          <a:ea typeface="Times New Roman" panose="02020603050405020304" pitchFamily="18" charset="0"/>
                          <a:cs typeface="Calibri" panose="020F0502020204030204" pitchFamily="34" charset="0"/>
                        </a:rPr>
                        <a:t> Individual or Group Rewards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600"/>
                        </a:spcBef>
                        <a:spcAft>
                          <a:spcPts val="600"/>
                        </a:spcAft>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The teacher must decide is the system will focus only on students earning individual rewards for their own good behavior, or target group rewards where the whole class is rewarded for good behavior. There may also be a combination of the two.</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9908397"/>
                  </a:ext>
                </a:extLst>
              </a:tr>
            </a:tbl>
          </a:graphicData>
        </a:graphic>
      </p:graphicFrame>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3550641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Intro to Classroom Reward Systems  </a:t>
            </a:r>
          </a:p>
        </p:txBody>
      </p:sp>
      <p:graphicFrame>
        <p:nvGraphicFramePr>
          <p:cNvPr id="5" name="Content Placeholder 4">
            <a:extLst>
              <a:ext uri="{FF2B5EF4-FFF2-40B4-BE49-F238E27FC236}">
                <a16:creationId xmlns:a16="http://schemas.microsoft.com/office/drawing/2014/main" id="{708A0255-5F85-4C6C-ACDA-22E28353BAF3}"/>
              </a:ext>
            </a:extLst>
          </p:cNvPr>
          <p:cNvGraphicFramePr>
            <a:graphicFrameLocks noGrp="1"/>
          </p:cNvGraphicFramePr>
          <p:nvPr>
            <p:ph idx="1"/>
            <p:extLst>
              <p:ext uri="{D42A27DB-BD31-4B8C-83A1-F6EECF244321}">
                <p14:modId xmlns:p14="http://schemas.microsoft.com/office/powerpoint/2010/main" val="596161259"/>
              </p:ext>
            </p:extLst>
          </p:nvPr>
        </p:nvGraphicFramePr>
        <p:xfrm>
          <a:off x="1293743" y="1825625"/>
          <a:ext cx="9604513" cy="4407467"/>
        </p:xfrm>
        <a:graphic>
          <a:graphicData uri="http://schemas.openxmlformats.org/drawingml/2006/table">
            <a:tbl>
              <a:tblPr firstRow="1" firstCol="1" bandRow="1"/>
              <a:tblGrid>
                <a:gridCol w="2191395">
                  <a:extLst>
                    <a:ext uri="{9D8B030D-6E8A-4147-A177-3AD203B41FA5}">
                      <a16:colId xmlns:a16="http://schemas.microsoft.com/office/drawing/2014/main" val="2196635017"/>
                    </a:ext>
                  </a:extLst>
                </a:gridCol>
                <a:gridCol w="7413118">
                  <a:extLst>
                    <a:ext uri="{9D8B030D-6E8A-4147-A177-3AD203B41FA5}">
                      <a16:colId xmlns:a16="http://schemas.microsoft.com/office/drawing/2014/main" val="4137637633"/>
                    </a:ext>
                  </a:extLst>
                </a:gridCol>
              </a:tblGrid>
              <a:tr h="183145">
                <a:tc>
                  <a:txBody>
                    <a:bodyPr/>
                    <a:lstStyle/>
                    <a:p>
                      <a:pPr marL="0" marR="0" algn="ctr">
                        <a:lnSpc>
                          <a:spcPct val="107000"/>
                        </a:lnSpc>
                        <a:spcBef>
                          <a:spcPts val="0"/>
                        </a:spcBef>
                        <a:spcAft>
                          <a:spcPts val="0"/>
                        </a:spcAft>
                      </a:pPr>
                      <a:r>
                        <a:rPr lang="en-US" sz="1800" b="1">
                          <a:solidFill>
                            <a:srgbClr val="000000"/>
                          </a:solidFill>
                          <a:effectLst/>
                          <a:latin typeface="Calibri" panose="020F0502020204030204" pitchFamily="34" charset="0"/>
                          <a:ea typeface="Calibri" panose="020F0502020204030204" pitchFamily="34" charset="0"/>
                          <a:cs typeface="Calibri" panose="020F0502020204030204" pitchFamily="34" charset="0"/>
                        </a:rPr>
                        <a:t>Component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b="1">
                          <a:solidFill>
                            <a:srgbClr val="000000"/>
                          </a:solidFill>
                          <a:effectLst/>
                          <a:latin typeface="Calibri" panose="020F0502020204030204" pitchFamily="34" charset="0"/>
                          <a:ea typeface="Calibri" panose="020F0502020204030204" pitchFamily="34" charset="0"/>
                          <a:cs typeface="Calibri" panose="020F0502020204030204" pitchFamily="34" charset="0"/>
                        </a:rPr>
                        <a:t>Notes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7930940"/>
                  </a:ext>
                </a:extLst>
              </a:tr>
              <a:tr h="1196864">
                <a:tc>
                  <a:txBody>
                    <a:bodyPr/>
                    <a:lstStyle/>
                    <a:p>
                      <a:pPr marL="0" marR="0">
                        <a:lnSpc>
                          <a:spcPct val="107000"/>
                        </a:lnSpc>
                        <a:spcBef>
                          <a:spcPts val="600"/>
                        </a:spcBef>
                        <a:spcAft>
                          <a:spcPts val="600"/>
                        </a:spcAft>
                      </a:pPr>
                      <a:r>
                        <a:rPr lang="en-US" sz="1800" b="1" dirty="0">
                          <a:effectLst/>
                          <a:latin typeface="Calibri" panose="020F0502020204030204" pitchFamily="34" charset="0"/>
                          <a:ea typeface="Times New Roman" panose="02020603050405020304" pitchFamily="18" charset="0"/>
                          <a:cs typeface="Calibri" panose="020F0502020204030204" pitchFamily="34" charset="0"/>
                        </a:rPr>
                        <a:t> Type of rewards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600"/>
                        </a:spcBef>
                        <a:spcAft>
                          <a:spcPts val="600"/>
                        </a:spcAft>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Teachers must decide the type of rewards they will over, such as stickers, trip to the treasure chest, tokens, points, etc. The teacher must also decide if those rewards can be added up and later traded for a larger reward, such as a small prize or activity.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0326006"/>
                  </a:ext>
                </a:extLst>
              </a:tr>
              <a:tr h="1554461">
                <a:tc>
                  <a:txBody>
                    <a:bodyPr/>
                    <a:lstStyle/>
                    <a:p>
                      <a:pPr marL="0" marR="0">
                        <a:lnSpc>
                          <a:spcPct val="107000"/>
                        </a:lnSpc>
                        <a:spcBef>
                          <a:spcPts val="600"/>
                        </a:spcBef>
                        <a:spcAft>
                          <a:spcPts val="600"/>
                        </a:spcAft>
                      </a:pPr>
                      <a:r>
                        <a:rPr lang="en-US" sz="1800" b="1" dirty="0">
                          <a:effectLst/>
                          <a:latin typeface="Calibri" panose="020F0502020204030204" pitchFamily="34" charset="0"/>
                          <a:ea typeface="Times New Roman" panose="02020603050405020304" pitchFamily="18" charset="0"/>
                          <a:cs typeface="Calibri" panose="020F0502020204030204" pitchFamily="34" charset="0"/>
                        </a:rPr>
                        <a:t> Acknowledge and reward positive behaviors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The teacher must immediately reward students for their positive behavior to reinforce the desired behaviors. The desired behavior will occur more frequently if it is immediately followed by positive reinforcement.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4456799"/>
                  </a:ext>
                </a:extLst>
              </a:tr>
              <a:tr h="1375662">
                <a:tc>
                  <a:txBody>
                    <a:bodyPr/>
                    <a:lstStyle/>
                    <a:p>
                      <a:pPr marL="0" marR="0">
                        <a:lnSpc>
                          <a:spcPct val="107000"/>
                        </a:lnSpc>
                        <a:spcBef>
                          <a:spcPts val="600"/>
                        </a:spcBef>
                        <a:spcAft>
                          <a:spcPts val="600"/>
                        </a:spcAft>
                      </a:pPr>
                      <a:r>
                        <a:rPr lang="en-US" sz="1800" b="1" dirty="0">
                          <a:effectLst/>
                          <a:latin typeface="Calibri" panose="020F0502020204030204" pitchFamily="34" charset="0"/>
                          <a:ea typeface="Times New Roman" panose="02020603050405020304" pitchFamily="18" charset="0"/>
                          <a:cs typeface="Calibri" panose="020F0502020204030204" pitchFamily="34" charset="0"/>
                        </a:rPr>
                        <a:t> Keeps parents informed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Parents must be made aware of the expected behaviors, the classroom reward system, and routinely informed about student behaviors.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33406" marR="33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99759888"/>
                  </a:ext>
                </a:extLst>
              </a:tr>
            </a:tbl>
          </a:graphicData>
        </a:graphic>
      </p:graphicFrame>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333493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a:lnSpc>
                <a:spcPct val="107000"/>
              </a:lnSpc>
              <a:spcBef>
                <a:spcPts val="600"/>
              </a:spcBef>
              <a:spcAft>
                <a:spcPts val="600"/>
              </a:spcAft>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Based on what you’ve learned so far, what are the essential components of a classroom behavior system?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Bef>
                <a:spcPts val="600"/>
              </a:spcBef>
              <a:spcAft>
                <a:spcPts val="600"/>
              </a:spcAft>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were common elements you noticed in the different reward systems you explored?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600"/>
              </a:spcBef>
              <a:spcAft>
                <a:spcPts val="600"/>
              </a:spcAft>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How did the components of those systems compare to the essential components we identified?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TotalTime>
  <Words>718</Words>
  <Application>Microsoft Office PowerPoint</Application>
  <PresentationFormat>Widescreen</PresentationFormat>
  <Paragraphs>72</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Symbol</vt:lpstr>
      <vt:lpstr>Office Theme</vt:lpstr>
      <vt:lpstr>Instructional Practices| Unit 2: Classroom Management| Lesson 2.25</vt:lpstr>
      <vt:lpstr>TEKS Standards &amp; Objectives</vt:lpstr>
      <vt:lpstr>Bellringer</vt:lpstr>
      <vt:lpstr>Vocabulary</vt:lpstr>
      <vt:lpstr> Remember that positive reinforcement may include: </vt:lpstr>
      <vt:lpstr>Intro to Classroom Reward Systems</vt:lpstr>
      <vt:lpstr>Intro to Classroom Reward Systems </vt:lpstr>
      <vt:lpstr>Intro to Classroom Reward Systems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2.25: Classroom Reward Systems</dc:title>
  <dc:subject>Lesson 2.25: Classroom Reward Systems</dc:subject>
  <dc:creator>Texas Education Agency</dc:creator>
  <cp:lastModifiedBy>White (she/her), Whitney</cp:lastModifiedBy>
  <cp:revision>3</cp:revision>
  <dcterms:created xsi:type="dcterms:W3CDTF">2022-05-09T19:40:20Z</dcterms:created>
  <dcterms:modified xsi:type="dcterms:W3CDTF">2023-08-31T01:27:40Z</dcterms:modified>
</cp:coreProperties>
</file>
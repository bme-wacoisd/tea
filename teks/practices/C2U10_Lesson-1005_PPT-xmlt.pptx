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4" r:id="rId5"/>
    <p:sldId id="268" r:id="rId6"/>
    <p:sldId id="269" r:id="rId7"/>
    <p:sldId id="270" r:id="rId8"/>
    <p:sldId id="271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B250F-CD1A-4339-BFB1-324B98DA1F2E}" v="4" dt="2023-03-03T15:48:19.712"/>
    <p1510:client id="{894E9E6A-3006-49C9-8377-82EDB45D00F0}" v="4" dt="2023-03-03T16:16:23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40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s, Nicole" userId="635ffad0-149b-4734-875d-ab8f60d68deb" providerId="ADAL" clId="{894E9E6A-3006-49C9-8377-82EDB45D00F0}"/>
    <pc:docChg chg="undo custSel addSld modSld sldOrd">
      <pc:chgData name="Mills, Nicole" userId="635ffad0-149b-4734-875d-ab8f60d68deb" providerId="ADAL" clId="{894E9E6A-3006-49C9-8377-82EDB45D00F0}" dt="2023-03-03T16:25:33.027" v="365"/>
      <pc:docMkLst>
        <pc:docMk/>
      </pc:docMkLst>
      <pc:sldChg chg="modSp mod">
        <pc:chgData name="Mills, Nicole" userId="635ffad0-149b-4734-875d-ab8f60d68deb" providerId="ADAL" clId="{894E9E6A-3006-49C9-8377-82EDB45D00F0}" dt="2023-03-03T16:15:04.411" v="3" actId="20577"/>
        <pc:sldMkLst>
          <pc:docMk/>
          <pc:sldMk cId="1482277026" sldId="256"/>
        </pc:sldMkLst>
        <pc:spChg chg="mod">
          <ac:chgData name="Mills, Nicole" userId="635ffad0-149b-4734-875d-ab8f60d68deb" providerId="ADAL" clId="{894E9E6A-3006-49C9-8377-82EDB45D00F0}" dt="2023-03-03T16:15:04.411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Mills, Nicole" userId="635ffad0-149b-4734-875d-ab8f60d68deb" providerId="ADAL" clId="{894E9E6A-3006-49C9-8377-82EDB45D00F0}" dt="2023-03-03T16:15:00.726" v="2" actId="2763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Mills, Nicole" userId="635ffad0-149b-4734-875d-ab8f60d68deb" providerId="ADAL" clId="{894E9E6A-3006-49C9-8377-82EDB45D00F0}" dt="2023-03-03T16:15:57.969" v="21"/>
        <pc:sldMkLst>
          <pc:docMk/>
          <pc:sldMk cId="4071305681" sldId="258"/>
        </pc:sldMkLst>
        <pc:spChg chg="mod">
          <ac:chgData name="Mills, Nicole" userId="635ffad0-149b-4734-875d-ab8f60d68deb" providerId="ADAL" clId="{894E9E6A-3006-49C9-8377-82EDB45D00F0}" dt="2023-03-03T16:15:57.969" v="21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Mills, Nicole" userId="635ffad0-149b-4734-875d-ab8f60d68deb" providerId="ADAL" clId="{894E9E6A-3006-49C9-8377-82EDB45D00F0}" dt="2023-03-03T16:15:46.043" v="20" actId="20577"/>
        <pc:sldMkLst>
          <pc:docMk/>
          <pc:sldMk cId="2772527113" sldId="259"/>
        </pc:sldMkLst>
        <pc:spChg chg="mod">
          <ac:chgData name="Mills, Nicole" userId="635ffad0-149b-4734-875d-ab8f60d68deb" providerId="ADAL" clId="{894E9E6A-3006-49C9-8377-82EDB45D00F0}" dt="2023-03-03T16:15:46.043" v="20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Mills, Nicole" userId="635ffad0-149b-4734-875d-ab8f60d68deb" providerId="ADAL" clId="{894E9E6A-3006-49C9-8377-82EDB45D00F0}" dt="2023-03-03T16:16:46.338" v="36" actId="1076"/>
        <pc:sldMkLst>
          <pc:docMk/>
          <pc:sldMk cId="3493109116" sldId="264"/>
        </pc:sldMkLst>
        <pc:graphicFrameChg chg="mod modGraphic">
          <ac:chgData name="Mills, Nicole" userId="635ffad0-149b-4734-875d-ab8f60d68deb" providerId="ADAL" clId="{894E9E6A-3006-49C9-8377-82EDB45D00F0}" dt="2023-03-03T16:16:46.338" v="36" actId="1076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modSp mod">
        <pc:chgData name="Mills, Nicole" userId="635ffad0-149b-4734-875d-ab8f60d68deb" providerId="ADAL" clId="{894E9E6A-3006-49C9-8377-82EDB45D00F0}" dt="2023-03-03T16:25:33.027" v="365"/>
        <pc:sldMkLst>
          <pc:docMk/>
          <pc:sldMk cId="2313533111" sldId="267"/>
        </pc:sldMkLst>
        <pc:spChg chg="mod">
          <ac:chgData name="Mills, Nicole" userId="635ffad0-149b-4734-875d-ab8f60d68deb" providerId="ADAL" clId="{894E9E6A-3006-49C9-8377-82EDB45D00F0}" dt="2023-03-03T16:25:33.027" v="365"/>
          <ac:spMkLst>
            <pc:docMk/>
            <pc:sldMk cId="2313533111" sldId="267"/>
            <ac:spMk id="3" creationId="{49F2A5AF-3C0B-4968-A438-E435325199EA}"/>
          </ac:spMkLst>
        </pc:spChg>
      </pc:sldChg>
      <pc:sldChg chg="modSp add mod ord">
        <pc:chgData name="Mills, Nicole" userId="635ffad0-149b-4734-875d-ab8f60d68deb" providerId="ADAL" clId="{894E9E6A-3006-49C9-8377-82EDB45D00F0}" dt="2023-03-03T16:18:32.838" v="59" actId="20577"/>
        <pc:sldMkLst>
          <pc:docMk/>
          <pc:sldMk cId="2465265524" sldId="268"/>
        </pc:sldMkLst>
        <pc:spChg chg="mod">
          <ac:chgData name="Mills, Nicole" userId="635ffad0-149b-4734-875d-ab8f60d68deb" providerId="ADAL" clId="{894E9E6A-3006-49C9-8377-82EDB45D00F0}" dt="2023-03-03T16:17:31.124" v="40"/>
          <ac:spMkLst>
            <pc:docMk/>
            <pc:sldMk cId="2465265524" sldId="268"/>
            <ac:spMk id="2" creationId="{2F03F004-EE4F-44F2-AA0E-56B8CFF11342}"/>
          </ac:spMkLst>
        </pc:spChg>
        <pc:spChg chg="mod">
          <ac:chgData name="Mills, Nicole" userId="635ffad0-149b-4734-875d-ab8f60d68deb" providerId="ADAL" clId="{894E9E6A-3006-49C9-8377-82EDB45D00F0}" dt="2023-03-03T16:18:32.838" v="59" actId="20577"/>
          <ac:spMkLst>
            <pc:docMk/>
            <pc:sldMk cId="2465265524" sldId="268"/>
            <ac:spMk id="3" creationId="{392BE286-77A6-49DD-B15D-7E4718D52FE7}"/>
          </ac:spMkLst>
        </pc:spChg>
      </pc:sldChg>
      <pc:sldChg chg="modSp add mod">
        <pc:chgData name="Mills, Nicole" userId="635ffad0-149b-4734-875d-ab8f60d68deb" providerId="ADAL" clId="{894E9E6A-3006-49C9-8377-82EDB45D00F0}" dt="2023-03-03T16:20:07.474" v="140" actId="20577"/>
        <pc:sldMkLst>
          <pc:docMk/>
          <pc:sldMk cId="3938580036" sldId="269"/>
        </pc:sldMkLst>
        <pc:spChg chg="mod">
          <ac:chgData name="Mills, Nicole" userId="635ffad0-149b-4734-875d-ab8f60d68deb" providerId="ADAL" clId="{894E9E6A-3006-49C9-8377-82EDB45D00F0}" dt="2023-03-03T16:20:07.474" v="140" actId="20577"/>
          <ac:spMkLst>
            <pc:docMk/>
            <pc:sldMk cId="3938580036" sldId="269"/>
            <ac:spMk id="3" creationId="{392BE286-77A6-49DD-B15D-7E4718D52FE7}"/>
          </ac:spMkLst>
        </pc:spChg>
      </pc:sldChg>
      <pc:sldChg chg="modSp add mod">
        <pc:chgData name="Mills, Nicole" userId="635ffad0-149b-4734-875d-ab8f60d68deb" providerId="ADAL" clId="{894E9E6A-3006-49C9-8377-82EDB45D00F0}" dt="2023-03-03T16:21:05.261" v="166" actId="113"/>
        <pc:sldMkLst>
          <pc:docMk/>
          <pc:sldMk cId="3019988693" sldId="270"/>
        </pc:sldMkLst>
        <pc:spChg chg="mod">
          <ac:chgData name="Mills, Nicole" userId="635ffad0-149b-4734-875d-ab8f60d68deb" providerId="ADAL" clId="{894E9E6A-3006-49C9-8377-82EDB45D00F0}" dt="2023-03-03T16:21:05.261" v="166" actId="113"/>
          <ac:spMkLst>
            <pc:docMk/>
            <pc:sldMk cId="3019988693" sldId="270"/>
            <ac:spMk id="3" creationId="{392BE286-77A6-49DD-B15D-7E4718D52FE7}"/>
          </ac:spMkLst>
        </pc:spChg>
      </pc:sldChg>
      <pc:sldChg chg="modSp add mod">
        <pc:chgData name="Mills, Nicole" userId="635ffad0-149b-4734-875d-ab8f60d68deb" providerId="ADAL" clId="{894E9E6A-3006-49C9-8377-82EDB45D00F0}" dt="2023-03-03T16:25:03.798" v="364" actId="5793"/>
        <pc:sldMkLst>
          <pc:docMk/>
          <pc:sldMk cId="3997077344" sldId="271"/>
        </pc:sldMkLst>
        <pc:spChg chg="mod">
          <ac:chgData name="Mills, Nicole" userId="635ffad0-149b-4734-875d-ab8f60d68deb" providerId="ADAL" clId="{894E9E6A-3006-49C9-8377-82EDB45D00F0}" dt="2023-03-03T16:25:03.798" v="364" actId="5793"/>
          <ac:spMkLst>
            <pc:docMk/>
            <pc:sldMk cId="3997077344" sldId="271"/>
            <ac:spMk id="3" creationId="{392BE286-77A6-49DD-B15D-7E4718D52F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2774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Unit10: Putting it All Together | Lesson 10.05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Becoming a Teacher |Certification and Educational Requirements in Texas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725B4-B61F-4858-713D-57FF24E6457A}"/>
              </a:ext>
            </a:extLst>
          </p:cNvPr>
          <p:cNvSpPr txBox="1"/>
          <p:nvPr/>
        </p:nvSpPr>
        <p:spPr>
          <a:xfrm>
            <a:off x="0" y="6403074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19A, 19B, 19C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Identify what is required to become a teacher in Texas</a:t>
            </a:r>
          </a:p>
          <a:p>
            <a:r>
              <a:rPr lang="en-US" dirty="0"/>
              <a:t>Describe the process for certification through a traditional pathway and through alternative certification. </a:t>
            </a:r>
          </a:p>
          <a:p>
            <a:r>
              <a:rPr lang="en-US" dirty="0"/>
              <a:t>Identify two major differences between a traditional and alternative certification.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you think makes a good teacher? How do the practices you have learned in this course support what you said makes a good teacher?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439277"/>
              </p:ext>
            </p:extLst>
          </p:nvPr>
        </p:nvGraphicFramePr>
        <p:xfrm>
          <a:off x="472440" y="1364131"/>
          <a:ext cx="11181494" cy="534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44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8209150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6797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71359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Degree Program and Texas Certification or “Traditional Pathway”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Individuals complete a traditional Educator Preparation Program in undergraduate and complete their certification requirements simultaneously. 4-year program.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  <a:tr h="57129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Educator Preparation Program (EPP)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teacher preparation program through an institution or organization that provides aspiring educators with the initial training and requirements to become a teacher.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2417617"/>
                  </a:ext>
                </a:extLst>
              </a:tr>
              <a:tr h="71359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Alternative Certification Process or “Alternative Certification Pathway”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Individuals complete the requirements of becoming a teacher while they are teaching through an approved Alternative Certification Process entity. This is traditionally a one-year program.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994879"/>
                  </a:ext>
                </a:extLst>
              </a:tr>
              <a:tr h="587988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Residency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paid, intensive year-long clinical experience that pairs an aspiring teacher with a qualified mentor.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717954"/>
                  </a:ext>
                </a:extLst>
              </a:tr>
              <a:tr h="49150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Bachelor’s Degree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four-year degree received from an accredited undergraduate institution.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086775"/>
                  </a:ext>
                </a:extLst>
              </a:tr>
              <a:tr h="591628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Certification Exam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test used to determine whether individuals are knowledgeable enough in a specific subject to work in that subject area.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3539660"/>
                  </a:ext>
                </a:extLst>
              </a:tr>
              <a:tr h="63574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Clinical Teaching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Student teaching experience where students are supervised by a certified teacher in a public-school classroom.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3510566"/>
                  </a:ext>
                </a:extLst>
              </a:tr>
              <a:tr h="63574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Internship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paid and supervised one-year classroom teaching assignment.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915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Notes: Becoming a Classroom Teacher in Texas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Degree Program and Texas Certification or “Traditional Pathway” </a:t>
            </a:r>
          </a:p>
          <a:p>
            <a:r>
              <a:rPr lang="en-US" dirty="0"/>
              <a:t>In this pathway, individuals complete a traditional Educator Preparation Program in undergraduate and complete their certification requirements simultaneously. 4-year program.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Texas Alternative Certification Process or “Alternative Certification Pathway”</a:t>
            </a:r>
          </a:p>
          <a:p>
            <a:r>
              <a:rPr lang="en-US" dirty="0"/>
              <a:t>In this pathway, individuals complete the requirements of becoming a teacher while they are teaching. This is commonly a one-year program.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6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Notes: Becoming a Classroom Teacher in Texas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Residency Pathway</a:t>
            </a:r>
          </a:p>
          <a:p>
            <a:r>
              <a:rPr lang="en-US" dirty="0"/>
              <a:t>Offered by both institutes of higher education and alternative certification pathways is a residency program. </a:t>
            </a:r>
          </a:p>
          <a:p>
            <a:r>
              <a:rPr lang="en-US" dirty="0"/>
              <a:t>A residency is a paid, intensive year-long clinical experience that pairs an aspiring teacher with a qualified mentor.</a:t>
            </a:r>
          </a:p>
          <a:p>
            <a:r>
              <a:rPr lang="en-US" dirty="0"/>
              <a:t>In a residency program:</a:t>
            </a:r>
          </a:p>
          <a:p>
            <a:pPr lvl="1"/>
            <a:r>
              <a:rPr lang="en-US" dirty="0"/>
              <a:t>The resident (student teacher) coteaches with a qualified mentor.</a:t>
            </a:r>
          </a:p>
          <a:p>
            <a:pPr lvl="1"/>
            <a:r>
              <a:rPr lang="en-US" dirty="0"/>
              <a:t>The resident receives support from their EPP and from the district during the residency</a:t>
            </a:r>
          </a:p>
          <a:p>
            <a:r>
              <a:rPr lang="en-US" dirty="0"/>
              <a:t>A sample resident schedule is to coteach 3 days a week and sub or work as a para the other two days. In this way, the resident earns a salary. </a:t>
            </a:r>
          </a:p>
          <a:p>
            <a:r>
              <a:rPr lang="en-US" dirty="0"/>
              <a:t>Residencies are not offered by every program in the state but are growing.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8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Notes: Becoming a Classroom Teacher in Texas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 main requirements for becoming a teacher in Texas: </a:t>
            </a:r>
          </a:p>
          <a:p>
            <a:pPr marL="514350" indent="-514350">
              <a:buAutoNum type="arabicParenR"/>
            </a:pPr>
            <a:r>
              <a:rPr lang="en-US" dirty="0"/>
              <a:t>A Bachelor’s Degree</a:t>
            </a:r>
          </a:p>
          <a:p>
            <a:pPr marL="514350" indent="-514350">
              <a:buAutoNum type="arabicParenR"/>
            </a:pPr>
            <a:r>
              <a:rPr lang="en-US" dirty="0"/>
              <a:t>2) Clinical teaching or internship </a:t>
            </a:r>
          </a:p>
          <a:p>
            <a:pPr marL="514350" indent="-514350">
              <a:buAutoNum type="arabicParenR"/>
            </a:pPr>
            <a:r>
              <a:rPr lang="en-US" dirty="0"/>
              <a:t>3) Passing a certification exam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8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Notes: Becoming a Classroom Teacher </a:t>
            </a:r>
            <a:r>
              <a:rPr lang="en-US"/>
              <a:t>in Texas 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427584"/>
            <a:ext cx="10747310" cy="5094514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Reasons theses are requirements to becoming a teacher: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A </a:t>
            </a:r>
            <a:r>
              <a:rPr lang="en-US" sz="2400" b="1" dirty="0"/>
              <a:t>bachelor’s degree </a:t>
            </a:r>
            <a:r>
              <a:rPr lang="en-US" sz="2400" dirty="0"/>
              <a:t>is a requirement because it helps: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Individuals receive a well-rounded education in various subjects, and in specific subject.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Individuals strengthen critical thinking skills, creativity, work ethic, problem-solving ability, written and verbal communication techniques, among others.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This prepares teachers to have a strong knowledge for a specific subject or grade-level, and to have the skillsets to interact and guide students successfully.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Clinical teaching or internships </a:t>
            </a:r>
            <a:r>
              <a:rPr lang="en-US" sz="2400" dirty="0"/>
              <a:t>are a requirement because they help: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Individuals practice and receive feedback on teaching from a mentor teacher.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Passing a certification exam </a:t>
            </a:r>
            <a:r>
              <a:rPr lang="en-US" sz="2400" dirty="0"/>
              <a:t>is a requirement because: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To test if the teacher has adequate knowledge in their subject area and ensure they are qualified to teach that subject.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07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1"/>
            <a:ext cx="10515600" cy="490807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 a flow chart that outlines educational and certification requirements and steps to become a certified teacher in Texas.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700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Instructional Practices| Unit10: Putting it All Together | Lesson 10.05</vt:lpstr>
      <vt:lpstr>TEKS Standards &amp; Objectives</vt:lpstr>
      <vt:lpstr>Bellringer</vt:lpstr>
      <vt:lpstr>Vocabulary</vt:lpstr>
      <vt:lpstr>Notes: Becoming a Classroom Teacher in Texas</vt:lpstr>
      <vt:lpstr>Notes: Becoming a Classroom Teacher in Texas </vt:lpstr>
      <vt:lpstr>Notes: Becoming a Classroom Teacher in Texas  </vt:lpstr>
      <vt:lpstr>Notes: Becoming a Classroom Teacher in Texas 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10.05: Becoming a Teacher |Certification and Educational Requirements in Texas</dc:title>
  <dc:subject>Lesson 10.05: Becoming a Teacher |Certification and Educational Requirements in Texas</dc:subject>
  <dc:creator>Texas Education Agency</dc:creator>
  <cp:lastModifiedBy>London White</cp:lastModifiedBy>
  <cp:revision>12</cp:revision>
  <dcterms:created xsi:type="dcterms:W3CDTF">2022-05-09T19:40:20Z</dcterms:created>
  <dcterms:modified xsi:type="dcterms:W3CDTF">2023-08-31T06:04:03Z</dcterms:modified>
</cp:coreProperties>
</file>
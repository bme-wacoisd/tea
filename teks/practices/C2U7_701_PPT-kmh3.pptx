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69C96227-07B7-4A85-A11B-46E676A6972D}"/>
    <pc:docChg chg="custSel modSld">
      <pc:chgData name="White (she/her), Whitney" userId="65f39021-2f1d-4d8b-87dc-b123826f65bf" providerId="ADAL" clId="{69C96227-07B7-4A85-A11B-46E676A6972D}" dt="2023-01-17T04:01:33.046" v="39" actId="27636"/>
      <pc:docMkLst>
        <pc:docMk/>
      </pc:docMkLst>
      <pc:sldChg chg="modSp mod">
        <pc:chgData name="White (she/her), Whitney" userId="65f39021-2f1d-4d8b-87dc-b123826f65bf" providerId="ADAL" clId="{69C96227-07B7-4A85-A11B-46E676A6972D}" dt="2023-01-17T04:01:33.046" v="39" actId="27636"/>
        <pc:sldMkLst>
          <pc:docMk/>
          <pc:sldMk cId="2147408764" sldId="260"/>
        </pc:sldMkLst>
        <pc:spChg chg="mod">
          <ac:chgData name="White (she/her), Whitney" userId="65f39021-2f1d-4d8b-87dc-b123826f65bf" providerId="ADAL" clId="{69C96227-07B7-4A85-A11B-46E676A6972D}" dt="2023-01-17T04:01:33.046" v="39" actId="27636"/>
          <ac:spMkLst>
            <pc:docMk/>
            <pc:sldMk cId="2147408764" sldId="260"/>
            <ac:spMk id="3" creationId="{49F2A5AF-3C0B-4968-A438-E435325199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8436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7: High Leverage Teaching Practices| Lesson 7.01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High Leverage Teaching Practices |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2D940-ABAC-0F29-EF00-BB1DD8D2003F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4B</a:t>
            </a:r>
            <a:r>
              <a:rPr lang="en-US"/>
              <a:t>, 6D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high leverage teaching practices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how high leverage teaching practices impact student learning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/>
              <a:t>Bellringer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Read each of the following practices used by a teacher.  Based on what you know, rate each as an effective practice or not an effective practice and share your reasoning</a:t>
            </a:r>
            <a:r>
              <a:rPr lang="en-US" i="1" dirty="0">
                <a:effectLst/>
              </a:rPr>
              <a:t>. 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DB8223-E3F2-489A-ACD5-94B0B2B46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050538"/>
              </p:ext>
            </p:extLst>
          </p:nvPr>
        </p:nvGraphicFramePr>
        <p:xfrm>
          <a:off x="4937760" y="1729185"/>
          <a:ext cx="6417630" cy="4614522"/>
        </p:xfrm>
        <a:graphic>
          <a:graphicData uri="http://schemas.openxmlformats.org/drawingml/2006/table">
            <a:tbl>
              <a:tblPr firstRow="1" firstCol="1" bandRow="1"/>
              <a:tblGrid>
                <a:gridCol w="2590350">
                  <a:extLst>
                    <a:ext uri="{9D8B030D-6E8A-4147-A177-3AD203B41FA5}">
                      <a16:colId xmlns:a16="http://schemas.microsoft.com/office/drawing/2014/main" val="2763761229"/>
                    </a:ext>
                  </a:extLst>
                </a:gridCol>
                <a:gridCol w="1507163">
                  <a:extLst>
                    <a:ext uri="{9D8B030D-6E8A-4147-A177-3AD203B41FA5}">
                      <a16:colId xmlns:a16="http://schemas.microsoft.com/office/drawing/2014/main" val="3008114788"/>
                    </a:ext>
                  </a:extLst>
                </a:gridCol>
                <a:gridCol w="2320117">
                  <a:extLst>
                    <a:ext uri="{9D8B030D-6E8A-4147-A177-3AD203B41FA5}">
                      <a16:colId xmlns:a16="http://schemas.microsoft.com/office/drawing/2014/main" val="2944463400"/>
                    </a:ext>
                  </a:extLst>
                </a:gridCol>
              </a:tblGrid>
              <a:tr h="798941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Teacher Practice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 this an effective teaching practice? (Yes/No/Not Sure)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1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Explain your reasoning</a:t>
                      </a:r>
                      <a:endParaRPr lang="en-US" sz="24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01922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At the beginning of a lesson, at teacher shares lesson objectives.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457200" algn="ctr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1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873851"/>
                  </a:ext>
                </a:extLst>
              </a:tr>
              <a:tr h="104289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After delivering the lesson, the teacher provides examples and non-examples of the content the students need to learn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7265053"/>
                  </a:ext>
                </a:extLst>
              </a:tr>
              <a:tr h="554990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The teacher returns the work one  week after it’s completed.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126121"/>
                  </a:ext>
                </a:extLst>
              </a:tr>
              <a:tr h="798941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teacher models how to complete a word problem with a clear, step by step explanation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956273"/>
                  </a:ext>
                </a:extLst>
              </a:tr>
              <a:tr h="798941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teacher groups students to discuss the theme of a poem they read in class. 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b="0" i="1" u="none" strike="noStrike" dirty="0">
                          <a:solidFill>
                            <a:srgbClr val="008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363" marR="74363" marT="1032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48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 Leverage Teaching Practice: Evidence based practices that reliably increase student learning whenever they are applied.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Evidence Based Practice: A practice that is not just based on theory but has been rigorously tested and has shown to make a positive, statistically significant difference in learning outcomes.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DC63-F0F3-44CB-8CA6-681CF71D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54200-65FF-4D85-B222-75125FA3F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Instructional Outcomes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Structuring Lessons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Explicit Teaching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Worked Examples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Collaborative Learning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Exposures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Questioning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Metacognitive Strategies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Differentiated Instruction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5A7DE-C9C7-4A1C-BB0E-1BE183344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9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it important for teachers to utilize high leverage practices? What is the impact on student learning?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Match each high leverage practice with its corresponding definition on your Exit Ticket.</a:t>
            </a:r>
          </a:p>
          <a:p>
            <a:pPr marL="457200" lvl="1" indent="0">
              <a:lnSpc>
                <a:spcPct val="107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Focus on Instructional Outcomes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Structuring Lessons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Explicit Teaching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Worked Examples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Collaborative Learning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exposures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Questioning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Metacognitive Strategies</a:t>
            </a:r>
          </a:p>
          <a:p>
            <a:pPr marL="800100" lvl="1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U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Differentiated Instruction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43</TotalTime>
  <Words>335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Practices| Unit 7: High Leverage Teaching Practices| Lesson 7.01</vt:lpstr>
      <vt:lpstr>TEKS Standards &amp; Objectives</vt:lpstr>
      <vt:lpstr>Bellringer</vt:lpstr>
      <vt:lpstr>Vocabulary</vt:lpstr>
      <vt:lpstr>High Leverage Practices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Leverage Teaching Practices | Introduction</dc:title>
  <dc:subject>High Leverage Teaching Practices | Introduction</dc:subject>
  <dc:creator>Texas Education Agency</dc:creator>
  <cp:lastModifiedBy>London White</cp:lastModifiedBy>
  <cp:revision>4</cp:revision>
  <dcterms:created xsi:type="dcterms:W3CDTF">2022-09-17T16:30:16Z</dcterms:created>
  <dcterms:modified xsi:type="dcterms:W3CDTF">2023-08-31T04:57:05Z</dcterms:modified>
</cp:coreProperties>
</file>
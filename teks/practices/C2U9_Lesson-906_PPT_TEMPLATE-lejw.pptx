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9" r:id="rId3"/>
    <p:sldId id="258" r:id="rId4"/>
    <p:sldId id="263" r:id="rId5"/>
    <p:sldId id="261" r:id="rId6"/>
    <p:sldId id="264" r:id="rId7"/>
    <p:sldId id="265" r:id="rId8"/>
    <p:sldId id="266"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9" d="100"/>
          <a:sy n="119" d="100"/>
        </p:scale>
        <p:origin x="15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126752"/>
            <a:ext cx="9144000" cy="370300"/>
          </a:xfrm>
        </p:spPr>
        <p:txBody>
          <a:bodyPr>
            <a:normAutofit/>
          </a:bodyPr>
          <a:lstStyle/>
          <a:p>
            <a:pPr algn="l"/>
            <a:r>
              <a:rPr lang="en-US" sz="1800" dirty="0"/>
              <a:t>Instructional Practices| Unit 9: Feedback| Lesson 9.06</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vert="horz" lIns="91440" tIns="45720" rIns="91440" bIns="45720" rtlCol="0" anchor="t">
            <a:normAutofit/>
          </a:bodyPr>
          <a:lstStyle/>
          <a:p>
            <a:r>
              <a:rPr lang="en-US" sz="6000" dirty="0">
                <a:cs typeface="Calibri"/>
              </a:rPr>
              <a:t>Developing Student Skills for Peer Feedback</a:t>
            </a:r>
          </a:p>
        </p:txBody>
      </p:sp>
      <p:sp>
        <p:nvSpPr>
          <p:cNvPr id="4" name="TextBox 6">
            <a:extLst>
              <a:ext uri="{FF2B5EF4-FFF2-40B4-BE49-F238E27FC236}">
                <a16:creationId xmlns:a16="http://schemas.microsoft.com/office/drawing/2014/main" id="{7043CB6F-D838-C517-8383-5E8A10FD3A17}"/>
              </a:ext>
            </a:extLst>
          </p:cNvPr>
          <p:cNvSpPr txBox="1"/>
          <p:nvPr/>
        </p:nvSpPr>
        <p:spPr>
          <a:xfrm>
            <a:off x="0" y="6497052"/>
            <a:ext cx="10154653"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vert="horz" lIns="91440" tIns="45720" rIns="91440" bIns="45720" rtlCol="0" anchor="t">
            <a:normAutofit/>
          </a:bodyPr>
          <a:lstStyle/>
          <a:p>
            <a:pPr marL="0" indent="0">
              <a:buNone/>
            </a:pPr>
            <a:r>
              <a:rPr lang="en-US" dirty="0"/>
              <a:t>TEKS 4 B-C, 14 </a:t>
            </a:r>
            <a:r>
              <a:rPr lang="en-US"/>
              <a:t>A,C,</a:t>
            </a:r>
            <a:r>
              <a:rPr lang="en-US" dirty="0"/>
              <a:t>D</a:t>
            </a:r>
            <a:endParaRPr lang="en-US" dirty="0">
              <a:cs typeface="Calibri"/>
            </a:endParaRPr>
          </a:p>
          <a:p>
            <a:pPr marL="0" indent="0">
              <a:buNone/>
            </a:pPr>
            <a:endParaRPr lang="en-US" dirty="0"/>
          </a:p>
          <a:p>
            <a:pPr marL="0" indent="0">
              <a:buNone/>
            </a:pPr>
            <a:r>
              <a:rPr lang="en-US" dirty="0"/>
              <a:t>The student will:</a:t>
            </a:r>
          </a:p>
          <a:p>
            <a:pPr>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Calibri" panose="020F0502020204030204" pitchFamily="34" charset="0"/>
              </a:rPr>
              <a:t>Define and describe the importance of peer feedback for learning</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r>
              <a:rPr lang="en-US" dirty="0">
                <a:effectLst/>
                <a:latin typeface="Calibri" panose="020F0502020204030204" pitchFamily="34" charset="0"/>
                <a:ea typeface="Calibri" panose="020F0502020204030204" pitchFamily="34" charset="0"/>
              </a:rPr>
              <a:t>Identify and practice strategies for teaching students to give effective peer feedback</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a:xfrm>
            <a:off x="838200" y="77983"/>
            <a:ext cx="10515600" cy="1325563"/>
          </a:xfrm>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a:xfrm>
            <a:off x="905312" y="1149292"/>
            <a:ext cx="10515600" cy="4683723"/>
          </a:xfrm>
        </p:spPr>
        <p:txBody>
          <a:bodyPr vert="horz" lIns="91440" tIns="45720" rIns="91440" bIns="45720" rtlCol="0" anchor="t">
            <a:noAutofit/>
          </a:bodyPr>
          <a:lstStyle/>
          <a:p>
            <a:pPr marL="0" marR="0" indent="0">
              <a:spcBef>
                <a:spcPts val="600"/>
              </a:spcBef>
              <a:spcAft>
                <a:spcPts val="600"/>
              </a:spcAft>
              <a:buNone/>
            </a:pPr>
            <a:r>
              <a:rPr lang="en-US" sz="2200" dirty="0">
                <a:effectLst/>
                <a:latin typeface="Calibri" panose="020F0502020204030204" pitchFamily="34" charset="0"/>
                <a:ea typeface="Calibri" panose="020F0502020204030204" pitchFamily="34" charset="0"/>
                <a:cs typeface="Times New Roman" panose="02020603050405020304" pitchFamily="18" charset="0"/>
              </a:rPr>
              <a:t>Jose just completed a 1:1 student writing conference with his teacher, Mr. Barrier.  Mr. Barrier began the conference by greeting Jose and inviting him first to share his thoughts about where his work writing was strong and some areas where he felt he could improve.  Jose shared that he feels he really struggles with writing his conclusions but that he does a great job supporting his claims with evidence.  Mr. Barrier agreed that providing appropriate and supportive details was a strength of his writing and acknowledged that sometimes it is tough to build a strong conclusion and provided some specific ideas on how Jose might improve.  He asked Jose to go back and re—write the conclusion of his essay based on the feedback.  After the conference, Jose felt confident and got right to re-writing the conclusion to make it better based on the feedback.  </a:t>
            </a:r>
          </a:p>
          <a:p>
            <a:pPr marL="0" marR="0" indent="0">
              <a:spcBef>
                <a:spcPts val="600"/>
              </a:spcBef>
              <a:spcAft>
                <a:spcPts val="600"/>
              </a:spcAft>
              <a:buNone/>
            </a:pP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600"/>
              </a:spcBef>
              <a:spcAft>
                <a:spcPts val="600"/>
              </a:spcAft>
              <a:buFont typeface="+mj-lt"/>
              <a:buAutoNum type="arabicPeriod"/>
            </a:pPr>
            <a:r>
              <a:rPr lang="en-US" sz="2200" dirty="0">
                <a:effectLst/>
                <a:latin typeface="Calibri" panose="020F0502020204030204" pitchFamily="34" charset="0"/>
                <a:ea typeface="Calibri" panose="020F0502020204030204" pitchFamily="34" charset="0"/>
                <a:cs typeface="Times New Roman" panose="02020603050405020304" pitchFamily="18" charset="0"/>
              </a:rPr>
              <a:t>Would you consider this student conference a success? Why?</a:t>
            </a:r>
          </a:p>
          <a:p>
            <a:pPr marL="342900" marR="0" lvl="0" indent="-342900">
              <a:spcBef>
                <a:spcPts val="600"/>
              </a:spcBef>
              <a:spcAft>
                <a:spcPts val="600"/>
              </a:spcAft>
              <a:buFont typeface="+mj-lt"/>
              <a:buAutoNum type="arabicPeriod"/>
            </a:pPr>
            <a:r>
              <a:rPr lang="en-US" sz="2200" dirty="0">
                <a:effectLst/>
                <a:latin typeface="Calibri" panose="020F0502020204030204" pitchFamily="34" charset="0"/>
                <a:ea typeface="Calibri" panose="020F0502020204030204" pitchFamily="34" charset="0"/>
                <a:cs typeface="Times New Roman" panose="02020603050405020304" pitchFamily="18" charset="0"/>
              </a:rPr>
              <a:t>How did the conference described above align to the steps for conducting a 1:1 student conference? </a:t>
            </a:r>
          </a:p>
          <a:p>
            <a:pPr marL="342900" marR="0" lvl="0" indent="-342900">
              <a:spcBef>
                <a:spcPts val="600"/>
              </a:spcBef>
              <a:spcAft>
                <a:spcPts val="600"/>
              </a:spcAft>
              <a:buFont typeface="+mj-lt"/>
              <a:buAutoNum type="arabicPeriod"/>
            </a:pPr>
            <a:r>
              <a:rPr lang="en-US" sz="2200" dirty="0">
                <a:effectLst/>
                <a:latin typeface="Calibri" panose="020F0502020204030204" pitchFamily="34" charset="0"/>
                <a:ea typeface="Calibri" panose="020F0502020204030204" pitchFamily="34" charset="0"/>
                <a:cs typeface="Times New Roman" panose="02020603050405020304" pitchFamily="18" charset="0"/>
              </a:rPr>
              <a:t>Was there anything that Mr. Barrier could do better next time? </a:t>
            </a: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B6E9E-7E15-400B-9EEE-A257204537D5}"/>
              </a:ext>
            </a:extLst>
          </p:cNvPr>
          <p:cNvSpPr>
            <a:spLocks noGrp="1"/>
          </p:cNvSpPr>
          <p:nvPr>
            <p:ph type="title"/>
          </p:nvPr>
        </p:nvSpPr>
        <p:spPr/>
        <p:txBody>
          <a:bodyPr/>
          <a:lstStyle/>
          <a:p>
            <a:r>
              <a:rPr lang="en-US" dirty="0"/>
              <a:t>Vocabulary</a:t>
            </a:r>
          </a:p>
        </p:txBody>
      </p:sp>
      <p:graphicFrame>
        <p:nvGraphicFramePr>
          <p:cNvPr id="5" name="Table 5">
            <a:extLst>
              <a:ext uri="{FF2B5EF4-FFF2-40B4-BE49-F238E27FC236}">
                <a16:creationId xmlns:a16="http://schemas.microsoft.com/office/drawing/2014/main" id="{4D337640-2FDA-4249-B959-C56DB43FAAFB}"/>
              </a:ext>
            </a:extLst>
          </p:cNvPr>
          <p:cNvGraphicFramePr>
            <a:graphicFrameLocks noGrp="1"/>
          </p:cNvGraphicFramePr>
          <p:nvPr>
            <p:ph idx="1"/>
            <p:extLst>
              <p:ext uri="{D42A27DB-BD31-4B8C-83A1-F6EECF244321}">
                <p14:modId xmlns:p14="http://schemas.microsoft.com/office/powerpoint/2010/main" val="576479979"/>
              </p:ext>
            </p:extLst>
          </p:nvPr>
        </p:nvGraphicFramePr>
        <p:xfrm>
          <a:off x="838200" y="1825625"/>
          <a:ext cx="10515600" cy="944880"/>
        </p:xfrm>
        <a:graphic>
          <a:graphicData uri="http://schemas.openxmlformats.org/drawingml/2006/table">
            <a:tbl>
              <a:tblPr firstRow="1" bandRow="1">
                <a:tableStyleId>{5940675A-B579-460E-94D1-54222C63F5DA}</a:tableStyleId>
              </a:tblPr>
              <a:tblGrid>
                <a:gridCol w="2811011">
                  <a:extLst>
                    <a:ext uri="{9D8B030D-6E8A-4147-A177-3AD203B41FA5}">
                      <a16:colId xmlns:a16="http://schemas.microsoft.com/office/drawing/2014/main" val="2859382115"/>
                    </a:ext>
                  </a:extLst>
                </a:gridCol>
                <a:gridCol w="7704589">
                  <a:extLst>
                    <a:ext uri="{9D8B030D-6E8A-4147-A177-3AD203B41FA5}">
                      <a16:colId xmlns:a16="http://schemas.microsoft.com/office/drawing/2014/main" val="1280478346"/>
                    </a:ext>
                  </a:extLst>
                </a:gridCol>
              </a:tblGrid>
              <a:tr h="370840">
                <a:tc>
                  <a:txBody>
                    <a:bodyPr/>
                    <a:lstStyle/>
                    <a:p>
                      <a:r>
                        <a:rPr lang="en-US" sz="2800" b="0" dirty="0"/>
                        <a:t>Peer Feedback</a:t>
                      </a:r>
                    </a:p>
                  </a:txBody>
                  <a:tcPr/>
                </a:tc>
                <a:tc>
                  <a:txBody>
                    <a:bodyPr/>
                    <a:lstStyle/>
                    <a:p>
                      <a:r>
                        <a:rPr lang="en-US" sz="2800" b="0" dirty="0"/>
                        <a:t>Practice where feedback is given by one student to another</a:t>
                      </a:r>
                    </a:p>
                  </a:txBody>
                  <a:tcPr/>
                </a:tc>
                <a:extLst>
                  <a:ext uri="{0D108BD9-81ED-4DB2-BD59-A6C34878D82A}">
                    <a16:rowId xmlns:a16="http://schemas.microsoft.com/office/drawing/2014/main" val="760164101"/>
                  </a:ext>
                </a:extLst>
              </a:tr>
            </a:tbl>
          </a:graphicData>
        </a:graphic>
      </p:graphicFrame>
      <p:sp>
        <p:nvSpPr>
          <p:cNvPr id="4" name="Slide Number Placeholder 3">
            <a:extLst>
              <a:ext uri="{FF2B5EF4-FFF2-40B4-BE49-F238E27FC236}">
                <a16:creationId xmlns:a16="http://schemas.microsoft.com/office/drawing/2014/main" id="{99CF9DDC-72AB-48FE-88BF-2EBC9D2FCF72}"/>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289634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Benefits of Peer Feedback</a:t>
            </a: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
        <p:nvSpPr>
          <p:cNvPr id="6" name="Content Placeholder 5">
            <a:extLst>
              <a:ext uri="{FF2B5EF4-FFF2-40B4-BE49-F238E27FC236}">
                <a16:creationId xmlns:a16="http://schemas.microsoft.com/office/drawing/2014/main" id="{A9BEA837-5178-418C-BCC8-03CCA5491737}"/>
              </a:ext>
            </a:extLst>
          </p:cNvPr>
          <p:cNvSpPr>
            <a:spLocks noGrp="1"/>
          </p:cNvSpPr>
          <p:nvPr>
            <p:ph idx="1"/>
          </p:nvPr>
        </p:nvSpPr>
        <p:spPr/>
        <p:txBody>
          <a:bodyPr/>
          <a:lstStyle/>
          <a:p>
            <a:pPr>
              <a:spcAft>
                <a:spcPts val="1200"/>
              </a:spcAft>
            </a:pPr>
            <a:r>
              <a:rPr lang="en-US" dirty="0"/>
              <a:t>Learners develop a deeper understanding of the task and its requirements.</a:t>
            </a:r>
          </a:p>
          <a:p>
            <a:pPr>
              <a:spcAft>
                <a:spcPts val="1200"/>
              </a:spcAft>
            </a:pPr>
            <a:r>
              <a:rPr lang="en-US" dirty="0"/>
              <a:t>Provides an opportunity for students to learn from one another.</a:t>
            </a:r>
          </a:p>
          <a:p>
            <a:pPr>
              <a:spcAft>
                <a:spcPts val="1200"/>
              </a:spcAft>
            </a:pPr>
            <a:r>
              <a:rPr lang="en-US" dirty="0"/>
              <a:t>Feedback from peers is often receive more positively than feedback from teachers.</a:t>
            </a:r>
          </a:p>
          <a:p>
            <a:pPr>
              <a:spcAft>
                <a:spcPts val="1200"/>
              </a:spcAft>
            </a:pPr>
            <a:r>
              <a:rPr lang="en-US" dirty="0"/>
              <a:t>Students have an opportunity to take control of their learning.</a:t>
            </a:r>
          </a:p>
        </p:txBody>
      </p:sp>
    </p:spTree>
    <p:extLst>
      <p:ext uri="{BB962C8B-B14F-4D97-AF65-F5344CB8AC3E}">
        <p14:creationId xmlns:p14="http://schemas.microsoft.com/office/powerpoint/2010/main" val="1700993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Considerations when Utilizing Peer Feedback</a:t>
            </a: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
        <p:nvSpPr>
          <p:cNvPr id="6" name="Content Placeholder 5">
            <a:extLst>
              <a:ext uri="{FF2B5EF4-FFF2-40B4-BE49-F238E27FC236}">
                <a16:creationId xmlns:a16="http://schemas.microsoft.com/office/drawing/2014/main" id="{A9BEA837-5178-418C-BCC8-03CCA5491737}"/>
              </a:ext>
            </a:extLst>
          </p:cNvPr>
          <p:cNvSpPr>
            <a:spLocks noGrp="1"/>
          </p:cNvSpPr>
          <p:nvPr>
            <p:ph idx="1"/>
          </p:nvPr>
        </p:nvSpPr>
        <p:spPr>
          <a:xfrm>
            <a:off x="838200" y="1602296"/>
            <a:ext cx="10515600" cy="4754053"/>
          </a:xfrm>
        </p:spPr>
        <p:txBody>
          <a:bodyPr>
            <a:normAutofit fontScale="92500" lnSpcReduction="10000"/>
          </a:bodyPr>
          <a:lstStyle/>
          <a:p>
            <a:pPr>
              <a:spcAft>
                <a:spcPts val="1200"/>
              </a:spcAft>
            </a:pPr>
            <a:r>
              <a:rPr lang="en-US" dirty="0"/>
              <a:t>Create a safe environment</a:t>
            </a:r>
          </a:p>
          <a:p>
            <a:pPr>
              <a:spcAft>
                <a:spcPts val="1200"/>
              </a:spcAft>
            </a:pPr>
            <a:r>
              <a:rPr lang="en-US" dirty="0"/>
              <a:t>Explain the process and the purpose of the feedback</a:t>
            </a:r>
          </a:p>
          <a:p>
            <a:pPr>
              <a:spcAft>
                <a:spcPts val="1200"/>
              </a:spcAft>
            </a:pPr>
            <a:r>
              <a:rPr lang="en-US" dirty="0"/>
              <a:t>Teach what effective feedback looks like</a:t>
            </a:r>
          </a:p>
          <a:p>
            <a:pPr>
              <a:spcAft>
                <a:spcPts val="1200"/>
              </a:spcAft>
            </a:pPr>
            <a:r>
              <a:rPr lang="en-US" dirty="0"/>
              <a:t>Provide a clear structure for providing feedback</a:t>
            </a:r>
          </a:p>
          <a:p>
            <a:pPr>
              <a:spcAft>
                <a:spcPts val="1200"/>
              </a:spcAft>
            </a:pPr>
            <a:r>
              <a:rPr lang="en-US" dirty="0"/>
              <a:t>Make sure the way that you teach about feedback is appropriate for the grade level</a:t>
            </a:r>
          </a:p>
          <a:p>
            <a:pPr>
              <a:spcAft>
                <a:spcPts val="1200"/>
              </a:spcAft>
            </a:pPr>
            <a:r>
              <a:rPr lang="en-US" dirty="0"/>
              <a:t>Choose a task that is broader in nature (stay away from right/wrong answers)</a:t>
            </a:r>
          </a:p>
          <a:p>
            <a:pPr>
              <a:spcAft>
                <a:spcPts val="1200"/>
              </a:spcAft>
            </a:pPr>
            <a:r>
              <a:rPr lang="en-US" dirty="0"/>
              <a:t>Make sure the success criteria for the task is clear</a:t>
            </a:r>
          </a:p>
        </p:txBody>
      </p:sp>
    </p:spTree>
    <p:extLst>
      <p:ext uri="{BB962C8B-B14F-4D97-AF65-F5344CB8AC3E}">
        <p14:creationId xmlns:p14="http://schemas.microsoft.com/office/powerpoint/2010/main" val="1761037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Steps for Teaching Peer Feedback Strategies</a:t>
            </a: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
        <p:nvSpPr>
          <p:cNvPr id="6" name="Content Placeholder 5">
            <a:extLst>
              <a:ext uri="{FF2B5EF4-FFF2-40B4-BE49-F238E27FC236}">
                <a16:creationId xmlns:a16="http://schemas.microsoft.com/office/drawing/2014/main" id="{A9BEA837-5178-418C-BCC8-03CCA5491737}"/>
              </a:ext>
            </a:extLst>
          </p:cNvPr>
          <p:cNvSpPr>
            <a:spLocks noGrp="1"/>
          </p:cNvSpPr>
          <p:nvPr>
            <p:ph idx="1"/>
          </p:nvPr>
        </p:nvSpPr>
        <p:spPr>
          <a:xfrm>
            <a:off x="838200" y="1602296"/>
            <a:ext cx="10515600" cy="4754053"/>
          </a:xfrm>
        </p:spPr>
        <p:txBody>
          <a:bodyPr>
            <a:normAutofit/>
          </a:bodyPr>
          <a:lstStyle/>
          <a:p>
            <a:pPr marL="514350" indent="-514350">
              <a:spcAft>
                <a:spcPts val="1200"/>
              </a:spcAft>
              <a:buAutoNum type="arabicPeriod"/>
            </a:pPr>
            <a:r>
              <a:rPr lang="en-US" dirty="0"/>
              <a:t>Explain the peer feedback process and purpose of the feedback.</a:t>
            </a:r>
          </a:p>
          <a:p>
            <a:pPr marL="514350" indent="-514350">
              <a:spcAft>
                <a:spcPts val="1200"/>
              </a:spcAft>
              <a:buAutoNum type="arabicPeriod"/>
            </a:pPr>
            <a:r>
              <a:rPr lang="en-US" dirty="0"/>
              <a:t>Introduce the task and the success criteria for the task.</a:t>
            </a:r>
          </a:p>
          <a:p>
            <a:pPr marL="514350" indent="-514350">
              <a:spcAft>
                <a:spcPts val="1200"/>
              </a:spcAft>
              <a:buAutoNum type="arabicPeriod"/>
            </a:pPr>
            <a:r>
              <a:rPr lang="en-US" dirty="0"/>
              <a:t>Introduce the strategy and process for the feedback.</a:t>
            </a:r>
          </a:p>
          <a:p>
            <a:pPr marL="514350" indent="-514350">
              <a:spcAft>
                <a:spcPts val="1200"/>
              </a:spcAft>
              <a:buAutoNum type="arabicPeriod"/>
            </a:pPr>
            <a:r>
              <a:rPr lang="en-US" dirty="0"/>
              <a:t>Explain what effective peer feedback looks like to students.</a:t>
            </a:r>
          </a:p>
          <a:p>
            <a:pPr marL="514350" indent="-514350">
              <a:spcAft>
                <a:spcPts val="1200"/>
              </a:spcAft>
              <a:buAutoNum type="arabicPeriod"/>
            </a:pPr>
            <a:r>
              <a:rPr lang="en-US" dirty="0"/>
              <a:t>Provide scaffolds such as handouts, tables, or charts to keep students on track.</a:t>
            </a:r>
          </a:p>
          <a:p>
            <a:pPr marL="514350" indent="-514350">
              <a:spcAft>
                <a:spcPts val="1200"/>
              </a:spcAft>
              <a:buAutoNum type="arabicPeriod"/>
            </a:pPr>
            <a:r>
              <a:rPr lang="en-US" dirty="0"/>
              <a:t>Have students reflect on the feedback and the next steps.</a:t>
            </a:r>
          </a:p>
        </p:txBody>
      </p:sp>
    </p:spTree>
    <p:extLst>
      <p:ext uri="{BB962C8B-B14F-4D97-AF65-F5344CB8AC3E}">
        <p14:creationId xmlns:p14="http://schemas.microsoft.com/office/powerpoint/2010/main" val="2115495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C13D7-8C81-4531-8745-36776AFF0658}"/>
              </a:ext>
            </a:extLst>
          </p:cNvPr>
          <p:cNvSpPr>
            <a:spLocks noGrp="1"/>
          </p:cNvSpPr>
          <p:nvPr>
            <p:ph type="title"/>
          </p:nvPr>
        </p:nvSpPr>
        <p:spPr/>
        <p:txBody>
          <a:bodyPr/>
          <a:lstStyle/>
          <a:p>
            <a:r>
              <a:rPr lang="en-US" dirty="0"/>
              <a:t>Peer Feedback Strategy: TAG</a:t>
            </a:r>
          </a:p>
        </p:txBody>
      </p:sp>
      <p:graphicFrame>
        <p:nvGraphicFramePr>
          <p:cNvPr id="5" name="Table 5">
            <a:extLst>
              <a:ext uri="{FF2B5EF4-FFF2-40B4-BE49-F238E27FC236}">
                <a16:creationId xmlns:a16="http://schemas.microsoft.com/office/drawing/2014/main" id="{80E0918E-FF04-4605-8D37-DCB81F485176}"/>
              </a:ext>
            </a:extLst>
          </p:cNvPr>
          <p:cNvGraphicFramePr>
            <a:graphicFrameLocks noGrp="1"/>
          </p:cNvGraphicFramePr>
          <p:nvPr>
            <p:ph idx="1"/>
            <p:extLst>
              <p:ext uri="{D42A27DB-BD31-4B8C-83A1-F6EECF244321}">
                <p14:modId xmlns:p14="http://schemas.microsoft.com/office/powerpoint/2010/main" val="822020092"/>
              </p:ext>
            </p:extLst>
          </p:nvPr>
        </p:nvGraphicFramePr>
        <p:xfrm>
          <a:off x="838200" y="1825625"/>
          <a:ext cx="10515597" cy="3048000"/>
        </p:xfrm>
        <a:graphic>
          <a:graphicData uri="http://schemas.openxmlformats.org/drawingml/2006/table">
            <a:tbl>
              <a:tblPr firstRow="1" bandRow="1">
                <a:tableStyleId>{5940675A-B579-460E-94D1-54222C63F5DA}</a:tableStyleId>
              </a:tblPr>
              <a:tblGrid>
                <a:gridCol w="3505199">
                  <a:extLst>
                    <a:ext uri="{9D8B030D-6E8A-4147-A177-3AD203B41FA5}">
                      <a16:colId xmlns:a16="http://schemas.microsoft.com/office/drawing/2014/main" val="792900892"/>
                    </a:ext>
                  </a:extLst>
                </a:gridCol>
                <a:gridCol w="3505199">
                  <a:extLst>
                    <a:ext uri="{9D8B030D-6E8A-4147-A177-3AD203B41FA5}">
                      <a16:colId xmlns:a16="http://schemas.microsoft.com/office/drawing/2014/main" val="2516810292"/>
                    </a:ext>
                  </a:extLst>
                </a:gridCol>
                <a:gridCol w="3505199">
                  <a:extLst>
                    <a:ext uri="{9D8B030D-6E8A-4147-A177-3AD203B41FA5}">
                      <a16:colId xmlns:a16="http://schemas.microsoft.com/office/drawing/2014/main" val="2742206315"/>
                    </a:ext>
                  </a:extLst>
                </a:gridCol>
              </a:tblGrid>
              <a:tr h="370840">
                <a:tc>
                  <a:txBody>
                    <a:bodyPr/>
                    <a:lstStyle/>
                    <a:p>
                      <a:r>
                        <a:rPr lang="en-US" sz="2800" b="1" u="sng" dirty="0"/>
                        <a:t>T</a:t>
                      </a:r>
                      <a:r>
                        <a:rPr lang="en-US" sz="2800" dirty="0"/>
                        <a:t>ell</a:t>
                      </a:r>
                      <a:r>
                        <a:rPr lang="en-US" dirty="0"/>
                        <a:t> </a:t>
                      </a:r>
                      <a:r>
                        <a:rPr lang="en-US" sz="2000" dirty="0"/>
                        <a:t>some things that you like</a:t>
                      </a:r>
                    </a:p>
                  </a:txBody>
                  <a:tcPr/>
                </a:tc>
                <a:tc>
                  <a:txBody>
                    <a:bodyPr/>
                    <a:lstStyle/>
                    <a:p>
                      <a:r>
                        <a:rPr lang="en-US" sz="2800" b="1" u="sng" dirty="0"/>
                        <a:t>A</a:t>
                      </a:r>
                      <a:r>
                        <a:rPr lang="en-US" sz="2800" dirty="0"/>
                        <a:t>sk</a:t>
                      </a:r>
                      <a:r>
                        <a:rPr lang="en-US" dirty="0"/>
                        <a:t> </a:t>
                      </a:r>
                      <a:r>
                        <a:rPr lang="en-US" sz="2000" dirty="0"/>
                        <a:t>thoughtful questions</a:t>
                      </a:r>
                    </a:p>
                  </a:txBody>
                  <a:tcPr/>
                </a:tc>
                <a:tc>
                  <a:txBody>
                    <a:bodyPr/>
                    <a:lstStyle/>
                    <a:p>
                      <a:r>
                        <a:rPr lang="en-US" sz="2800" b="1" u="sng" dirty="0"/>
                        <a:t>G</a:t>
                      </a:r>
                      <a:r>
                        <a:rPr lang="en-US" sz="2800" dirty="0"/>
                        <a:t>ive</a:t>
                      </a:r>
                      <a:r>
                        <a:rPr lang="en-US" dirty="0"/>
                        <a:t> </a:t>
                      </a:r>
                      <a:r>
                        <a:rPr lang="en-US" sz="2000" dirty="0"/>
                        <a:t>positive suggestions</a:t>
                      </a:r>
                    </a:p>
                  </a:txBody>
                  <a:tcPr/>
                </a:tc>
                <a:extLst>
                  <a:ext uri="{0D108BD9-81ED-4DB2-BD59-A6C34878D82A}">
                    <a16:rowId xmlns:a16="http://schemas.microsoft.com/office/drawing/2014/main" val="1963262975"/>
                  </a:ext>
                </a:extLst>
              </a:tr>
              <a:tr h="370840">
                <a:tc>
                  <a:txBody>
                    <a:bodyPr/>
                    <a:lstStyle/>
                    <a:p>
                      <a:pPr marL="285750" indent="-285750">
                        <a:buFont typeface="Arial" panose="020B0604020202020204" pitchFamily="34" charset="0"/>
                        <a:buChar char="•"/>
                      </a:pPr>
                      <a:r>
                        <a:rPr lang="en-US" sz="2000" dirty="0"/>
                        <a:t>I like how you…</a:t>
                      </a:r>
                    </a:p>
                    <a:p>
                      <a:pPr marL="285750" indent="-285750">
                        <a:buFont typeface="Arial" panose="020B0604020202020204" pitchFamily="34" charset="0"/>
                        <a:buChar char="•"/>
                      </a:pPr>
                      <a:r>
                        <a:rPr lang="en-US" sz="2000" dirty="0"/>
                        <a:t>What really wowed me was…</a:t>
                      </a:r>
                    </a:p>
                    <a:p>
                      <a:pPr marL="285750" indent="-285750">
                        <a:buFont typeface="Arial" panose="020B0604020202020204" pitchFamily="34" charset="0"/>
                        <a:buChar char="•"/>
                      </a:pPr>
                      <a:r>
                        <a:rPr lang="en-US" sz="2000" dirty="0"/>
                        <a:t>The best part of your work is…</a:t>
                      </a:r>
                    </a:p>
                    <a:p>
                      <a:pPr marL="285750" indent="-285750">
                        <a:buFont typeface="Arial" panose="020B0604020202020204" pitchFamily="34" charset="0"/>
                        <a:buChar char="•"/>
                      </a:pPr>
                      <a:r>
                        <a:rPr lang="en-US" sz="2000" dirty="0"/>
                        <a:t>I connect with…</a:t>
                      </a:r>
                    </a:p>
                    <a:p>
                      <a:pPr marL="285750" indent="-285750">
                        <a:buFont typeface="Arial" panose="020B0604020202020204" pitchFamily="34" charset="0"/>
                        <a:buChar char="•"/>
                      </a:pPr>
                      <a:r>
                        <a:rPr lang="en-US" sz="2000" dirty="0"/>
                        <a:t>I enjoyed your work because…</a:t>
                      </a:r>
                    </a:p>
                    <a:p>
                      <a:pPr marL="285750" indent="-285750">
                        <a:buFont typeface="Arial" panose="020B0604020202020204" pitchFamily="34" charset="0"/>
                        <a:buChar char="•"/>
                      </a:pPr>
                      <a:r>
                        <a:rPr lang="en-US" sz="2000" dirty="0"/>
                        <a:t>It made me smile when…</a:t>
                      </a:r>
                    </a:p>
                  </a:txBody>
                  <a:tcPr/>
                </a:tc>
                <a:tc>
                  <a:txBody>
                    <a:bodyPr/>
                    <a:lstStyle/>
                    <a:p>
                      <a:pPr marL="285750" indent="-285750">
                        <a:buFont typeface="Arial" panose="020B0604020202020204" pitchFamily="34" charset="0"/>
                        <a:buChar char="•"/>
                      </a:pPr>
                      <a:r>
                        <a:rPr lang="en-US" sz="2000" dirty="0"/>
                        <a:t>Why did you…</a:t>
                      </a:r>
                    </a:p>
                    <a:p>
                      <a:pPr marL="285750" indent="-285750">
                        <a:buFont typeface="Arial" panose="020B0604020202020204" pitchFamily="34" charset="0"/>
                        <a:buChar char="•"/>
                      </a:pPr>
                      <a:r>
                        <a:rPr lang="en-US" sz="2000" dirty="0"/>
                        <a:t>How will you…</a:t>
                      </a:r>
                    </a:p>
                    <a:p>
                      <a:pPr marL="285750" indent="-285750">
                        <a:buFont typeface="Arial" panose="020B0604020202020204" pitchFamily="34" charset="0"/>
                        <a:buChar char="•"/>
                      </a:pPr>
                      <a:r>
                        <a:rPr lang="en-US" sz="2000" dirty="0"/>
                        <a:t>What did you mean by…</a:t>
                      </a:r>
                    </a:p>
                    <a:p>
                      <a:pPr marL="285750" indent="-285750">
                        <a:buFont typeface="Arial" panose="020B0604020202020204" pitchFamily="34" charset="0"/>
                        <a:buChar char="•"/>
                      </a:pPr>
                      <a:r>
                        <a:rPr lang="en-US" sz="2000" dirty="0"/>
                        <a:t>Why is…</a:t>
                      </a:r>
                    </a:p>
                    <a:p>
                      <a:pPr marL="285750" indent="-285750">
                        <a:buFont typeface="Arial" panose="020B0604020202020204" pitchFamily="34" charset="0"/>
                        <a:buChar char="•"/>
                      </a:pPr>
                      <a:r>
                        <a:rPr lang="en-US" sz="2000" dirty="0"/>
                        <a:t>Did you consider…</a:t>
                      </a:r>
                    </a:p>
                    <a:p>
                      <a:pPr marL="285750" indent="-285750">
                        <a:buFont typeface="Arial" panose="020B0604020202020204" pitchFamily="34" charset="0"/>
                        <a:buChar char="•"/>
                      </a:pPr>
                      <a:r>
                        <a:rPr lang="en-US" sz="2000" dirty="0"/>
                        <a:t>I am wondering…</a:t>
                      </a:r>
                    </a:p>
                  </a:txBody>
                  <a:tcPr/>
                </a:tc>
                <a:tc>
                  <a:txBody>
                    <a:bodyPr/>
                    <a:lstStyle/>
                    <a:p>
                      <a:pPr marL="285750" indent="-285750">
                        <a:buFont typeface="Arial" panose="020B0604020202020204" pitchFamily="34" charset="0"/>
                        <a:buChar char="•"/>
                      </a:pPr>
                      <a:r>
                        <a:rPr lang="en-US" sz="2000" dirty="0"/>
                        <a:t>One suggestion is…</a:t>
                      </a:r>
                    </a:p>
                    <a:p>
                      <a:pPr marL="285750" indent="-285750">
                        <a:buFont typeface="Arial" panose="020B0604020202020204" pitchFamily="34" charset="0"/>
                        <a:buChar char="•"/>
                      </a:pPr>
                      <a:r>
                        <a:rPr lang="en-US" sz="2000" dirty="0"/>
                        <a:t>You might change…</a:t>
                      </a:r>
                    </a:p>
                    <a:p>
                      <a:pPr marL="285750" indent="-285750">
                        <a:buFont typeface="Arial" panose="020B0604020202020204" pitchFamily="34" charset="0"/>
                        <a:buChar char="•"/>
                      </a:pPr>
                      <a:r>
                        <a:rPr lang="en-US" sz="2000" dirty="0"/>
                        <a:t>I think you should add…</a:t>
                      </a:r>
                    </a:p>
                    <a:p>
                      <a:pPr marL="285750" indent="-285750">
                        <a:buFont typeface="Arial" panose="020B0604020202020204" pitchFamily="34" charset="0"/>
                        <a:buChar char="•"/>
                      </a:pPr>
                      <a:r>
                        <a:rPr lang="en-US" sz="2000" dirty="0"/>
                        <a:t>You might consider…</a:t>
                      </a:r>
                    </a:p>
                    <a:p>
                      <a:pPr marL="285750" indent="-285750">
                        <a:buFont typeface="Arial" panose="020B0604020202020204" pitchFamily="34" charset="0"/>
                        <a:buChar char="•"/>
                      </a:pPr>
                      <a:r>
                        <a:rPr lang="en-US" sz="2000" dirty="0"/>
                        <a:t>Do you think you should…</a:t>
                      </a:r>
                    </a:p>
                  </a:txBody>
                  <a:tcPr/>
                </a:tc>
                <a:extLst>
                  <a:ext uri="{0D108BD9-81ED-4DB2-BD59-A6C34878D82A}">
                    <a16:rowId xmlns:a16="http://schemas.microsoft.com/office/drawing/2014/main" val="201256390"/>
                  </a:ext>
                </a:extLst>
              </a:tr>
            </a:tbl>
          </a:graphicData>
        </a:graphic>
      </p:graphicFrame>
      <p:sp>
        <p:nvSpPr>
          <p:cNvPr id="4" name="Slide Number Placeholder 3">
            <a:extLst>
              <a:ext uri="{FF2B5EF4-FFF2-40B4-BE49-F238E27FC236}">
                <a16:creationId xmlns:a16="http://schemas.microsoft.com/office/drawing/2014/main" id="{01E16D86-02A9-4B2E-A13C-E3236338CDC3}"/>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3958095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838200" y="136525"/>
            <a:ext cx="10515600" cy="800945"/>
          </a:xfrm>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276350"/>
            <a:ext cx="10657667" cy="5445124"/>
          </a:xfrm>
        </p:spPr>
        <p:txBody>
          <a:bodyPr vert="horz" lIns="91440" tIns="45720" rIns="91440" bIns="45720" rtlCol="0" anchor="t">
            <a:normAutofit/>
          </a:bodyPr>
          <a:lstStyle/>
          <a:p>
            <a:pPr marL="742950" marR="0" lvl="0" indent="-742950">
              <a:spcBef>
                <a:spcPts val="600"/>
              </a:spcBef>
              <a:spcAft>
                <a:spcPts val="600"/>
              </a:spcAft>
              <a:buFont typeface="+mj-lt"/>
              <a:buAutoNum type="arabicPeriod"/>
            </a:pPr>
            <a:r>
              <a:rPr lang="en-US" sz="3600" dirty="0">
                <a:effectLst/>
                <a:latin typeface="Calibri" panose="020F0502020204030204" pitchFamily="34" charset="0"/>
                <a:ea typeface="Calibri" panose="020F0502020204030204" pitchFamily="34" charset="0"/>
                <a:cs typeface="Calibri" panose="020F0502020204030204" pitchFamily="34" charset="0"/>
              </a:rPr>
              <a:t>Why is peer feedback an important tool to use in the classroom?</a:t>
            </a:r>
          </a:p>
          <a:p>
            <a:pPr marL="742950" marR="0" lvl="0" indent="-742950">
              <a:spcBef>
                <a:spcPts val="600"/>
              </a:spcBef>
              <a:spcAft>
                <a:spcPts val="600"/>
              </a:spcAft>
              <a:buFont typeface="+mj-lt"/>
              <a:buAutoNum type="arabicPeriod"/>
            </a:pP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0" indent="-742950">
              <a:spcBef>
                <a:spcPts val="600"/>
              </a:spcBef>
              <a:spcAft>
                <a:spcPts val="600"/>
              </a:spcAft>
              <a:buFont typeface="+mj-lt"/>
              <a:buAutoNum type="arabicPeriod"/>
            </a:pPr>
            <a:r>
              <a:rPr lang="en-US" sz="3600" dirty="0">
                <a:effectLst/>
                <a:latin typeface="Calibri" panose="020F0502020204030204" pitchFamily="34" charset="0"/>
                <a:ea typeface="Calibri" panose="020F0502020204030204" pitchFamily="34" charset="0"/>
                <a:cs typeface="Calibri" panose="020F0502020204030204" pitchFamily="34" charset="0"/>
              </a:rPr>
              <a:t>What are three things that teachers must consider when using peer feedback in their classrooms?</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effectLst/>
              <a:ea typeface="Calibri" panose="020F0502020204030204" pitchFamily="34" charset="0"/>
              <a:cs typeface="Times New Roman" panose="02020603050405020304" pitchFamily="18" charset="0"/>
            </a:endParaRPr>
          </a:p>
          <a:p>
            <a:pPr marL="0" indent="0">
              <a:buNone/>
            </a:pPr>
            <a:endParaRPr lang="en-US" dirty="0">
              <a:cs typeface="Calibri" panose="020F0502020204030204"/>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dirty="0" smtClean="0"/>
              <a:pPr/>
              <a:t>9</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176</TotalTime>
  <Words>620</Words>
  <Application>Microsoft Office PowerPoint</Application>
  <PresentationFormat>Widescreen</PresentationFormat>
  <Paragraphs>71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Instructional Practices| Unit 9: Feedback| Lesson 9.06</vt:lpstr>
      <vt:lpstr>TEKS Standards &amp; Objectives</vt:lpstr>
      <vt:lpstr>Bellringer</vt:lpstr>
      <vt:lpstr>Vocabulary</vt:lpstr>
      <vt:lpstr>Benefits of Peer Feedback</vt:lpstr>
      <vt:lpstr>Considerations when Utilizing Peer Feedback</vt:lpstr>
      <vt:lpstr>Steps for Teaching Peer Feedback Strategies</vt:lpstr>
      <vt:lpstr>Peer Feedback Strategy: TAG</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9.02: Practice with Informal Feedback</dc:title>
  <dc:subject>Lesson 9.02: Practice with Informal Feedback</dc:subject>
  <dc:creator>Texas Education Agency</dc:creator>
  <cp:lastModifiedBy>London White</cp:lastModifiedBy>
  <cp:revision>87</cp:revision>
  <dcterms:created xsi:type="dcterms:W3CDTF">2022-05-09T19:40:20Z</dcterms:created>
  <dcterms:modified xsi:type="dcterms:W3CDTF">2023-08-31T03:35:12Z</dcterms:modified>
</cp:coreProperties>
</file>
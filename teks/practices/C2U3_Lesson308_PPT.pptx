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9" r:id="rId6"/>
    <p:sldId id="258" r:id="rId7"/>
    <p:sldId id="264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87056-30DB-4B0E-9BB9-7DDCE08770E4}" v="1" dt="2023-08-31T01:54:05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60" d="100"/>
          <a:sy n="60" d="100"/>
        </p:scale>
        <p:origin x="8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6/6/2025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50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Leveraging School Community to Support Instruction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1A830-19E3-E912-E323-25D00F44A0D5}"/>
              </a:ext>
            </a:extLst>
          </p:cNvPr>
          <p:cNvSpPr txBox="1"/>
          <p:nvPr/>
        </p:nvSpPr>
        <p:spPr>
          <a:xfrm>
            <a:off x="0" y="6455328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5A-B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Explain the importance of coaches, club sponsors, and other school personnel in building relationships with students that support learning</a:t>
            </a:r>
          </a:p>
          <a:p>
            <a:r>
              <a:rPr lang="en-US" dirty="0"/>
              <a:t>Understand how to use information about students from </a:t>
            </a:r>
            <a:r>
              <a:rPr lang="en-US" dirty="0" err="1"/>
              <a:t>cfolleagues</a:t>
            </a:r>
            <a:r>
              <a:rPr lang="en-US" dirty="0"/>
              <a:t> to support instructional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 relationships with trusted adults help students in school?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Outside of your immediate family, who is the adult in your life do you trust the most? Why do you trust them?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Introduction to School Community Support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dirty="0"/>
              <a:t>Counselors: </a:t>
            </a:r>
            <a:r>
              <a:rPr lang="en-US" sz="3600" i="1" dirty="0"/>
              <a:t>Support students emotional needs, can provide support for social situations, may know career goals</a:t>
            </a:r>
          </a:p>
          <a:p>
            <a:r>
              <a:rPr lang="en-US" sz="3600" b="1" dirty="0"/>
              <a:t>Resource Teachers: </a:t>
            </a:r>
            <a:r>
              <a:rPr lang="en-US" sz="3600" i="1" dirty="0"/>
              <a:t>Teachers who provide strategies for teaching different populations or specific content areas, such as: ELL Teachers, Special Education Teachers, Reading/Literacy Specialists, Math Specialists</a:t>
            </a:r>
            <a:r>
              <a:rPr lang="en-US" sz="3600" dirty="0"/>
              <a:t>.</a:t>
            </a:r>
          </a:p>
          <a:p>
            <a:r>
              <a:rPr lang="en-US" sz="3600" b="1" dirty="0"/>
              <a:t>Social Worker: </a:t>
            </a:r>
            <a:r>
              <a:rPr lang="en-US" sz="3600" i="1" dirty="0"/>
              <a:t>Support students outside of school with family and community, can provide mental health services.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Introduction to School Community </a:t>
            </a:r>
            <a:r>
              <a:rPr lang="en-US"/>
              <a:t>Support Roles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b="1" dirty="0"/>
              <a:t>Previous Teachers: </a:t>
            </a:r>
            <a:r>
              <a:rPr lang="en-US" i="1" dirty="0"/>
              <a:t>Can inform on student’s strengths and opportunities for growth, successful strategies, seating arrangements, hobbies, interests, performance on tests and assignments, grouping preferences. Current teachers have a responsibility to use an asset-based mindset when learning about a student. If the previous teacher did not have a positive relationship with the student, the current teacher should consider that when collecting information</a:t>
            </a:r>
            <a:endParaRPr lang="en-US" sz="3600" i="1" dirty="0"/>
          </a:p>
          <a:p>
            <a:r>
              <a:rPr lang="en-US" sz="3600" b="1" dirty="0"/>
              <a:t>Enrichment Teachers: </a:t>
            </a:r>
            <a:r>
              <a:rPr lang="en-US" i="1" dirty="0"/>
              <a:t>In many schools, the art, music, pe teachers, and librarians have known and taught the students for years. They are an excellent resource for knowledge of students.</a:t>
            </a:r>
          </a:p>
          <a:p>
            <a:r>
              <a:rPr lang="en-US" sz="3600" b="1" dirty="0"/>
              <a:t>After School Teacher/Coaches: </a:t>
            </a:r>
            <a:r>
              <a:rPr lang="en-US" i="1" dirty="0"/>
              <a:t>Another good resource for classroom teachers to learn about student personalities, talent, and interests. Collaborating with them can help teachers find more ways to motivate students.</a:t>
            </a:r>
            <a:endParaRPr lang="en-US" dirty="0"/>
          </a:p>
          <a:p>
            <a:pPr marL="0" indent="0">
              <a:buNone/>
            </a:pPr>
            <a:endParaRPr lang="en-US" sz="36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4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8619-0251-480A-968C-DF527DC0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Partnerships with School &amp; Community Support Professionals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6D89-0810-488A-99EF-4C9D3F4D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Build relationships with colleagues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Understand the colleague’s role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Ask questions about ways that their work can be supported by your role as the teacher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Respect their time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Arrange a time to meet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Preplan questions 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Send questions in advance if possible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Unless you have a good relationship with that colleague, do not assume they have time to meet.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Respect their expertise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Ask questions and listen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 mindful to maintain an asset-based mindset about your students</a:t>
            </a:r>
          </a:p>
          <a:p>
            <a:pPr marL="1143000" marR="0" lvl="2" indent="-228600"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another teacher may not have a positive relationship with a student, but you should never pre-judge a student based on that experience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965D7-B72D-43FB-989E-EF4B7497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1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is it important to develop relationships with colleagues throughout the school community? 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Who are some of the colleagues that can help you to support your students instructionally? 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Given the following scenario, who might the teacher go to for help? What questions might the teacher ask?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Sofia is a new student in Ms. K’s 4</a:t>
            </a:r>
            <a:r>
              <a:rPr lang="en-US" sz="2000" b="1" i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</a:t>
            </a:r>
            <a:r>
              <a:rPr lang="en-US" sz="20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grade class. Sofia’s has quickly made friends and adapted to her new school. Ms. K is surprised when she doesn’t do well on her first test because, based on what Ms. K saw in class, Sofia was understanding the material. Since Sofia is new, there are no previous teachers Ms. K can speak to that might be able to help her. What should Ms. K do next, and what questions might Ms. K ask?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D57B0C54CC24F934F6B5B683E9FF3" ma:contentTypeVersion="17" ma:contentTypeDescription="Create a new document." ma:contentTypeScope="" ma:versionID="74c475a7f88c09ad26452b08dcff0b32">
  <xsd:schema xmlns:xsd="http://www.w3.org/2001/XMLSchema" xmlns:xs="http://www.w3.org/2001/XMLSchema" xmlns:p="http://schemas.microsoft.com/office/2006/metadata/properties" xmlns:ns2="1a31ff91-fdef-444f-97ac-59e8c717c665" xmlns:ns3="c846d8e3-a298-4df9-941d-031d5a654278" targetNamespace="http://schemas.microsoft.com/office/2006/metadata/properties" ma:root="true" ma:fieldsID="927c3c6b4a17e24bf610af3d477f503d" ns2:_="" ns3:_="">
    <xsd:import namespace="1a31ff91-fdef-444f-97ac-59e8c717c665"/>
    <xsd:import namespace="c846d8e3-a298-4df9-941d-031d5a654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1ff91-fdef-444f-97ac-59e8c717c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7a77b5-e59d-49f3-97a2-3dde868dbe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6d8e3-a298-4df9-941d-031d5a654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bacdb30-d662-427e-8aeb-ae7c33e06b0f}" ma:internalName="TaxCatchAll" ma:showField="CatchAllData" ma:web="c846d8e3-a298-4df9-941d-031d5a654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846d8e3-a298-4df9-941d-031d5a654278" xsi:nil="true"/>
    <lcf76f155ced4ddcb4097134ff3c332f xmlns="1a31ff91-fdef-444f-97ac-59e8c717c6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39A45D-BBE2-49D4-9257-3A60A04AC2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6ED92E-4674-4CB9-8594-6C9727168F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1ff91-fdef-444f-97ac-59e8c717c665"/>
    <ds:schemaRef ds:uri="c846d8e3-a298-4df9-941d-031d5a654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A24AF8-A9F1-44F2-ADDD-B4E6151BDAF5}">
  <ds:schemaRefs>
    <ds:schemaRef ds:uri="http://schemas.microsoft.com/office/2006/metadata/properties"/>
    <ds:schemaRef ds:uri="http://schemas.microsoft.com/office/infopath/2007/PartnerControls"/>
    <ds:schemaRef ds:uri="c846d8e3-a298-4df9-941d-031d5a654278"/>
    <ds:schemaRef ds:uri="1a31ff91-fdef-444f-97ac-59e8c717c66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609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Instructional Practices| Unit 3: Knowledge of Students to Drive Instruction | Lesson 3.08</vt:lpstr>
      <vt:lpstr>TEKS Standards &amp; Objectives</vt:lpstr>
      <vt:lpstr>Bellringer</vt:lpstr>
      <vt:lpstr>Introduction to School Community Support Roles</vt:lpstr>
      <vt:lpstr>Introduction to School Community Support Roles </vt:lpstr>
      <vt:lpstr>How to Build Partnerships with School &amp; Community Support Professionals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3.08: Leveraging School Community to Support Instruction</dc:title>
  <dc:subject>Lesson 3.08: Leveraging School Community to Support Instruction</dc:subject>
  <dc:creator>Texas Education Agency</dc:creator>
  <cp:lastModifiedBy>Ye, Ruth</cp:lastModifiedBy>
  <cp:revision>6</cp:revision>
  <dcterms:created xsi:type="dcterms:W3CDTF">2022-05-09T19:40:20Z</dcterms:created>
  <dcterms:modified xsi:type="dcterms:W3CDTF">2025-06-06T22:13:59Z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0x01010037AD57B0C54CC24F934F6B5B683E9FF3</vt:lpwstr>
  </property>
</Properties>
</file>
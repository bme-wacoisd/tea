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2" r:id="rId6"/>
    <p:sldId id="263" r:id="rId7"/>
    <p:sldId id="264"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1"/>
            <p14:sldId id="262"/>
            <p14:sldId id="263"/>
            <p14:sldId id="264"/>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CF6E09-9BBB-46C9-B2BA-6009AD9F1C1F}" v="17" dt="2023-01-17T06:33:53.625"/>
    <p1510:client id="{38F44297-F94C-4991-BC7E-AAD79838D019}" v="4" dt="2023-01-17T03:43:33.9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2" autoAdjust="0"/>
    <p:restoredTop sz="94614" autoAdjust="0"/>
  </p:normalViewPr>
  <p:slideViewPr>
    <p:cSldViewPr snapToGrid="0">
      <p:cViewPr varScale="1">
        <p:scale>
          <a:sx n="108" d="100"/>
          <a:sy n="108" d="100"/>
        </p:scale>
        <p:origin x="51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docChgLst>
    <pc:chgData name="White (she/her), Whitney" userId="65f39021-2f1d-4d8b-87dc-b123826f65bf" providerId="ADAL" clId="{0CCF6E09-9BBB-46C9-B2BA-6009AD9F1C1F}"/>
    <pc:docChg chg="custSel addSld modSld modSection">
      <pc:chgData name="White (she/her), Whitney" userId="65f39021-2f1d-4d8b-87dc-b123826f65bf" providerId="ADAL" clId="{0CCF6E09-9BBB-46C9-B2BA-6009AD9F1C1F}" dt="2023-01-17T06:34:18.007" v="230" actId="26606"/>
      <pc:docMkLst>
        <pc:docMk/>
      </pc:docMkLst>
      <pc:sldChg chg="modSp mod">
        <pc:chgData name="White (she/her), Whitney" userId="65f39021-2f1d-4d8b-87dc-b123826f65bf" providerId="ADAL" clId="{0CCF6E09-9BBB-46C9-B2BA-6009AD9F1C1F}" dt="2023-01-17T06:25:32.303" v="25" actId="20577"/>
        <pc:sldMkLst>
          <pc:docMk/>
          <pc:sldMk cId="1482277026" sldId="256"/>
        </pc:sldMkLst>
        <pc:spChg chg="mod">
          <ac:chgData name="White (she/her), Whitney" userId="65f39021-2f1d-4d8b-87dc-b123826f65bf" providerId="ADAL" clId="{0CCF6E09-9BBB-46C9-B2BA-6009AD9F1C1F}" dt="2023-01-17T06:25:12.121" v="7" actId="27636"/>
          <ac:spMkLst>
            <pc:docMk/>
            <pc:sldMk cId="1482277026" sldId="256"/>
            <ac:spMk id="2" creationId="{BFFCF5BD-F8FF-4A67-A8B6-EBB21E79279B}"/>
          </ac:spMkLst>
        </pc:spChg>
        <pc:spChg chg="mod">
          <ac:chgData name="White (she/her), Whitney" userId="65f39021-2f1d-4d8b-87dc-b123826f65bf" providerId="ADAL" clId="{0CCF6E09-9BBB-46C9-B2BA-6009AD9F1C1F}" dt="2023-01-17T06:25:32.303" v="25" actId="20577"/>
          <ac:spMkLst>
            <pc:docMk/>
            <pc:sldMk cId="1482277026" sldId="256"/>
            <ac:spMk id="3" creationId="{E0FBD98F-3A67-498E-8174-652040DD7B60}"/>
          </ac:spMkLst>
        </pc:spChg>
      </pc:sldChg>
      <pc:sldChg chg="modSp mod">
        <pc:chgData name="White (she/her), Whitney" userId="65f39021-2f1d-4d8b-87dc-b123826f65bf" providerId="ADAL" clId="{0CCF6E09-9BBB-46C9-B2BA-6009AD9F1C1F}" dt="2023-01-17T06:27:18.251" v="41" actId="255"/>
        <pc:sldMkLst>
          <pc:docMk/>
          <pc:sldMk cId="4071305681" sldId="258"/>
        </pc:sldMkLst>
        <pc:spChg chg="mod">
          <ac:chgData name="White (she/her), Whitney" userId="65f39021-2f1d-4d8b-87dc-b123826f65bf" providerId="ADAL" clId="{0CCF6E09-9BBB-46C9-B2BA-6009AD9F1C1F}" dt="2023-01-17T06:27:18.251" v="41" actId="255"/>
          <ac:spMkLst>
            <pc:docMk/>
            <pc:sldMk cId="4071305681" sldId="258"/>
            <ac:spMk id="3" creationId="{392BE286-77A6-49DD-B15D-7E4718D52FE7}"/>
          </ac:spMkLst>
        </pc:spChg>
      </pc:sldChg>
      <pc:sldChg chg="modSp mod">
        <pc:chgData name="White (she/her), Whitney" userId="65f39021-2f1d-4d8b-87dc-b123826f65bf" providerId="ADAL" clId="{0CCF6E09-9BBB-46C9-B2BA-6009AD9F1C1F}" dt="2023-01-17T06:27:02.247" v="37" actId="255"/>
        <pc:sldMkLst>
          <pc:docMk/>
          <pc:sldMk cId="2772527113" sldId="259"/>
        </pc:sldMkLst>
        <pc:spChg chg="mod">
          <ac:chgData name="White (she/her), Whitney" userId="65f39021-2f1d-4d8b-87dc-b123826f65bf" providerId="ADAL" clId="{0CCF6E09-9BBB-46C9-B2BA-6009AD9F1C1F}" dt="2023-01-17T06:27:02.247" v="37" actId="255"/>
          <ac:spMkLst>
            <pc:docMk/>
            <pc:sldMk cId="2772527113" sldId="259"/>
            <ac:spMk id="3" creationId="{8CE08C7F-0286-423B-92F7-DEB89F31111A}"/>
          </ac:spMkLst>
        </pc:spChg>
      </pc:sldChg>
      <pc:sldChg chg="modSp mod">
        <pc:chgData name="White (she/her), Whitney" userId="65f39021-2f1d-4d8b-87dc-b123826f65bf" providerId="ADAL" clId="{0CCF6E09-9BBB-46C9-B2BA-6009AD9F1C1F}" dt="2023-01-17T06:25:58.601" v="30" actId="12"/>
        <pc:sldMkLst>
          <pc:docMk/>
          <pc:sldMk cId="2147408764" sldId="260"/>
        </pc:sldMkLst>
        <pc:spChg chg="mod">
          <ac:chgData name="White (she/her), Whitney" userId="65f39021-2f1d-4d8b-87dc-b123826f65bf" providerId="ADAL" clId="{0CCF6E09-9BBB-46C9-B2BA-6009AD9F1C1F}" dt="2023-01-17T06:25:58.601" v="30" actId="12"/>
          <ac:spMkLst>
            <pc:docMk/>
            <pc:sldMk cId="2147408764" sldId="260"/>
            <ac:spMk id="3" creationId="{49F2A5AF-3C0B-4968-A438-E435325199EA}"/>
          </ac:spMkLst>
        </pc:spChg>
      </pc:sldChg>
      <pc:sldChg chg="addSp delSp modSp mod">
        <pc:chgData name="White (she/her), Whitney" userId="65f39021-2f1d-4d8b-87dc-b123826f65bf" providerId="ADAL" clId="{0CCF6E09-9BBB-46C9-B2BA-6009AD9F1C1F}" dt="2023-01-17T06:27:48.673" v="55" actId="20577"/>
        <pc:sldMkLst>
          <pc:docMk/>
          <pc:sldMk cId="3054216349" sldId="261"/>
        </pc:sldMkLst>
        <pc:spChg chg="del mod">
          <ac:chgData name="White (she/her), Whitney" userId="65f39021-2f1d-4d8b-87dc-b123826f65bf" providerId="ADAL" clId="{0CCF6E09-9BBB-46C9-B2BA-6009AD9F1C1F}" dt="2023-01-17T06:27:32.341" v="43"/>
          <ac:spMkLst>
            <pc:docMk/>
            <pc:sldMk cId="3054216349" sldId="261"/>
            <ac:spMk id="3" creationId="{AE13FDB6-F093-4D9E-B14E-3D7DB894C34C}"/>
          </ac:spMkLst>
        </pc:spChg>
        <pc:graphicFrameChg chg="add mod modGraphic">
          <ac:chgData name="White (she/her), Whitney" userId="65f39021-2f1d-4d8b-87dc-b123826f65bf" providerId="ADAL" clId="{0CCF6E09-9BBB-46C9-B2BA-6009AD9F1C1F}" dt="2023-01-17T06:27:48.673" v="55" actId="20577"/>
          <ac:graphicFrameMkLst>
            <pc:docMk/>
            <pc:sldMk cId="3054216349" sldId="261"/>
            <ac:graphicFrameMk id="5" creationId="{0A952207-90B6-48C1-B8C6-207C98C7FA6A}"/>
          </ac:graphicFrameMkLst>
        </pc:graphicFrameChg>
      </pc:sldChg>
      <pc:sldChg chg="modSp new mod">
        <pc:chgData name="White (she/her), Whitney" userId="65f39021-2f1d-4d8b-87dc-b123826f65bf" providerId="ADAL" clId="{0CCF6E09-9BBB-46C9-B2BA-6009AD9F1C1F}" dt="2023-01-17T06:29:36.713" v="105" actId="207"/>
        <pc:sldMkLst>
          <pc:docMk/>
          <pc:sldMk cId="549676551" sldId="262"/>
        </pc:sldMkLst>
        <pc:spChg chg="mod">
          <ac:chgData name="White (she/her), Whitney" userId="65f39021-2f1d-4d8b-87dc-b123826f65bf" providerId="ADAL" clId="{0CCF6E09-9BBB-46C9-B2BA-6009AD9F1C1F}" dt="2023-01-17T06:28:35.102" v="85" actId="20577"/>
          <ac:spMkLst>
            <pc:docMk/>
            <pc:sldMk cId="549676551" sldId="262"/>
            <ac:spMk id="2" creationId="{3521A8B1-BF6E-4A9E-8AE2-1960B3E186D0}"/>
          </ac:spMkLst>
        </pc:spChg>
        <pc:spChg chg="mod">
          <ac:chgData name="White (she/her), Whitney" userId="65f39021-2f1d-4d8b-87dc-b123826f65bf" providerId="ADAL" clId="{0CCF6E09-9BBB-46C9-B2BA-6009AD9F1C1F}" dt="2023-01-17T06:29:36.713" v="105" actId="207"/>
          <ac:spMkLst>
            <pc:docMk/>
            <pc:sldMk cId="549676551" sldId="262"/>
            <ac:spMk id="3" creationId="{CEE9928A-2808-40D8-A1FA-DA198CE9BCAF}"/>
          </ac:spMkLst>
        </pc:spChg>
      </pc:sldChg>
      <pc:sldChg chg="modSp new mod modAnim">
        <pc:chgData name="White (she/her), Whitney" userId="65f39021-2f1d-4d8b-87dc-b123826f65bf" providerId="ADAL" clId="{0CCF6E09-9BBB-46C9-B2BA-6009AD9F1C1F}" dt="2023-01-17T06:32:45.842" v="187" actId="255"/>
        <pc:sldMkLst>
          <pc:docMk/>
          <pc:sldMk cId="1721707066" sldId="263"/>
        </pc:sldMkLst>
        <pc:spChg chg="mod">
          <ac:chgData name="White (she/her), Whitney" userId="65f39021-2f1d-4d8b-87dc-b123826f65bf" providerId="ADAL" clId="{0CCF6E09-9BBB-46C9-B2BA-6009AD9F1C1F}" dt="2023-01-17T06:30:15.071" v="130" actId="20577"/>
          <ac:spMkLst>
            <pc:docMk/>
            <pc:sldMk cId="1721707066" sldId="263"/>
            <ac:spMk id="2" creationId="{E1B6047D-3131-405B-AC9B-F215F9DB2379}"/>
          </ac:spMkLst>
        </pc:spChg>
        <pc:spChg chg="mod">
          <ac:chgData name="White (she/her), Whitney" userId="65f39021-2f1d-4d8b-87dc-b123826f65bf" providerId="ADAL" clId="{0CCF6E09-9BBB-46C9-B2BA-6009AD9F1C1F}" dt="2023-01-17T06:32:45.842" v="187" actId="255"/>
          <ac:spMkLst>
            <pc:docMk/>
            <pc:sldMk cId="1721707066" sldId="263"/>
            <ac:spMk id="3" creationId="{979236E9-C5A5-44F7-AA8C-95BDE31A921B}"/>
          </ac:spMkLst>
        </pc:spChg>
      </pc:sldChg>
      <pc:sldChg chg="addSp delSp modSp new mod">
        <pc:chgData name="White (she/her), Whitney" userId="65f39021-2f1d-4d8b-87dc-b123826f65bf" providerId="ADAL" clId="{0CCF6E09-9BBB-46C9-B2BA-6009AD9F1C1F}" dt="2023-01-17T06:34:18.007" v="230" actId="26606"/>
        <pc:sldMkLst>
          <pc:docMk/>
          <pc:sldMk cId="2168053491" sldId="264"/>
        </pc:sldMkLst>
        <pc:spChg chg="mod">
          <ac:chgData name="White (she/her), Whitney" userId="65f39021-2f1d-4d8b-87dc-b123826f65bf" providerId="ADAL" clId="{0CCF6E09-9BBB-46C9-B2BA-6009AD9F1C1F}" dt="2023-01-17T06:34:18.007" v="230" actId="26606"/>
          <ac:spMkLst>
            <pc:docMk/>
            <pc:sldMk cId="2168053491" sldId="264"/>
            <ac:spMk id="2" creationId="{A2C5CBD1-2D55-40DD-8F30-2C205910FE90}"/>
          </ac:spMkLst>
        </pc:spChg>
        <pc:spChg chg="del mod">
          <ac:chgData name="White (she/her), Whitney" userId="65f39021-2f1d-4d8b-87dc-b123826f65bf" providerId="ADAL" clId="{0CCF6E09-9BBB-46C9-B2BA-6009AD9F1C1F}" dt="2023-01-17T06:33:53.625" v="190"/>
          <ac:spMkLst>
            <pc:docMk/>
            <pc:sldMk cId="2168053491" sldId="264"/>
            <ac:spMk id="3" creationId="{31559C71-F32A-4E1F-B196-04B9330A65A7}"/>
          </ac:spMkLst>
        </pc:spChg>
        <pc:spChg chg="mod ord">
          <ac:chgData name="White (she/her), Whitney" userId="65f39021-2f1d-4d8b-87dc-b123826f65bf" providerId="ADAL" clId="{0CCF6E09-9BBB-46C9-B2BA-6009AD9F1C1F}" dt="2023-01-17T06:34:18.007" v="230" actId="26606"/>
          <ac:spMkLst>
            <pc:docMk/>
            <pc:sldMk cId="2168053491" sldId="264"/>
            <ac:spMk id="4" creationId="{2C32530C-EE52-4084-A048-49D9548BC944}"/>
          </ac:spMkLst>
        </pc:spChg>
        <pc:picChg chg="add mod">
          <ac:chgData name="White (she/her), Whitney" userId="65f39021-2f1d-4d8b-87dc-b123826f65bf" providerId="ADAL" clId="{0CCF6E09-9BBB-46C9-B2BA-6009AD9F1C1F}" dt="2023-01-17T06:34:18.007" v="230" actId="26606"/>
          <ac:picMkLst>
            <pc:docMk/>
            <pc:sldMk cId="2168053491" sldId="264"/>
            <ac:picMk id="5" creationId="{0267A2CA-C0B2-4FAD-9C12-801711AA39A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7: High Leverage Teaching Practices| Lesson 7.11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Metacognition</a:t>
            </a:r>
          </a:p>
        </p:txBody>
      </p:sp>
      <p:sp>
        <p:nvSpPr>
          <p:cNvPr id="4" name="TextBox 3">
            <a:extLst>
              <a:ext uri="{FF2B5EF4-FFF2-40B4-BE49-F238E27FC236}">
                <a16:creationId xmlns:a16="http://schemas.microsoft.com/office/drawing/2014/main" id="{CC8F8C79-198F-BE5D-BC00-0015D56C9569}"/>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4B</a:t>
            </a:r>
          </a:p>
          <a:p>
            <a:pPr marL="0" indent="0">
              <a:buNone/>
            </a:pPr>
            <a:endParaRPr lang="en-US" dirty="0"/>
          </a:p>
          <a:p>
            <a:pPr marL="0" indent="0">
              <a:buNone/>
            </a:pPr>
            <a:r>
              <a:rPr lang="en-US" dirty="0"/>
              <a:t>The student will:</a:t>
            </a:r>
          </a:p>
          <a:p>
            <a:pPr marL="342900" marR="0" lvl="0" indent="-342900">
              <a:spcBef>
                <a:spcPts val="60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Define </a:t>
            </a:r>
            <a:r>
              <a:rPr lang="en-US" dirty="0">
                <a:effectLst/>
                <a:latin typeface="Calibri" panose="020F0502020204030204" pitchFamily="34" charset="0"/>
                <a:ea typeface="Calibri" panose="020F0502020204030204" pitchFamily="34" charset="0"/>
                <a:cs typeface="Arial" panose="020B0604020202020204" pitchFamily="34" charset="0"/>
              </a:rPr>
              <a:t>metacognition and explain how metacognitive strategies support student learning </a:t>
            </a:r>
          </a:p>
          <a:p>
            <a:pPr marL="342900" marR="0" lvl="0" indent="-342900">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Identify and describe the impact of metacognitive strategies</a:t>
            </a:r>
          </a:p>
          <a:p>
            <a:pPr marL="342900" marR="0" lvl="0" indent="-342900">
              <a:spcBef>
                <a:spcPts val="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Practice think-</a:t>
            </a:r>
            <a:r>
              <a:rPr lang="en-US" dirty="0" err="1">
                <a:effectLst/>
                <a:latin typeface="Calibri" panose="020F0502020204030204" pitchFamily="34" charset="0"/>
                <a:ea typeface="Calibri" panose="020F0502020204030204" pitchFamily="34" charset="0"/>
                <a:cs typeface="Arial" panose="020B0604020202020204" pitchFamily="34" charset="0"/>
              </a:rPr>
              <a:t>alouds</a:t>
            </a:r>
            <a:r>
              <a:rPr lang="en-US" dirty="0">
                <a:effectLst/>
                <a:latin typeface="Calibri" panose="020F0502020204030204" pitchFamily="34" charset="0"/>
                <a:ea typeface="Calibri" panose="020F0502020204030204" pitchFamily="34" charset="0"/>
                <a:cs typeface="Arial" panose="020B0604020202020204" pitchFamily="34" charset="0"/>
              </a:rPr>
              <a:t> to make thinking visible</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rPr>
              <a:t>Have you ever talked to yourself as you were working through a problem?  Why might it be beneficial for someone to verbalize their thinking as they are solving problems? </a:t>
            </a: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0A952207-90B6-48C1-B8C6-207C98C7FA6A}"/>
              </a:ext>
            </a:extLst>
          </p:cNvPr>
          <p:cNvGraphicFramePr>
            <a:graphicFrameLocks noGrp="1"/>
          </p:cNvGraphicFramePr>
          <p:nvPr>
            <p:ph idx="1"/>
            <p:extLst>
              <p:ext uri="{D42A27DB-BD31-4B8C-83A1-F6EECF244321}">
                <p14:modId xmlns:p14="http://schemas.microsoft.com/office/powerpoint/2010/main" val="3824732407"/>
              </p:ext>
            </p:extLst>
          </p:nvPr>
        </p:nvGraphicFramePr>
        <p:xfrm>
          <a:off x="838200" y="2305051"/>
          <a:ext cx="10515600" cy="2173683"/>
        </p:xfrm>
        <a:graphic>
          <a:graphicData uri="http://schemas.openxmlformats.org/drawingml/2006/table">
            <a:tbl>
              <a:tblPr firstRow="1" firstCol="1" bandRow="1"/>
              <a:tblGrid>
                <a:gridCol w="2297978">
                  <a:extLst>
                    <a:ext uri="{9D8B030D-6E8A-4147-A177-3AD203B41FA5}">
                      <a16:colId xmlns:a16="http://schemas.microsoft.com/office/drawing/2014/main" val="17403599"/>
                    </a:ext>
                  </a:extLst>
                </a:gridCol>
                <a:gridCol w="8217622">
                  <a:extLst>
                    <a:ext uri="{9D8B030D-6E8A-4147-A177-3AD203B41FA5}">
                      <a16:colId xmlns:a16="http://schemas.microsoft.com/office/drawing/2014/main" val="418692505"/>
                    </a:ext>
                  </a:extLst>
                </a:gridCol>
              </a:tblGrid>
              <a:tr h="451406">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Metacognition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Thinking about your thinking</a:t>
                      </a:r>
                    </a:p>
                    <a:p>
                      <a:pPr marL="0" marR="0">
                        <a:spcBef>
                          <a:spcPts val="600"/>
                        </a:spcBef>
                        <a:spcAft>
                          <a:spcPts val="600"/>
                        </a:spcAft>
                      </a:pPr>
                      <a:endParaRPr lang="en-US"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4946316"/>
                  </a:ext>
                </a:extLst>
              </a:tr>
              <a:tr h="1167843">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Think-aloud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A strategy used to verbalize one’s thinking in order to make it explicit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5306416"/>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A8B1-BF6E-4A9E-8AE2-1960B3E186D0}"/>
              </a:ext>
            </a:extLst>
          </p:cNvPr>
          <p:cNvSpPr>
            <a:spLocks noGrp="1"/>
          </p:cNvSpPr>
          <p:nvPr>
            <p:ph type="title"/>
          </p:nvPr>
        </p:nvSpPr>
        <p:spPr/>
        <p:txBody>
          <a:bodyPr/>
          <a:lstStyle/>
          <a:p>
            <a:r>
              <a:rPr lang="en-US" dirty="0"/>
              <a:t>Introduction to Metacognition</a:t>
            </a:r>
          </a:p>
        </p:txBody>
      </p:sp>
      <p:sp>
        <p:nvSpPr>
          <p:cNvPr id="3" name="Content Placeholder 2">
            <a:extLst>
              <a:ext uri="{FF2B5EF4-FFF2-40B4-BE49-F238E27FC236}">
                <a16:creationId xmlns:a16="http://schemas.microsoft.com/office/drawing/2014/main" id="{CEE9928A-2808-40D8-A1FA-DA198CE9BCAF}"/>
              </a:ext>
            </a:extLst>
          </p:cNvPr>
          <p:cNvSpPr>
            <a:spLocks noGrp="1"/>
          </p:cNvSpPr>
          <p:nvPr>
            <p:ph idx="1"/>
          </p:nvPr>
        </p:nvSpPr>
        <p:spPr/>
        <p:txBody>
          <a:bodyPr/>
          <a:lstStyle/>
          <a:p>
            <a:pPr marL="0" marR="0" indent="0" fontAlgn="base">
              <a:spcBef>
                <a:spcPts val="0"/>
              </a:spcBef>
              <a:spcAft>
                <a:spcPts val="0"/>
              </a:spcAft>
              <a:buNone/>
            </a:pPr>
            <a:r>
              <a:rPr lang="en-US" sz="3200" b="1" dirty="0">
                <a:effectLst/>
                <a:ea typeface="Times New Roman" panose="02020603050405020304" pitchFamily="18" charset="0"/>
              </a:rPr>
              <a:t>Metacognition: </a:t>
            </a:r>
            <a:r>
              <a:rPr lang="en-US" sz="3200" dirty="0">
                <a:effectLst/>
                <a:ea typeface="Times New Roman" panose="02020603050405020304" pitchFamily="18" charset="0"/>
              </a:rPr>
              <a:t>Thinking about ones thinking</a:t>
            </a:r>
          </a:p>
          <a:p>
            <a:pPr marL="0" marR="0" indent="0" fontAlgn="base">
              <a:spcBef>
                <a:spcPts val="0"/>
              </a:spcBef>
              <a:spcAft>
                <a:spcPts val="0"/>
              </a:spcAft>
              <a:buNone/>
            </a:pPr>
            <a:r>
              <a:rPr lang="en-US" sz="3200" b="1" dirty="0">
                <a:effectLst/>
                <a:ea typeface="Times New Roman" panose="02020603050405020304" pitchFamily="18" charset="0"/>
              </a:rPr>
              <a:t> </a:t>
            </a:r>
            <a:endParaRPr lang="en-US" sz="3200" dirty="0">
              <a:effectLst/>
              <a:ea typeface="Times New Roman" panose="02020603050405020304" pitchFamily="18" charset="0"/>
            </a:endParaRPr>
          </a:p>
          <a:p>
            <a:pPr marL="0" marR="0" indent="0" fontAlgn="base">
              <a:spcBef>
                <a:spcPts val="0"/>
              </a:spcBef>
              <a:spcAft>
                <a:spcPts val="0"/>
              </a:spcAft>
              <a:buNone/>
            </a:pPr>
            <a:r>
              <a:rPr lang="en-US" sz="3200" b="1" dirty="0">
                <a:effectLst/>
                <a:ea typeface="Times New Roman" panose="02020603050405020304" pitchFamily="18" charset="0"/>
              </a:rPr>
              <a:t>Benefits of Metacognition: </a:t>
            </a:r>
            <a:endParaRPr lang="en-US" sz="3200" dirty="0">
              <a:effectLst/>
              <a:ea typeface="Times New Roman" panose="02020603050405020304" pitchFamily="18" charset="0"/>
            </a:endParaRPr>
          </a:p>
          <a:p>
            <a:pPr fontAlgn="base">
              <a:spcBef>
                <a:spcPts val="0"/>
              </a:spcBef>
            </a:pPr>
            <a:r>
              <a:rPr lang="en-US" sz="3200" dirty="0">
                <a:effectLst/>
                <a:ea typeface="Times New Roman" panose="02020603050405020304" pitchFamily="18" charset="0"/>
              </a:rPr>
              <a:t>Improves student learning</a:t>
            </a:r>
            <a:endParaRPr lang="en-US" sz="3200" dirty="0">
              <a:ea typeface="Times New Roman" panose="02020603050405020304" pitchFamily="18" charset="0"/>
            </a:endParaRPr>
          </a:p>
          <a:p>
            <a:pPr fontAlgn="base">
              <a:spcBef>
                <a:spcPts val="0"/>
              </a:spcBef>
            </a:pPr>
            <a:r>
              <a:rPr lang="en-US" sz="3200" dirty="0">
                <a:ea typeface="Times New Roman" panose="02020603050405020304" pitchFamily="18" charset="0"/>
              </a:rPr>
              <a:t>E</a:t>
            </a:r>
            <a:r>
              <a:rPr lang="en-US" sz="3200" dirty="0">
                <a:effectLst/>
                <a:ea typeface="Times New Roman" panose="02020603050405020304" pitchFamily="18" charset="0"/>
              </a:rPr>
              <a:t>nhances:</a:t>
            </a:r>
          </a:p>
          <a:p>
            <a:pPr lvl="1" fontAlgn="base">
              <a:spcBef>
                <a:spcPts val="0"/>
              </a:spcBef>
            </a:pPr>
            <a:r>
              <a:rPr lang="en-US" sz="3200" dirty="0">
                <a:effectLst/>
                <a:ea typeface="Times New Roman" panose="02020603050405020304" pitchFamily="18" charset="0"/>
              </a:rPr>
              <a:t>control over learning and</a:t>
            </a:r>
          </a:p>
          <a:p>
            <a:pPr lvl="1" fontAlgn="base">
              <a:spcBef>
                <a:spcPts val="0"/>
              </a:spcBef>
            </a:pPr>
            <a:r>
              <a:rPr lang="en-US" sz="3200" dirty="0">
                <a:effectLst/>
                <a:ea typeface="Times New Roman" panose="02020603050405020304" pitchFamily="18" charset="0"/>
              </a:rPr>
              <a:t>personal ability to self-regulate our thinking and motivation</a:t>
            </a:r>
          </a:p>
          <a:p>
            <a:pPr marL="0" indent="0">
              <a:buNone/>
            </a:pPr>
            <a:endParaRPr lang="en-US" dirty="0"/>
          </a:p>
        </p:txBody>
      </p:sp>
      <p:sp>
        <p:nvSpPr>
          <p:cNvPr id="4" name="Slide Number Placeholder 3">
            <a:extLst>
              <a:ext uri="{FF2B5EF4-FFF2-40B4-BE49-F238E27FC236}">
                <a16:creationId xmlns:a16="http://schemas.microsoft.com/office/drawing/2014/main" id="{2AD80D34-FF33-477D-AC25-373F6CD3989E}"/>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549676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6047D-3131-405B-AC9B-F215F9DB2379}"/>
              </a:ext>
            </a:extLst>
          </p:cNvPr>
          <p:cNvSpPr>
            <a:spLocks noGrp="1"/>
          </p:cNvSpPr>
          <p:nvPr>
            <p:ph type="title"/>
          </p:nvPr>
        </p:nvSpPr>
        <p:spPr/>
        <p:txBody>
          <a:bodyPr/>
          <a:lstStyle/>
          <a:p>
            <a:r>
              <a:rPr lang="en-US" dirty="0"/>
              <a:t>Metacognitive Strategies</a:t>
            </a:r>
          </a:p>
        </p:txBody>
      </p:sp>
      <p:sp>
        <p:nvSpPr>
          <p:cNvPr id="3" name="Content Placeholder 2">
            <a:extLst>
              <a:ext uri="{FF2B5EF4-FFF2-40B4-BE49-F238E27FC236}">
                <a16:creationId xmlns:a16="http://schemas.microsoft.com/office/drawing/2014/main" id="{979236E9-C5A5-44F7-AA8C-95BDE31A921B}"/>
              </a:ext>
            </a:extLst>
          </p:cNvPr>
          <p:cNvSpPr>
            <a:spLocks noGrp="1"/>
          </p:cNvSpPr>
          <p:nvPr>
            <p:ph idx="1"/>
          </p:nvPr>
        </p:nvSpPr>
        <p:spPr>
          <a:xfrm>
            <a:off x="838200" y="1524000"/>
            <a:ext cx="10515600" cy="4652963"/>
          </a:xfrm>
        </p:spPr>
        <p:txBody>
          <a:bodyPr>
            <a:normAutofit fontScale="62500" lnSpcReduction="20000"/>
          </a:bodyPr>
          <a:lstStyle/>
          <a:p>
            <a:pPr marR="0" lvl="1" fontAlgn="base">
              <a:spcBef>
                <a:spcPts val="0"/>
              </a:spcBef>
              <a:spcAft>
                <a:spcPts val="0"/>
              </a:spcAft>
            </a:pPr>
            <a:r>
              <a:rPr lang="en-US" sz="3500" dirty="0">
                <a:ea typeface="Times New Roman" panose="02020603050405020304" pitchFamily="18" charset="0"/>
              </a:rPr>
              <a:t>P</a:t>
            </a:r>
            <a:r>
              <a:rPr lang="en-US" sz="3500" dirty="0">
                <a:effectLst/>
                <a:ea typeface="Times New Roman" panose="02020603050405020304" pitchFamily="18" charset="0"/>
              </a:rPr>
              <a:t>lanning how to approach new tasks or new information </a:t>
            </a:r>
            <a:r>
              <a:rPr lang="en-US" sz="3500" i="1" dirty="0">
                <a:effectLst/>
                <a:ea typeface="Times New Roman" panose="02020603050405020304" pitchFamily="18" charset="0"/>
              </a:rPr>
              <a:t>(What’s my purpose or goal? Where should I start? What obstacles might I encounter and how can I plan to avoid them?)</a:t>
            </a:r>
          </a:p>
          <a:p>
            <a:pPr marL="457200" marR="0" lvl="1" indent="0" fontAlgn="base">
              <a:spcBef>
                <a:spcPts val="0"/>
              </a:spcBef>
              <a:spcAft>
                <a:spcPts val="0"/>
              </a:spcAft>
              <a:buNone/>
            </a:pPr>
            <a:endParaRPr lang="en-US" sz="3500" i="1" dirty="0">
              <a:effectLst/>
              <a:ea typeface="Times New Roman" panose="02020603050405020304" pitchFamily="18" charset="0"/>
            </a:endParaRPr>
          </a:p>
          <a:p>
            <a:pPr marR="0" lvl="1" fontAlgn="base">
              <a:spcBef>
                <a:spcPts val="0"/>
              </a:spcBef>
              <a:spcAft>
                <a:spcPts val="0"/>
              </a:spcAft>
            </a:pPr>
            <a:r>
              <a:rPr lang="en-US" sz="3500" dirty="0">
                <a:ea typeface="Times New Roman" panose="02020603050405020304" pitchFamily="18" charset="0"/>
              </a:rPr>
              <a:t>I</a:t>
            </a:r>
            <a:r>
              <a:rPr lang="en-US" sz="3500" dirty="0">
                <a:effectLst/>
                <a:ea typeface="Times New Roman" panose="02020603050405020304" pitchFamily="18" charset="0"/>
              </a:rPr>
              <a:t>dentifying and planning for challenges </a:t>
            </a:r>
            <a:r>
              <a:rPr lang="en-US" sz="3500" i="1" dirty="0">
                <a:effectLst/>
                <a:ea typeface="Times New Roman" panose="02020603050405020304" pitchFamily="18" charset="0"/>
              </a:rPr>
              <a:t>(What might be hard for me? What are some strategies for moving forward?)</a:t>
            </a:r>
          </a:p>
          <a:p>
            <a:pPr marL="457200" marR="0" lvl="1" indent="0" fontAlgn="base">
              <a:spcBef>
                <a:spcPts val="0"/>
              </a:spcBef>
              <a:spcAft>
                <a:spcPts val="0"/>
              </a:spcAft>
              <a:buNone/>
            </a:pPr>
            <a:endParaRPr lang="en-US" sz="3500" i="1" dirty="0">
              <a:effectLst/>
              <a:ea typeface="Times New Roman" panose="02020603050405020304" pitchFamily="18" charset="0"/>
            </a:endParaRPr>
          </a:p>
          <a:p>
            <a:pPr marR="0" lvl="1" fontAlgn="base">
              <a:spcBef>
                <a:spcPts val="0"/>
              </a:spcBef>
              <a:spcAft>
                <a:spcPts val="0"/>
              </a:spcAft>
            </a:pPr>
            <a:r>
              <a:rPr lang="en-US" sz="3500" dirty="0">
                <a:ea typeface="Times New Roman" panose="02020603050405020304" pitchFamily="18" charset="0"/>
              </a:rPr>
              <a:t>C</a:t>
            </a:r>
            <a:r>
              <a:rPr lang="en-US" sz="3500" dirty="0">
                <a:effectLst/>
                <a:ea typeface="Times New Roman" panose="02020603050405020304" pitchFamily="18" charset="0"/>
              </a:rPr>
              <a:t>onsulting prior knowledge </a:t>
            </a:r>
            <a:r>
              <a:rPr lang="en-US" sz="3500" i="1" dirty="0">
                <a:effectLst/>
                <a:ea typeface="Times New Roman" panose="02020603050405020304" pitchFamily="18" charset="0"/>
              </a:rPr>
              <a:t>(What do I know about this already? How can I use what I know to make predictions?)</a:t>
            </a:r>
          </a:p>
          <a:p>
            <a:pPr marL="457200" marR="0" lvl="1" indent="0" fontAlgn="base">
              <a:spcBef>
                <a:spcPts val="0"/>
              </a:spcBef>
              <a:spcAft>
                <a:spcPts val="0"/>
              </a:spcAft>
              <a:buNone/>
            </a:pPr>
            <a:endParaRPr lang="en-US" sz="3500" i="1" dirty="0">
              <a:effectLst/>
              <a:ea typeface="Times New Roman" panose="02020603050405020304" pitchFamily="18" charset="0"/>
            </a:endParaRPr>
          </a:p>
          <a:p>
            <a:pPr marR="0" lvl="1" fontAlgn="base">
              <a:spcBef>
                <a:spcPts val="0"/>
              </a:spcBef>
              <a:spcAft>
                <a:spcPts val="0"/>
              </a:spcAft>
            </a:pPr>
            <a:r>
              <a:rPr lang="en-US" sz="3500" dirty="0">
                <a:ea typeface="Times New Roman" panose="02020603050405020304" pitchFamily="18" charset="0"/>
              </a:rPr>
              <a:t>E</a:t>
            </a:r>
            <a:r>
              <a:rPr lang="en-US" sz="3500" dirty="0">
                <a:effectLst/>
                <a:ea typeface="Times New Roman" panose="02020603050405020304" pitchFamily="18" charset="0"/>
              </a:rPr>
              <a:t>valuating your progress </a:t>
            </a:r>
            <a:r>
              <a:rPr lang="en-US" sz="3500" i="1" dirty="0">
                <a:effectLst/>
                <a:ea typeface="Times New Roman" panose="02020603050405020304" pitchFamily="18" charset="0"/>
              </a:rPr>
              <a:t>(Where am I in the process? How am I doing? Am I on track?)</a:t>
            </a:r>
          </a:p>
          <a:p>
            <a:pPr marL="457200" marR="0" lvl="1" indent="0" fontAlgn="base">
              <a:spcBef>
                <a:spcPts val="0"/>
              </a:spcBef>
              <a:spcAft>
                <a:spcPts val="0"/>
              </a:spcAft>
              <a:buNone/>
            </a:pPr>
            <a:endParaRPr lang="en-US" sz="3500" i="1" dirty="0">
              <a:effectLst/>
              <a:ea typeface="Times New Roman" panose="02020603050405020304" pitchFamily="18" charset="0"/>
            </a:endParaRPr>
          </a:p>
          <a:p>
            <a:pPr marR="0" lvl="1" fontAlgn="base">
              <a:spcBef>
                <a:spcPts val="0"/>
              </a:spcBef>
              <a:spcAft>
                <a:spcPts val="0"/>
              </a:spcAft>
            </a:pPr>
            <a:r>
              <a:rPr lang="en-US" sz="3500" dirty="0">
                <a:ea typeface="Times New Roman" panose="02020603050405020304" pitchFamily="18" charset="0"/>
              </a:rPr>
              <a:t>M</a:t>
            </a:r>
            <a:r>
              <a:rPr lang="en-US" sz="3500" dirty="0">
                <a:effectLst/>
                <a:ea typeface="Times New Roman" panose="02020603050405020304" pitchFamily="18" charset="0"/>
              </a:rPr>
              <a:t>onitoring comprehension </a:t>
            </a:r>
            <a:r>
              <a:rPr lang="en-US" sz="3500" i="1" dirty="0">
                <a:effectLst/>
                <a:ea typeface="Times New Roman" panose="02020603050405020304" pitchFamily="18" charset="0"/>
              </a:rPr>
              <a:t>(Am I understanding? Where might I be getting stuck? What do I need to do to get unstuck?) </a:t>
            </a:r>
          </a:p>
          <a:p>
            <a:pPr marL="457200" marR="0" lvl="1" indent="0" fontAlgn="base">
              <a:spcBef>
                <a:spcPts val="0"/>
              </a:spcBef>
              <a:spcAft>
                <a:spcPts val="0"/>
              </a:spcAft>
              <a:buNone/>
            </a:pPr>
            <a:endParaRPr lang="en-US" sz="3500" i="1" dirty="0">
              <a:effectLst/>
              <a:ea typeface="Times New Roman" panose="02020603050405020304" pitchFamily="18" charset="0"/>
            </a:endParaRPr>
          </a:p>
          <a:p>
            <a:pPr marR="0" lvl="1" fontAlgn="base">
              <a:spcBef>
                <a:spcPts val="0"/>
              </a:spcBef>
              <a:spcAft>
                <a:spcPts val="0"/>
              </a:spcAft>
            </a:pPr>
            <a:r>
              <a:rPr lang="en-US" sz="3500" dirty="0">
                <a:ea typeface="Times New Roman" panose="02020603050405020304" pitchFamily="18" charset="0"/>
              </a:rPr>
              <a:t>U</a:t>
            </a:r>
            <a:r>
              <a:rPr lang="en-US" sz="3500" dirty="0">
                <a:effectLst/>
                <a:ea typeface="Times New Roman" panose="02020603050405020304" pitchFamily="18" charset="0"/>
              </a:rPr>
              <a:t>sing images </a:t>
            </a:r>
            <a:r>
              <a:rPr lang="en-US" sz="3500" i="1" dirty="0">
                <a:effectLst/>
                <a:ea typeface="Times New Roman" panose="02020603050405020304" pitchFamily="18" charset="0"/>
              </a:rPr>
              <a:t>(What does this image add to my understanding of the text? How might I visualize what is being said?)</a:t>
            </a:r>
          </a:p>
          <a:p>
            <a:pPr marL="0" indent="0">
              <a:buNone/>
            </a:pPr>
            <a:endParaRPr lang="en-US" dirty="0"/>
          </a:p>
        </p:txBody>
      </p:sp>
      <p:sp>
        <p:nvSpPr>
          <p:cNvPr id="4" name="Slide Number Placeholder 3">
            <a:extLst>
              <a:ext uri="{FF2B5EF4-FFF2-40B4-BE49-F238E27FC236}">
                <a16:creationId xmlns:a16="http://schemas.microsoft.com/office/drawing/2014/main" id="{F728DEE8-CF34-4B1D-9BDF-5D759FB3B06D}"/>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721707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CBD1-2D55-40DD-8F30-2C205910FE90}"/>
              </a:ext>
            </a:extLst>
          </p:cNvPr>
          <p:cNvSpPr>
            <a:spLocks noGrp="1"/>
          </p:cNvSpPr>
          <p:nvPr>
            <p:ph type="title"/>
          </p:nvPr>
        </p:nvSpPr>
        <p:spPr>
          <a:xfrm>
            <a:off x="838200" y="365125"/>
            <a:ext cx="10515600" cy="1325563"/>
          </a:xfrm>
        </p:spPr>
        <p:txBody>
          <a:bodyPr anchor="ctr">
            <a:normAutofit/>
          </a:bodyPr>
          <a:lstStyle/>
          <a:p>
            <a:r>
              <a:rPr lang="en-US" dirty="0"/>
              <a:t>Teacher Model: Think Aloud</a:t>
            </a:r>
          </a:p>
        </p:txBody>
      </p:sp>
      <p:pic>
        <p:nvPicPr>
          <p:cNvPr id="5" name="Content Placeholder 4" descr="An image of the Mangrove Tree Ecosystem">
            <a:extLst>
              <a:ext uri="{FF2B5EF4-FFF2-40B4-BE49-F238E27FC236}">
                <a16:creationId xmlns:a16="http://schemas.microsoft.com/office/drawing/2014/main" id="{0267A2CA-C0B2-4FAD-9C12-801711AA39A0}"/>
              </a:ext>
            </a:extLst>
          </p:cNvPr>
          <p:cNvPicPr>
            <a:picLocks noGrp="1" noChangeAspect="1"/>
          </p:cNvPicPr>
          <p:nvPr>
            <p:ph idx="1"/>
          </p:nvPr>
        </p:nvPicPr>
        <p:blipFill>
          <a:blip r:embed="rId2"/>
          <a:stretch>
            <a:fillRect/>
          </a:stretch>
        </p:blipFill>
        <p:spPr>
          <a:xfrm>
            <a:off x="2642556" y="1825625"/>
            <a:ext cx="6906888" cy="4351338"/>
          </a:xfrm>
          <a:prstGeom prst="rect">
            <a:avLst/>
          </a:prstGeom>
          <a:noFill/>
        </p:spPr>
      </p:pic>
      <p:sp>
        <p:nvSpPr>
          <p:cNvPr id="4" name="Slide Number Placeholder 3">
            <a:extLst>
              <a:ext uri="{FF2B5EF4-FFF2-40B4-BE49-F238E27FC236}">
                <a16:creationId xmlns:a16="http://schemas.microsoft.com/office/drawing/2014/main" id="{2C32530C-EE52-4084-A048-49D9548BC944}"/>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7</a:t>
            </a:fld>
            <a:endParaRPr lang="en-US"/>
          </a:p>
        </p:txBody>
      </p:sp>
    </p:spTree>
    <p:extLst>
      <p:ext uri="{BB962C8B-B14F-4D97-AF65-F5344CB8AC3E}">
        <p14:creationId xmlns:p14="http://schemas.microsoft.com/office/powerpoint/2010/main" val="2168053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lvl="0" indent="0" fontAlgn="base">
              <a:spcBef>
                <a:spcPts val="600"/>
              </a:spcBef>
              <a:spcAft>
                <a:spcPts val="600"/>
              </a:spcAft>
              <a:buSzPts val="1000"/>
              <a:buNone/>
              <a:tabLst>
                <a:tab pos="457200" algn="l"/>
              </a:tabLst>
            </a:pPr>
            <a:r>
              <a:rPr lang="en-US" dirty="0">
                <a:effectLst/>
                <a:latin typeface="Calibri" panose="020F0502020204030204" pitchFamily="34" charset="0"/>
                <a:ea typeface="Times New Roman" panose="02020603050405020304" pitchFamily="18" charset="0"/>
                <a:cs typeface="Calibri" panose="020F0502020204030204" pitchFamily="34" charset="0"/>
              </a:rPr>
              <a:t>Define metacognition.  How does metacognition support learning? </a:t>
            </a:r>
          </a:p>
          <a:p>
            <a:pPr marL="0" marR="0" lvl="0" indent="0" fontAlgn="base">
              <a:spcBef>
                <a:spcPts val="600"/>
              </a:spcBef>
              <a:spcAft>
                <a:spcPts val="600"/>
              </a:spcAft>
              <a:buSzPts val="1000"/>
              <a:buNone/>
              <a:tabLst>
                <a:tab pos="457200" algn="l"/>
              </a:tabLst>
            </a:pPr>
            <a:r>
              <a:rPr lang="en-US" dirty="0">
                <a:effectLst/>
                <a:latin typeface="Calibri" panose="020F0502020204030204" pitchFamily="34" charset="0"/>
                <a:ea typeface="Times New Roman" panose="02020603050405020304" pitchFamily="18" charset="0"/>
                <a:cs typeface="Calibri" panose="020F0502020204030204" pitchFamily="34" charset="0"/>
              </a:rPr>
              <a:t>Reflect on your experience practicing the read aloud. Was it easy or difficult to make your thinking visible? How does making your thinking visible help you or your partner to better understand the content? </a:t>
            </a:r>
          </a:p>
          <a:p>
            <a:pPr marL="0" indent="0">
              <a:buNone/>
            </a:pPr>
            <a:endParaRPr lang="en-US" sz="2400"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42</TotalTime>
  <Words>355</Words>
  <Application>Microsoft Office PowerPoint</Application>
  <PresentationFormat>Widescreen</PresentationFormat>
  <Paragraphs>48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Symbol</vt:lpstr>
      <vt:lpstr>Office Theme</vt:lpstr>
      <vt:lpstr>Instructional Practices| Unit 7: High Leverage Teaching Practices| Lesson 7.11</vt:lpstr>
      <vt:lpstr>TEKS Standards &amp; Objectives</vt:lpstr>
      <vt:lpstr>Bellringer</vt:lpstr>
      <vt:lpstr>Vocabulary</vt:lpstr>
      <vt:lpstr>Introduction to Metacognition</vt:lpstr>
      <vt:lpstr>Metacognitive Strategies</vt:lpstr>
      <vt:lpstr>Teacher Model: Think Aloud</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Metacognition</dc:title>
  <dc:subject>Metacognition</dc:subject>
  <dc:creator>Texas Education Agency</dc:creator>
  <cp:lastModifiedBy>London White</cp:lastModifiedBy>
  <cp:revision>2</cp:revision>
  <dcterms:created xsi:type="dcterms:W3CDTF">2022-09-17T16:30:16Z</dcterms:created>
  <dcterms:modified xsi:type="dcterms:W3CDTF">2023-08-31T04:59:13Z</dcterms:modified>
</cp:coreProperties>
</file>